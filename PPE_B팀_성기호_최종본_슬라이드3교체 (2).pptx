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aveSubsetFonts="1" autoCompressPictures="0">
  <p:sldMasterIdLst>
    <p:sldMasterId id="2147483653" r:id="rId1"/>
  </p:sldMasterIdLst>
  <p:notesMasterIdLst>
    <p:notesMasterId r:id="rId2"/>
  </p:notesMasterIdLst>
  <p:sldIdLst>
    <p:sldId id="256" r:id="rId3"/>
    <p:sldId id="257" r:id="rId4"/>
    <p:sldId id="258" r:id="rId5"/>
    <p:sldId id="259" r:id="rId6"/>
    <p:sldId id="260"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14427"/>
    <p:restoredTop sz="90000"/>
  </p:normalViewPr>
  <p:slideViewPr>
    <p:cSldViewPr snapToObjects="1">
      <p:cViewPr varScale="1">
        <p:scale>
          <a:sx n="100" d="100"/>
          <a:sy n="100" d="100"/>
        </p:scale>
        <p:origin x="0" y="0"/>
      </p:cViewPr>
      <p:guideLst>
        <p:guide orient="horz" pos="2156"/>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viewProps" Target="viewProps.xml"  /><Relationship Id="rId11" Type="http://schemas.openxmlformats.org/officeDocument/2006/relationships/theme" Target="theme/theme1.xml"  /><Relationship Id="rId12"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611188"/>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idx="1"/>
          </p:nvPr>
        </p:nvSpPr>
        <p:spPr>
          <a:xfrm>
            <a:off x="3884613" y="0"/>
            <a:ext cx="2971800" cy="611188"/>
          </a:xfrm>
          <a:prstGeom prst="rect">
            <a:avLst/>
          </a:prstGeom>
        </p:spPr>
        <p:txBody>
          <a:bodyPr vert="horz" lIns="91440" tIns="45720" rIns="91440" bIns="45720"/>
          <a:lstStyle>
            <a:lvl1pPr algn="r">
              <a:defRPr sz="1200"/>
            </a:lvl1pPr>
          </a:lstStyle>
          <a:p>
            <a:pPr lvl="0">
              <a:defRPr/>
            </a:pPr>
            <a:fld id="{104E1288-EED4-444D-99D3-DD43526BC351}" type="datetime1">
              <a:rPr lang="ko-KR" altLang="en-US"/>
              <a:pPr lvl="0">
                <a:defRPr/>
              </a:pPr>
              <a:t>2026-08-13</a:t>
            </a:fld>
            <a:endParaRPr lang="ko-KR" altLang="en-US"/>
          </a:p>
        </p:txBody>
      </p:sp>
      <p:sp>
        <p:nvSpPr>
          <p:cNvPr id="4" name="슬라이드 이미지 개체 틀 3"/>
          <p:cNvSpPr>
            <a:spLocks noGrp="1" noRot="1" noChangeAspect="1" noTextEdi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5867400"/>
            <a:ext cx="5486400" cy="4800600"/>
          </a:xfrm>
          <a:prstGeom prst="rect">
            <a:avLst/>
          </a:prstGeom>
        </p:spPr>
        <p:txBody>
          <a:bodyPr vert="horz" lIns="91440" tIns="45720" rIns="91440" bIns="45720"/>
          <a:lstStyle/>
          <a:p>
            <a:pPr lvl="0">
              <a:defRPr/>
            </a:pPr>
            <a:r>
              <a:rPr lang="ko-KR" altLang="en-US"/>
              <a:t>마스터 텍스트 스타일을 편집하려면 클릭</a:t>
            </a:r>
            <a:endParaRPr lang="ko-KR" altLang="en-US"/>
          </a:p>
          <a:p>
            <a:pPr lvl="1">
              <a:defRPr/>
            </a:pPr>
            <a:r>
              <a:rPr lang="ko-KR" altLang="en-US"/>
              <a:t>두 번째 수준</a:t>
            </a:r>
            <a:endParaRPr lang="ko-KR" altLang="en-US"/>
          </a:p>
          <a:p>
            <a:pPr lvl="2">
              <a:defRPr/>
            </a:pPr>
            <a:r>
              <a:rPr lang="ko-KR" altLang="en-US"/>
              <a:t>세 번째 수준</a:t>
            </a:r>
            <a:endParaRPr lang="ko-KR" altLang="en-US"/>
          </a:p>
          <a:p>
            <a:pPr lvl="3">
              <a:defRPr/>
            </a:pPr>
            <a:r>
              <a:rPr lang="ko-KR" altLang="en-US"/>
              <a:t>네 번째 수준</a:t>
            </a:r>
            <a:endParaRPr lang="ko-KR" altLang="en-US"/>
          </a:p>
          <a:p>
            <a:pPr lvl="4">
              <a:defRPr/>
            </a:pPr>
            <a:r>
              <a:rPr lang="ko-KR" altLang="en-US"/>
              <a:t>다섯 번째 수준</a:t>
            </a:r>
            <a:endParaRPr lang="ko-KR" altLang="en-US"/>
          </a:p>
        </p:txBody>
      </p:sp>
      <p:sp>
        <p:nvSpPr>
          <p:cNvPr id="6" name="바닥글 개체 틀 5"/>
          <p:cNvSpPr>
            <a:spLocks noGrp="1"/>
          </p:cNvSpPr>
          <p:nvPr>
            <p:ph type="ftr" sz="quarter" idx="4"/>
          </p:nvPr>
        </p:nvSpPr>
        <p:spPr>
          <a:xfrm>
            <a:off x="0" y="11580813"/>
            <a:ext cx="2971800" cy="611187"/>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슬라이드 번호 개체 틀 6"/>
          <p:cNvSpPr>
            <a:spLocks noGrp="1"/>
          </p:cNvSpPr>
          <p:nvPr>
            <p:ph type="sldNum" sz="quarter" idx="5"/>
          </p:nvPr>
        </p:nvSpPr>
        <p:spPr>
          <a:xfrm>
            <a:off x="3884613" y="11580813"/>
            <a:ext cx="2971800" cy="611187"/>
          </a:xfrm>
          <a:prstGeom prst="rect">
            <a:avLst/>
          </a:prstGeom>
        </p:spPr>
        <p:txBody>
          <a:bodyPr vert="horz" lIns="91440" tIns="45720" rIns="91440" bIns="45720" anchor="b"/>
          <a:lstStyle>
            <a:lvl1pPr algn="r">
              <a:defRPr sz="1200"/>
            </a:lvl1pPr>
          </a:lstStyle>
          <a:p>
            <a:pPr lvl="0">
              <a:defRPr/>
            </a:pPr>
            <a:fld id="{08E92029-F171-4FE6-AED7-3AF13C61E2E4}"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이 프로젝트는 저를 포함한 다섯 명의 팀원이 공동으로 수행했으며 GitHub main의 전체 코드를 제가 혼자 개발한 것은 아닙니다. 제 담당은 조원들이 만든 HLS IP를 이해하고 model.6 C2f 블록으로 Vivado에 통합하는 일이었습니다. 처음에는 Codex에 프로젝트 규칙과 환경을 설정하고, 모델 구조와 설계 Flow 이미지를 보여 주어 코드의 shape와 데이터 흐름을 함께 확인했습니다. 이후 실제 GitHub와 로컬 파일, component.xml, Vivado와 Vitis 로그를 읽혀 AXI, DMA, Clock, Reset 연결과 병목 원인을 분석했습니다. 제가 Vivado 퍼센트, XSCT, KV260 SSH 터미널에서 명령을 실행하고 결과를 다시 전달하면 Codex가 다음 수정과 검증 절차를 제안하는 반복 방식으로 진행했습니다. 최종적으로 Bitstream과 KV260의 웹캠 장치 및 Overlay 로딩까지 직접 확인했습니다.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Vivado Block Design에서는 ARM CPU가 있는 PS와 FPGA 로직인 PL을 연결했습니다. 웹캠 영상 전체가 FPGA로 바로 들어가는 구조는 아닙니다. CPU가 YOLO model.0부터 5까지 계산한 후 128×40×40 특징맵을 DDR에 두고, AXI DMA가 이를 FPGA로 전송합니다. FPGA 내부의 HLS IP들은 AXI-Stream으로 연결되어 model.6를 처리하고, 256×40×40 결과를 DMA로 CPU에 돌려줍니다. AXI-Lite는 연산 시작과 스케일 설정을 담당합니다.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가장 어려웠던 점은 단위 IP의 simulation 성공이 전체 FPGA 성공을 보장하지 않았다는 것입니다. 전체 통합에서는 최대 6만6천590개의 node overlap과 congestion level 6이 발생했습니다. 조합 handshake를 끊고 병렬도와 LUTRAM 집중을 분석했으며, cv2를 CPU로 이동해 하드웨어 경계를 다시 정했습니다. C Simulation에서는 보이지 않던 Stream 교착은 DATAFLOW와 FIFO로 해결했고, BRAM byte와 word 주소 차이는 입력을 0으로 만든 실험으로 4c 규칙을 찾아냈습니다. DMA 길이와 HWC 배열까지 수정했지만 제 개인 보드에서는 MMIO 전체 실행이 남았습니다. 그래서 성공과 미완료 범위를 분리해 기록했습니다.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이 화면은 실제 개발 로그에서 가져온 기록입니다. Vivado에서는 최종 라우팅 WNS가 플러스 0.220나노초였고 DRC 오류 0, 비트스트림 생성 완료를 확인했습니다. 다음으로 Vitis 2022.2에서 하드웨어 플랫폼과 BSP를 구성하고 dma_loopback_v2 ELF를 빌드했습니다. Vitis 내부 XSCT가 FPGA 비트스트림과 XSA를 로드하고, FSBL과 ELF를 Cortex-A53에 다운로드했습니다. 다만 최종 UART DMA PASS 문자열은 보관 로그에 없기 때문에 성공으로 과장하지 않았습니다.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제가 현재 기록으로 직접 확인한 범위는 올바른 KV260에 SSH로 접속하고 Logitech C270 웹캠과 video0, video1 장치를 확인한 것, 그리고 PYNQ에서 model.6 Bitstream을 다운로드해 LOADED True와 IP 목록을 확인한 것까지입니다. DMA MMIO 읽기에서는 커널이 대기 상태가 되어 재시작했으므로 제 개인 실시간 PPE 탐지가 완료됐다고 발표하지 않습니다. 오른쪽의 탐지 화면은 조원이 성공시킨 팀 공동 결과를 넣을 수 있지만 반드시 팀 결과라고 표기해야 합니다. 이후 제가 같은 실행을 직접 재현하면 개인 검증 완료로 갱신할 수 있습니다.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2"/>
          </p:nvPr>
        </p:nvSpPr>
        <p:spPr/>
      </p:sp>
      <p:sp>
        <p:nvSpPr>
          <p:cNvPr id="3" name="Notes Placeholder 2"/>
          <p:cNvSpPr>
            <a:spLocks noGrp="1"/>
          </p:cNvSpPr>
          <p:nvPr>
            <p:ph type="body" sz="quarter" idx="3"/>
          </p:nvPr>
        </p:nvSpPr>
        <p:spPr/>
        <p:txBody>
          <a:bodyPr/>
          <a:lstStyle/>
          <a:p>
            <a:pPr lvl="0">
              <a:defRPr/>
            </a:pPr>
            <a:r>
              <a:rPr lang="ko-KR" altLang="en-US"/>
              <a:t>제 개인 성과는 model.6 HLS IP와 Block Design 통합, 100메가헤르츠 Timing 만족, DRC 오류 0, Bitstream과 XSA 생성, KV260 Overlay 로딩까지입니다. 팀 전체 저장소와 실시간 PPE 파이프라인은 다섯 명의 공동 결과이며 개인 기여와 구분해 설명합니다. Codex는 단순 답변기가 아니라 설계 이미지, GitHub와 로컬 소스, component XML, 로그와 리포트를 함께 분석하는 협업 도구로 사용했습니다. 그러나 모든 제안은 제가 실제 터미널에서 실행하고 결과를 다시 확인했습니다. 다음 단계는 DMA 단독 Loopback, Golden 특징맵 비교, 웹캠 전체 파이프라인 직접 재현과 FPS 측정입니다.</a:t>
            </a:r>
            <a:endParaRPr lang="ko-KR" altLang="en-US"/>
          </a:p>
        </p:txBody>
      </p:sp>
      <p:sp>
        <p:nvSpPr>
          <p:cNvPr id="4" name="Slide Number Placeholder 3"/>
          <p:cNvSpPr>
            <a:spLocks noGrp="1"/>
          </p:cNvSpPr>
          <p:nvPr>
            <p:ph type="sldNum" sz="quarter" idx="5"/>
          </p:nvPr>
        </p:nvSpPr>
        <p:spPr/>
        <p:txBody>
          <a:bodyPr anchor="ctr"/>
          <a:lstStyle/>
          <a:p>
            <a:pPr algn="ctr">
              <a:defRPr/>
            </a:pPr>
            <a:r>
              <a:rPr lang="ko-KR" altLang="en-US"/>
              <a:t/>
            </a:r>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1.xml"  /><Relationship Id="rId3" Type="http://schemas.openxmlformats.org/officeDocument/2006/relationships/image" Target="../media/image1.png"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1.xml"  /><Relationship Id="rId3" Type="http://schemas.openxmlformats.org/officeDocument/2006/relationships/image" Target="../media/image2.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1.xml"  /><Relationship Id="rId3" Type="http://schemas.openxmlformats.org/officeDocument/2006/relationships/image" Target="../media/image6.png"  /><Relationship Id="rId4" Type="http://schemas.openxmlformats.org/officeDocument/2006/relationships/image" Target="../media/image7.png"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1.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01</a:t>
            </a:r>
            <a:endParaRPr sz="1500" b="1">
              <a:solidFill>
                <a:srgbClr val="ffffff"/>
              </a:solidFill>
              <a:latin typeface="Noto Sans CJK KR"/>
            </a:endParaRP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01</a:t>
            </a:r>
            <a:endParaRPr sz="1500" b="1">
              <a:solidFill>
                <a:srgbClr val="ffffff"/>
              </a:solidFill>
              <a:latin typeface="Noto Sans CJK KR"/>
            </a:endParaRPr>
          </a:p>
        </p:txBody>
      </p:sp>
      <p:sp>
        <p:nvSpPr>
          <p:cNvPr id="5" name="TextBox 4"/>
          <p:cNvSpPr txBox="1"/>
          <p:nvPr/>
        </p:nvSpPr>
        <p:spPr>
          <a:xfrm>
            <a:off x="1051560" y="109728"/>
            <a:ext cx="7557135" cy="502920"/>
          </a:xfrm>
          <a:prstGeom prst="rect">
            <a:avLst/>
          </a:prstGeom>
          <a:noFill/>
        </p:spPr>
        <p:txBody>
          <a:bodyPr wrap="none" lIns="45720" rIns="45720" anchor="ctr">
            <a:spAutoFit/>
          </a:bodyPr>
          <a:lstStyle/>
          <a:p>
            <a:pPr algn="l">
              <a:defRPr/>
            </a:pPr>
            <a:r>
              <a:rPr sz="2700" b="1">
                <a:solidFill>
                  <a:srgbClr val="0e1f35"/>
                </a:solidFill>
                <a:latin typeface="Noto Sans CJK KR"/>
              </a:rPr>
              <a:t>나의 담당 역할 — Codex와 model.6 FPGA 통합</a:t>
            </a:r>
            <a:endParaRPr sz="2700" b="1">
              <a:solidFill>
                <a:srgbClr val="0e1f35"/>
              </a:solidFill>
              <a:latin typeface="Noto Sans CJK KR"/>
            </a:endParaRPr>
          </a:p>
        </p:txBody>
      </p:sp>
      <p:sp>
        <p:nvSpPr>
          <p:cNvPr id="6" name="TextBox 5"/>
          <p:cNvSpPr txBox="1"/>
          <p:nvPr/>
        </p:nvSpPr>
        <p:spPr>
          <a:xfrm>
            <a:off x="1069846" y="592455"/>
            <a:ext cx="4567048" cy="267081"/>
          </a:xfrm>
          <a:prstGeom prst="rect">
            <a:avLst/>
          </a:prstGeom>
          <a:noFill/>
        </p:spPr>
        <p:txBody>
          <a:bodyPr wrap="none" lIns="45720" rIns="45720" anchor="ctr">
            <a:spAutoFit/>
          </a:bodyPr>
          <a:lstStyle/>
          <a:p>
            <a:pPr algn="l">
              <a:defRPr/>
            </a:pPr>
            <a:r>
              <a:rPr sz="1100" b="0">
                <a:solidFill>
                  <a:srgbClr val="66717c"/>
                </a:solidFill>
                <a:latin typeface="Noto Sans CJK KR"/>
              </a:rPr>
              <a:t>팀 공동 YOLOv8n 프로젝트에서 C2f 하드웨어 </a:t>
            </a:r>
            <a:r>
              <a:rPr lang="ko-KR" altLang="en-US" sz="1100" b="0">
                <a:solidFill>
                  <a:srgbClr val="66717c"/>
                </a:solidFill>
                <a:latin typeface="Noto Sans CJK KR"/>
              </a:rPr>
              <a:t>디자인블록 및 합성</a:t>
            </a:r>
            <a:r>
              <a:rPr sz="1100" b="0">
                <a:solidFill>
                  <a:srgbClr val="66717c"/>
                </a:solidFill>
                <a:latin typeface="Noto Sans CJK KR"/>
              </a:rPr>
              <a:t> 담당</a:t>
            </a:r>
            <a:endParaRPr sz="1100" b="0">
              <a:solidFill>
                <a:srgbClr val="66717c"/>
              </a:solidFill>
              <a:latin typeface="Noto Sans CJK KR"/>
            </a:endParaRPr>
          </a:p>
        </p:txBody>
      </p:sp>
      <p:sp>
        <p:nvSpPr>
          <p:cNvPr id="8" name="Rounded Rectangle 7"/>
          <p:cNvSpPr/>
          <p:nvPr/>
        </p:nvSpPr>
        <p:spPr>
          <a:xfrm>
            <a:off x="492252" y="891540"/>
            <a:ext cx="1508760" cy="960120"/>
          </a:xfrm>
          <a:prstGeom prst="roundRect">
            <a:avLst>
              <a:gd name="adj" fmla="val 16667"/>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9" name="TextBox 8"/>
          <p:cNvSpPr txBox="1"/>
          <p:nvPr/>
        </p:nvSpPr>
        <p:spPr>
          <a:xfrm>
            <a:off x="686562" y="1095375"/>
            <a:ext cx="1110615" cy="548640"/>
          </a:xfrm>
          <a:prstGeom prst="rect">
            <a:avLst/>
          </a:prstGeom>
          <a:noFill/>
        </p:spPr>
        <p:txBody>
          <a:bodyPr wrap="none" lIns="45720" rIns="45720" anchor="ctr">
            <a:spAutoFit/>
          </a:bodyPr>
          <a:lstStyle/>
          <a:p>
            <a:pPr algn="ctr">
              <a:defRPr/>
            </a:pPr>
            <a:r>
              <a:rPr sz="1500" b="1">
                <a:solidFill>
                  <a:srgbClr val="236cb4"/>
                </a:solidFill>
                <a:latin typeface="Noto Sans CJK KR"/>
              </a:rPr>
              <a:t>구조·설계도</a:t>
            </a:r>
            <a:endParaRPr sz="1500" b="1">
              <a:solidFill>
                <a:srgbClr val="236cb4"/>
              </a:solidFill>
              <a:latin typeface="Noto Sans CJK KR"/>
            </a:endParaRPr>
          </a:p>
          <a:p>
            <a:pPr algn="ctr">
              <a:defRPr/>
            </a:pPr>
            <a:r>
              <a:rPr sz="1500" b="1">
                <a:solidFill>
                  <a:srgbClr val="236cb4"/>
                </a:solidFill>
                <a:latin typeface="Noto Sans CJK KR"/>
              </a:rPr>
              <a:t>AI 분석</a:t>
            </a:r>
            <a:endParaRPr sz="1500" b="1">
              <a:solidFill>
                <a:srgbClr val="236cb4"/>
              </a:solidFill>
              <a:latin typeface="Noto Sans CJK KR"/>
            </a:endParaRPr>
          </a:p>
        </p:txBody>
      </p:sp>
      <p:sp>
        <p:nvSpPr>
          <p:cNvPr id="10" name="Right Arrow 9"/>
          <p:cNvSpPr/>
          <p:nvPr/>
        </p:nvSpPr>
        <p:spPr>
          <a:xfrm>
            <a:off x="2055875"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1" name="Rounded Rectangle 10"/>
          <p:cNvSpPr/>
          <p:nvPr/>
        </p:nvSpPr>
        <p:spPr>
          <a:xfrm>
            <a:off x="2394204" y="891540"/>
            <a:ext cx="1508760" cy="960120"/>
          </a:xfrm>
          <a:prstGeom prst="roundRect">
            <a:avLst>
              <a:gd name="adj" fmla="val 16667"/>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2" name="TextBox 11"/>
          <p:cNvSpPr txBox="1"/>
          <p:nvPr/>
        </p:nvSpPr>
        <p:spPr>
          <a:xfrm>
            <a:off x="2610612" y="1095375"/>
            <a:ext cx="1053465" cy="548640"/>
          </a:xfrm>
          <a:prstGeom prst="rect">
            <a:avLst/>
          </a:prstGeom>
          <a:noFill/>
        </p:spPr>
        <p:txBody>
          <a:bodyPr wrap="none" lIns="45720" rIns="45720" anchor="ctr">
            <a:spAutoFit/>
          </a:bodyPr>
          <a:lstStyle/>
          <a:p>
            <a:pPr algn="ctr">
              <a:defRPr/>
            </a:pPr>
            <a:r>
              <a:rPr sz="1500" b="1">
                <a:solidFill>
                  <a:srgbClr val="21aabe"/>
                </a:solidFill>
                <a:latin typeface="Noto Sans CJK KR"/>
              </a:rPr>
              <a:t>HLS IP</a:t>
            </a:r>
            <a:endParaRPr sz="1500" b="1">
              <a:solidFill>
                <a:srgbClr val="21aabe"/>
              </a:solidFill>
              <a:latin typeface="Noto Sans CJK KR"/>
            </a:endParaRPr>
          </a:p>
          <a:p>
            <a:pPr algn="ctr">
              <a:defRPr/>
            </a:pPr>
            <a:r>
              <a:rPr sz="1500" b="1">
                <a:solidFill>
                  <a:srgbClr val="21aabe"/>
                </a:solidFill>
                <a:latin typeface="Noto Sans CJK KR"/>
              </a:rPr>
              <a:t>인터페이스</a:t>
            </a:r>
            <a:endParaRPr sz="1500" b="1">
              <a:solidFill>
                <a:srgbClr val="21aabe"/>
              </a:solidFill>
              <a:latin typeface="Noto Sans CJK KR"/>
            </a:endParaRPr>
          </a:p>
        </p:txBody>
      </p:sp>
      <p:sp>
        <p:nvSpPr>
          <p:cNvPr id="13" name="Right Arrow 12"/>
          <p:cNvSpPr/>
          <p:nvPr/>
        </p:nvSpPr>
        <p:spPr>
          <a:xfrm>
            <a:off x="3957828"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4" name="Rounded Rectangle 13"/>
          <p:cNvSpPr/>
          <p:nvPr/>
        </p:nvSpPr>
        <p:spPr>
          <a:xfrm>
            <a:off x="4296156" y="891540"/>
            <a:ext cx="1508760" cy="960120"/>
          </a:xfrm>
          <a:prstGeom prst="roundRect">
            <a:avLst>
              <a:gd name="adj" fmla="val 16667"/>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5" name="TextBox 14"/>
          <p:cNvSpPr txBox="1"/>
          <p:nvPr/>
        </p:nvSpPr>
        <p:spPr>
          <a:xfrm>
            <a:off x="4525137" y="1095375"/>
            <a:ext cx="1043940" cy="548640"/>
          </a:xfrm>
          <a:prstGeom prst="rect">
            <a:avLst/>
          </a:prstGeom>
          <a:noFill/>
        </p:spPr>
        <p:txBody>
          <a:bodyPr wrap="none" lIns="45720" rIns="45720" anchor="ctr">
            <a:spAutoFit/>
          </a:bodyPr>
          <a:lstStyle/>
          <a:p>
            <a:pPr algn="ctr">
              <a:defRPr/>
            </a:pPr>
            <a:r>
              <a:rPr sz="1500" b="1">
                <a:solidFill>
                  <a:srgbClr val="329c69"/>
                </a:solidFill>
                <a:latin typeface="Noto Sans CJK KR"/>
              </a:rPr>
              <a:t>Vivado BD</a:t>
            </a:r>
            <a:endParaRPr sz="1500" b="1">
              <a:solidFill>
                <a:srgbClr val="329c69"/>
              </a:solidFill>
              <a:latin typeface="Noto Sans CJK KR"/>
            </a:endParaRPr>
          </a:p>
          <a:p>
            <a:pPr algn="ctr">
              <a:defRPr/>
            </a:pPr>
            <a:r>
              <a:rPr sz="1500" b="1">
                <a:solidFill>
                  <a:srgbClr val="329c69"/>
                </a:solidFill>
                <a:latin typeface="Noto Sans CJK KR"/>
              </a:rPr>
              <a:t>통합</a:t>
            </a:r>
            <a:endParaRPr sz="1500" b="1">
              <a:solidFill>
                <a:srgbClr val="329c69"/>
              </a:solidFill>
              <a:latin typeface="Noto Sans CJK KR"/>
            </a:endParaRPr>
          </a:p>
        </p:txBody>
      </p:sp>
      <p:sp>
        <p:nvSpPr>
          <p:cNvPr id="16" name="Right Arrow 15"/>
          <p:cNvSpPr/>
          <p:nvPr/>
        </p:nvSpPr>
        <p:spPr>
          <a:xfrm>
            <a:off x="5859780"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Rounded Rectangle 16"/>
          <p:cNvSpPr/>
          <p:nvPr/>
        </p:nvSpPr>
        <p:spPr>
          <a:xfrm>
            <a:off x="6198108" y="891540"/>
            <a:ext cx="1508760" cy="960120"/>
          </a:xfrm>
          <a:prstGeom prst="roundRect">
            <a:avLst>
              <a:gd name="adj" fmla="val 16667"/>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8" name="TextBox 17"/>
          <p:cNvSpPr txBox="1"/>
          <p:nvPr/>
        </p:nvSpPr>
        <p:spPr>
          <a:xfrm>
            <a:off x="6487286" y="1095375"/>
            <a:ext cx="911734" cy="548640"/>
          </a:xfrm>
          <a:prstGeom prst="rect">
            <a:avLst/>
          </a:prstGeom>
          <a:noFill/>
        </p:spPr>
        <p:txBody>
          <a:bodyPr wrap="none" lIns="45720" rIns="45720" anchor="ctr">
            <a:spAutoFit/>
          </a:bodyPr>
          <a:lstStyle/>
          <a:p>
            <a:pPr algn="ctr">
              <a:defRPr/>
            </a:pPr>
            <a:r>
              <a:rPr sz="1500" b="1">
                <a:solidFill>
                  <a:srgbClr val="eb8b36"/>
                </a:solidFill>
                <a:latin typeface="Noto Sans CJK KR"/>
              </a:rPr>
              <a:t>병목·오류</a:t>
            </a:r>
            <a:endParaRPr sz="1500" b="1">
              <a:solidFill>
                <a:srgbClr val="eb8b36"/>
              </a:solidFill>
              <a:latin typeface="Noto Sans CJK KR"/>
            </a:endParaRPr>
          </a:p>
          <a:p>
            <a:pPr algn="ctr">
              <a:defRPr/>
            </a:pPr>
            <a:r>
              <a:rPr sz="1500" b="1">
                <a:solidFill>
                  <a:srgbClr val="eb8b36"/>
                </a:solidFill>
                <a:latin typeface="Noto Sans CJK KR"/>
              </a:rPr>
              <a:t>디버깅</a:t>
            </a:r>
            <a:endParaRPr sz="1500" b="1">
              <a:solidFill>
                <a:srgbClr val="eb8b36"/>
              </a:solidFill>
              <a:latin typeface="Noto Sans CJK KR"/>
            </a:endParaRPr>
          </a:p>
        </p:txBody>
      </p:sp>
      <p:sp>
        <p:nvSpPr>
          <p:cNvPr id="19" name="Right Arrow 18"/>
          <p:cNvSpPr/>
          <p:nvPr/>
        </p:nvSpPr>
        <p:spPr>
          <a:xfrm>
            <a:off x="7761732"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0" name="Rounded Rectangle 19"/>
          <p:cNvSpPr/>
          <p:nvPr/>
        </p:nvSpPr>
        <p:spPr>
          <a:xfrm>
            <a:off x="8100060" y="891540"/>
            <a:ext cx="1508760" cy="960120"/>
          </a:xfrm>
          <a:prstGeom prst="roundRect">
            <a:avLst>
              <a:gd name="adj" fmla="val 16667"/>
            </a:avLst>
          </a:prstGeom>
          <a:solidFill>
            <a:srgbClr val="ffffff"/>
          </a:solidFill>
          <a:ln w="13970">
            <a:solidFill>
              <a:srgbClr val="cd494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1" name="TextBox 20"/>
          <p:cNvSpPr txBox="1"/>
          <p:nvPr/>
        </p:nvSpPr>
        <p:spPr>
          <a:xfrm>
            <a:off x="8363711" y="1095375"/>
            <a:ext cx="968884" cy="548640"/>
          </a:xfrm>
          <a:prstGeom prst="rect">
            <a:avLst/>
          </a:prstGeom>
          <a:noFill/>
        </p:spPr>
        <p:txBody>
          <a:bodyPr wrap="none" lIns="45720" rIns="45720" anchor="ctr">
            <a:spAutoFit/>
          </a:bodyPr>
          <a:lstStyle/>
          <a:p>
            <a:pPr algn="ctr">
              <a:defRPr/>
            </a:pPr>
            <a:r>
              <a:rPr sz="1500" b="1">
                <a:solidFill>
                  <a:srgbClr val="cd4949"/>
                </a:solidFill>
                <a:latin typeface="Noto Sans CJK KR"/>
              </a:rPr>
              <a:t>Bitstream</a:t>
            </a:r>
            <a:endParaRPr sz="1500" b="1">
              <a:solidFill>
                <a:srgbClr val="cd4949"/>
              </a:solidFill>
              <a:latin typeface="Noto Sans CJK KR"/>
            </a:endParaRPr>
          </a:p>
          <a:p>
            <a:pPr algn="ctr">
              <a:defRPr/>
            </a:pPr>
            <a:r>
              <a:rPr sz="1500" b="1">
                <a:solidFill>
                  <a:srgbClr val="cd4949"/>
                </a:solidFill>
                <a:latin typeface="Noto Sans CJK KR"/>
              </a:rPr>
              <a:t>생성</a:t>
            </a:r>
            <a:endParaRPr sz="1500" b="1">
              <a:solidFill>
                <a:srgbClr val="cd4949"/>
              </a:solidFill>
              <a:latin typeface="Noto Sans CJK KR"/>
            </a:endParaRPr>
          </a:p>
        </p:txBody>
      </p:sp>
      <p:sp>
        <p:nvSpPr>
          <p:cNvPr id="22" name="Right Arrow 21"/>
          <p:cNvSpPr/>
          <p:nvPr/>
        </p:nvSpPr>
        <p:spPr>
          <a:xfrm>
            <a:off x="9663684" y="1211580"/>
            <a:ext cx="384048" cy="310896"/>
          </a:xfrm>
          <a:prstGeom prst="rightArrow">
            <a:avLst>
              <a:gd name="adj1" fmla="val 50000"/>
              <a:gd name="adj2" fmla="val 50000"/>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Rounded Rectangle 22"/>
          <p:cNvSpPr/>
          <p:nvPr/>
        </p:nvSpPr>
        <p:spPr>
          <a:xfrm>
            <a:off x="10002012" y="891540"/>
            <a:ext cx="1508760" cy="960120"/>
          </a:xfrm>
          <a:prstGeom prst="roundRect">
            <a:avLst>
              <a:gd name="adj" fmla="val 16667"/>
            </a:avLst>
          </a:prstGeom>
          <a:solidFill>
            <a:srgbClr val="ffffff"/>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4" name="TextBox 23"/>
          <p:cNvSpPr txBox="1"/>
          <p:nvPr/>
        </p:nvSpPr>
        <p:spPr>
          <a:xfrm>
            <a:off x="10306812" y="1095375"/>
            <a:ext cx="891540" cy="548640"/>
          </a:xfrm>
          <a:prstGeom prst="rect">
            <a:avLst/>
          </a:prstGeom>
          <a:noFill/>
        </p:spPr>
        <p:txBody>
          <a:bodyPr wrap="none" lIns="45720" rIns="45720" anchor="ctr">
            <a:spAutoFit/>
          </a:bodyPr>
          <a:lstStyle/>
          <a:p>
            <a:pPr algn="ctr">
              <a:defRPr/>
            </a:pPr>
            <a:r>
              <a:rPr sz="1500" b="1">
                <a:solidFill>
                  <a:srgbClr val="0e1f35"/>
                </a:solidFill>
                <a:latin typeface="Noto Sans CJK KR"/>
              </a:rPr>
              <a:t>KV260</a:t>
            </a:r>
            <a:endParaRPr sz="1500" b="1">
              <a:solidFill>
                <a:srgbClr val="0e1f35"/>
              </a:solidFill>
              <a:latin typeface="Noto Sans CJK KR"/>
            </a:endParaRPr>
          </a:p>
          <a:p>
            <a:pPr algn="ctr">
              <a:defRPr/>
            </a:pPr>
            <a:r>
              <a:rPr sz="1500" b="1">
                <a:solidFill>
                  <a:srgbClr val="0e1f35"/>
                </a:solidFill>
                <a:latin typeface="Noto Sans CJK KR"/>
              </a:rPr>
              <a:t>Bring-up</a:t>
            </a:r>
            <a:endParaRPr sz="1500" b="1">
              <a:solidFill>
                <a:srgbClr val="0e1f35"/>
              </a:solidFill>
              <a:latin typeface="Noto Sans CJK KR"/>
            </a:endParaRPr>
          </a:p>
        </p:txBody>
      </p:sp>
      <p:sp>
        <p:nvSpPr>
          <p:cNvPr id="26" name="Rounded Rectangle 25"/>
          <p:cNvSpPr/>
          <p:nvPr/>
        </p:nvSpPr>
        <p:spPr>
          <a:xfrm>
            <a:off x="6565392" y="2438400"/>
            <a:ext cx="5394960" cy="2514600"/>
          </a:xfrm>
          <a:prstGeom prst="roundRect">
            <a:avLst>
              <a:gd name="adj" fmla="val 16667"/>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7" name="TextBox 26"/>
          <p:cNvSpPr txBox="1"/>
          <p:nvPr/>
        </p:nvSpPr>
        <p:spPr>
          <a:xfrm>
            <a:off x="6885432" y="2651760"/>
            <a:ext cx="1714500" cy="381000"/>
          </a:xfrm>
          <a:prstGeom prst="rect">
            <a:avLst/>
          </a:prstGeom>
          <a:noFill/>
        </p:spPr>
        <p:txBody>
          <a:bodyPr wrap="none" lIns="45720" rIns="45720" anchor="ctr">
            <a:spAutoFit/>
          </a:bodyPr>
          <a:lstStyle/>
          <a:p>
            <a:pPr algn="l">
              <a:defRPr/>
            </a:pPr>
            <a:r>
              <a:rPr sz="1900" b="1">
                <a:solidFill>
                  <a:srgbClr val="0e1f35"/>
                </a:solidFill>
                <a:latin typeface="Noto Sans CJK KR"/>
              </a:rPr>
              <a:t>나의 핵심 업무</a:t>
            </a:r>
            <a:endParaRPr sz="1900" b="1">
              <a:solidFill>
                <a:srgbClr val="0e1f35"/>
              </a:solidFill>
              <a:latin typeface="Noto Sans CJK KR"/>
            </a:endParaRPr>
          </a:p>
        </p:txBody>
      </p:sp>
      <p:sp>
        <p:nvSpPr>
          <p:cNvPr id="28" name="TextBox 27"/>
          <p:cNvSpPr txBox="1"/>
          <p:nvPr/>
        </p:nvSpPr>
        <p:spPr>
          <a:xfrm>
            <a:off x="6912864" y="3166110"/>
            <a:ext cx="3134868" cy="262890"/>
          </a:xfrm>
          <a:prstGeom prst="rect">
            <a:avLst/>
          </a:prstGeom>
          <a:noFill/>
        </p:spPr>
        <p:txBody>
          <a:bodyPr wrap="none" lIns="45720" rIns="45720" anchor="ctr">
            <a:spAutoFit/>
          </a:bodyPr>
          <a:lstStyle/>
          <a:p>
            <a:pPr algn="l">
              <a:defRPr/>
            </a:pPr>
            <a:r>
              <a:rPr sz="1100" b="0">
                <a:solidFill>
                  <a:srgbClr val="27303b"/>
                </a:solidFill>
                <a:latin typeface="Noto Sans CJK KR"/>
              </a:rPr>
              <a:t>• model.6 C2f 구조·특징맵 shape·설계 Flow 확인</a:t>
            </a:r>
            <a:endParaRPr sz="1100" b="0">
              <a:solidFill>
                <a:srgbClr val="27303b"/>
              </a:solidFill>
              <a:latin typeface="Noto Sans CJK KR"/>
            </a:endParaRPr>
          </a:p>
        </p:txBody>
      </p:sp>
      <p:sp>
        <p:nvSpPr>
          <p:cNvPr id="29" name="TextBox 28"/>
          <p:cNvSpPr txBox="1"/>
          <p:nvPr/>
        </p:nvSpPr>
        <p:spPr>
          <a:xfrm>
            <a:off x="6912864" y="3518535"/>
            <a:ext cx="2877693" cy="262890"/>
          </a:xfrm>
          <a:prstGeom prst="rect">
            <a:avLst/>
          </a:prstGeom>
          <a:noFill/>
        </p:spPr>
        <p:txBody>
          <a:bodyPr wrap="none" lIns="45720" rIns="45720" anchor="ctr">
            <a:spAutoFit/>
          </a:bodyPr>
          <a:lstStyle/>
          <a:p>
            <a:pPr algn="l">
              <a:defRPr/>
            </a:pPr>
            <a:r>
              <a:rPr sz="1100" b="0">
                <a:solidFill>
                  <a:srgbClr val="27303b"/>
                </a:solidFill>
                <a:latin typeface="Noto Sans CJK KR"/>
              </a:rPr>
              <a:t>• HLS IP 포트 및 AXI/DMA/Clock/Reset 연결</a:t>
            </a:r>
            <a:endParaRPr sz="1100" b="0">
              <a:solidFill>
                <a:srgbClr val="27303b"/>
              </a:solidFill>
              <a:latin typeface="Noto Sans CJK KR"/>
            </a:endParaRPr>
          </a:p>
        </p:txBody>
      </p:sp>
      <p:sp>
        <p:nvSpPr>
          <p:cNvPr id="30" name="TextBox 29"/>
          <p:cNvSpPr txBox="1"/>
          <p:nvPr/>
        </p:nvSpPr>
        <p:spPr>
          <a:xfrm>
            <a:off x="6912864" y="3861435"/>
            <a:ext cx="3077718" cy="262890"/>
          </a:xfrm>
          <a:prstGeom prst="rect">
            <a:avLst/>
          </a:prstGeom>
          <a:noFill/>
        </p:spPr>
        <p:txBody>
          <a:bodyPr wrap="none" lIns="45720" rIns="45720" anchor="ctr">
            <a:spAutoFit/>
          </a:bodyPr>
          <a:lstStyle/>
          <a:p>
            <a:pPr algn="l">
              <a:defRPr/>
            </a:pPr>
            <a:r>
              <a:rPr sz="1100" b="0">
                <a:solidFill>
                  <a:srgbClr val="27303b"/>
                </a:solidFill>
                <a:latin typeface="Noto Sans CJK KR"/>
              </a:rPr>
              <a:t>• Vivado 혼잡·Timing·DRC 로그 기반 반복 수정</a:t>
            </a:r>
            <a:endParaRPr sz="1100" b="0">
              <a:solidFill>
                <a:srgbClr val="27303b"/>
              </a:solidFill>
              <a:latin typeface="Noto Sans CJK KR"/>
            </a:endParaRPr>
          </a:p>
        </p:txBody>
      </p:sp>
      <p:sp>
        <p:nvSpPr>
          <p:cNvPr id="31" name="TextBox 30"/>
          <p:cNvSpPr txBox="1"/>
          <p:nvPr/>
        </p:nvSpPr>
        <p:spPr>
          <a:xfrm>
            <a:off x="6912863" y="4213860"/>
            <a:ext cx="3049143" cy="262890"/>
          </a:xfrm>
          <a:prstGeom prst="rect">
            <a:avLst/>
          </a:prstGeom>
          <a:noFill/>
        </p:spPr>
        <p:txBody>
          <a:bodyPr wrap="square" lIns="45720" rIns="45720" anchor="ctr">
            <a:spAutoFit/>
          </a:bodyPr>
          <a:lstStyle/>
          <a:p>
            <a:pPr algn="l">
              <a:defRPr/>
            </a:pPr>
            <a:r>
              <a:rPr sz="1100" b="0">
                <a:solidFill>
                  <a:srgbClr val="27303b"/>
                </a:solidFill>
                <a:latin typeface="Noto Sans CJK KR"/>
              </a:rPr>
              <a:t>• Vitis/XSCT 빌드·다운로드와 KV260 환경 검증</a:t>
            </a:r>
            <a:endParaRPr sz="1100" b="0">
              <a:solidFill>
                <a:srgbClr val="27303b"/>
              </a:solidFill>
              <a:latin typeface="Noto Sans CJK KR"/>
            </a:endParaRPr>
          </a:p>
        </p:txBody>
      </p:sp>
      <p:sp>
        <p:nvSpPr>
          <p:cNvPr id="32" name="TextBox 31"/>
          <p:cNvSpPr txBox="1"/>
          <p:nvPr/>
        </p:nvSpPr>
        <p:spPr>
          <a:xfrm>
            <a:off x="6912863" y="4556760"/>
            <a:ext cx="2972943" cy="262890"/>
          </a:xfrm>
          <a:prstGeom prst="rect">
            <a:avLst/>
          </a:prstGeom>
          <a:noFill/>
        </p:spPr>
        <p:txBody>
          <a:bodyPr wrap="square" lIns="45720" rIns="45720" anchor="ctr">
            <a:spAutoFit/>
          </a:bodyPr>
          <a:lstStyle/>
          <a:p>
            <a:pPr algn="l">
              <a:defRPr/>
            </a:pPr>
            <a:r>
              <a:rPr sz="1100" b="0">
                <a:solidFill>
                  <a:srgbClr val="27303b"/>
                </a:solidFill>
                <a:latin typeface="Noto Sans CJK KR"/>
              </a:rPr>
              <a:t>• Codex로 이미지·코드·로그·문서를 교차 분석</a:t>
            </a:r>
            <a:endParaRPr sz="1100" b="0">
              <a:solidFill>
                <a:srgbClr val="27303b"/>
              </a:solidFill>
              <a:latin typeface="Noto Sans CJK KR"/>
            </a:endParaRPr>
          </a:p>
        </p:txBody>
      </p:sp>
      <p:sp>
        <p:nvSpPr>
          <p:cNvPr id="33" name="Rounded Rectangle 32"/>
          <p:cNvSpPr/>
          <p:nvPr/>
        </p:nvSpPr>
        <p:spPr>
          <a:xfrm>
            <a:off x="669797" y="5931408"/>
            <a:ext cx="10881360" cy="713232"/>
          </a:xfrm>
          <a:prstGeom prst="roundRect">
            <a:avLst>
              <a:gd name="adj" fmla="val 16667"/>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4" name="TextBox 33"/>
          <p:cNvSpPr txBox="1"/>
          <p:nvPr/>
        </p:nvSpPr>
        <p:spPr>
          <a:xfrm>
            <a:off x="928878" y="6094097"/>
            <a:ext cx="1272540" cy="271651"/>
          </a:xfrm>
          <a:prstGeom prst="rect">
            <a:avLst/>
          </a:prstGeom>
          <a:noFill/>
        </p:spPr>
        <p:txBody>
          <a:bodyPr wrap="none" lIns="45720" rIns="45720" anchor="ctr">
            <a:spAutoFit/>
          </a:bodyPr>
          <a:lstStyle/>
          <a:p>
            <a:pPr algn="l">
              <a:defRPr/>
            </a:pPr>
            <a:r>
              <a:rPr sz="1200" b="1">
                <a:solidFill>
                  <a:srgbClr val="ffffff"/>
                </a:solidFill>
                <a:latin typeface="Noto Sans CJK KR"/>
              </a:rPr>
              <a:t>AI 협업 워크플로</a:t>
            </a:r>
            <a:endParaRPr sz="1200" b="1">
              <a:solidFill>
                <a:srgbClr val="ffffff"/>
              </a:solidFill>
              <a:latin typeface="Noto Sans CJK KR"/>
            </a:endParaRPr>
          </a:p>
        </p:txBody>
      </p:sp>
      <p:sp>
        <p:nvSpPr>
          <p:cNvPr id="35" name="TextBox 34"/>
          <p:cNvSpPr txBox="1"/>
          <p:nvPr/>
        </p:nvSpPr>
        <p:spPr>
          <a:xfrm>
            <a:off x="3917442" y="6099048"/>
            <a:ext cx="6073140" cy="262891"/>
          </a:xfrm>
          <a:prstGeom prst="rect">
            <a:avLst/>
          </a:prstGeom>
          <a:noFill/>
        </p:spPr>
        <p:txBody>
          <a:bodyPr wrap="none" lIns="45720" rIns="45720" anchor="ctr">
            <a:spAutoFit/>
          </a:bodyPr>
          <a:lstStyle/>
          <a:p>
            <a:pPr algn="ctr">
              <a:defRPr/>
            </a:pPr>
            <a:r>
              <a:rPr sz="1100" b="1">
                <a:solidFill>
                  <a:srgbClr val="ffffff"/>
                </a:solidFill>
                <a:latin typeface="Noto Sans CJK KR"/>
              </a:rPr>
              <a:t>설계 이미지 + 팀 GitHub + 로컬 파일  →  Codex 분석  →  터미널 실행  →  로그 재검증·문서화</a:t>
            </a:r>
            <a:endParaRPr sz="1100" b="1">
              <a:solidFill>
                <a:srgbClr val="ffffff"/>
              </a:solidFill>
              <a:latin typeface="Noto Sans CJK KR"/>
            </a:endParaRPr>
          </a:p>
        </p:txBody>
      </p:sp>
      <p:sp>
        <p:nvSpPr>
          <p:cNvPr id="36" name="TextBox 35"/>
          <p:cNvSpPr txBox="1"/>
          <p:nvPr/>
        </p:nvSpPr>
        <p:spPr>
          <a:xfrm>
            <a:off x="427481" y="6661785"/>
            <a:ext cx="2332863"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endParaRPr sz="800" b="0">
              <a:solidFill>
                <a:srgbClr val="66717c"/>
              </a:solidFill>
              <a:latin typeface="Noto Sans CJK KR"/>
            </a:endParaRPr>
          </a:p>
        </p:txBody>
      </p:sp>
      <p:sp>
        <p:nvSpPr>
          <p:cNvPr id="37" name="TextBox 36"/>
          <p:cNvSpPr txBox="1"/>
          <p:nvPr/>
        </p:nvSpPr>
        <p:spPr>
          <a:xfrm>
            <a:off x="11210925" y="664464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endParaRPr sz="800" b="1">
              <a:solidFill>
                <a:srgbClr val="236cb4"/>
              </a:solidFill>
              <a:latin typeface="Noto Sans CJK KR"/>
            </a:endParaRPr>
          </a:p>
        </p:txBody>
      </p:sp>
      <p:pic>
        <p:nvPicPr>
          <p:cNvPr id="39" name=""/>
          <p:cNvPicPr>
            <a:picLocks noChangeAspect="1"/>
          </p:cNvPicPr>
          <p:nvPr/>
        </p:nvPicPr>
        <p:blipFill rotWithShape="1">
          <a:blip r:embed="rId3"/>
          <a:stretch>
            <a:fillRect/>
          </a:stretch>
        </p:blipFill>
        <p:spPr>
          <a:xfrm>
            <a:off x="152400" y="1857678"/>
            <a:ext cx="6412991" cy="405692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02</a:t>
            </a:r>
            <a:endParaRPr sz="1500" b="1">
              <a:solidFill>
                <a:srgbClr val="ffffff"/>
              </a:solidFill>
              <a:latin typeface="Noto Sans CJK KR"/>
            </a:endParaRP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02</a:t>
            </a:r>
            <a:endParaRPr sz="1500" b="1">
              <a:solidFill>
                <a:srgbClr val="ffffff"/>
              </a:solidFill>
              <a:latin typeface="Noto Sans CJK KR"/>
            </a:endParaRPr>
          </a:p>
        </p:txBody>
      </p:sp>
      <p:sp>
        <p:nvSpPr>
          <p:cNvPr id="5" name="TextBox 4"/>
          <p:cNvSpPr txBox="1"/>
          <p:nvPr/>
        </p:nvSpPr>
        <p:spPr>
          <a:xfrm>
            <a:off x="1051560" y="109728"/>
            <a:ext cx="8433435" cy="502920"/>
          </a:xfrm>
          <a:prstGeom prst="rect">
            <a:avLst/>
          </a:prstGeom>
          <a:noFill/>
        </p:spPr>
        <p:txBody>
          <a:bodyPr wrap="none" lIns="45720" rIns="45720" anchor="ctr">
            <a:spAutoFit/>
          </a:bodyPr>
          <a:lstStyle/>
          <a:p>
            <a:pPr algn="l">
              <a:defRPr/>
            </a:pPr>
            <a:r>
              <a:rPr sz="2700" b="1">
                <a:solidFill>
                  <a:srgbClr val="0e1f35"/>
                </a:solidFill>
                <a:latin typeface="Noto Sans CJK KR"/>
              </a:rPr>
              <a:t>Vivado Block Design — CPU와 FPGA를 하나로 연결</a:t>
            </a:r>
            <a:endParaRPr sz="2700" b="1">
              <a:solidFill>
                <a:srgbClr val="0e1f35"/>
              </a:solidFill>
              <a:latin typeface="Noto Sans CJK KR"/>
            </a:endParaRPr>
          </a:p>
        </p:txBody>
      </p:sp>
      <p:sp>
        <p:nvSpPr>
          <p:cNvPr id="6" name="TextBox 5"/>
          <p:cNvSpPr txBox="1"/>
          <p:nvPr/>
        </p:nvSpPr>
        <p:spPr>
          <a:xfrm>
            <a:off x="1069848" y="592455"/>
            <a:ext cx="4081271" cy="267081"/>
          </a:xfrm>
          <a:prstGeom prst="rect">
            <a:avLst/>
          </a:prstGeom>
          <a:noFill/>
        </p:spPr>
        <p:txBody>
          <a:bodyPr wrap="none" lIns="45720" rIns="45720" anchor="ctr">
            <a:spAutoFit/>
          </a:bodyPr>
          <a:lstStyle/>
          <a:p>
            <a:pPr algn="l">
              <a:defRPr/>
            </a:pPr>
            <a:r>
              <a:rPr sz="1100" b="0">
                <a:solidFill>
                  <a:srgbClr val="66717c"/>
                </a:solidFill>
                <a:latin typeface="Noto Sans CJK KR"/>
              </a:rPr>
              <a:t>PS는 YOLO 전·후단, PL은 model.6, DMA는 특징맵 전송을 담당</a:t>
            </a:r>
            <a:endParaRPr sz="1100" b="0">
              <a:solidFill>
                <a:srgbClr val="66717c"/>
              </a:solidFill>
              <a:latin typeface="Noto Sans CJK KR"/>
            </a:endParaRP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2" name="Rounded Rectangle 11"/>
          <p:cNvSpPr/>
          <p:nvPr/>
        </p:nvSpPr>
        <p:spPr>
          <a:xfrm>
            <a:off x="8183879" y="1097280"/>
            <a:ext cx="3566160" cy="1097280"/>
          </a:xfrm>
          <a:prstGeom prst="roundRect">
            <a:avLst>
              <a:gd name="adj" fmla="val 16667"/>
            </a:avLst>
          </a:prstGeom>
          <a:solidFill>
            <a:srgbClr val="f2f6fa"/>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3" name="TextBox 12"/>
          <p:cNvSpPr txBox="1"/>
          <p:nvPr/>
        </p:nvSpPr>
        <p:spPr>
          <a:xfrm>
            <a:off x="8366760" y="1221105"/>
            <a:ext cx="2051685" cy="320040"/>
          </a:xfrm>
          <a:prstGeom prst="rect">
            <a:avLst/>
          </a:prstGeom>
          <a:noFill/>
        </p:spPr>
        <p:txBody>
          <a:bodyPr wrap="none" lIns="45720" rIns="45720" anchor="ctr">
            <a:spAutoFit/>
          </a:bodyPr>
          <a:lstStyle/>
          <a:p>
            <a:pPr algn="l">
              <a:defRPr/>
            </a:pPr>
            <a:r>
              <a:rPr sz="1500" b="1">
                <a:solidFill>
                  <a:srgbClr val="236cb4"/>
                </a:solidFill>
                <a:latin typeface="Noto Sans CJK KR"/>
              </a:rPr>
              <a:t>PS (ARM CPU + DDR)</a:t>
            </a:r>
            <a:endParaRPr sz="1500" b="1">
              <a:solidFill>
                <a:srgbClr val="236cb4"/>
              </a:solidFill>
              <a:latin typeface="Noto Sans CJK KR"/>
            </a:endParaRPr>
          </a:p>
        </p:txBody>
      </p:sp>
      <p:sp>
        <p:nvSpPr>
          <p:cNvPr id="14" name="TextBox 13"/>
          <p:cNvSpPr txBox="1"/>
          <p:nvPr/>
        </p:nvSpPr>
        <p:spPr>
          <a:xfrm>
            <a:off x="8366760" y="1649730"/>
            <a:ext cx="1813560" cy="262890"/>
          </a:xfrm>
          <a:prstGeom prst="rect">
            <a:avLst/>
          </a:prstGeom>
          <a:noFill/>
        </p:spPr>
        <p:txBody>
          <a:bodyPr wrap="none" lIns="45720" rIns="45720" anchor="ctr">
            <a:spAutoFit/>
          </a:bodyPr>
          <a:lstStyle/>
          <a:p>
            <a:pPr algn="l">
              <a:defRPr/>
            </a:pPr>
            <a:r>
              <a:rPr sz="1100" b="0">
                <a:solidFill>
                  <a:srgbClr val="27303b"/>
                </a:solidFill>
                <a:latin typeface="Noto Sans CJK KR"/>
              </a:rPr>
              <a:t>model.0~5 / cv2+7~22 실행</a:t>
            </a:r>
            <a:endParaRPr sz="1100" b="0">
              <a:solidFill>
                <a:srgbClr val="27303b"/>
              </a:solidFill>
              <a:latin typeface="Noto Sans CJK KR"/>
            </a:endParaRPr>
          </a:p>
        </p:txBody>
      </p:sp>
      <p:sp>
        <p:nvSpPr>
          <p:cNvPr id="15" name="Rounded Rectangle 14"/>
          <p:cNvSpPr/>
          <p:nvPr/>
        </p:nvSpPr>
        <p:spPr>
          <a:xfrm>
            <a:off x="8183879" y="2395728"/>
            <a:ext cx="3566160" cy="1097280"/>
          </a:xfrm>
          <a:prstGeom prst="roundRect">
            <a:avLst>
              <a:gd name="adj" fmla="val 16667"/>
            </a:avLst>
          </a:prstGeom>
          <a:solidFill>
            <a:srgbClr val="f2f6fa"/>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6" name="TextBox 15"/>
          <p:cNvSpPr txBox="1"/>
          <p:nvPr/>
        </p:nvSpPr>
        <p:spPr>
          <a:xfrm>
            <a:off x="8366760" y="2526030"/>
            <a:ext cx="908685" cy="320040"/>
          </a:xfrm>
          <a:prstGeom prst="rect">
            <a:avLst/>
          </a:prstGeom>
          <a:noFill/>
        </p:spPr>
        <p:txBody>
          <a:bodyPr wrap="none" lIns="45720" rIns="45720" anchor="ctr">
            <a:spAutoFit/>
          </a:bodyPr>
          <a:lstStyle/>
          <a:p>
            <a:pPr algn="l">
              <a:defRPr/>
            </a:pPr>
            <a:r>
              <a:rPr sz="1500" b="1">
                <a:solidFill>
                  <a:srgbClr val="eb8b36"/>
                </a:solidFill>
                <a:latin typeface="Noto Sans CJK KR"/>
              </a:rPr>
              <a:t>AXI DMA</a:t>
            </a:r>
            <a:endParaRPr sz="1500" b="1">
              <a:solidFill>
                <a:srgbClr val="eb8b36"/>
              </a:solidFill>
              <a:latin typeface="Noto Sans CJK KR"/>
            </a:endParaRPr>
          </a:p>
        </p:txBody>
      </p:sp>
      <p:sp>
        <p:nvSpPr>
          <p:cNvPr id="17" name="TextBox 16"/>
          <p:cNvSpPr txBox="1"/>
          <p:nvPr/>
        </p:nvSpPr>
        <p:spPr>
          <a:xfrm>
            <a:off x="8366760" y="2945130"/>
            <a:ext cx="1794510" cy="262890"/>
          </a:xfrm>
          <a:prstGeom prst="rect">
            <a:avLst/>
          </a:prstGeom>
          <a:noFill/>
        </p:spPr>
        <p:txBody>
          <a:bodyPr wrap="none" lIns="45720" rIns="45720" anchor="ctr">
            <a:spAutoFit/>
          </a:bodyPr>
          <a:lstStyle/>
          <a:p>
            <a:pPr algn="l">
              <a:defRPr/>
            </a:pPr>
            <a:r>
              <a:rPr sz="1100" b="0">
                <a:solidFill>
                  <a:srgbClr val="27303b"/>
                </a:solidFill>
                <a:latin typeface="Noto Sans CJK KR"/>
              </a:rPr>
              <a:t>DDR ↔ FPGA 특징맵 전송</a:t>
            </a:r>
            <a:endParaRPr sz="1100" b="0">
              <a:solidFill>
                <a:srgbClr val="27303b"/>
              </a:solidFill>
              <a:latin typeface="Noto Sans CJK KR"/>
            </a:endParaRPr>
          </a:p>
        </p:txBody>
      </p:sp>
      <p:sp>
        <p:nvSpPr>
          <p:cNvPr id="18" name="Rounded Rectangle 17"/>
          <p:cNvSpPr/>
          <p:nvPr/>
        </p:nvSpPr>
        <p:spPr>
          <a:xfrm>
            <a:off x="8183879" y="3694176"/>
            <a:ext cx="3566160" cy="1097280"/>
          </a:xfrm>
          <a:prstGeom prst="roundRect">
            <a:avLst>
              <a:gd name="adj" fmla="val 16667"/>
            </a:avLst>
          </a:prstGeom>
          <a:solidFill>
            <a:srgbClr val="f2f6fa"/>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9" name="TextBox 18"/>
          <p:cNvSpPr txBox="1"/>
          <p:nvPr/>
        </p:nvSpPr>
        <p:spPr>
          <a:xfrm>
            <a:off x="8366760" y="3830955"/>
            <a:ext cx="1594485" cy="320040"/>
          </a:xfrm>
          <a:prstGeom prst="rect">
            <a:avLst/>
          </a:prstGeom>
          <a:noFill/>
        </p:spPr>
        <p:txBody>
          <a:bodyPr wrap="none" lIns="45720" rIns="45720" anchor="ctr">
            <a:spAutoFit/>
          </a:bodyPr>
          <a:lstStyle/>
          <a:p>
            <a:pPr algn="l">
              <a:defRPr/>
            </a:pPr>
            <a:r>
              <a:rPr sz="1500" b="1">
                <a:solidFill>
                  <a:srgbClr val="329c69"/>
                </a:solidFill>
                <a:latin typeface="Noto Sans CJK KR"/>
              </a:rPr>
              <a:t>PL (FPGA Logic)</a:t>
            </a:r>
            <a:endParaRPr sz="1500" b="1">
              <a:solidFill>
                <a:srgbClr val="329c69"/>
              </a:solidFill>
              <a:latin typeface="Noto Sans CJK KR"/>
            </a:endParaRPr>
          </a:p>
        </p:txBody>
      </p:sp>
      <p:sp>
        <p:nvSpPr>
          <p:cNvPr id="20" name="TextBox 19"/>
          <p:cNvSpPr txBox="1"/>
          <p:nvPr/>
        </p:nvSpPr>
        <p:spPr>
          <a:xfrm>
            <a:off x="8366760" y="4250055"/>
            <a:ext cx="1708785" cy="262890"/>
          </a:xfrm>
          <a:prstGeom prst="rect">
            <a:avLst/>
          </a:prstGeom>
          <a:noFill/>
        </p:spPr>
        <p:txBody>
          <a:bodyPr wrap="none" lIns="45720" rIns="45720" anchor="ctr">
            <a:spAutoFit/>
          </a:bodyPr>
          <a:lstStyle/>
          <a:p>
            <a:pPr algn="l">
              <a:defRPr/>
            </a:pPr>
            <a:r>
              <a:rPr sz="1100" b="0">
                <a:solidFill>
                  <a:srgbClr val="27303b"/>
                </a:solidFill>
                <a:latin typeface="Noto Sans CJK KR"/>
              </a:rPr>
              <a:t>model.6 cv1~Concat 실행</a:t>
            </a:r>
            <a:endParaRPr sz="1100" b="0">
              <a:solidFill>
                <a:srgbClr val="27303b"/>
              </a:solidFill>
              <a:latin typeface="Noto Sans CJK KR"/>
            </a:endParaRPr>
          </a:p>
        </p:txBody>
      </p:sp>
      <p:sp>
        <p:nvSpPr>
          <p:cNvPr id="21" name="Rounded Rectangle 20"/>
          <p:cNvSpPr/>
          <p:nvPr/>
        </p:nvSpPr>
        <p:spPr>
          <a:xfrm>
            <a:off x="8183879" y="5010912"/>
            <a:ext cx="3566160" cy="1161288"/>
          </a:xfrm>
          <a:prstGeom prst="roundRect">
            <a:avLst>
              <a:gd name="adj" fmla="val 16667"/>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2" name="Rounded Rectangle 21"/>
          <p:cNvSpPr/>
          <p:nvPr/>
        </p:nvSpPr>
        <p:spPr>
          <a:xfrm>
            <a:off x="8339327" y="5193792"/>
            <a:ext cx="960120" cy="411480"/>
          </a:xfrm>
          <a:prstGeom prst="roundRect">
            <a:avLst>
              <a:gd name="adj" fmla="val 16667"/>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TextBox 22"/>
          <p:cNvSpPr txBox="1"/>
          <p:nvPr/>
        </p:nvSpPr>
        <p:spPr>
          <a:xfrm>
            <a:off x="8498205" y="5269230"/>
            <a:ext cx="624840" cy="262890"/>
          </a:xfrm>
          <a:prstGeom prst="rect">
            <a:avLst/>
          </a:prstGeom>
          <a:noFill/>
        </p:spPr>
        <p:txBody>
          <a:bodyPr wrap="none" lIns="45720" rIns="45720" anchor="ctr">
            <a:spAutoFit/>
          </a:bodyPr>
          <a:lstStyle/>
          <a:p>
            <a:pPr algn="ctr">
              <a:defRPr/>
            </a:pPr>
            <a:r>
              <a:rPr sz="1100" b="1">
                <a:solidFill>
                  <a:srgbClr val="ffffff"/>
                </a:solidFill>
                <a:latin typeface="Noto Sans CJK KR"/>
              </a:rPr>
              <a:t>AXI-Lite</a:t>
            </a:r>
            <a:endParaRPr sz="1100" b="1">
              <a:solidFill>
                <a:srgbClr val="ffffff"/>
              </a:solidFill>
              <a:latin typeface="Noto Sans CJK KR"/>
            </a:endParaRPr>
          </a:p>
        </p:txBody>
      </p:sp>
      <p:sp>
        <p:nvSpPr>
          <p:cNvPr id="24" name="TextBox 23"/>
          <p:cNvSpPr txBox="1"/>
          <p:nvPr/>
        </p:nvSpPr>
        <p:spPr>
          <a:xfrm>
            <a:off x="9400032" y="5278755"/>
            <a:ext cx="770763" cy="243840"/>
          </a:xfrm>
          <a:prstGeom prst="rect">
            <a:avLst/>
          </a:prstGeom>
          <a:noFill/>
        </p:spPr>
        <p:txBody>
          <a:bodyPr wrap="none" lIns="45720" rIns="45720" anchor="ctr">
            <a:spAutoFit/>
          </a:bodyPr>
          <a:lstStyle/>
          <a:p>
            <a:pPr algn="l">
              <a:defRPr/>
            </a:pPr>
            <a:r>
              <a:rPr sz="1000" b="0">
                <a:solidFill>
                  <a:srgbClr val="27303b"/>
                </a:solidFill>
                <a:latin typeface="Noto Sans CJK KR"/>
              </a:rPr>
              <a:t>제어·스케일</a:t>
            </a:r>
            <a:endParaRPr sz="1000" b="0">
              <a:solidFill>
                <a:srgbClr val="27303b"/>
              </a:solidFill>
              <a:latin typeface="Noto Sans CJK KR"/>
            </a:endParaRPr>
          </a:p>
        </p:txBody>
      </p:sp>
      <p:sp>
        <p:nvSpPr>
          <p:cNvPr id="25" name="Rounded Rectangle 24"/>
          <p:cNvSpPr/>
          <p:nvPr/>
        </p:nvSpPr>
        <p:spPr>
          <a:xfrm>
            <a:off x="8339327" y="5650992"/>
            <a:ext cx="960120" cy="411480"/>
          </a:xfrm>
          <a:prstGeom prst="roundRect">
            <a:avLst>
              <a:gd name="adj" fmla="val 16667"/>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6" name="TextBox 25"/>
          <p:cNvSpPr txBox="1"/>
          <p:nvPr/>
        </p:nvSpPr>
        <p:spPr>
          <a:xfrm>
            <a:off x="8526780" y="5726430"/>
            <a:ext cx="567690" cy="262890"/>
          </a:xfrm>
          <a:prstGeom prst="rect">
            <a:avLst/>
          </a:prstGeom>
          <a:noFill/>
        </p:spPr>
        <p:txBody>
          <a:bodyPr wrap="none" lIns="45720" rIns="45720" anchor="ctr">
            <a:spAutoFit/>
          </a:bodyPr>
          <a:lstStyle/>
          <a:p>
            <a:pPr algn="ctr">
              <a:defRPr/>
            </a:pPr>
            <a:r>
              <a:rPr sz="1100" b="1">
                <a:solidFill>
                  <a:srgbClr val="ffffff"/>
                </a:solidFill>
                <a:latin typeface="Noto Sans CJK KR"/>
              </a:rPr>
              <a:t>Stream</a:t>
            </a:r>
            <a:endParaRPr sz="1100" b="1">
              <a:solidFill>
                <a:srgbClr val="ffffff"/>
              </a:solidFill>
              <a:latin typeface="Noto Sans CJK KR"/>
            </a:endParaRPr>
          </a:p>
        </p:txBody>
      </p:sp>
      <p:sp>
        <p:nvSpPr>
          <p:cNvPr id="27" name="TextBox 26"/>
          <p:cNvSpPr txBox="1"/>
          <p:nvPr/>
        </p:nvSpPr>
        <p:spPr>
          <a:xfrm>
            <a:off x="9400032" y="5735954"/>
            <a:ext cx="1113663" cy="243840"/>
          </a:xfrm>
          <a:prstGeom prst="rect">
            <a:avLst/>
          </a:prstGeom>
          <a:noFill/>
        </p:spPr>
        <p:txBody>
          <a:bodyPr wrap="none" lIns="45720" rIns="45720" anchor="ctr">
            <a:spAutoFit/>
          </a:bodyPr>
          <a:lstStyle/>
          <a:p>
            <a:pPr algn="l">
              <a:defRPr/>
            </a:pPr>
            <a:r>
              <a:rPr sz="1000" b="0">
                <a:solidFill>
                  <a:srgbClr val="27303b"/>
                </a:solidFill>
                <a:latin typeface="Noto Sans CJK KR"/>
              </a:rPr>
              <a:t>IP 간 연속 데이터</a:t>
            </a:r>
            <a:endParaRPr sz="1000" b="0">
              <a:solidFill>
                <a:srgbClr val="27303b"/>
              </a:solidFill>
              <a:latin typeface="Noto Sans CJK KR"/>
            </a:endParaRPr>
          </a:p>
        </p:txBody>
      </p:sp>
      <p:sp>
        <p:nvSpPr>
          <p:cNvPr id="28" name="TextBox 27"/>
          <p:cNvSpPr txBox="1"/>
          <p:nvPr/>
        </p:nvSpPr>
        <p:spPr>
          <a:xfrm>
            <a:off x="438912" y="6555105"/>
            <a:ext cx="233095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endParaRPr sz="800" b="0">
              <a:solidFill>
                <a:srgbClr val="66717c"/>
              </a:solidFill>
              <a:latin typeface="Noto Sans CJK KR"/>
            </a:endParaRPr>
          </a:p>
        </p:txBody>
      </p:sp>
      <p:sp>
        <p:nvSpPr>
          <p:cNvPr id="29" name="TextBox 28"/>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endParaRPr sz="800" b="1">
              <a:solidFill>
                <a:srgbClr val="236cb4"/>
              </a:solidFill>
              <a:latin typeface="Noto Sans CJK KR"/>
            </a:endParaRPr>
          </a:p>
        </p:txBody>
      </p:sp>
      <p:pic>
        <p:nvPicPr>
          <p:cNvPr id="30" name=""/>
          <p:cNvPicPr>
            <a:picLocks noChangeAspect="1"/>
          </p:cNvPicPr>
          <p:nvPr/>
        </p:nvPicPr>
        <p:blipFill rotWithShape="1">
          <a:blip r:embed="rId3"/>
          <a:stretch>
            <a:fillRect/>
          </a:stretch>
        </p:blipFill>
        <p:spPr>
          <a:xfrm>
            <a:off x="506730" y="3719035"/>
            <a:ext cx="7189470" cy="2836069"/>
          </a:xfrm>
          <a:prstGeom prst="rect">
            <a:avLst/>
          </a:prstGeom>
        </p:spPr>
      </p:pic>
      <p:pic>
        <p:nvPicPr>
          <p:cNvPr id="31" name=""/>
          <p:cNvPicPr>
            <a:picLocks noChangeAspect="1"/>
          </p:cNvPicPr>
          <p:nvPr/>
        </p:nvPicPr>
        <p:blipFill rotWithShape="1">
          <a:blip r:embed="rId4"/>
          <a:stretch>
            <a:fillRect/>
          </a:stretch>
        </p:blipFill>
        <p:spPr>
          <a:xfrm>
            <a:off x="411480" y="859536"/>
            <a:ext cx="7284720" cy="293742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03</a:t>
            </a:r>
            <a:endParaRPr sz="1500" b="1">
              <a:solidFill>
                <a:srgbClr val="ffffff"/>
              </a:solidFill>
              <a:latin typeface="Noto Sans CJK KR"/>
            </a:endParaRP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03</a:t>
            </a:r>
            <a:endParaRPr sz="1500" b="1">
              <a:solidFill>
                <a:srgbClr val="ffffff"/>
              </a:solidFill>
              <a:latin typeface="Noto Sans CJK KR"/>
            </a:endParaRPr>
          </a:p>
        </p:txBody>
      </p:sp>
      <p:sp>
        <p:nvSpPr>
          <p:cNvPr id="5" name="TextBox 4"/>
          <p:cNvSpPr txBox="1"/>
          <p:nvPr/>
        </p:nvSpPr>
        <p:spPr>
          <a:xfrm>
            <a:off x="1051560" y="109728"/>
            <a:ext cx="6966585" cy="502920"/>
          </a:xfrm>
          <a:prstGeom prst="rect">
            <a:avLst/>
          </a:prstGeom>
          <a:noFill/>
        </p:spPr>
        <p:txBody>
          <a:bodyPr wrap="none" lIns="45720" rIns="45720" anchor="ctr">
            <a:spAutoFit/>
          </a:bodyPr>
          <a:lstStyle/>
          <a:p>
            <a:pPr algn="l">
              <a:defRPr/>
            </a:pPr>
            <a:r>
              <a:rPr sz="2700" b="1">
                <a:solidFill>
                  <a:srgbClr val="0e1f35"/>
                </a:solidFill>
                <a:latin typeface="Noto Sans CJK KR"/>
              </a:rPr>
              <a:t>실패에서 수렴까지 — 예상 밖의 병목과 판단</a:t>
            </a:r>
            <a:endParaRPr sz="2700" b="1">
              <a:solidFill>
                <a:srgbClr val="0e1f35"/>
              </a:solidFill>
              <a:latin typeface="Noto Sans CJK KR"/>
            </a:endParaRPr>
          </a:p>
        </p:txBody>
      </p:sp>
      <p:sp>
        <p:nvSpPr>
          <p:cNvPr id="6" name="TextBox 5"/>
          <p:cNvSpPr txBox="1"/>
          <p:nvPr/>
        </p:nvSpPr>
        <p:spPr>
          <a:xfrm>
            <a:off x="1069848" y="592455"/>
            <a:ext cx="5290946" cy="267081"/>
          </a:xfrm>
          <a:prstGeom prst="rect">
            <a:avLst/>
          </a:prstGeom>
          <a:noFill/>
        </p:spPr>
        <p:txBody>
          <a:bodyPr wrap="none" lIns="45720" rIns="45720" anchor="ctr">
            <a:spAutoFit/>
          </a:bodyPr>
          <a:lstStyle/>
          <a:p>
            <a:pPr algn="l">
              <a:defRPr/>
            </a:pPr>
            <a:r>
              <a:rPr sz="1100" b="0">
                <a:solidFill>
                  <a:srgbClr val="66717c"/>
                </a:solidFill>
                <a:latin typeface="Noto Sans CJK KR"/>
              </a:rPr>
              <a:t>Simulation PASS 이후 발생한 물리 배선·Stream·Memory·DMA 문제를 증거로 분해</a:t>
            </a:r>
            <a:endParaRPr sz="1100" b="0">
              <a:solidFill>
                <a:srgbClr val="66717c"/>
              </a:solidFill>
              <a:latin typeface="Noto Sans CJK KR"/>
            </a:endParaRP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8" name="Rounded Rectangle 7"/>
          <p:cNvSpPr/>
          <p:nvPr/>
        </p:nvSpPr>
        <p:spPr>
          <a:xfrm>
            <a:off x="411480" y="1143000"/>
            <a:ext cx="2578608" cy="411480"/>
          </a:xfrm>
          <a:prstGeom prst="roundRect">
            <a:avLst>
              <a:gd name="adj" fmla="val 16667"/>
            </a:avLst>
          </a:prstGeom>
          <a:solidFill>
            <a:srgbClr val="cd494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9" name="TextBox 8"/>
          <p:cNvSpPr txBox="1"/>
          <p:nvPr/>
        </p:nvSpPr>
        <p:spPr>
          <a:xfrm>
            <a:off x="1268730" y="1211580"/>
            <a:ext cx="843915" cy="262890"/>
          </a:xfrm>
          <a:prstGeom prst="rect">
            <a:avLst/>
          </a:prstGeom>
          <a:noFill/>
        </p:spPr>
        <p:txBody>
          <a:bodyPr wrap="none" lIns="45720" rIns="45720" anchor="ctr">
            <a:spAutoFit/>
          </a:bodyPr>
          <a:lstStyle/>
          <a:p>
            <a:pPr algn="ctr">
              <a:defRPr/>
            </a:pPr>
            <a:r>
              <a:rPr sz="1100" b="1">
                <a:solidFill>
                  <a:srgbClr val="ffffff"/>
                </a:solidFill>
                <a:latin typeface="Noto Sans CJK KR"/>
              </a:rPr>
              <a:t>관찰된 실패</a:t>
            </a:r>
            <a:endParaRPr sz="1100" b="1">
              <a:solidFill>
                <a:srgbClr val="ffffff"/>
              </a:solidFill>
              <a:latin typeface="Noto Sans CJK KR"/>
            </a:endParaRPr>
          </a:p>
        </p:txBody>
      </p:sp>
      <p:sp>
        <p:nvSpPr>
          <p:cNvPr id="10" name="Rounded Rectangle 9"/>
          <p:cNvSpPr/>
          <p:nvPr/>
        </p:nvSpPr>
        <p:spPr>
          <a:xfrm>
            <a:off x="3172968" y="1143000"/>
            <a:ext cx="3429000" cy="411480"/>
          </a:xfrm>
          <a:prstGeom prst="roundRect">
            <a:avLst>
              <a:gd name="adj" fmla="val 16667"/>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1" name="TextBox 10"/>
          <p:cNvSpPr txBox="1"/>
          <p:nvPr/>
        </p:nvSpPr>
        <p:spPr>
          <a:xfrm>
            <a:off x="4221480" y="1211580"/>
            <a:ext cx="1310640" cy="262890"/>
          </a:xfrm>
          <a:prstGeom prst="rect">
            <a:avLst/>
          </a:prstGeom>
          <a:noFill/>
        </p:spPr>
        <p:txBody>
          <a:bodyPr wrap="none" lIns="45720" rIns="45720" anchor="ctr">
            <a:spAutoFit/>
          </a:bodyPr>
          <a:lstStyle/>
          <a:p>
            <a:pPr algn="ctr">
              <a:defRPr/>
            </a:pPr>
            <a:r>
              <a:rPr sz="1100" b="1">
                <a:solidFill>
                  <a:srgbClr val="ffffff"/>
                </a:solidFill>
                <a:latin typeface="Noto Sans CJK KR"/>
              </a:rPr>
              <a:t>숫자로 확인한 원인</a:t>
            </a:r>
            <a:endParaRPr sz="1100" b="1">
              <a:solidFill>
                <a:srgbClr val="ffffff"/>
              </a:solidFill>
              <a:latin typeface="Noto Sans CJK KR"/>
            </a:endParaRPr>
          </a:p>
        </p:txBody>
      </p:sp>
      <p:sp>
        <p:nvSpPr>
          <p:cNvPr id="12" name="Rounded Rectangle 11"/>
          <p:cNvSpPr/>
          <p:nvPr/>
        </p:nvSpPr>
        <p:spPr>
          <a:xfrm>
            <a:off x="6784848" y="1143000"/>
            <a:ext cx="4965192" cy="411480"/>
          </a:xfrm>
          <a:prstGeom prst="roundRect">
            <a:avLst>
              <a:gd name="adj" fmla="val 16667"/>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3" name="TextBox 12"/>
          <p:cNvSpPr txBox="1"/>
          <p:nvPr/>
        </p:nvSpPr>
        <p:spPr>
          <a:xfrm>
            <a:off x="8841105" y="1211580"/>
            <a:ext cx="843915" cy="262890"/>
          </a:xfrm>
          <a:prstGeom prst="rect">
            <a:avLst/>
          </a:prstGeom>
          <a:noFill/>
        </p:spPr>
        <p:txBody>
          <a:bodyPr wrap="none" lIns="45720" rIns="45720" anchor="ctr">
            <a:spAutoFit/>
          </a:bodyPr>
          <a:lstStyle/>
          <a:p>
            <a:pPr algn="ctr">
              <a:defRPr/>
            </a:pPr>
            <a:r>
              <a:rPr sz="1100" b="1">
                <a:solidFill>
                  <a:srgbClr val="ffffff"/>
                </a:solidFill>
                <a:latin typeface="Noto Sans CJK KR"/>
              </a:rPr>
              <a:t>조정과 결과</a:t>
            </a:r>
            <a:endParaRPr sz="1100" b="1">
              <a:solidFill>
                <a:srgbClr val="ffffff"/>
              </a:solidFill>
              <a:latin typeface="Noto Sans CJK KR"/>
            </a:endParaRPr>
          </a:p>
        </p:txBody>
      </p:sp>
      <p:sp>
        <p:nvSpPr>
          <p:cNvPr id="14" name="Rectangle 13"/>
          <p:cNvSpPr/>
          <p:nvPr/>
        </p:nvSpPr>
        <p:spPr>
          <a:xfrm>
            <a:off x="411480" y="1719072"/>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5" name="TextBox 14"/>
          <p:cNvSpPr txBox="1"/>
          <p:nvPr/>
        </p:nvSpPr>
        <p:spPr>
          <a:xfrm>
            <a:off x="1278255" y="1973580"/>
            <a:ext cx="834390" cy="243840"/>
          </a:xfrm>
          <a:prstGeom prst="rect">
            <a:avLst/>
          </a:prstGeom>
          <a:noFill/>
        </p:spPr>
        <p:txBody>
          <a:bodyPr wrap="none" lIns="45720" rIns="45720" anchor="ctr">
            <a:spAutoFit/>
          </a:bodyPr>
          <a:lstStyle/>
          <a:p>
            <a:pPr algn="ctr">
              <a:defRPr/>
            </a:pPr>
            <a:r>
              <a:rPr sz="1000" b="0">
                <a:solidFill>
                  <a:srgbClr val="27303b"/>
                </a:solidFill>
                <a:latin typeface="Noto Sans CJK KR"/>
              </a:rPr>
              <a:t>Routing 불법</a:t>
            </a:r>
            <a:endParaRPr sz="1000" b="0">
              <a:solidFill>
                <a:srgbClr val="27303b"/>
              </a:solidFill>
              <a:latin typeface="Noto Sans CJK KR"/>
            </a:endParaRPr>
          </a:p>
        </p:txBody>
      </p:sp>
      <p:sp>
        <p:nvSpPr>
          <p:cNvPr id="16" name="Rectangle 15"/>
          <p:cNvSpPr/>
          <p:nvPr/>
        </p:nvSpPr>
        <p:spPr>
          <a:xfrm>
            <a:off x="3172968" y="1719072"/>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TextBox 16"/>
          <p:cNvSpPr txBox="1"/>
          <p:nvPr/>
        </p:nvSpPr>
        <p:spPr>
          <a:xfrm>
            <a:off x="4221480" y="1973580"/>
            <a:ext cx="1310640" cy="243840"/>
          </a:xfrm>
          <a:prstGeom prst="rect">
            <a:avLst/>
          </a:prstGeom>
          <a:noFill/>
        </p:spPr>
        <p:txBody>
          <a:bodyPr wrap="none" lIns="45720" rIns="45720" anchor="ctr">
            <a:spAutoFit/>
          </a:bodyPr>
          <a:lstStyle/>
          <a:p>
            <a:pPr algn="ctr">
              <a:defRPr/>
            </a:pPr>
            <a:r>
              <a:rPr sz="1000" b="0">
                <a:solidFill>
                  <a:srgbClr val="27303b"/>
                </a:solidFill>
                <a:latin typeface="Noto Sans CJK KR"/>
              </a:rPr>
              <a:t>66,590 node overlaps</a:t>
            </a:r>
            <a:endParaRPr sz="1000" b="0">
              <a:solidFill>
                <a:srgbClr val="27303b"/>
              </a:solidFill>
              <a:latin typeface="Noto Sans CJK KR"/>
            </a:endParaRPr>
          </a:p>
        </p:txBody>
      </p:sp>
      <p:sp>
        <p:nvSpPr>
          <p:cNvPr id="18" name="Rectangle 17"/>
          <p:cNvSpPr/>
          <p:nvPr/>
        </p:nvSpPr>
        <p:spPr>
          <a:xfrm>
            <a:off x="6784848" y="1719072"/>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9" name="TextBox 18"/>
          <p:cNvSpPr txBox="1"/>
          <p:nvPr/>
        </p:nvSpPr>
        <p:spPr>
          <a:xfrm>
            <a:off x="7250429" y="1897380"/>
            <a:ext cx="3872865" cy="396240"/>
          </a:xfrm>
          <a:prstGeom prst="rect">
            <a:avLst/>
          </a:prstGeom>
          <a:noFill/>
        </p:spPr>
        <p:txBody>
          <a:bodyPr wrap="none" lIns="45720" rIns="45720" anchor="ctr">
            <a:spAutoFit/>
          </a:bodyPr>
          <a:lstStyle/>
          <a:p>
            <a:pPr algn="ctr">
              <a:defRPr/>
            </a:pPr>
            <a:r>
              <a:rPr sz="1000" b="0">
                <a:solidFill>
                  <a:srgbClr val="27303b"/>
                </a:solidFill>
                <a:latin typeface="Noto Sans CJK KR"/>
              </a:rPr>
              <a:t>Handshake/병렬 구조 분석</a:t>
            </a:r>
            <a:r>
              <a:rPr lang="ko-KR" altLang="en-US" sz="1000" b="0">
                <a:solidFill>
                  <a:srgbClr val="27303b"/>
                </a:solidFill>
                <a:latin typeface="Noto Sans CJK KR"/>
              </a:rPr>
              <a:t>해 조합 경로를 줄이고 배선을 재검증해</a:t>
            </a:r>
            <a:endParaRPr lang="ko-KR" altLang="en-US" sz="1000" b="0">
              <a:solidFill>
                <a:srgbClr val="27303b"/>
              </a:solidFill>
              <a:latin typeface="Noto Sans CJK KR"/>
            </a:endParaRPr>
          </a:p>
          <a:p>
            <a:pPr algn="ctr">
              <a:defRPr/>
            </a:pPr>
            <a:r>
              <a:rPr sz="1000" b="0">
                <a:solidFill>
                  <a:srgbClr val="27303b"/>
                </a:solidFill>
                <a:latin typeface="Noto Sans CJK KR"/>
              </a:rPr>
              <a:t>→ routing 오류 96%↓</a:t>
            </a:r>
            <a:endParaRPr sz="1000" b="0">
              <a:solidFill>
                <a:srgbClr val="27303b"/>
              </a:solidFill>
              <a:latin typeface="Noto Sans CJK KR"/>
            </a:endParaRPr>
          </a:p>
        </p:txBody>
      </p:sp>
      <p:sp>
        <p:nvSpPr>
          <p:cNvPr id="20" name="Rectangle 19"/>
          <p:cNvSpPr/>
          <p:nvPr/>
        </p:nvSpPr>
        <p:spPr>
          <a:xfrm>
            <a:off x="411480" y="2551176"/>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1" name="TextBox 20"/>
          <p:cNvSpPr txBox="1"/>
          <p:nvPr/>
        </p:nvSpPr>
        <p:spPr>
          <a:xfrm>
            <a:off x="1221105" y="2802255"/>
            <a:ext cx="948690" cy="243840"/>
          </a:xfrm>
          <a:prstGeom prst="rect">
            <a:avLst/>
          </a:prstGeom>
          <a:noFill/>
        </p:spPr>
        <p:txBody>
          <a:bodyPr wrap="none" lIns="45720" rIns="45720" anchor="ctr">
            <a:spAutoFit/>
          </a:bodyPr>
          <a:lstStyle/>
          <a:p>
            <a:pPr algn="ctr">
              <a:defRPr/>
            </a:pPr>
            <a:r>
              <a:rPr sz="1000" b="0">
                <a:solidFill>
                  <a:srgbClr val="27303b"/>
                </a:solidFill>
                <a:latin typeface="Noto Sans CJK KR"/>
              </a:rPr>
              <a:t>자원·배선 포화</a:t>
            </a:r>
            <a:endParaRPr sz="1000" b="0">
              <a:solidFill>
                <a:srgbClr val="27303b"/>
              </a:solidFill>
              <a:latin typeface="Noto Sans CJK KR"/>
            </a:endParaRPr>
          </a:p>
        </p:txBody>
      </p:sp>
      <p:sp>
        <p:nvSpPr>
          <p:cNvPr id="22" name="Rectangle 21"/>
          <p:cNvSpPr/>
          <p:nvPr/>
        </p:nvSpPr>
        <p:spPr>
          <a:xfrm>
            <a:off x="3172968" y="2551176"/>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TextBox 22"/>
          <p:cNvSpPr txBox="1"/>
          <p:nvPr/>
        </p:nvSpPr>
        <p:spPr>
          <a:xfrm>
            <a:off x="3630930" y="2735580"/>
            <a:ext cx="2539364" cy="396240"/>
          </a:xfrm>
          <a:prstGeom prst="rect">
            <a:avLst/>
          </a:prstGeom>
          <a:noFill/>
        </p:spPr>
        <p:txBody>
          <a:bodyPr wrap="none" lIns="45720" rIns="45720" anchor="ctr">
            <a:spAutoFit/>
          </a:bodyPr>
          <a:lstStyle/>
          <a:p>
            <a:pPr algn="ctr">
              <a:defRPr/>
            </a:pPr>
            <a:r>
              <a:rPr sz="1000" b="0">
                <a:solidFill>
                  <a:srgbClr val="27303b"/>
                </a:solidFill>
                <a:latin typeface="Noto Sans CJK KR"/>
              </a:rPr>
              <a:t>cv2</a:t>
            </a:r>
            <a:r>
              <a:rPr lang="ko-KR" altLang="en-US" sz="1000" b="0">
                <a:solidFill>
                  <a:srgbClr val="27303b"/>
                </a:solidFill>
                <a:latin typeface="Noto Sans CJK KR"/>
              </a:rPr>
              <a:t> 까지 </a:t>
            </a:r>
            <a:r>
              <a:rPr lang="en-US" altLang="ko-KR" sz="1000" b="0">
                <a:solidFill>
                  <a:srgbClr val="27303b"/>
                </a:solidFill>
                <a:latin typeface="Noto Sans CJK KR"/>
              </a:rPr>
              <a:t>FPGA</a:t>
            </a:r>
            <a:r>
              <a:rPr lang="ko-KR" altLang="en-US" sz="1000" b="0">
                <a:solidFill>
                  <a:srgbClr val="27303b"/>
                </a:solidFill>
                <a:latin typeface="Noto Sans CJK KR"/>
              </a:rPr>
              <a:t>에</a:t>
            </a:r>
            <a:r>
              <a:rPr sz="1000" b="0">
                <a:solidFill>
                  <a:srgbClr val="27303b"/>
                </a:solidFill>
                <a:latin typeface="Noto Sans CJK KR"/>
              </a:rPr>
              <a:t> 포함 LUT</a:t>
            </a:r>
            <a:r>
              <a:rPr lang="ko-KR" altLang="en-US" sz="1000" b="0">
                <a:solidFill>
                  <a:srgbClr val="27303b"/>
                </a:solidFill>
                <a:latin typeface="Noto Sans CJK KR"/>
              </a:rPr>
              <a:t> 사용률 </a:t>
            </a:r>
            <a:r>
              <a:rPr sz="1000" b="0">
                <a:solidFill>
                  <a:srgbClr val="27303b"/>
                </a:solidFill>
                <a:latin typeface="Noto Sans CJK KR"/>
              </a:rPr>
              <a:t>≈ 91%</a:t>
            </a:r>
            <a:endParaRPr sz="1000" b="0">
              <a:solidFill>
                <a:srgbClr val="27303b"/>
              </a:solidFill>
              <a:latin typeface="Noto Sans CJK KR"/>
            </a:endParaRPr>
          </a:p>
          <a:p>
            <a:pPr algn="ctr">
              <a:defRPr/>
            </a:pPr>
            <a:r>
              <a:rPr lang="en-US" altLang="ko-KR" sz="1000" b="0">
                <a:solidFill>
                  <a:srgbClr val="27303b"/>
                </a:solidFill>
                <a:latin typeface="Noto Sans CJK KR"/>
              </a:rPr>
              <a:t>(</a:t>
            </a:r>
            <a:r>
              <a:rPr lang="ko-KR" altLang="en-US" sz="1000" b="0">
                <a:solidFill>
                  <a:srgbClr val="27303b"/>
                </a:solidFill>
                <a:latin typeface="Noto Sans CJK KR"/>
              </a:rPr>
              <a:t>배선 혼잡도 증가</a:t>
            </a:r>
            <a:r>
              <a:rPr lang="en-US" altLang="ko-KR" sz="1000" b="0">
                <a:solidFill>
                  <a:srgbClr val="27303b"/>
                </a:solidFill>
                <a:latin typeface="Noto Sans CJK KR"/>
              </a:rPr>
              <a:t>)</a:t>
            </a:r>
            <a:endParaRPr lang="en-US" altLang="ko-KR" sz="1000" b="0">
              <a:solidFill>
                <a:srgbClr val="27303b"/>
              </a:solidFill>
              <a:latin typeface="Noto Sans CJK KR"/>
            </a:endParaRPr>
          </a:p>
        </p:txBody>
      </p:sp>
      <p:sp>
        <p:nvSpPr>
          <p:cNvPr id="24" name="Rectangle 23"/>
          <p:cNvSpPr/>
          <p:nvPr/>
        </p:nvSpPr>
        <p:spPr>
          <a:xfrm>
            <a:off x="6784848" y="2551176"/>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5" name="TextBox 24"/>
          <p:cNvSpPr txBox="1"/>
          <p:nvPr/>
        </p:nvSpPr>
        <p:spPr>
          <a:xfrm>
            <a:off x="7212330" y="2687955"/>
            <a:ext cx="3863340" cy="501015"/>
          </a:xfrm>
          <a:prstGeom prst="rect">
            <a:avLst/>
          </a:prstGeom>
          <a:noFill/>
        </p:spPr>
        <p:txBody>
          <a:bodyPr wrap="none" lIns="45720" rIns="45720" anchor="ctr">
            <a:spAutoFit/>
          </a:bodyPr>
          <a:lstStyle/>
          <a:p>
            <a:pPr algn="ctr">
              <a:defRPr/>
            </a:pPr>
            <a:r>
              <a:rPr sz="1000" b="0">
                <a:solidFill>
                  <a:srgbClr val="27303b"/>
                </a:solidFill>
                <a:latin typeface="Noto Sans CJK KR"/>
              </a:rPr>
              <a:t>cv2 CPU 이전</a:t>
            </a:r>
            <a:endParaRPr sz="1000" b="0">
              <a:solidFill>
                <a:srgbClr val="27303b"/>
              </a:solidFill>
              <a:latin typeface="Noto Sans CJK KR"/>
            </a:endParaRPr>
          </a:p>
          <a:p>
            <a:pPr algn="ctr">
              <a:defRPr/>
            </a:pPr>
            <a:r>
              <a:rPr sz="1000" b="0">
                <a:solidFill>
                  <a:srgbClr val="27303b"/>
                </a:solidFill>
                <a:latin typeface="Noto Sans CJK KR"/>
              </a:rPr>
              <a:t>→ LUT ≈ 56%</a:t>
            </a:r>
            <a:endParaRPr sz="1000" b="0">
              <a:solidFill>
                <a:srgbClr val="27303b"/>
              </a:solidFill>
              <a:latin typeface="Noto Sans CJK KR"/>
            </a:endParaRPr>
          </a:p>
          <a:p>
            <a:pPr algn="ctr">
              <a:defRPr/>
            </a:pPr>
            <a:r>
              <a:rPr lang="en-US" altLang="ko-KR" sz="700" b="0">
                <a:solidFill>
                  <a:srgbClr val="27303b"/>
                </a:solidFill>
                <a:latin typeface="Noto Sans CJK KR"/>
              </a:rPr>
              <a:t>(FPGA </a:t>
            </a:r>
            <a:r>
              <a:rPr lang="ko-KR" altLang="en-US" sz="700" b="0">
                <a:solidFill>
                  <a:srgbClr val="27303b"/>
                </a:solidFill>
                <a:latin typeface="Noto Sans CJK KR"/>
              </a:rPr>
              <a:t>자원 사용량뿐 아니라 실제 배선 가능성까지 고려햐 하드웨어 경계를 다시 정했습니다</a:t>
            </a:r>
            <a:r>
              <a:rPr lang="en-US" altLang="ko-KR" sz="700" b="0">
                <a:solidFill>
                  <a:srgbClr val="27303b"/>
                </a:solidFill>
                <a:latin typeface="Noto Sans CJK KR"/>
              </a:rPr>
              <a:t>)</a:t>
            </a:r>
            <a:endParaRPr lang="en-US" altLang="ko-KR" sz="700" b="0">
              <a:solidFill>
                <a:srgbClr val="27303b"/>
              </a:solidFill>
              <a:latin typeface="Noto Sans CJK KR"/>
            </a:endParaRPr>
          </a:p>
        </p:txBody>
      </p:sp>
      <p:sp>
        <p:nvSpPr>
          <p:cNvPr id="26" name="Rectangle 25"/>
          <p:cNvSpPr/>
          <p:nvPr/>
        </p:nvSpPr>
        <p:spPr>
          <a:xfrm>
            <a:off x="411480" y="3383280"/>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7" name="TextBox 26"/>
          <p:cNvSpPr txBox="1"/>
          <p:nvPr/>
        </p:nvSpPr>
        <p:spPr>
          <a:xfrm>
            <a:off x="1287780" y="3630930"/>
            <a:ext cx="805815" cy="243840"/>
          </a:xfrm>
          <a:prstGeom prst="rect">
            <a:avLst/>
          </a:prstGeom>
          <a:noFill/>
        </p:spPr>
        <p:txBody>
          <a:bodyPr wrap="none" lIns="45720" rIns="45720" anchor="ctr">
            <a:spAutoFit/>
          </a:bodyPr>
          <a:lstStyle/>
          <a:p>
            <a:pPr algn="ctr">
              <a:defRPr/>
            </a:pPr>
            <a:r>
              <a:rPr sz="1000" b="0">
                <a:solidFill>
                  <a:srgbClr val="27303b"/>
                </a:solidFill>
                <a:latin typeface="Noto Sans CJK KR"/>
              </a:rPr>
              <a:t>Stream 교착</a:t>
            </a:r>
            <a:endParaRPr sz="1000" b="0">
              <a:solidFill>
                <a:srgbClr val="27303b"/>
              </a:solidFill>
              <a:latin typeface="Noto Sans CJK KR"/>
            </a:endParaRPr>
          </a:p>
        </p:txBody>
      </p:sp>
      <p:sp>
        <p:nvSpPr>
          <p:cNvPr id="28" name="Rectangle 27"/>
          <p:cNvSpPr/>
          <p:nvPr/>
        </p:nvSpPr>
        <p:spPr>
          <a:xfrm>
            <a:off x="3172968" y="3383280"/>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9" name="TextBox 28"/>
          <p:cNvSpPr txBox="1"/>
          <p:nvPr/>
        </p:nvSpPr>
        <p:spPr>
          <a:xfrm>
            <a:off x="3278504" y="3602355"/>
            <a:ext cx="3244216" cy="348615"/>
          </a:xfrm>
          <a:prstGeom prst="rect">
            <a:avLst/>
          </a:prstGeom>
          <a:noFill/>
        </p:spPr>
        <p:txBody>
          <a:bodyPr wrap="square" lIns="45720" rIns="45720" anchor="ctr">
            <a:spAutoFit/>
          </a:bodyPr>
          <a:lstStyle/>
          <a:p>
            <a:pPr algn="ctr">
              <a:defRPr/>
            </a:pPr>
            <a:r>
              <a:rPr lang="en-US" altLang="ko-KR" sz="1000" b="0">
                <a:solidFill>
                  <a:srgbClr val="27303b"/>
                </a:solidFill>
                <a:latin typeface="Noto Sans CJK KR"/>
              </a:rPr>
              <a:t>Simulation</a:t>
            </a:r>
            <a:r>
              <a:rPr lang="ko-KR" altLang="en-US" sz="1000" b="0">
                <a:solidFill>
                  <a:srgbClr val="27303b"/>
                </a:solidFill>
                <a:latin typeface="Noto Sans CJK KR"/>
              </a:rPr>
              <a:t>은</a:t>
            </a:r>
            <a:r>
              <a:rPr lang="en-US" altLang="ko-KR" sz="1000" b="0">
                <a:solidFill>
                  <a:srgbClr val="27303b"/>
                </a:solidFill>
                <a:latin typeface="Noto Sans CJK KR"/>
              </a:rPr>
              <a:t> PASS</a:t>
            </a:r>
            <a:r>
              <a:rPr lang="ko-KR" altLang="en-US" sz="1000" b="0">
                <a:solidFill>
                  <a:srgbClr val="27303b"/>
                </a:solidFill>
                <a:latin typeface="Noto Sans CJK KR"/>
              </a:rPr>
              <a:t> 하지만</a:t>
            </a:r>
            <a:r>
              <a:rPr lang="en-US" altLang="ko-KR" sz="1000" b="0">
                <a:solidFill>
                  <a:srgbClr val="27303b"/>
                </a:solidFill>
                <a:latin typeface="Noto Sans CJK KR"/>
              </a:rPr>
              <a:t> HW</a:t>
            </a:r>
            <a:r>
              <a:rPr lang="ko-KR" altLang="en-US" sz="1000" b="0">
                <a:solidFill>
                  <a:srgbClr val="27303b"/>
                </a:solidFill>
                <a:latin typeface="Noto Sans CJK KR"/>
              </a:rPr>
              <a:t>는 </a:t>
            </a:r>
            <a:r>
              <a:rPr sz="1000" b="0">
                <a:solidFill>
                  <a:srgbClr val="27303b"/>
                </a:solidFill>
                <a:latin typeface="Noto Sans CJK KR"/>
              </a:rPr>
              <a:t>약 82 pixel에서 정지</a:t>
            </a:r>
            <a:endParaRPr sz="1000" b="0">
              <a:solidFill>
                <a:srgbClr val="27303b"/>
              </a:solidFill>
              <a:latin typeface="Noto Sans CJK KR"/>
            </a:endParaRPr>
          </a:p>
          <a:p>
            <a:pPr algn="ctr">
              <a:defRPr/>
            </a:pPr>
            <a:r>
              <a:rPr lang="en-US" altLang="ko-KR" sz="700" b="0">
                <a:solidFill>
                  <a:srgbClr val="27303b"/>
                </a:solidFill>
                <a:latin typeface="Noto Sans CJK KR"/>
              </a:rPr>
              <a:t>(</a:t>
            </a:r>
            <a:r>
              <a:rPr lang="ko-KR" altLang="en-US" sz="700" b="0">
                <a:solidFill>
                  <a:srgbClr val="27303b"/>
                </a:solidFill>
                <a:latin typeface="Noto Sans CJK KR"/>
              </a:rPr>
              <a:t>생산자와 소비자의 데이터 처리 속도가 맞지 않아 서로 기다리는 상태</a:t>
            </a:r>
            <a:r>
              <a:rPr lang="en-US" altLang="ko-KR" sz="700" b="0">
                <a:solidFill>
                  <a:srgbClr val="27303b"/>
                </a:solidFill>
                <a:latin typeface="Noto Sans CJK KR"/>
              </a:rPr>
              <a:t>)</a:t>
            </a:r>
            <a:endParaRPr lang="en-US" altLang="ko-KR" sz="700" b="0">
              <a:solidFill>
                <a:srgbClr val="27303b"/>
              </a:solidFill>
              <a:latin typeface="Noto Sans CJK KR"/>
            </a:endParaRPr>
          </a:p>
        </p:txBody>
      </p:sp>
      <p:sp>
        <p:nvSpPr>
          <p:cNvPr id="30" name="Rectangle 29"/>
          <p:cNvSpPr/>
          <p:nvPr/>
        </p:nvSpPr>
        <p:spPr>
          <a:xfrm>
            <a:off x="6784848" y="3383280"/>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1" name="TextBox 30"/>
          <p:cNvSpPr txBox="1"/>
          <p:nvPr/>
        </p:nvSpPr>
        <p:spPr>
          <a:xfrm>
            <a:off x="7869554" y="3554730"/>
            <a:ext cx="2663191" cy="396240"/>
          </a:xfrm>
          <a:prstGeom prst="rect">
            <a:avLst/>
          </a:prstGeom>
          <a:noFill/>
        </p:spPr>
        <p:txBody>
          <a:bodyPr wrap="none" lIns="45720" rIns="45720" anchor="ctr">
            <a:spAutoFit/>
          </a:bodyPr>
          <a:lstStyle/>
          <a:p>
            <a:pPr algn="ctr">
              <a:defRPr/>
            </a:pPr>
            <a:r>
              <a:rPr sz="1000" b="0">
                <a:solidFill>
                  <a:srgbClr val="27303b"/>
                </a:solidFill>
                <a:latin typeface="Noto Sans CJK KR"/>
              </a:rPr>
              <a:t>DATAFLOW + FIFO</a:t>
            </a:r>
            <a:r>
              <a:rPr lang="ko-KR" altLang="en-US" sz="1000" b="0">
                <a:solidFill>
                  <a:srgbClr val="27303b"/>
                </a:solidFill>
                <a:latin typeface="Noto Sans CJK KR"/>
              </a:rPr>
              <a:t> 구조를 조정해 </a:t>
            </a:r>
            <a:r>
              <a:rPr lang="en-US" altLang="ko-KR" sz="1000" b="0">
                <a:solidFill>
                  <a:srgbClr val="27303b"/>
                </a:solidFill>
                <a:latin typeface="Noto Sans CJK KR"/>
              </a:rPr>
              <a:t>40x40, </a:t>
            </a:r>
            <a:r>
              <a:rPr lang="ko-KR" altLang="en-US" sz="1000" b="0">
                <a:solidFill>
                  <a:srgbClr val="27303b"/>
                </a:solidFill>
                <a:latin typeface="Noto Sans CJK KR"/>
              </a:rPr>
              <a:t>즉</a:t>
            </a:r>
            <a:endParaRPr lang="ko-KR" altLang="en-US" sz="1000" b="0">
              <a:solidFill>
                <a:srgbClr val="27303b"/>
              </a:solidFill>
              <a:latin typeface="Noto Sans CJK KR"/>
            </a:endParaRPr>
          </a:p>
          <a:p>
            <a:pPr algn="ctr">
              <a:defRPr/>
            </a:pPr>
            <a:r>
              <a:rPr sz="1000" b="0">
                <a:solidFill>
                  <a:srgbClr val="27303b"/>
                </a:solidFill>
                <a:latin typeface="Noto Sans CJK KR"/>
              </a:rPr>
              <a:t>→ 1,600 pixel 처리</a:t>
            </a:r>
            <a:r>
              <a:rPr lang="ko-KR" altLang="en-US" sz="1000" b="0">
                <a:solidFill>
                  <a:srgbClr val="27303b"/>
                </a:solidFill>
                <a:latin typeface="Noto Sans CJK KR"/>
              </a:rPr>
              <a:t>하도록 개선</a:t>
            </a:r>
            <a:endParaRPr lang="ko-KR" altLang="en-US" sz="1000" b="0">
              <a:solidFill>
                <a:srgbClr val="27303b"/>
              </a:solidFill>
              <a:latin typeface="Noto Sans CJK KR"/>
            </a:endParaRPr>
          </a:p>
        </p:txBody>
      </p:sp>
      <p:sp>
        <p:nvSpPr>
          <p:cNvPr id="32" name="Rectangle 31"/>
          <p:cNvSpPr/>
          <p:nvPr/>
        </p:nvSpPr>
        <p:spPr>
          <a:xfrm>
            <a:off x="411480" y="4215384"/>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3" name="TextBox 32"/>
          <p:cNvSpPr txBox="1"/>
          <p:nvPr/>
        </p:nvSpPr>
        <p:spPr>
          <a:xfrm>
            <a:off x="1240155" y="4469130"/>
            <a:ext cx="901065" cy="243840"/>
          </a:xfrm>
          <a:prstGeom prst="rect">
            <a:avLst/>
          </a:prstGeom>
          <a:noFill/>
        </p:spPr>
        <p:txBody>
          <a:bodyPr wrap="none" lIns="45720" rIns="45720" anchor="ctr">
            <a:spAutoFit/>
          </a:bodyPr>
          <a:lstStyle/>
          <a:p>
            <a:pPr algn="ctr">
              <a:defRPr/>
            </a:pPr>
            <a:r>
              <a:rPr sz="1000" b="0">
                <a:solidFill>
                  <a:srgbClr val="27303b"/>
                </a:solidFill>
                <a:latin typeface="Noto Sans CJK KR"/>
              </a:rPr>
              <a:t>출력값 불일치</a:t>
            </a:r>
            <a:endParaRPr sz="1000" b="0">
              <a:solidFill>
                <a:srgbClr val="27303b"/>
              </a:solidFill>
              <a:latin typeface="Noto Sans CJK KR"/>
            </a:endParaRPr>
          </a:p>
        </p:txBody>
      </p:sp>
      <p:sp>
        <p:nvSpPr>
          <p:cNvPr id="34" name="Rectangle 33"/>
          <p:cNvSpPr/>
          <p:nvPr/>
        </p:nvSpPr>
        <p:spPr>
          <a:xfrm>
            <a:off x="3172968" y="4215384"/>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ltLang="ko-KR"/>
              <a:t>`</a:t>
            </a:r>
            <a:endParaRPr lang="en-US" altLang="ko-KR"/>
          </a:p>
        </p:txBody>
      </p:sp>
      <p:sp>
        <p:nvSpPr>
          <p:cNvPr id="35" name="TextBox 34"/>
          <p:cNvSpPr txBox="1"/>
          <p:nvPr/>
        </p:nvSpPr>
        <p:spPr>
          <a:xfrm>
            <a:off x="3297555" y="4402455"/>
            <a:ext cx="3101339" cy="396240"/>
          </a:xfrm>
          <a:prstGeom prst="rect">
            <a:avLst/>
          </a:prstGeom>
          <a:noFill/>
        </p:spPr>
        <p:txBody>
          <a:bodyPr wrap="none" lIns="45720" rIns="45720" anchor="ctr">
            <a:spAutoFit/>
          </a:bodyPr>
          <a:lstStyle/>
          <a:p>
            <a:pPr algn="ctr">
              <a:defRPr/>
            </a:pPr>
            <a:r>
              <a:rPr lang="en-US" altLang="ko-KR" sz="1000" b="0">
                <a:solidFill>
                  <a:srgbClr val="27303b"/>
                </a:solidFill>
                <a:latin typeface="Noto Sans CJK KR"/>
              </a:rPr>
              <a:t>CPU</a:t>
            </a:r>
            <a:r>
              <a:rPr lang="ko-KR" altLang="en-US" sz="1000" b="0">
                <a:solidFill>
                  <a:srgbClr val="27303b"/>
                </a:solidFill>
                <a:latin typeface="Noto Sans CJK KR"/>
              </a:rPr>
              <a:t>와 </a:t>
            </a:r>
            <a:r>
              <a:rPr lang="en-US" altLang="ko-KR" sz="1000" b="0">
                <a:solidFill>
                  <a:srgbClr val="27303b"/>
                </a:solidFill>
                <a:latin typeface="Noto Sans CJK KR"/>
              </a:rPr>
              <a:t>FPGA</a:t>
            </a:r>
            <a:r>
              <a:rPr lang="ko-KR" altLang="en-US" sz="1000" b="0">
                <a:solidFill>
                  <a:srgbClr val="27303b"/>
                </a:solidFill>
                <a:latin typeface="Noto Sans CJK KR"/>
              </a:rPr>
              <a:t>가 </a:t>
            </a:r>
            <a:r>
              <a:rPr sz="1000" b="0">
                <a:solidFill>
                  <a:srgbClr val="27303b"/>
                </a:solidFill>
                <a:latin typeface="Noto Sans CJK KR"/>
              </a:rPr>
              <a:t>BRAM 주소</a:t>
            </a:r>
            <a:r>
              <a:rPr lang="ko-KR" altLang="en-US" sz="1000" b="0">
                <a:solidFill>
                  <a:srgbClr val="27303b"/>
                </a:solidFill>
                <a:latin typeface="Noto Sans CJK KR"/>
              </a:rPr>
              <a:t>를 해석하는 단위가 달라</a:t>
            </a:r>
            <a:endParaRPr lang="ko-KR" altLang="en-US" sz="1000" b="0">
              <a:solidFill>
                <a:srgbClr val="27303b"/>
              </a:solidFill>
              <a:latin typeface="Noto Sans CJK KR"/>
            </a:endParaRPr>
          </a:p>
          <a:p>
            <a:pPr algn="ctr">
              <a:defRPr/>
            </a:pPr>
            <a:r>
              <a:rPr sz="1000" b="0">
                <a:solidFill>
                  <a:srgbClr val="27303b"/>
                </a:solidFill>
                <a:latin typeface="Noto Sans CJK KR"/>
              </a:rPr>
              <a:t>CHW/HWC 경계 충돌</a:t>
            </a:r>
            <a:endParaRPr sz="1000" b="0">
              <a:solidFill>
                <a:srgbClr val="27303b"/>
              </a:solidFill>
              <a:latin typeface="Noto Sans CJK KR"/>
            </a:endParaRPr>
          </a:p>
        </p:txBody>
      </p:sp>
      <p:sp>
        <p:nvSpPr>
          <p:cNvPr id="36" name="Rectangle 35"/>
          <p:cNvSpPr/>
          <p:nvPr/>
        </p:nvSpPr>
        <p:spPr>
          <a:xfrm>
            <a:off x="6784848" y="4215384"/>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7" name="TextBox 36"/>
          <p:cNvSpPr txBox="1"/>
          <p:nvPr/>
        </p:nvSpPr>
        <p:spPr>
          <a:xfrm>
            <a:off x="8136253" y="4404360"/>
            <a:ext cx="2244092" cy="396240"/>
          </a:xfrm>
          <a:prstGeom prst="rect">
            <a:avLst/>
          </a:prstGeom>
          <a:noFill/>
        </p:spPr>
        <p:txBody>
          <a:bodyPr wrap="none" lIns="45720" rIns="45720" anchor="ctr">
            <a:spAutoFit/>
          </a:bodyPr>
          <a:lstStyle/>
          <a:p>
            <a:pPr algn="ctr">
              <a:defRPr/>
            </a:pPr>
            <a:r>
              <a:rPr sz="1000" b="0">
                <a:solidFill>
                  <a:srgbClr val="27303b"/>
                </a:solidFill>
                <a:latin typeface="Noto Sans CJK KR"/>
              </a:rPr>
              <a:t>stride-4 COE + HWC 계약</a:t>
            </a:r>
            <a:r>
              <a:rPr lang="ko-KR" altLang="en-US" sz="1000" b="0">
                <a:solidFill>
                  <a:srgbClr val="27303b"/>
                </a:solidFill>
                <a:latin typeface="Noto Sans CJK KR"/>
              </a:rPr>
              <a:t>을 적용했고</a:t>
            </a:r>
            <a:endParaRPr lang="ko-KR" altLang="en-US" sz="1000" b="0">
              <a:solidFill>
                <a:srgbClr val="27303b"/>
              </a:solidFill>
              <a:latin typeface="Noto Sans CJK KR"/>
            </a:endParaRPr>
          </a:p>
          <a:p>
            <a:pPr algn="ctr">
              <a:defRPr/>
            </a:pPr>
            <a:r>
              <a:rPr sz="1000" b="0">
                <a:solidFill>
                  <a:srgbClr val="27303b"/>
                </a:solidFill>
                <a:latin typeface="Noto Sans CJK KR"/>
              </a:rPr>
              <a:t>→ 팀</a:t>
            </a:r>
            <a:r>
              <a:rPr lang="ko-KR" altLang="en-US" sz="1000" b="0">
                <a:solidFill>
                  <a:srgbClr val="27303b"/>
                </a:solidFill>
                <a:latin typeface="Noto Sans CJK KR"/>
              </a:rPr>
              <a:t>검증 구간에서 </a:t>
            </a:r>
            <a:r>
              <a:rPr sz="1000" b="0">
                <a:solidFill>
                  <a:srgbClr val="27303b"/>
                </a:solidFill>
                <a:latin typeface="Noto Sans CJK KR"/>
              </a:rPr>
              <a:t> mismatch 0</a:t>
            </a:r>
            <a:r>
              <a:rPr lang="ko-KR" altLang="en-US" sz="1000" b="0">
                <a:solidFill>
                  <a:srgbClr val="27303b"/>
                </a:solidFill>
                <a:latin typeface="Noto Sans CJK KR"/>
              </a:rPr>
              <a:t> 확인</a:t>
            </a:r>
            <a:endParaRPr lang="ko-KR" altLang="en-US" sz="1000" b="0">
              <a:solidFill>
                <a:srgbClr val="27303b"/>
              </a:solidFill>
              <a:latin typeface="Noto Sans CJK KR"/>
            </a:endParaRPr>
          </a:p>
        </p:txBody>
      </p:sp>
      <p:sp>
        <p:nvSpPr>
          <p:cNvPr id="38" name="Rectangle 37"/>
          <p:cNvSpPr/>
          <p:nvPr/>
        </p:nvSpPr>
        <p:spPr>
          <a:xfrm>
            <a:off x="411480" y="5047488"/>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9" name="TextBox 38"/>
          <p:cNvSpPr txBox="1"/>
          <p:nvPr/>
        </p:nvSpPr>
        <p:spPr>
          <a:xfrm>
            <a:off x="1202055" y="5297805"/>
            <a:ext cx="977265" cy="243840"/>
          </a:xfrm>
          <a:prstGeom prst="rect">
            <a:avLst/>
          </a:prstGeom>
          <a:noFill/>
        </p:spPr>
        <p:txBody>
          <a:bodyPr wrap="none" lIns="45720" rIns="45720" anchor="ctr">
            <a:spAutoFit/>
          </a:bodyPr>
          <a:lstStyle/>
          <a:p>
            <a:pPr algn="ctr">
              <a:defRPr/>
            </a:pPr>
            <a:r>
              <a:rPr sz="1000" b="0">
                <a:solidFill>
                  <a:srgbClr val="27303b"/>
                </a:solidFill>
                <a:latin typeface="Noto Sans CJK KR"/>
              </a:rPr>
              <a:t>DMA·보드 대기</a:t>
            </a:r>
            <a:endParaRPr sz="1000" b="0">
              <a:solidFill>
                <a:srgbClr val="27303b"/>
              </a:solidFill>
              <a:latin typeface="Noto Sans CJK KR"/>
            </a:endParaRPr>
          </a:p>
        </p:txBody>
      </p:sp>
      <p:sp>
        <p:nvSpPr>
          <p:cNvPr id="40" name="Rectangle 39"/>
          <p:cNvSpPr/>
          <p:nvPr/>
        </p:nvSpPr>
        <p:spPr>
          <a:xfrm>
            <a:off x="3172968" y="5047488"/>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1" name="TextBox 40"/>
          <p:cNvSpPr txBox="1"/>
          <p:nvPr/>
        </p:nvSpPr>
        <p:spPr>
          <a:xfrm>
            <a:off x="4145280" y="5240655"/>
            <a:ext cx="1472565" cy="396240"/>
          </a:xfrm>
          <a:prstGeom prst="rect">
            <a:avLst/>
          </a:prstGeom>
          <a:noFill/>
        </p:spPr>
        <p:txBody>
          <a:bodyPr wrap="none" lIns="45720" rIns="45720" anchor="ctr">
            <a:spAutoFit/>
          </a:bodyPr>
          <a:lstStyle/>
          <a:p>
            <a:pPr algn="ctr">
              <a:defRPr/>
            </a:pPr>
            <a:r>
              <a:rPr sz="1000" b="0">
                <a:solidFill>
                  <a:srgbClr val="27303b"/>
                </a:solidFill>
                <a:latin typeface="Noto Sans CJK KR"/>
              </a:rPr>
              <a:t>14-bit length &lt; 409,600B</a:t>
            </a:r>
            <a:endParaRPr sz="1000" b="0">
              <a:solidFill>
                <a:srgbClr val="27303b"/>
              </a:solidFill>
              <a:latin typeface="Noto Sans CJK KR"/>
            </a:endParaRPr>
          </a:p>
          <a:p>
            <a:pPr algn="ctr">
              <a:defRPr/>
            </a:pPr>
            <a:r>
              <a:rPr sz="1000" b="0">
                <a:solidFill>
                  <a:srgbClr val="27303b"/>
                </a:solidFill>
                <a:latin typeface="Noto Sans CJK KR"/>
              </a:rPr>
              <a:t>MMIO kernel hang</a:t>
            </a:r>
            <a:endParaRPr lang="ko-KR" altLang="en-US" sz="1000" b="0">
              <a:solidFill>
                <a:srgbClr val="27303b"/>
              </a:solidFill>
              <a:latin typeface="Noto Sans CJK KR"/>
            </a:endParaRPr>
          </a:p>
        </p:txBody>
      </p:sp>
      <p:sp>
        <p:nvSpPr>
          <p:cNvPr id="42" name="Rectangle 41"/>
          <p:cNvSpPr/>
          <p:nvPr/>
        </p:nvSpPr>
        <p:spPr>
          <a:xfrm>
            <a:off x="6784848" y="5047488"/>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3" name="TextBox 42"/>
          <p:cNvSpPr txBox="1"/>
          <p:nvPr/>
        </p:nvSpPr>
        <p:spPr>
          <a:xfrm>
            <a:off x="8469630" y="5221605"/>
            <a:ext cx="1586865" cy="396240"/>
          </a:xfrm>
          <a:prstGeom prst="rect">
            <a:avLst/>
          </a:prstGeom>
          <a:noFill/>
        </p:spPr>
        <p:txBody>
          <a:bodyPr wrap="none" lIns="45720" rIns="45720" anchor="ctr">
            <a:spAutoFit/>
          </a:bodyPr>
          <a:lstStyle/>
          <a:p>
            <a:pPr algn="ctr">
              <a:defRPr/>
            </a:pPr>
            <a:r>
              <a:rPr sz="1000" b="0">
                <a:solidFill>
                  <a:srgbClr val="27303b"/>
                </a:solidFill>
                <a:latin typeface="Noto Sans CJK KR"/>
              </a:rPr>
              <a:t>DMA 14→26bit / IOC 판정</a:t>
            </a:r>
            <a:endParaRPr sz="1000" b="0">
              <a:solidFill>
                <a:srgbClr val="27303b"/>
              </a:solidFill>
              <a:latin typeface="Noto Sans CJK KR"/>
            </a:endParaRPr>
          </a:p>
          <a:p>
            <a:pPr algn="ctr">
              <a:defRPr/>
            </a:pPr>
            <a:r>
              <a:rPr sz="1000" b="0">
                <a:solidFill>
                  <a:srgbClr val="27303b"/>
                </a:solidFill>
                <a:latin typeface="Noto Sans CJK KR"/>
              </a:rPr>
              <a:t>→ 개인 Overlay 검증</a:t>
            </a:r>
            <a:endParaRPr sz="1000" b="0">
              <a:solidFill>
                <a:srgbClr val="27303b"/>
              </a:solidFill>
              <a:latin typeface="Noto Sans CJK KR"/>
            </a:endParaRPr>
          </a:p>
        </p:txBody>
      </p:sp>
      <p:sp>
        <p:nvSpPr>
          <p:cNvPr id="44" name="Rounded Rectangle 43"/>
          <p:cNvSpPr/>
          <p:nvPr/>
        </p:nvSpPr>
        <p:spPr>
          <a:xfrm>
            <a:off x="411480" y="5989320"/>
            <a:ext cx="11338560" cy="384048"/>
          </a:xfrm>
          <a:prstGeom prst="roundRect">
            <a:avLst>
              <a:gd name="adj" fmla="val 16667"/>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5" name="TextBox 44"/>
          <p:cNvSpPr txBox="1"/>
          <p:nvPr/>
        </p:nvSpPr>
        <p:spPr>
          <a:xfrm>
            <a:off x="3259455" y="6059805"/>
            <a:ext cx="5625465" cy="243840"/>
          </a:xfrm>
          <a:prstGeom prst="rect">
            <a:avLst/>
          </a:prstGeom>
          <a:noFill/>
        </p:spPr>
        <p:txBody>
          <a:bodyPr wrap="none" lIns="45720" rIns="45720" anchor="ctr">
            <a:spAutoFit/>
          </a:bodyPr>
          <a:lstStyle/>
          <a:p>
            <a:pPr algn="ctr">
              <a:defRPr/>
            </a:pPr>
            <a:r>
              <a:rPr sz="1000" b="1">
                <a:solidFill>
                  <a:srgbClr val="ffffff"/>
                </a:solidFill>
                <a:latin typeface="Noto Sans CJK KR"/>
              </a:rPr>
              <a:t>검증 범위  |  Bitstream 성공  →  KV260 Overlay 로드  ·  DMA 실데이터 End-to-End는 후속 과제</a:t>
            </a:r>
            <a:endParaRPr sz="1000" b="1">
              <a:solidFill>
                <a:srgbClr val="ffffff"/>
              </a:solidFill>
              <a:latin typeface="Noto Sans CJK KR"/>
            </a:endParaRPr>
          </a:p>
        </p:txBody>
      </p:sp>
      <p:sp>
        <p:nvSpPr>
          <p:cNvPr id="46" name="TextBox 45"/>
          <p:cNvSpPr txBox="1"/>
          <p:nvPr/>
        </p:nvSpPr>
        <p:spPr>
          <a:xfrm>
            <a:off x="438912" y="6555105"/>
            <a:ext cx="233095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endParaRPr sz="800" b="0">
              <a:solidFill>
                <a:srgbClr val="66717c"/>
              </a:solidFill>
              <a:latin typeface="Noto Sans CJK KR"/>
            </a:endParaRPr>
          </a:p>
        </p:txBody>
      </p:sp>
      <p:sp>
        <p:nvSpPr>
          <p:cNvPr id="47" name="TextBox 46"/>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endParaRPr sz="800" b="1">
              <a:solidFill>
                <a:srgbClr val="236cb4"/>
              </a:solidFill>
              <a:latin typeface="Noto Sans CJK KR"/>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실제 개발 기록 — Vivado에서 Vitis/XSCT까지</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Timing·DRC·Bitstream을 확인한 뒤 KV260에 하드웨어와 ELF를 다운로드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vado_terminal.png"/>
          <p:cNvPicPr>
            <a:picLocks noChangeAspect="1"/>
          </p:cNvPicPr>
          <p:nvPr/>
        </p:nvPicPr>
        <p:blipFill>
          <a:blip r:embed="rId2"/>
          <a:stretch>
            <a:fillRect/>
          </a:stretch>
        </p:blipFill>
        <p:spPr>
          <a:xfrm>
            <a:off x="411480" y="1115568"/>
            <a:ext cx="5577840" cy="4526280"/>
          </a:xfrm>
          <a:prstGeom prst="rect">
            <a:avLst/>
          </a:prstGeom>
        </p:spPr>
      </p:pic>
      <p:pic>
        <p:nvPicPr>
          <p:cNvPr id="9" name="Picture 8" descr="vitis_terminal.png"/>
          <p:cNvPicPr>
            <a:picLocks noChangeAspect="1"/>
          </p:cNvPicPr>
          <p:nvPr/>
        </p:nvPicPr>
        <p:blipFill>
          <a:blip r:embed="rId3"/>
          <a:stretch>
            <a:fillRect/>
          </a:stretch>
        </p:blipFill>
        <p:spPr>
          <a:xfrm>
            <a:off x="6199632" y="1115568"/>
            <a:ext cx="5577840" cy="4526280"/>
          </a:xfrm>
          <a:prstGeom prst="rect">
            <a:avLst/>
          </a:prstGeom>
        </p:spPr>
      </p:pic>
      <p:sp>
        <p:nvSpPr>
          <p:cNvPr id="10" name="Rounded Rectangle 9"/>
          <p:cNvSpPr/>
          <p:nvPr/>
        </p:nvSpPr>
        <p:spPr>
          <a:xfrm>
            <a:off x="658368" y="5806440"/>
            <a:ext cx="265176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806440"/>
            <a:ext cx="2560320" cy="411480"/>
          </a:xfrm>
          <a:prstGeom prst="rect">
            <a:avLst/>
          </a:prstGeom>
          <a:noFill/>
        </p:spPr>
        <p:txBody>
          <a:bodyPr wrap="none" lIns="45720" rIns="45720" anchor="ctr">
            <a:spAutoFit/>
          </a:bodyPr>
          <a:lstStyle/>
          <a:p>
            <a:pPr algn="ctr"/>
            <a:r>
              <a:rPr sz="1100" b="1">
                <a:solidFill>
                  <a:srgbClr val="FFFFFF"/>
                </a:solidFill>
                <a:latin typeface="Noto Sans CJK KR"/>
              </a:rPr>
              <a:t>Vivado  |  WNS +0.220 ns</a:t>
            </a:r>
          </a:p>
        </p:txBody>
      </p:sp>
      <p:sp>
        <p:nvSpPr>
          <p:cNvPr id="12" name="Rounded Rectangle 11"/>
          <p:cNvSpPr/>
          <p:nvPr/>
        </p:nvSpPr>
        <p:spPr>
          <a:xfrm>
            <a:off x="3502152" y="5806440"/>
            <a:ext cx="224028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5806440"/>
            <a:ext cx="2148840" cy="411480"/>
          </a:xfrm>
          <a:prstGeom prst="rect">
            <a:avLst/>
          </a:prstGeom>
          <a:noFill/>
        </p:spPr>
        <p:txBody>
          <a:bodyPr wrap="none" lIns="45720" rIns="45720" anchor="ctr">
            <a:spAutoFit/>
          </a:bodyPr>
          <a:lstStyle/>
          <a:p>
            <a:pPr algn="ctr"/>
            <a:r>
              <a:rPr sz="1100" b="1">
                <a:solidFill>
                  <a:srgbClr val="FFFFFF"/>
                </a:solidFill>
                <a:latin typeface="Noto Sans CJK KR"/>
              </a:rPr>
              <a:t>DRC Error 0</a:t>
            </a:r>
          </a:p>
        </p:txBody>
      </p:sp>
      <p:sp>
        <p:nvSpPr>
          <p:cNvPr id="14" name="Rounded Rectangle 13"/>
          <p:cNvSpPr/>
          <p:nvPr/>
        </p:nvSpPr>
        <p:spPr>
          <a:xfrm>
            <a:off x="6446520" y="5806440"/>
            <a:ext cx="237744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806440"/>
            <a:ext cx="2286000" cy="411480"/>
          </a:xfrm>
          <a:prstGeom prst="rect">
            <a:avLst/>
          </a:prstGeom>
          <a:noFill/>
        </p:spPr>
        <p:txBody>
          <a:bodyPr wrap="none" lIns="45720" rIns="45720" anchor="ctr">
            <a:spAutoFit/>
          </a:bodyPr>
          <a:lstStyle/>
          <a:p>
            <a:pPr algn="ctr"/>
            <a:r>
              <a:rPr sz="1100" b="1">
                <a:solidFill>
                  <a:srgbClr val="FFFFFF"/>
                </a:solidFill>
                <a:latin typeface="Noto Sans CJK KR"/>
              </a:rPr>
              <a:t>Vitis  |  ELF Build</a:t>
            </a:r>
          </a:p>
        </p:txBody>
      </p:sp>
      <p:sp>
        <p:nvSpPr>
          <p:cNvPr id="16" name="Rounded Rectangle 15"/>
          <p:cNvSpPr/>
          <p:nvPr/>
        </p:nvSpPr>
        <p:spPr>
          <a:xfrm>
            <a:off x="9015984" y="5806440"/>
            <a:ext cx="2487168" cy="411480"/>
          </a:xfrm>
          <a:prstGeom prst="roundRect">
            <a:avLst/>
          </a:prstGeom>
          <a:solidFill>
            <a:srgbClr val="0E1F35"/>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5806440"/>
            <a:ext cx="2395728" cy="411480"/>
          </a:xfrm>
          <a:prstGeom prst="rect">
            <a:avLst/>
          </a:prstGeom>
          <a:noFill/>
        </p:spPr>
        <p:txBody>
          <a:bodyPr wrap="none" lIns="45720" rIns="45720" anchor="ctr">
            <a:spAutoFit/>
          </a:bodyPr>
          <a:lstStyle/>
          <a:p>
            <a:pPr algn="ctr"/>
            <a:r>
              <a:rPr sz="1100" b="1">
                <a:solidFill>
                  <a:srgbClr val="FFFFFF"/>
                </a:solidFill>
                <a:latin typeface="Noto Sans CJK KR"/>
              </a:rPr>
              <a:t>XSCT  |  Board Download</a:t>
            </a:r>
          </a:p>
        </p:txBody>
      </p:sp>
      <p:sp>
        <p:nvSpPr>
          <p:cNvPr id="18" name="TextBox 1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19" name="TextBox 1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05</a:t>
            </a:r>
            <a:endParaRPr sz="1500" b="1">
              <a:solidFill>
                <a:srgbClr val="ffffff"/>
              </a:solidFill>
              <a:latin typeface="Noto Sans CJK KR"/>
            </a:endParaRP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05</a:t>
            </a:r>
            <a:endParaRPr sz="1500" b="1">
              <a:solidFill>
                <a:srgbClr val="ffffff"/>
              </a:solidFill>
              <a:latin typeface="Noto Sans CJK KR"/>
            </a:endParaRPr>
          </a:p>
        </p:txBody>
      </p:sp>
      <p:sp>
        <p:nvSpPr>
          <p:cNvPr id="5" name="TextBox 4"/>
          <p:cNvSpPr txBox="1"/>
          <p:nvPr/>
        </p:nvSpPr>
        <p:spPr>
          <a:xfrm>
            <a:off x="1051560" y="109728"/>
            <a:ext cx="8033385" cy="502920"/>
          </a:xfrm>
          <a:prstGeom prst="rect">
            <a:avLst/>
          </a:prstGeom>
          <a:noFill/>
        </p:spPr>
        <p:txBody>
          <a:bodyPr wrap="none" lIns="45720" rIns="45720" anchor="ctr">
            <a:spAutoFit/>
          </a:bodyPr>
          <a:lstStyle/>
          <a:p>
            <a:pPr algn="l">
              <a:defRPr/>
            </a:pPr>
            <a:r>
              <a:rPr sz="2700" b="1">
                <a:solidFill>
                  <a:srgbClr val="0e1f35"/>
                </a:solidFill>
                <a:latin typeface="Noto Sans CJK KR"/>
              </a:rPr>
              <a:t>KV260 보드 검증 — 직접 확인 범위와 팀 최종 목표</a:t>
            </a:r>
            <a:endParaRPr sz="2700" b="1">
              <a:solidFill>
                <a:srgbClr val="0e1f35"/>
              </a:solidFill>
              <a:latin typeface="Noto Sans CJK KR"/>
            </a:endParaRPr>
          </a:p>
        </p:txBody>
      </p:sp>
      <p:sp>
        <p:nvSpPr>
          <p:cNvPr id="6" name="TextBox 5"/>
          <p:cNvSpPr txBox="1"/>
          <p:nvPr/>
        </p:nvSpPr>
        <p:spPr>
          <a:xfrm>
            <a:off x="1069848" y="592455"/>
            <a:ext cx="3519297" cy="267081"/>
          </a:xfrm>
          <a:prstGeom prst="rect">
            <a:avLst/>
          </a:prstGeom>
          <a:noFill/>
        </p:spPr>
        <p:txBody>
          <a:bodyPr wrap="none" lIns="45720" rIns="45720" anchor="ctr">
            <a:spAutoFit/>
          </a:bodyPr>
          <a:lstStyle/>
          <a:p>
            <a:pPr algn="l">
              <a:defRPr/>
            </a:pPr>
            <a:r>
              <a:rPr sz="1100" b="0">
                <a:solidFill>
                  <a:srgbClr val="66717c"/>
                </a:solidFill>
                <a:latin typeface="Noto Sans CJK KR"/>
              </a:rPr>
              <a:t>개인 검증과 팀 공동 파이프라인 결과를 구분하여 기록</a:t>
            </a:r>
            <a:endParaRPr sz="1100" b="0">
              <a:solidFill>
                <a:srgbClr val="66717c"/>
              </a:solidFill>
              <a:latin typeface="Noto Sans CJK KR"/>
            </a:endParaRP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pic>
        <p:nvPicPr>
          <p:cNvPr id="8" name="Picture 7" descr="kv260_terminal.png"/>
          <p:cNvPicPr>
            <a:picLocks noChangeAspect="1"/>
          </p:cNvPicPr>
          <p:nvPr/>
        </p:nvPicPr>
        <p:blipFill rotWithShape="1">
          <a:blip r:embed="rId3"/>
          <a:stretch>
            <a:fillRect/>
          </a:stretch>
        </p:blipFill>
        <p:spPr>
          <a:xfrm>
            <a:off x="411480" y="1078992"/>
            <a:ext cx="5532120" cy="4297680"/>
          </a:xfrm>
          <a:prstGeom prst="rect">
            <a:avLst/>
          </a:prstGeom>
        </p:spPr>
      </p:pic>
      <p:sp>
        <p:nvSpPr>
          <p:cNvPr id="13" name="Rounded Rectangle 12"/>
          <p:cNvSpPr/>
          <p:nvPr/>
        </p:nvSpPr>
        <p:spPr>
          <a:xfrm>
            <a:off x="438912" y="5596128"/>
            <a:ext cx="2724912" cy="658368"/>
          </a:xfrm>
          <a:prstGeom prst="roundRect">
            <a:avLst>
              <a:gd name="adj" fmla="val 16667"/>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4" name="TextBox 13"/>
          <p:cNvSpPr txBox="1"/>
          <p:nvPr/>
        </p:nvSpPr>
        <p:spPr>
          <a:xfrm>
            <a:off x="548640" y="5650992"/>
            <a:ext cx="563880" cy="228600"/>
          </a:xfrm>
          <a:prstGeom prst="rect">
            <a:avLst/>
          </a:prstGeom>
          <a:noFill/>
        </p:spPr>
        <p:txBody>
          <a:bodyPr wrap="none" lIns="45720" rIns="45720" anchor="ctr">
            <a:spAutoFit/>
          </a:bodyPr>
          <a:lstStyle/>
          <a:p>
            <a:pPr algn="l">
              <a:defRPr/>
            </a:pPr>
            <a:r>
              <a:rPr sz="900" b="1">
                <a:solidFill>
                  <a:srgbClr val="236cb4"/>
                </a:solidFill>
                <a:latin typeface="Noto Sans CJK KR"/>
              </a:rPr>
              <a:t>Webcam</a:t>
            </a:r>
            <a:endParaRPr sz="900" b="1">
              <a:solidFill>
                <a:srgbClr val="236cb4"/>
              </a:solidFill>
              <a:latin typeface="Noto Sans CJK KR"/>
            </a:endParaRPr>
          </a:p>
        </p:txBody>
      </p:sp>
      <p:sp>
        <p:nvSpPr>
          <p:cNvPr id="15" name="TextBox 14"/>
          <p:cNvSpPr txBox="1"/>
          <p:nvPr/>
        </p:nvSpPr>
        <p:spPr>
          <a:xfrm>
            <a:off x="1621155" y="5688330"/>
            <a:ext cx="1053465" cy="262890"/>
          </a:xfrm>
          <a:prstGeom prst="rect">
            <a:avLst/>
          </a:prstGeom>
          <a:noFill/>
        </p:spPr>
        <p:txBody>
          <a:bodyPr wrap="none" lIns="45720" rIns="45720" anchor="ctr">
            <a:spAutoFit/>
          </a:bodyPr>
          <a:lstStyle/>
          <a:p>
            <a:pPr algn="ctr">
              <a:defRPr/>
            </a:pPr>
            <a:r>
              <a:rPr sz="1100" b="1">
                <a:solidFill>
                  <a:srgbClr val="0e1f35"/>
                </a:solidFill>
                <a:latin typeface="Noto Sans CJK KR"/>
              </a:rPr>
              <a:t>Logitech C270</a:t>
            </a:r>
            <a:endParaRPr sz="1100" b="1">
              <a:solidFill>
                <a:srgbClr val="0e1f35"/>
              </a:solidFill>
              <a:latin typeface="Noto Sans CJK KR"/>
            </a:endParaRPr>
          </a:p>
        </p:txBody>
      </p:sp>
      <p:sp>
        <p:nvSpPr>
          <p:cNvPr id="16" name="Rounded Rectangle 15"/>
          <p:cNvSpPr/>
          <p:nvPr/>
        </p:nvSpPr>
        <p:spPr>
          <a:xfrm>
            <a:off x="3273552" y="5596128"/>
            <a:ext cx="2724912" cy="658368"/>
          </a:xfrm>
          <a:prstGeom prst="roundRect">
            <a:avLst>
              <a:gd name="adj" fmla="val 16667"/>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TextBox 16"/>
          <p:cNvSpPr txBox="1"/>
          <p:nvPr/>
        </p:nvSpPr>
        <p:spPr>
          <a:xfrm>
            <a:off x="3383280" y="5650992"/>
            <a:ext cx="729615" cy="228600"/>
          </a:xfrm>
          <a:prstGeom prst="rect">
            <a:avLst/>
          </a:prstGeom>
          <a:noFill/>
        </p:spPr>
        <p:txBody>
          <a:bodyPr wrap="none" lIns="45720" rIns="45720" anchor="ctr">
            <a:spAutoFit/>
          </a:bodyPr>
          <a:lstStyle/>
          <a:p>
            <a:pPr algn="l">
              <a:defRPr/>
            </a:pPr>
            <a:r>
              <a:rPr sz="900" b="1">
                <a:solidFill>
                  <a:srgbClr val="21aabe"/>
                </a:solidFill>
                <a:latin typeface="Noto Sans CJK KR"/>
              </a:rPr>
              <a:t>Video Node</a:t>
            </a:r>
            <a:endParaRPr sz="900" b="1">
              <a:solidFill>
                <a:srgbClr val="21aabe"/>
              </a:solidFill>
              <a:latin typeface="Noto Sans CJK KR"/>
            </a:endParaRPr>
          </a:p>
        </p:txBody>
      </p:sp>
      <p:sp>
        <p:nvSpPr>
          <p:cNvPr id="18" name="TextBox 17"/>
          <p:cNvSpPr txBox="1"/>
          <p:nvPr/>
        </p:nvSpPr>
        <p:spPr>
          <a:xfrm>
            <a:off x="4488180" y="5688330"/>
            <a:ext cx="977265" cy="262890"/>
          </a:xfrm>
          <a:prstGeom prst="rect">
            <a:avLst/>
          </a:prstGeom>
          <a:noFill/>
        </p:spPr>
        <p:txBody>
          <a:bodyPr wrap="none" lIns="45720" rIns="45720" anchor="ctr">
            <a:spAutoFit/>
          </a:bodyPr>
          <a:lstStyle/>
          <a:p>
            <a:pPr algn="ctr">
              <a:defRPr/>
            </a:pPr>
            <a:r>
              <a:rPr sz="1100" b="1">
                <a:solidFill>
                  <a:srgbClr val="0e1f35"/>
                </a:solidFill>
                <a:latin typeface="Noto Sans CJK KR"/>
              </a:rPr>
              <a:t>/dev/video0·1</a:t>
            </a:r>
            <a:endParaRPr sz="1100" b="1">
              <a:solidFill>
                <a:srgbClr val="0e1f35"/>
              </a:solidFill>
              <a:latin typeface="Noto Sans CJK KR"/>
            </a:endParaRPr>
          </a:p>
        </p:txBody>
      </p:sp>
      <p:sp>
        <p:nvSpPr>
          <p:cNvPr id="19" name="Rounded Rectangle 18"/>
          <p:cNvSpPr/>
          <p:nvPr/>
        </p:nvSpPr>
        <p:spPr>
          <a:xfrm>
            <a:off x="6108192" y="5596128"/>
            <a:ext cx="2724912" cy="658368"/>
          </a:xfrm>
          <a:prstGeom prst="roundRect">
            <a:avLst>
              <a:gd name="adj" fmla="val 16667"/>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0" name="TextBox 19"/>
          <p:cNvSpPr txBox="1"/>
          <p:nvPr/>
        </p:nvSpPr>
        <p:spPr>
          <a:xfrm>
            <a:off x="6217920" y="5650992"/>
            <a:ext cx="514350" cy="228600"/>
          </a:xfrm>
          <a:prstGeom prst="rect">
            <a:avLst/>
          </a:prstGeom>
          <a:noFill/>
        </p:spPr>
        <p:txBody>
          <a:bodyPr wrap="none" lIns="45720" rIns="45720" anchor="ctr">
            <a:spAutoFit/>
          </a:bodyPr>
          <a:lstStyle/>
          <a:p>
            <a:pPr algn="l">
              <a:defRPr/>
            </a:pPr>
            <a:r>
              <a:rPr sz="900" b="1">
                <a:solidFill>
                  <a:srgbClr val="329c69"/>
                </a:solidFill>
                <a:latin typeface="Noto Sans CJK KR"/>
              </a:rPr>
              <a:t>Overlay</a:t>
            </a:r>
            <a:endParaRPr sz="900" b="1">
              <a:solidFill>
                <a:srgbClr val="329c69"/>
              </a:solidFill>
              <a:latin typeface="Noto Sans CJK KR"/>
            </a:endParaRPr>
          </a:p>
        </p:txBody>
      </p:sp>
      <p:sp>
        <p:nvSpPr>
          <p:cNvPr id="21" name="TextBox 20"/>
          <p:cNvSpPr txBox="1"/>
          <p:nvPr/>
        </p:nvSpPr>
        <p:spPr>
          <a:xfrm>
            <a:off x="7279005" y="5688330"/>
            <a:ext cx="1072515" cy="262890"/>
          </a:xfrm>
          <a:prstGeom prst="rect">
            <a:avLst/>
          </a:prstGeom>
          <a:noFill/>
        </p:spPr>
        <p:txBody>
          <a:bodyPr wrap="none" lIns="45720" rIns="45720" anchor="ctr">
            <a:spAutoFit/>
          </a:bodyPr>
          <a:lstStyle/>
          <a:p>
            <a:pPr algn="ctr">
              <a:defRPr/>
            </a:pPr>
            <a:r>
              <a:rPr sz="1100" b="1">
                <a:solidFill>
                  <a:srgbClr val="0e1f35"/>
                </a:solidFill>
                <a:latin typeface="Noto Sans CJK KR"/>
              </a:rPr>
              <a:t>LOADED: True</a:t>
            </a:r>
            <a:endParaRPr sz="1100" b="1">
              <a:solidFill>
                <a:srgbClr val="0e1f35"/>
              </a:solidFill>
              <a:latin typeface="Noto Sans CJK KR"/>
            </a:endParaRPr>
          </a:p>
        </p:txBody>
      </p:sp>
      <p:sp>
        <p:nvSpPr>
          <p:cNvPr id="22" name="Rounded Rectangle 21"/>
          <p:cNvSpPr/>
          <p:nvPr/>
        </p:nvSpPr>
        <p:spPr>
          <a:xfrm>
            <a:off x="8942832" y="5596128"/>
            <a:ext cx="2724912" cy="658368"/>
          </a:xfrm>
          <a:prstGeom prst="roundRect">
            <a:avLst>
              <a:gd name="adj" fmla="val 16667"/>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TextBox 22"/>
          <p:cNvSpPr txBox="1"/>
          <p:nvPr/>
        </p:nvSpPr>
        <p:spPr>
          <a:xfrm>
            <a:off x="9052559" y="5650992"/>
            <a:ext cx="565786" cy="228600"/>
          </a:xfrm>
          <a:prstGeom prst="rect">
            <a:avLst/>
          </a:prstGeom>
          <a:noFill/>
        </p:spPr>
        <p:txBody>
          <a:bodyPr wrap="none" lIns="45720" rIns="45720" anchor="ctr">
            <a:spAutoFit/>
          </a:bodyPr>
          <a:lstStyle/>
          <a:p>
            <a:pPr algn="l">
              <a:defRPr/>
            </a:pPr>
            <a:r>
              <a:rPr sz="900" b="1">
                <a:solidFill>
                  <a:srgbClr val="eb8b36"/>
                </a:solidFill>
                <a:latin typeface="Noto Sans CJK KR"/>
              </a:rPr>
              <a:t>PYNQ IP</a:t>
            </a:r>
            <a:endParaRPr sz="900" b="1">
              <a:solidFill>
                <a:srgbClr val="eb8b36"/>
              </a:solidFill>
              <a:latin typeface="Noto Sans CJK KR"/>
            </a:endParaRPr>
          </a:p>
        </p:txBody>
      </p:sp>
      <p:sp>
        <p:nvSpPr>
          <p:cNvPr id="24" name="TextBox 23"/>
          <p:cNvSpPr txBox="1"/>
          <p:nvPr/>
        </p:nvSpPr>
        <p:spPr>
          <a:xfrm>
            <a:off x="10174605" y="5688330"/>
            <a:ext cx="948689" cy="262890"/>
          </a:xfrm>
          <a:prstGeom prst="rect">
            <a:avLst/>
          </a:prstGeom>
          <a:noFill/>
        </p:spPr>
        <p:txBody>
          <a:bodyPr wrap="none" lIns="45720" rIns="45720" anchor="ctr">
            <a:spAutoFit/>
          </a:bodyPr>
          <a:lstStyle/>
          <a:p>
            <a:pPr algn="ctr">
              <a:defRPr/>
            </a:pPr>
            <a:r>
              <a:rPr sz="1100" b="1">
                <a:solidFill>
                  <a:srgbClr val="0e1f35"/>
                </a:solidFill>
                <a:latin typeface="Noto Sans CJK KR"/>
              </a:rPr>
              <a:t>model6_dma</a:t>
            </a:r>
            <a:endParaRPr sz="1100" b="1">
              <a:solidFill>
                <a:srgbClr val="0e1f35"/>
              </a:solidFill>
              <a:latin typeface="Noto Sans CJK KR"/>
            </a:endParaRPr>
          </a:p>
        </p:txBody>
      </p:sp>
      <p:sp>
        <p:nvSpPr>
          <p:cNvPr id="25" name="TextBox 24"/>
          <p:cNvSpPr txBox="1"/>
          <p:nvPr/>
        </p:nvSpPr>
        <p:spPr>
          <a:xfrm>
            <a:off x="438912" y="6555105"/>
            <a:ext cx="233095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KV260</a:t>
            </a:r>
            <a:endParaRPr sz="800" b="0">
              <a:solidFill>
                <a:srgbClr val="66717c"/>
              </a:solidFill>
              <a:latin typeface="Noto Sans CJK KR"/>
            </a:endParaRPr>
          </a:p>
        </p:txBody>
      </p:sp>
      <p:sp>
        <p:nvSpPr>
          <p:cNvPr id="26" name="TextBox 25"/>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endParaRPr sz="800" b="1">
              <a:solidFill>
                <a:srgbClr val="236cb4"/>
              </a:solidFill>
              <a:latin typeface="Noto Sans CJK KR"/>
            </a:endParaRPr>
          </a:p>
        </p:txBody>
      </p:sp>
      <p:pic>
        <p:nvPicPr>
          <p:cNvPr id="27" name=""/>
          <p:cNvPicPr>
            <a:picLocks noChangeAspect="1"/>
          </p:cNvPicPr>
          <p:nvPr/>
        </p:nvPicPr>
        <p:blipFill rotWithShape="1">
          <a:blip r:embed="rId4"/>
          <a:stretch>
            <a:fillRect/>
          </a:stretch>
        </p:blipFill>
        <p:spPr>
          <a:xfrm>
            <a:off x="5951249" y="1078992"/>
            <a:ext cx="5763710" cy="429768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06</a:t>
            </a:r>
            <a:endParaRPr sz="1500" b="1">
              <a:solidFill>
                <a:srgbClr val="ffffff"/>
              </a:solidFill>
              <a:latin typeface="Noto Sans CJK KR"/>
            </a:endParaRPr>
          </a:p>
        </p:txBody>
      </p:sp>
      <p:sp>
        <p:nvSpPr>
          <p:cNvPr id="3" name="Rounded Rectangle 2"/>
          <p:cNvSpPr/>
          <p:nvPr/>
        </p:nvSpPr>
        <p:spPr>
          <a:xfrm>
            <a:off x="411480" y="164592"/>
            <a:ext cx="502920" cy="411480"/>
          </a:xfrm>
          <a:prstGeom prst="roundRect">
            <a:avLst>
              <a:gd name="adj" fmla="val 16667"/>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4" name="TextBox 3"/>
          <p:cNvSpPr txBox="1"/>
          <p:nvPr/>
        </p:nvSpPr>
        <p:spPr>
          <a:xfrm>
            <a:off x="506730" y="211455"/>
            <a:ext cx="310515" cy="320040"/>
          </a:xfrm>
          <a:prstGeom prst="rect">
            <a:avLst/>
          </a:prstGeom>
          <a:noFill/>
        </p:spPr>
        <p:txBody>
          <a:bodyPr wrap="none" lIns="45720" rIns="45720" anchor="ctr">
            <a:spAutoFit/>
          </a:bodyPr>
          <a:lstStyle/>
          <a:p>
            <a:pPr algn="ctr">
              <a:defRPr/>
            </a:pPr>
            <a:r>
              <a:rPr sz="1500" b="1">
                <a:solidFill>
                  <a:srgbClr val="ffffff"/>
                </a:solidFill>
                <a:latin typeface="Noto Sans CJK KR"/>
              </a:rPr>
              <a:t>06</a:t>
            </a:r>
            <a:endParaRPr sz="1500" b="1">
              <a:solidFill>
                <a:srgbClr val="ffffff"/>
              </a:solidFill>
              <a:latin typeface="Noto Sans CJK KR"/>
            </a:endParaRPr>
          </a:p>
        </p:txBody>
      </p:sp>
      <p:sp>
        <p:nvSpPr>
          <p:cNvPr id="5" name="TextBox 4"/>
          <p:cNvSpPr txBox="1"/>
          <p:nvPr/>
        </p:nvSpPr>
        <p:spPr>
          <a:xfrm>
            <a:off x="1051560" y="109728"/>
            <a:ext cx="4547235" cy="502920"/>
          </a:xfrm>
          <a:prstGeom prst="rect">
            <a:avLst/>
          </a:prstGeom>
          <a:noFill/>
        </p:spPr>
        <p:txBody>
          <a:bodyPr wrap="none" lIns="45720" rIns="45720" anchor="ctr">
            <a:spAutoFit/>
          </a:bodyPr>
          <a:lstStyle/>
          <a:p>
            <a:pPr algn="l">
              <a:defRPr/>
            </a:pPr>
            <a:r>
              <a:rPr sz="2700" b="1">
                <a:solidFill>
                  <a:srgbClr val="0e1f35"/>
                </a:solidFill>
                <a:latin typeface="Noto Sans CJK KR"/>
              </a:rPr>
              <a:t>성과, 한계, 그리고 다음 단계</a:t>
            </a:r>
            <a:endParaRPr sz="2700" b="1">
              <a:solidFill>
                <a:srgbClr val="0e1f35"/>
              </a:solidFill>
              <a:latin typeface="Noto Sans CJK KR"/>
            </a:endParaRPr>
          </a:p>
        </p:txBody>
      </p:sp>
      <p:sp>
        <p:nvSpPr>
          <p:cNvPr id="6" name="TextBox 5"/>
          <p:cNvSpPr txBox="1"/>
          <p:nvPr/>
        </p:nvSpPr>
        <p:spPr>
          <a:xfrm>
            <a:off x="1069848" y="592455"/>
            <a:ext cx="4624197" cy="267081"/>
          </a:xfrm>
          <a:prstGeom prst="rect">
            <a:avLst/>
          </a:prstGeom>
          <a:noFill/>
        </p:spPr>
        <p:txBody>
          <a:bodyPr wrap="none" lIns="45720" rIns="45720" anchor="ctr">
            <a:spAutoFit/>
          </a:bodyPr>
          <a:lstStyle/>
          <a:p>
            <a:pPr algn="l">
              <a:defRPr/>
            </a:pPr>
            <a:r>
              <a:rPr sz="1100" b="0">
                <a:solidFill>
                  <a:srgbClr val="66717c"/>
                </a:solidFill>
                <a:latin typeface="Noto Sans CJK KR"/>
              </a:rPr>
              <a:t>단일 IP의 속도보다 전체 연산 범위와 데이터 이동이 시스템 성능을 결정</a:t>
            </a:r>
            <a:endParaRPr sz="1100" b="0">
              <a:solidFill>
                <a:srgbClr val="66717c"/>
              </a:solidFill>
              <a:latin typeface="Noto Sans CJK KR"/>
            </a:endParaRP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8" name="Rounded Rectangle 7"/>
          <p:cNvSpPr/>
          <p:nvPr/>
        </p:nvSpPr>
        <p:spPr>
          <a:xfrm>
            <a:off x="438912" y="1234440"/>
            <a:ext cx="3529584" cy="3886200"/>
          </a:xfrm>
          <a:prstGeom prst="roundRect">
            <a:avLst>
              <a:gd name="adj" fmla="val 16667"/>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9" name="Rounded Rectangle 8"/>
          <p:cNvSpPr/>
          <p:nvPr/>
        </p:nvSpPr>
        <p:spPr>
          <a:xfrm>
            <a:off x="603503" y="1417320"/>
            <a:ext cx="3200400" cy="411480"/>
          </a:xfrm>
          <a:prstGeom prst="roundRect">
            <a:avLst>
              <a:gd name="adj" fmla="val 16667"/>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0" name="TextBox 9"/>
          <p:cNvSpPr txBox="1"/>
          <p:nvPr/>
        </p:nvSpPr>
        <p:spPr>
          <a:xfrm>
            <a:off x="1678305" y="1487805"/>
            <a:ext cx="1034415" cy="262890"/>
          </a:xfrm>
          <a:prstGeom prst="rect">
            <a:avLst/>
          </a:prstGeom>
          <a:noFill/>
        </p:spPr>
        <p:txBody>
          <a:bodyPr wrap="none" lIns="45720" rIns="45720" anchor="ctr">
            <a:spAutoFit/>
          </a:bodyPr>
          <a:lstStyle/>
          <a:p>
            <a:pPr algn="ctr">
              <a:defRPr/>
            </a:pPr>
            <a:r>
              <a:rPr sz="1100" b="1">
                <a:solidFill>
                  <a:srgbClr val="ffffff"/>
                </a:solidFill>
                <a:latin typeface="Noto Sans CJK KR"/>
              </a:rPr>
              <a:t>나의 확인 성과</a:t>
            </a:r>
            <a:endParaRPr sz="1100" b="1">
              <a:solidFill>
                <a:srgbClr val="ffffff"/>
              </a:solidFill>
              <a:latin typeface="Noto Sans CJK KR"/>
            </a:endParaRPr>
          </a:p>
        </p:txBody>
      </p:sp>
      <p:sp>
        <p:nvSpPr>
          <p:cNvPr id="11" name="TextBox 10"/>
          <p:cNvSpPr txBox="1"/>
          <p:nvPr/>
        </p:nvSpPr>
        <p:spPr>
          <a:xfrm>
            <a:off x="731519" y="2145030"/>
            <a:ext cx="1628776" cy="272415"/>
          </a:xfrm>
          <a:prstGeom prst="rect">
            <a:avLst/>
          </a:prstGeom>
          <a:noFill/>
        </p:spPr>
        <p:txBody>
          <a:bodyPr wrap="none" lIns="45720" rIns="45720" anchor="ctr">
            <a:spAutoFit/>
          </a:bodyPr>
          <a:lstStyle/>
          <a:p>
            <a:pPr algn="l">
              <a:defRPr/>
            </a:pPr>
            <a:r>
              <a:rPr sz="1200" b="0">
                <a:solidFill>
                  <a:srgbClr val="27303b"/>
                </a:solidFill>
                <a:latin typeface="Noto Sans CJK KR"/>
              </a:rPr>
              <a:t>✓ model.6 IP/BD 통합</a:t>
            </a:r>
            <a:endParaRPr sz="1200" b="0">
              <a:solidFill>
                <a:srgbClr val="27303b"/>
              </a:solidFill>
              <a:latin typeface="Noto Sans CJK KR"/>
            </a:endParaRPr>
          </a:p>
        </p:txBody>
      </p:sp>
      <p:sp>
        <p:nvSpPr>
          <p:cNvPr id="12" name="TextBox 11"/>
          <p:cNvSpPr txBox="1"/>
          <p:nvPr/>
        </p:nvSpPr>
        <p:spPr>
          <a:xfrm>
            <a:off x="731520" y="2773680"/>
            <a:ext cx="1743075" cy="272415"/>
          </a:xfrm>
          <a:prstGeom prst="rect">
            <a:avLst/>
          </a:prstGeom>
          <a:noFill/>
        </p:spPr>
        <p:txBody>
          <a:bodyPr wrap="none" lIns="45720" rIns="45720" anchor="ctr">
            <a:spAutoFit/>
          </a:bodyPr>
          <a:lstStyle/>
          <a:p>
            <a:pPr algn="l">
              <a:defRPr/>
            </a:pPr>
            <a:r>
              <a:rPr sz="1200" b="0">
                <a:solidFill>
                  <a:srgbClr val="27303b"/>
                </a:solidFill>
                <a:latin typeface="Noto Sans CJK KR"/>
              </a:rPr>
              <a:t>✓ 100 MHz Timing 만족</a:t>
            </a:r>
            <a:endParaRPr sz="1200" b="0">
              <a:solidFill>
                <a:srgbClr val="27303b"/>
              </a:solidFill>
              <a:latin typeface="Noto Sans CJK KR"/>
            </a:endParaRPr>
          </a:p>
        </p:txBody>
      </p:sp>
      <p:sp>
        <p:nvSpPr>
          <p:cNvPr id="13" name="TextBox 12"/>
          <p:cNvSpPr txBox="1"/>
          <p:nvPr/>
        </p:nvSpPr>
        <p:spPr>
          <a:xfrm>
            <a:off x="731519" y="3392805"/>
            <a:ext cx="1638300" cy="272415"/>
          </a:xfrm>
          <a:prstGeom prst="rect">
            <a:avLst/>
          </a:prstGeom>
          <a:noFill/>
        </p:spPr>
        <p:txBody>
          <a:bodyPr wrap="none" lIns="45720" rIns="45720" anchor="ctr">
            <a:spAutoFit/>
          </a:bodyPr>
          <a:lstStyle/>
          <a:p>
            <a:pPr algn="l">
              <a:defRPr/>
            </a:pPr>
            <a:r>
              <a:rPr sz="1200" b="0">
                <a:solidFill>
                  <a:srgbClr val="27303b"/>
                </a:solidFill>
                <a:latin typeface="Noto Sans CJK KR"/>
              </a:rPr>
              <a:t>✓ Bitstream·XSA 생성</a:t>
            </a:r>
            <a:endParaRPr sz="1200" b="0">
              <a:solidFill>
                <a:srgbClr val="27303b"/>
              </a:solidFill>
              <a:latin typeface="Noto Sans CJK KR"/>
            </a:endParaRPr>
          </a:p>
        </p:txBody>
      </p:sp>
      <p:sp>
        <p:nvSpPr>
          <p:cNvPr id="14" name="TextBox 13"/>
          <p:cNvSpPr txBox="1"/>
          <p:nvPr/>
        </p:nvSpPr>
        <p:spPr>
          <a:xfrm>
            <a:off x="731520" y="4011930"/>
            <a:ext cx="1666875" cy="272415"/>
          </a:xfrm>
          <a:prstGeom prst="rect">
            <a:avLst/>
          </a:prstGeom>
          <a:noFill/>
        </p:spPr>
        <p:txBody>
          <a:bodyPr wrap="none" lIns="45720" rIns="45720" anchor="ctr">
            <a:spAutoFit/>
          </a:bodyPr>
          <a:lstStyle/>
          <a:p>
            <a:pPr algn="l">
              <a:defRPr/>
            </a:pPr>
            <a:r>
              <a:rPr sz="1200" b="0">
                <a:solidFill>
                  <a:srgbClr val="27303b"/>
                </a:solidFill>
                <a:latin typeface="Noto Sans CJK KR"/>
              </a:rPr>
              <a:t>✓ KV260 Overlay 로딩</a:t>
            </a:r>
            <a:endParaRPr sz="1200" b="0">
              <a:solidFill>
                <a:srgbClr val="27303b"/>
              </a:solidFill>
              <a:latin typeface="Noto Sans CJK KR"/>
            </a:endParaRPr>
          </a:p>
        </p:txBody>
      </p:sp>
      <p:sp>
        <p:nvSpPr>
          <p:cNvPr id="15" name="Rounded Rectangle 14"/>
          <p:cNvSpPr/>
          <p:nvPr/>
        </p:nvSpPr>
        <p:spPr>
          <a:xfrm>
            <a:off x="4325112" y="1234440"/>
            <a:ext cx="3529584" cy="3886200"/>
          </a:xfrm>
          <a:prstGeom prst="roundRect">
            <a:avLst>
              <a:gd name="adj" fmla="val 16667"/>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6" name="Rounded Rectangle 15"/>
          <p:cNvSpPr/>
          <p:nvPr/>
        </p:nvSpPr>
        <p:spPr>
          <a:xfrm>
            <a:off x="4489704" y="1417320"/>
            <a:ext cx="3200400" cy="411480"/>
          </a:xfrm>
          <a:prstGeom prst="roundRect">
            <a:avLst>
              <a:gd name="adj" fmla="val 16667"/>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17" name="TextBox 16"/>
          <p:cNvSpPr txBox="1"/>
          <p:nvPr/>
        </p:nvSpPr>
        <p:spPr>
          <a:xfrm>
            <a:off x="5726430" y="1487805"/>
            <a:ext cx="701040" cy="262890"/>
          </a:xfrm>
          <a:prstGeom prst="rect">
            <a:avLst/>
          </a:prstGeom>
          <a:noFill/>
        </p:spPr>
        <p:txBody>
          <a:bodyPr wrap="none" lIns="45720" rIns="45720" anchor="ctr">
            <a:spAutoFit/>
          </a:bodyPr>
          <a:lstStyle/>
          <a:p>
            <a:pPr algn="ctr">
              <a:defRPr/>
            </a:pPr>
            <a:r>
              <a:rPr sz="1100" b="1">
                <a:solidFill>
                  <a:srgbClr val="ffffff"/>
                </a:solidFill>
                <a:latin typeface="Noto Sans CJK KR"/>
              </a:rPr>
              <a:t>현재 한계</a:t>
            </a:r>
            <a:endParaRPr sz="1100" b="1">
              <a:solidFill>
                <a:srgbClr val="ffffff"/>
              </a:solidFill>
              <a:latin typeface="Noto Sans CJK KR"/>
            </a:endParaRPr>
          </a:p>
        </p:txBody>
      </p:sp>
      <p:sp>
        <p:nvSpPr>
          <p:cNvPr id="18" name="TextBox 17"/>
          <p:cNvSpPr txBox="1"/>
          <p:nvPr/>
        </p:nvSpPr>
        <p:spPr>
          <a:xfrm>
            <a:off x="4771072" y="2145030"/>
            <a:ext cx="2018348" cy="272415"/>
          </a:xfrm>
          <a:prstGeom prst="rect">
            <a:avLst/>
          </a:prstGeom>
          <a:noFill/>
        </p:spPr>
        <p:txBody>
          <a:bodyPr wrap="none" lIns="45720" rIns="45720" anchor="ctr">
            <a:spAutoFit/>
          </a:bodyPr>
          <a:lstStyle/>
          <a:p>
            <a:pPr algn="ctr">
              <a:defRPr/>
            </a:pPr>
            <a:r>
              <a:rPr sz="1200" b="0">
                <a:solidFill>
                  <a:srgbClr val="27303b"/>
                </a:solidFill>
                <a:latin typeface="Noto Sans CJK KR"/>
              </a:rPr>
              <a:t>✓ 실시간 PPE 직접 재현 전</a:t>
            </a:r>
            <a:endParaRPr sz="1200" b="0">
              <a:solidFill>
                <a:srgbClr val="27303b"/>
              </a:solidFill>
              <a:latin typeface="Noto Sans CJK KR"/>
            </a:endParaRPr>
          </a:p>
        </p:txBody>
      </p:sp>
      <p:sp>
        <p:nvSpPr>
          <p:cNvPr id="19" name="TextBox 18"/>
          <p:cNvSpPr txBox="1"/>
          <p:nvPr/>
        </p:nvSpPr>
        <p:spPr>
          <a:xfrm>
            <a:off x="4771072" y="2773680"/>
            <a:ext cx="3025140" cy="272415"/>
          </a:xfrm>
          <a:prstGeom prst="rect">
            <a:avLst/>
          </a:prstGeom>
          <a:noFill/>
        </p:spPr>
        <p:txBody>
          <a:bodyPr wrap="none" lIns="45720" rIns="45720" anchor="ctr">
            <a:spAutoFit/>
          </a:bodyPr>
          <a:lstStyle/>
          <a:p>
            <a:pPr algn="ctr">
              <a:defRPr/>
            </a:pPr>
            <a:r>
              <a:rPr sz="1200" b="0">
                <a:solidFill>
                  <a:srgbClr val="27303b"/>
                </a:solidFill>
                <a:latin typeface="Noto Sans CJK KR"/>
              </a:rPr>
              <a:t>✓ DMA MMIO 대기 원인 </a:t>
            </a:r>
            <a:r>
              <a:rPr lang="ko-KR" altLang="en-US" sz="1200" b="0">
                <a:solidFill>
                  <a:srgbClr val="27303b"/>
                </a:solidFill>
                <a:latin typeface="Noto Sans CJK KR"/>
              </a:rPr>
              <a:t>완전히 해결 </a:t>
            </a:r>
            <a:r>
              <a:rPr sz="1200" b="0">
                <a:solidFill>
                  <a:srgbClr val="27303b"/>
                </a:solidFill>
                <a:latin typeface="Noto Sans CJK KR"/>
              </a:rPr>
              <a:t>필요</a:t>
            </a:r>
            <a:endParaRPr sz="1200" b="0">
              <a:solidFill>
                <a:srgbClr val="27303b"/>
              </a:solidFill>
              <a:latin typeface="Noto Sans CJK KR"/>
            </a:endParaRPr>
          </a:p>
        </p:txBody>
      </p:sp>
      <p:sp>
        <p:nvSpPr>
          <p:cNvPr id="21" name="TextBox 20"/>
          <p:cNvSpPr txBox="1"/>
          <p:nvPr/>
        </p:nvSpPr>
        <p:spPr>
          <a:xfrm>
            <a:off x="4771072" y="3429000"/>
            <a:ext cx="1846898" cy="272415"/>
          </a:xfrm>
          <a:prstGeom prst="rect">
            <a:avLst/>
          </a:prstGeom>
          <a:noFill/>
        </p:spPr>
        <p:txBody>
          <a:bodyPr wrap="none" lIns="45720" rIns="45720" anchor="ctr">
            <a:spAutoFit/>
          </a:bodyPr>
          <a:lstStyle/>
          <a:p>
            <a:pPr algn="ctr">
              <a:defRPr/>
            </a:pPr>
            <a:r>
              <a:rPr sz="1200" b="0">
                <a:solidFill>
                  <a:srgbClr val="27303b"/>
                </a:solidFill>
                <a:latin typeface="Noto Sans CJK KR"/>
              </a:rPr>
              <a:t>✓ CPU·DDR 병목 가능성</a:t>
            </a:r>
            <a:endParaRPr sz="1200" b="0">
              <a:solidFill>
                <a:srgbClr val="27303b"/>
              </a:solidFill>
              <a:latin typeface="Noto Sans CJK KR"/>
            </a:endParaRPr>
          </a:p>
        </p:txBody>
      </p:sp>
      <p:sp>
        <p:nvSpPr>
          <p:cNvPr id="22" name="Rounded Rectangle 21"/>
          <p:cNvSpPr/>
          <p:nvPr/>
        </p:nvSpPr>
        <p:spPr>
          <a:xfrm>
            <a:off x="8211312" y="1234440"/>
            <a:ext cx="3529584" cy="3886200"/>
          </a:xfrm>
          <a:prstGeom prst="roundRect">
            <a:avLst>
              <a:gd name="adj" fmla="val 16667"/>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3" name="Rounded Rectangle 22"/>
          <p:cNvSpPr/>
          <p:nvPr/>
        </p:nvSpPr>
        <p:spPr>
          <a:xfrm>
            <a:off x="8375904" y="1417320"/>
            <a:ext cx="3200400" cy="411480"/>
          </a:xfrm>
          <a:prstGeom prst="roundRect">
            <a:avLst>
              <a:gd name="adj" fmla="val 16667"/>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24" name="TextBox 23"/>
          <p:cNvSpPr txBox="1"/>
          <p:nvPr/>
        </p:nvSpPr>
        <p:spPr>
          <a:xfrm>
            <a:off x="9612630" y="1487805"/>
            <a:ext cx="701040" cy="262890"/>
          </a:xfrm>
          <a:prstGeom prst="rect">
            <a:avLst/>
          </a:prstGeom>
          <a:noFill/>
        </p:spPr>
        <p:txBody>
          <a:bodyPr wrap="none" lIns="45720" rIns="45720" anchor="ctr">
            <a:spAutoFit/>
          </a:bodyPr>
          <a:lstStyle/>
          <a:p>
            <a:pPr algn="ctr">
              <a:defRPr/>
            </a:pPr>
            <a:r>
              <a:rPr sz="1100" b="1">
                <a:solidFill>
                  <a:srgbClr val="ffffff"/>
                </a:solidFill>
                <a:latin typeface="Noto Sans CJK KR"/>
              </a:rPr>
              <a:t>다음 단계</a:t>
            </a:r>
            <a:endParaRPr sz="1100" b="1">
              <a:solidFill>
                <a:srgbClr val="ffffff"/>
              </a:solidFill>
              <a:latin typeface="Noto Sans CJK KR"/>
            </a:endParaRPr>
          </a:p>
        </p:txBody>
      </p:sp>
      <p:sp>
        <p:nvSpPr>
          <p:cNvPr id="25" name="TextBox 24"/>
          <p:cNvSpPr txBox="1"/>
          <p:nvPr/>
        </p:nvSpPr>
        <p:spPr>
          <a:xfrm>
            <a:off x="8503920" y="2145030"/>
            <a:ext cx="3057525" cy="272415"/>
          </a:xfrm>
          <a:prstGeom prst="rect">
            <a:avLst/>
          </a:prstGeom>
          <a:noFill/>
        </p:spPr>
        <p:txBody>
          <a:bodyPr wrap="none" lIns="45720" rIns="45720" anchor="ctr">
            <a:spAutoFit/>
          </a:bodyPr>
          <a:lstStyle/>
          <a:p>
            <a:pPr algn="l">
              <a:defRPr/>
            </a:pPr>
            <a:r>
              <a:rPr sz="1200" b="0">
                <a:solidFill>
                  <a:srgbClr val="27303b"/>
                </a:solidFill>
                <a:latin typeface="Noto Sans CJK KR"/>
              </a:rPr>
              <a:t>✓ DMA 단독 Loopback</a:t>
            </a:r>
            <a:r>
              <a:rPr lang="ko-KR" altLang="en-US" sz="1200" b="0">
                <a:solidFill>
                  <a:srgbClr val="27303b"/>
                </a:solidFill>
                <a:latin typeface="Noto Sans CJK KR"/>
              </a:rPr>
              <a:t>으로 전송 경로 검증</a:t>
            </a:r>
            <a:endParaRPr lang="ko-KR" altLang="en-US" sz="1200" b="0">
              <a:solidFill>
                <a:srgbClr val="27303b"/>
              </a:solidFill>
              <a:latin typeface="Noto Sans CJK KR"/>
            </a:endParaRPr>
          </a:p>
        </p:txBody>
      </p:sp>
      <p:sp>
        <p:nvSpPr>
          <p:cNvPr id="26" name="TextBox 25"/>
          <p:cNvSpPr txBox="1"/>
          <p:nvPr/>
        </p:nvSpPr>
        <p:spPr>
          <a:xfrm>
            <a:off x="8503920" y="2773680"/>
            <a:ext cx="2562225" cy="272415"/>
          </a:xfrm>
          <a:prstGeom prst="rect">
            <a:avLst/>
          </a:prstGeom>
          <a:noFill/>
        </p:spPr>
        <p:txBody>
          <a:bodyPr wrap="none" lIns="45720" rIns="45720" anchor="ctr">
            <a:spAutoFit/>
          </a:bodyPr>
          <a:lstStyle/>
          <a:p>
            <a:pPr algn="l">
              <a:defRPr/>
            </a:pPr>
            <a:r>
              <a:rPr sz="1200" b="0">
                <a:solidFill>
                  <a:srgbClr val="27303b"/>
                </a:solidFill>
                <a:latin typeface="Noto Sans CJK KR"/>
              </a:rPr>
              <a:t>✓ Golden 특징맵</a:t>
            </a:r>
            <a:r>
              <a:rPr lang="ko-KR" altLang="en-US" sz="1200" b="0">
                <a:solidFill>
                  <a:srgbClr val="27303b"/>
                </a:solidFill>
                <a:latin typeface="Noto Sans CJK KR"/>
              </a:rPr>
              <a:t>과 </a:t>
            </a:r>
            <a:r>
              <a:rPr lang="en-US" altLang="ko-KR" sz="1200" b="0">
                <a:solidFill>
                  <a:srgbClr val="27303b"/>
                </a:solidFill>
                <a:latin typeface="Noto Sans CJK KR"/>
              </a:rPr>
              <a:t>FPGA</a:t>
            </a:r>
            <a:r>
              <a:rPr lang="ko-KR" altLang="en-US" sz="1200" b="0">
                <a:solidFill>
                  <a:srgbClr val="27303b"/>
                </a:solidFill>
                <a:latin typeface="Noto Sans CJK KR"/>
              </a:rPr>
              <a:t>출력</a:t>
            </a:r>
            <a:r>
              <a:rPr sz="1200" b="0">
                <a:solidFill>
                  <a:srgbClr val="27303b"/>
                </a:solidFill>
                <a:latin typeface="Noto Sans CJK KR"/>
              </a:rPr>
              <a:t> 비교</a:t>
            </a:r>
            <a:endParaRPr sz="1200" b="0">
              <a:solidFill>
                <a:srgbClr val="27303b"/>
              </a:solidFill>
              <a:latin typeface="Noto Sans CJK KR"/>
            </a:endParaRPr>
          </a:p>
        </p:txBody>
      </p:sp>
      <p:sp>
        <p:nvSpPr>
          <p:cNvPr id="27" name="TextBox 26"/>
          <p:cNvSpPr txBox="1"/>
          <p:nvPr/>
        </p:nvSpPr>
        <p:spPr>
          <a:xfrm>
            <a:off x="8503920" y="3307080"/>
            <a:ext cx="2200275" cy="453390"/>
          </a:xfrm>
          <a:prstGeom prst="rect">
            <a:avLst/>
          </a:prstGeom>
          <a:noFill/>
        </p:spPr>
        <p:txBody>
          <a:bodyPr wrap="none" lIns="45720" rIns="45720" anchor="ctr">
            <a:spAutoFit/>
          </a:bodyPr>
          <a:lstStyle/>
          <a:p>
            <a:pPr algn="l">
              <a:defRPr/>
            </a:pPr>
            <a:r>
              <a:rPr sz="1200" b="0">
                <a:solidFill>
                  <a:srgbClr val="27303b"/>
                </a:solidFill>
                <a:latin typeface="Noto Sans CJK KR"/>
              </a:rPr>
              <a:t>✓ 웹캠 전체 Pipeline</a:t>
            </a:r>
            <a:r>
              <a:rPr lang="ko-KR" altLang="en-US" sz="1200" b="0">
                <a:solidFill>
                  <a:srgbClr val="27303b"/>
                </a:solidFill>
                <a:latin typeface="Noto Sans CJK KR"/>
              </a:rPr>
              <a:t>을</a:t>
            </a:r>
            <a:r>
              <a:rPr sz="1200" b="0">
                <a:solidFill>
                  <a:srgbClr val="27303b"/>
                </a:solidFill>
                <a:latin typeface="Noto Sans CJK KR"/>
              </a:rPr>
              <a:t> </a:t>
            </a:r>
            <a:r>
              <a:rPr lang="ko-KR" altLang="en-US" sz="1200" b="0">
                <a:solidFill>
                  <a:srgbClr val="27303b"/>
                </a:solidFill>
                <a:latin typeface="Noto Sans CJK KR"/>
              </a:rPr>
              <a:t>연결해</a:t>
            </a:r>
            <a:endParaRPr lang="ko-KR" altLang="en-US" sz="1200" b="0">
              <a:solidFill>
                <a:srgbClr val="27303b"/>
              </a:solidFill>
              <a:latin typeface="Noto Sans CJK KR"/>
            </a:endParaRPr>
          </a:p>
          <a:p>
            <a:pPr algn="l">
              <a:defRPr/>
            </a:pPr>
            <a:r>
              <a:rPr lang="en-US" altLang="ko-KR" sz="1200" b="0">
                <a:solidFill>
                  <a:srgbClr val="27303b"/>
                </a:solidFill>
                <a:latin typeface="Noto Sans CJK KR"/>
              </a:rPr>
              <a:t>FPS</a:t>
            </a:r>
            <a:r>
              <a:rPr lang="ko-KR" altLang="en-US" sz="1200" b="0">
                <a:solidFill>
                  <a:srgbClr val="27303b"/>
                </a:solidFill>
                <a:latin typeface="Noto Sans CJK KR"/>
              </a:rPr>
              <a:t>와 정확도를 측정</a:t>
            </a:r>
            <a:endParaRPr lang="ko-KR" altLang="en-US" sz="1200" b="0">
              <a:solidFill>
                <a:srgbClr val="27303b"/>
              </a:solidFill>
              <a:latin typeface="Noto Sans CJK KR"/>
            </a:endParaRPr>
          </a:p>
        </p:txBody>
      </p:sp>
      <p:sp>
        <p:nvSpPr>
          <p:cNvPr id="29" name="Rounded Rectangle 28"/>
          <p:cNvSpPr/>
          <p:nvPr/>
        </p:nvSpPr>
        <p:spPr>
          <a:xfrm>
            <a:off x="438912" y="5285232"/>
            <a:ext cx="11301984" cy="438912"/>
          </a:xfrm>
          <a:prstGeom prst="roundRect">
            <a:avLst>
              <a:gd name="adj" fmla="val 16667"/>
            </a:avLst>
          </a:prstGeom>
          <a:solidFill>
            <a:srgbClr val="236cb4"/>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0" name="TextBox 29"/>
          <p:cNvSpPr txBox="1"/>
          <p:nvPr/>
        </p:nvSpPr>
        <p:spPr>
          <a:xfrm>
            <a:off x="3183255" y="5364480"/>
            <a:ext cx="5796915" cy="262890"/>
          </a:xfrm>
          <a:prstGeom prst="rect">
            <a:avLst/>
          </a:prstGeom>
          <a:noFill/>
        </p:spPr>
        <p:txBody>
          <a:bodyPr wrap="none" lIns="45720" rIns="45720" anchor="ctr">
            <a:spAutoFit/>
          </a:bodyPr>
          <a:lstStyle/>
          <a:p>
            <a:pPr algn="ctr">
              <a:defRPr/>
            </a:pPr>
            <a:r>
              <a:rPr sz="1100" b="1">
                <a:solidFill>
                  <a:srgbClr val="ffffff"/>
                </a:solidFill>
                <a:latin typeface="Noto Sans CJK KR"/>
              </a:rPr>
              <a:t>AI 활용  |  Repository 분석 · 로그 기반 디버깅 · Tcl/Python 검토 · </a:t>
            </a:r>
            <a:r>
              <a:rPr lang="ko-KR" altLang="en-US" sz="1100" b="1">
                <a:solidFill>
                  <a:srgbClr val="ffffff"/>
                </a:solidFill>
                <a:latin typeface="Noto Sans CJK KR"/>
              </a:rPr>
              <a:t>결과</a:t>
            </a:r>
            <a:r>
              <a:rPr sz="1100" b="1">
                <a:solidFill>
                  <a:srgbClr val="ffffff"/>
                </a:solidFill>
                <a:latin typeface="Noto Sans CJK KR"/>
              </a:rPr>
              <a:t> 문서화 · PPT 생성</a:t>
            </a:r>
            <a:endParaRPr sz="1100" b="1">
              <a:solidFill>
                <a:srgbClr val="ffffff"/>
              </a:solidFill>
              <a:latin typeface="Noto Sans CJK KR"/>
            </a:endParaRPr>
          </a:p>
        </p:txBody>
      </p:sp>
      <p:sp>
        <p:nvSpPr>
          <p:cNvPr id="31" name="Rounded Rectangle 30"/>
          <p:cNvSpPr/>
          <p:nvPr/>
        </p:nvSpPr>
        <p:spPr>
          <a:xfrm>
            <a:off x="438912" y="5806440"/>
            <a:ext cx="11301984" cy="530352"/>
          </a:xfrm>
          <a:prstGeom prst="roundRect">
            <a:avLst>
              <a:gd name="adj" fmla="val 16667"/>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ko-KR" altLang="en-US"/>
          </a:p>
        </p:txBody>
      </p:sp>
      <p:sp>
        <p:nvSpPr>
          <p:cNvPr id="32" name="TextBox 31"/>
          <p:cNvSpPr txBox="1"/>
          <p:nvPr/>
        </p:nvSpPr>
        <p:spPr>
          <a:xfrm>
            <a:off x="3011805" y="5916930"/>
            <a:ext cx="6158865" cy="272415"/>
          </a:xfrm>
          <a:prstGeom prst="rect">
            <a:avLst/>
          </a:prstGeom>
          <a:noFill/>
        </p:spPr>
        <p:txBody>
          <a:bodyPr wrap="none" lIns="45720" rIns="45720" anchor="ctr">
            <a:spAutoFit/>
          </a:bodyPr>
          <a:lstStyle/>
          <a:p>
            <a:pPr algn="ctr">
              <a:defRPr/>
            </a:pPr>
            <a:r>
              <a:rPr sz="1200" b="1">
                <a:solidFill>
                  <a:srgbClr val="ffffff"/>
                </a:solidFill>
                <a:latin typeface="Noto Sans CJK KR"/>
              </a:rPr>
              <a:t>결론  |  model.6 통합·Bitstream·Overlay 로딩 완료, 다음은 DMA와 전체 추론 직접 검증</a:t>
            </a:r>
            <a:endParaRPr sz="1200" b="1">
              <a:solidFill>
                <a:srgbClr val="ffffff"/>
              </a:solidFill>
              <a:latin typeface="Noto Sans CJK KR"/>
            </a:endParaRPr>
          </a:p>
        </p:txBody>
      </p:sp>
      <p:sp>
        <p:nvSpPr>
          <p:cNvPr id="33" name="TextBox 32"/>
          <p:cNvSpPr txBox="1"/>
          <p:nvPr/>
        </p:nvSpPr>
        <p:spPr>
          <a:xfrm>
            <a:off x="438912" y="6555105"/>
            <a:ext cx="2997708" cy="215265"/>
          </a:xfrm>
          <a:prstGeom prst="rect">
            <a:avLst/>
          </a:prstGeom>
          <a:noFill/>
        </p:spPr>
        <p:txBody>
          <a:bodyPr wrap="none" lIns="45720" rIns="45720" anchor="ctr">
            <a:spAutoFit/>
          </a:bodyPr>
          <a:lstStyle/>
          <a:p>
            <a:pPr algn="l">
              <a:defRPr/>
            </a:pPr>
            <a:r>
              <a:rPr sz="800" b="0">
                <a:solidFill>
                  <a:srgbClr val="66717c"/>
                </a:solidFill>
                <a:latin typeface="Noto Sans CJK KR"/>
              </a:rPr>
              <a:t>PPE Monitoring AI Hardware Accelerator | Project Retrospective</a:t>
            </a:r>
            <a:endParaRPr sz="800" b="0">
              <a:solidFill>
                <a:srgbClr val="66717c"/>
              </a:solidFill>
              <a:latin typeface="Noto Sans CJK KR"/>
            </a:endParaRPr>
          </a:p>
        </p:txBody>
      </p:sp>
      <p:sp>
        <p:nvSpPr>
          <p:cNvPr id="34" name="TextBox 33"/>
          <p:cNvSpPr txBox="1"/>
          <p:nvPr/>
        </p:nvSpPr>
        <p:spPr>
          <a:xfrm>
            <a:off x="11222355" y="6537960"/>
            <a:ext cx="481965" cy="213360"/>
          </a:xfrm>
          <a:prstGeom prst="rect">
            <a:avLst/>
          </a:prstGeom>
          <a:noFill/>
        </p:spPr>
        <p:txBody>
          <a:bodyPr wrap="none" lIns="45720" rIns="45720" anchor="ctr">
            <a:spAutoFit/>
          </a:bodyPr>
          <a:lstStyle/>
          <a:p>
            <a:pPr algn="r">
              <a:defRPr/>
            </a:pPr>
            <a:r>
              <a:rPr sz="800" b="1">
                <a:solidFill>
                  <a:srgbClr val="236cb4"/>
                </a:solidFill>
                <a:latin typeface="Noto Sans CJK KR"/>
              </a:rPr>
              <a:t>B TEAM</a:t>
            </a:r>
            <a:endParaRPr sz="800" b="1">
              <a:solidFill>
                <a:srgbClr val="236cb4"/>
              </a:solidFill>
              <a:latin typeface="Noto Sans CJK KR"/>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2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2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2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2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52</ep:Words>
  <ep:PresentationFormat>와이드스크린</ep:PresentationFormat>
  <ep:Paragraphs>6</ep:Paragraphs>
  <ep:Slides>6</ep:Slides>
  <ep:Notes>13</ep:Notes>
  <ep:TotalTime>0</ep:TotalTime>
  <ep:HiddenSlides>0</ep:HiddenSlides>
  <ep:MMClips>0</ep:MMClips>
  <ep:HeadingPairs>
    <vt:vector size="4" baseType="variant">
      <vt:variant>
        <vt:lpstr>테마</vt:lpstr>
      </vt:variant>
      <vt:variant>
        <vt:i4>1</vt:i4>
      </vt:variant>
      <vt:variant>
        <vt:lpstr>슬라이드 제목</vt:lpstr>
      </vt:variant>
      <vt:variant>
        <vt:i4>6</vt:i4>
      </vt:variant>
    </vt:vector>
  </ep:HeadingPairs>
  <ep:TitlesOfParts>
    <vt:vector size="7" baseType="lpstr">
      <vt:lpstr>Office Theme</vt:lpstr>
      <vt:lpstr>슬라이드 1</vt:lpstr>
      <vt:lpstr>슬라이드 2</vt:lpstr>
      <vt:lpstr>슬라이드 3</vt:lpstr>
      <vt:lpstr>PowerPoint 프레젠테이션</vt:lpstr>
      <vt:lpstr>슬라이드 5</vt:lpstr>
      <vt:lpstr>슬라이드 6</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2026-08-10T01:47:46.000</dcterms:created>
  <dc:creator>PptxGenJS</dc:creator>
  <cp:lastModifiedBy>skh82</cp:lastModifiedBy>
  <dcterms:modified xsi:type="dcterms:W3CDTF">2026-08-12T23:56:07.120</dcterms:modified>
  <cp:revision>76</cp:revision>
  <dc:subject>PptxGenJS Presentation</dc:subject>
  <dc:title>PptxGenJS Presentation</dc:title>
  <cp:version>1000.0000.01</cp:version>
</cp:coreProperties>
</file>