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58" r:id="rId5"/>
    <p:sldId id="262" r:id="rId6"/>
    <p:sldId id="269" r:id="rId7"/>
    <p:sldId id="277" r:id="rId26"/>
    <p:sldId id="267" r:id="rId8"/>
    <p:sldId id="271" r:id="rId9"/>
    <p:sldId id="272" r:id="rId10"/>
    <p:sldId id="270" r:id="rId11"/>
    <p:sldId id="275" r:id="rId12"/>
    <p:sldId id="273" r:id="rId13"/>
    <p:sldId id="264" r:id="rId14"/>
    <p:sldId id="274" r:id="rId15"/>
    <p:sldId id="265" r:id="rId16"/>
    <p:sldId id="276" r:id="rId17"/>
    <p:sldId id="260" r:id="rId18"/>
    <p:sldId id="26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F5C72-00B2-41A8-A7E5-4DA6AE61A6E1}" v="52" dt="2026-08-10T05:21:42.983"/>
    <p1510:client id="{2EBFB4AE-0A2A-4AFD-A9EE-A92268D3D85C}" v="160" dt="2026-08-10T09:13:08.991"/>
    <p1510:client id="{3C30B0C6-B0F6-4A42-B71F-E335E3B5566B}" v="344" dt="2026-08-11T08:12:35.620"/>
    <p1510:client id="{48623BE5-BD53-4F1D-B199-64C60FEBAFE2}" v="694" dt="2026-08-10T07:06:43.790"/>
    <p1510:client id="{96E12B9F-A9C6-4B13-A2A7-356CE5D6F995}" v="129" dt="2026-08-11T05:02:46.974"/>
    <p1510:client id="{976FAA9D-DDC6-4A8F-A621-6C3EFF4B4946}" v="2315" dt="2026-08-11T07:17:34.956"/>
    <p1510:client id="{DCDD2C3C-152D-4C58-A44F-0DD5FCE59530}" v="159" dt="2026-08-10T02:05:41.096"/>
    <p1510:client id="{FBE15653-5827-A265-86D4-2BF8D9AA2764}" v="155" dt="2026-08-11T09:11:3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  <Relationship Id="rId26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E1288-EED4-444D-99D3-DD43526BC351}" type="datetimeFigureOut"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92029-F171-4FE6-AED7-3AF13C61E2E4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8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16A8A-337F-1297-07D7-619A5112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D91F7-260B-10C3-ED92-59E31C61A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1FFE8-BFC9-A54E-1E00-13AACF82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DAD67-94D2-8E12-F06B-9CAA4D263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13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3C25-D9A8-F385-3860-0B3C80F6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C3DA9-350D-5FAE-3E8D-E717E55D0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39DC9-C651-AEE1-CA44-B2EE04757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41D47-C020-11AA-BC4D-E2879E453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19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797F-A0BB-D2D2-C1C5-603B4643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8983C-D7B8-FF0D-F1A3-8C45B9E5A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06235-ACFA-619F-3ECC-1123D4FA2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F84EE-36E8-D44F-18C1-5A0986D47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61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HARDWARE ACCELERATOR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>
                <a:solidFill>
                  <a:srgbClr val="C2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YOLOv8n C2F Block</a:t>
            </a:r>
            <a:endParaRPr lang="en-US" sz="200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B5A37C3-39DD-FFFA-5A3F-55F1922F7E52}"/>
              </a:ext>
            </a:extLst>
          </p:cNvPr>
          <p:cNvGrpSpPr/>
          <p:nvPr/>
        </p:nvGrpSpPr>
        <p:grpSpPr>
          <a:xfrm>
            <a:off x="6893118" y="3099598"/>
            <a:ext cx="1444752" cy="1444752"/>
            <a:chOff x="3681832" y="3072384"/>
            <a:chExt cx="1444752" cy="1444752"/>
          </a:xfrm>
        </p:grpSpPr>
        <p:sp>
          <p:nvSpPr>
            <p:cNvPr id="4" name="Shape 2"/>
            <p:cNvSpPr/>
            <p:nvPr/>
          </p:nvSpPr>
          <p:spPr>
            <a:xfrm>
              <a:off x="3809848" y="3200400"/>
              <a:ext cx="1188720" cy="1188720"/>
            </a:xfrm>
            <a:prstGeom prst="roundRect">
              <a:avLst>
                <a:gd name="adj" fmla="val 9231"/>
              </a:avLst>
            </a:prstGeom>
            <a:solidFill>
              <a:srgbClr val="2E3B52"/>
            </a:solidFill>
            <a:ln w="12700">
              <a:solidFill>
                <a:srgbClr val="2E3B52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4002380" y="3392932"/>
              <a:ext cx="785512" cy="785513"/>
            </a:xfrm>
            <a:prstGeom prst="rect">
              <a:avLst/>
            </a:prstGeom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4011016" y="3072384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4207612" y="3072384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4404208" y="3072384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600804" y="3072384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797400" y="3072384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011016" y="4389120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207612" y="4389120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404208" y="4389120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600804" y="4389120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797400" y="4389120"/>
              <a:ext cx="0" cy="128016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681832" y="3401568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681832" y="3598164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681832" y="3794760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681832" y="3991356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3681832" y="4187952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998568" y="3401568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998568" y="3598164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998568" y="3794760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998568" y="3991356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4998568" y="4187952"/>
              <a:ext cx="128016" cy="0"/>
            </a:xfrm>
            <a:prstGeom prst="line">
              <a:avLst/>
            </a:prstGeom>
            <a:noFill/>
            <a:ln w="31750">
              <a:solidFill>
                <a:srgbClr val="2E3B52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809848" y="3200400"/>
              <a:ext cx="11887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Arial"/>
                  <a:cs typeface="Arial"/>
                </a:rPr>
                <a:t>FPGA</a:t>
              </a:r>
            </a:p>
          </p:txBody>
        </p:sp>
      </p:grpSp>
      <p:sp>
        <p:nvSpPr>
          <p:cNvPr id="27" name="Shape 25"/>
          <p:cNvSpPr/>
          <p:nvPr/>
        </p:nvSpPr>
        <p:spPr>
          <a:xfrm>
            <a:off x="5599822" y="3657237"/>
            <a:ext cx="822960" cy="365760"/>
          </a:xfrm>
          <a:prstGeom prst="rightArrow">
            <a:avLst/>
          </a:prstGeom>
          <a:solidFill>
            <a:srgbClr val="AAB2BD"/>
          </a:solidFill>
          <a:ln/>
        </p:spPr>
      </p:sp>
      <p:sp>
        <p:nvSpPr>
          <p:cNvPr id="47" name="Shape 45"/>
          <p:cNvSpPr/>
          <p:nvPr/>
        </p:nvSpPr>
        <p:spPr>
          <a:xfrm>
            <a:off x="2286000" y="5806440"/>
            <a:ext cx="761969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>
                <a:solidFill>
                  <a:srgbClr val="5A6472"/>
                </a:solidFill>
                <a:latin typeface="Arial"/>
                <a:ea typeface="Arial" pitchFamily="34" charset="-122"/>
                <a:cs typeface="Arial"/>
              </a:rPr>
              <a:t>유현준, 김완민, 박정원, 오상헌, 성기호 | 글로벌 반도체 설계 전문가 과정 2기</a:t>
            </a:r>
            <a:endParaRPr lang="ko-KR" altLang="en-US" sz="1500">
              <a:solidFill>
                <a:srgbClr val="5A6472"/>
              </a:solidFill>
              <a:latin typeface="Arial"/>
              <a:cs typeface="Arial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5A6472"/>
                </a:solidFill>
                <a:latin typeface="Arial"/>
                <a:cs typeface="Arial"/>
              </a:rPr>
              <a:t>2026.08.13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7DC695A-5644-0063-1602-ED57D064949D}"/>
              </a:ext>
            </a:extLst>
          </p:cNvPr>
          <p:cNvGrpSpPr/>
          <p:nvPr/>
        </p:nvGrpSpPr>
        <p:grpSpPr>
          <a:xfrm>
            <a:off x="3259684" y="2900383"/>
            <a:ext cx="1854126" cy="1843684"/>
            <a:chOff x="2978470" y="2691740"/>
            <a:chExt cx="1854126" cy="1843684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41B5EA4-AE2F-A124-19B0-79D106065A1C}"/>
                </a:ext>
              </a:extLst>
            </p:cNvPr>
            <p:cNvGrpSpPr/>
            <p:nvPr/>
          </p:nvGrpSpPr>
          <p:grpSpPr>
            <a:xfrm>
              <a:off x="2978470" y="3054096"/>
              <a:ext cx="1847088" cy="1481328"/>
              <a:chOff x="6498184" y="3054096"/>
              <a:chExt cx="1847088" cy="1481328"/>
            </a:xfrm>
          </p:grpSpPr>
          <p:sp>
            <p:nvSpPr>
              <p:cNvPr id="28" name="Shape 26"/>
              <p:cNvSpPr/>
              <p:nvPr/>
            </p:nvSpPr>
            <p:spPr>
              <a:xfrm flipV="1">
                <a:off x="6626200" y="3182112"/>
                <a:ext cx="795528" cy="1554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29" name="Shape 27"/>
              <p:cNvSpPr/>
              <p:nvPr/>
            </p:nvSpPr>
            <p:spPr>
              <a:xfrm>
                <a:off x="6626200" y="3337560"/>
                <a:ext cx="795528" cy="457200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0" name="Shape 28"/>
              <p:cNvSpPr/>
              <p:nvPr/>
            </p:nvSpPr>
            <p:spPr>
              <a:xfrm>
                <a:off x="6626200" y="3337560"/>
                <a:ext cx="795528" cy="10698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1" name="Shape 29"/>
              <p:cNvSpPr/>
              <p:nvPr/>
            </p:nvSpPr>
            <p:spPr>
              <a:xfrm flipV="1">
                <a:off x="6626200" y="3182112"/>
                <a:ext cx="795528" cy="10698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2" name="Shape 30"/>
              <p:cNvSpPr/>
              <p:nvPr/>
            </p:nvSpPr>
            <p:spPr>
              <a:xfrm flipV="1">
                <a:off x="6626200" y="3794760"/>
                <a:ext cx="795528" cy="457200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3" name="Shape 31"/>
              <p:cNvSpPr/>
              <p:nvPr/>
            </p:nvSpPr>
            <p:spPr>
              <a:xfrm>
                <a:off x="6626200" y="4251960"/>
                <a:ext cx="795528" cy="1554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4" name="Shape 32"/>
              <p:cNvSpPr/>
              <p:nvPr/>
            </p:nvSpPr>
            <p:spPr>
              <a:xfrm>
                <a:off x="7421728" y="3182112"/>
                <a:ext cx="795528" cy="1554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5" name="Shape 33"/>
              <p:cNvSpPr/>
              <p:nvPr/>
            </p:nvSpPr>
            <p:spPr>
              <a:xfrm>
                <a:off x="7421728" y="3182112"/>
                <a:ext cx="795528" cy="10698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6" name="Shape 34"/>
              <p:cNvSpPr/>
              <p:nvPr/>
            </p:nvSpPr>
            <p:spPr>
              <a:xfrm flipV="1">
                <a:off x="7421728" y="3337560"/>
                <a:ext cx="795528" cy="457200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7" name="Shape 35"/>
              <p:cNvSpPr/>
              <p:nvPr/>
            </p:nvSpPr>
            <p:spPr>
              <a:xfrm>
                <a:off x="7421728" y="3794760"/>
                <a:ext cx="795528" cy="457200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8" name="Shape 36"/>
              <p:cNvSpPr/>
              <p:nvPr/>
            </p:nvSpPr>
            <p:spPr>
              <a:xfrm flipV="1">
                <a:off x="7421728" y="3337560"/>
                <a:ext cx="795528" cy="10698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39" name="Shape 37"/>
              <p:cNvSpPr/>
              <p:nvPr/>
            </p:nvSpPr>
            <p:spPr>
              <a:xfrm flipV="1">
                <a:off x="7421728" y="4251960"/>
                <a:ext cx="795528" cy="155448"/>
              </a:xfrm>
              <a:prstGeom prst="line">
                <a:avLst/>
              </a:prstGeom>
              <a:noFill/>
              <a:ln w="127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0" name="Shape 38"/>
              <p:cNvSpPr/>
              <p:nvPr/>
            </p:nvSpPr>
            <p:spPr>
              <a:xfrm>
                <a:off x="6498184" y="3209544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1" name="Shape 39"/>
              <p:cNvSpPr/>
              <p:nvPr/>
            </p:nvSpPr>
            <p:spPr>
              <a:xfrm>
                <a:off x="6498184" y="4123944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2" name="Shape 40"/>
              <p:cNvSpPr/>
              <p:nvPr/>
            </p:nvSpPr>
            <p:spPr>
              <a:xfrm>
                <a:off x="7293712" y="3054096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3" name="Shape 41"/>
              <p:cNvSpPr/>
              <p:nvPr/>
            </p:nvSpPr>
            <p:spPr>
              <a:xfrm>
                <a:off x="7293712" y="3666744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4" name="Shape 42"/>
              <p:cNvSpPr/>
              <p:nvPr/>
            </p:nvSpPr>
            <p:spPr>
              <a:xfrm>
                <a:off x="7293712" y="4279392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5" name="Shape 43"/>
              <p:cNvSpPr/>
              <p:nvPr/>
            </p:nvSpPr>
            <p:spPr>
              <a:xfrm>
                <a:off x="8089240" y="3209544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  <p:sp>
            <p:nvSpPr>
              <p:cNvPr id="46" name="Shape 44"/>
              <p:cNvSpPr/>
              <p:nvPr/>
            </p:nvSpPr>
            <p:spPr>
              <a:xfrm>
                <a:off x="8089240" y="4123944"/>
                <a:ext cx="256032" cy="25603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2E3B52"/>
                </a:solidFill>
                <a:prstDash val="solid"/>
              </a:ln>
            </p:spPr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78B9EE-092A-DFEC-4EC4-3574EA42F4D7}"/>
                </a:ext>
              </a:extLst>
            </p:cNvPr>
            <p:cNvSpPr txBox="1"/>
            <p:nvPr/>
          </p:nvSpPr>
          <p:spPr>
            <a:xfrm>
              <a:off x="2982027" y="2691740"/>
              <a:ext cx="185056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b="1" i="1">
                  <a:latin typeface="Arial"/>
                  <a:ea typeface="맑은 고딕"/>
                  <a:cs typeface="Arial"/>
                </a:rPr>
                <a:t>YOLOv8n(C2f)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997" y="316775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F3B66"/>
                </a:solidFill>
                <a:latin typeface="Arial"/>
                <a:cs typeface="Arial"/>
              </a:rPr>
              <a:t>Contents(</a:t>
            </a:r>
            <a:r>
              <a:rPr lang="ko-KR" altLang="en-US" sz="4000" b="1" dirty="0" err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수정</a:t>
            </a:r>
            <a:r>
              <a:rPr lang="en-US" altLang="ko-KR" sz="40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4000" b="1" dirty="0" err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예정</a:t>
            </a:r>
            <a:r>
              <a:rPr lang="en-US" sz="4000" b="1" dirty="0">
                <a:solidFill>
                  <a:srgbClr val="1F3B66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AA2F75-8804-EC78-EE24-1C33CE8D96E0}"/>
              </a:ext>
            </a:extLst>
          </p:cNvPr>
          <p:cNvSpPr txBox="1"/>
          <p:nvPr/>
        </p:nvSpPr>
        <p:spPr>
          <a:xfrm>
            <a:off x="3354779" y="1395351"/>
            <a:ext cx="49777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주제 및 결과 요약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개발 목표 및 개발 결과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핵심 기술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결과 분석 및 기대 효과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향후 연구 과제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프로젝트 수행 후기</a:t>
            </a:r>
          </a:p>
          <a:p>
            <a:pPr algn="l"/>
            <a:endParaRPr lang="ko-KR" altLang="en-US"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102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78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F3B66"/>
                </a:solidFill>
                <a:latin typeface="Arial"/>
                <a:cs typeface="Arial"/>
              </a:rPr>
              <a:t>Project Objective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B8E8FEE-B7B7-AB02-86DC-6BB521609CB4}"/>
              </a:ext>
            </a:extLst>
          </p:cNvPr>
          <p:cNvGrpSpPr/>
          <p:nvPr/>
        </p:nvGrpSpPr>
        <p:grpSpPr>
          <a:xfrm>
            <a:off x="930116" y="1897856"/>
            <a:ext cx="4967764" cy="2043589"/>
            <a:chOff x="930116" y="1897856"/>
            <a:chExt cx="4967764" cy="2043589"/>
          </a:xfrm>
        </p:grpSpPr>
        <p:sp>
          <p:nvSpPr>
            <p:cNvPr id="4" name="Shape 2"/>
            <p:cNvSpPr/>
            <p:nvPr/>
          </p:nvSpPr>
          <p:spPr>
            <a:xfrm>
              <a:off x="930116" y="1897856"/>
              <a:ext cx="4967764" cy="2043589"/>
            </a:xfrm>
            <a:prstGeom prst="roundRect">
              <a:avLst>
                <a:gd name="adj" fmla="val 4348"/>
              </a:avLst>
            </a:prstGeom>
            <a:solidFill>
              <a:srgbClr val="EAF0FA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158716" y="2581274"/>
              <a:ext cx="4522471" cy="661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3000" b="1">
                  <a:solidFill>
                    <a:srgbClr val="1F3B66"/>
                  </a:solidFill>
                  <a:latin typeface="Arial"/>
                  <a:ea typeface="Arial" pitchFamily="34" charset="-122"/>
                  <a:cs typeface="Arial"/>
                </a:rPr>
                <a:t>가속기 처리량 GFLOP/s</a:t>
              </a:r>
              <a:endParaRPr lang="ko-KR" altLang="en-US" sz="3000" b="1">
                <a:solidFill>
                  <a:srgbClr val="1F3B66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10EFC00-C8E4-EC88-6069-1860B79AA793}"/>
              </a:ext>
            </a:extLst>
          </p:cNvPr>
          <p:cNvGrpSpPr/>
          <p:nvPr/>
        </p:nvGrpSpPr>
        <p:grpSpPr>
          <a:xfrm>
            <a:off x="930116" y="4273391"/>
            <a:ext cx="4967764" cy="2043589"/>
            <a:chOff x="930116" y="4321016"/>
            <a:chExt cx="4967764" cy="2043589"/>
          </a:xfrm>
        </p:grpSpPr>
        <p:sp>
          <p:nvSpPr>
            <p:cNvPr id="14" name="Shape 12"/>
            <p:cNvSpPr/>
            <p:nvPr/>
          </p:nvSpPr>
          <p:spPr>
            <a:xfrm>
              <a:off x="930116" y="4321016"/>
              <a:ext cx="4967764" cy="2043589"/>
            </a:xfrm>
            <a:prstGeom prst="roundRect">
              <a:avLst>
                <a:gd name="adj" fmla="val 4348"/>
              </a:avLst>
            </a:prstGeom>
            <a:solidFill>
              <a:srgbClr val="FBEFE7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1158716" y="4754403"/>
              <a:ext cx="4522471" cy="1126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3000" b="1">
                  <a:solidFill>
                    <a:srgbClr val="C25A1E"/>
                  </a:solidFill>
                  <a:latin typeface="Arial"/>
                  <a:ea typeface="맑은 고딕"/>
                  <a:cs typeface="Arial"/>
                </a:rPr>
                <a:t>자원 사용량</a:t>
              </a:r>
              <a:endParaRPr lang="ko-KR"/>
            </a:p>
            <a:p>
              <a:r>
                <a:rPr lang="ko-KR" altLang="en-US" sz="3000" b="1">
                  <a:solidFill>
                    <a:srgbClr val="C25A1E"/>
                  </a:solidFill>
                  <a:latin typeface="Arial"/>
                  <a:ea typeface="맑은 고딕"/>
                  <a:cs typeface="Arial"/>
                </a:rPr>
                <a:t>LUT, BRAM, URAM, DSP</a:t>
              </a:r>
              <a:endParaRPr lang="ko-KR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CAC340C-212F-AE40-D084-511F4E497F0F}"/>
              </a:ext>
            </a:extLst>
          </p:cNvPr>
          <p:cNvGrpSpPr/>
          <p:nvPr/>
        </p:nvGrpSpPr>
        <p:grpSpPr>
          <a:xfrm>
            <a:off x="6194107" y="1897856"/>
            <a:ext cx="4967764" cy="2043589"/>
            <a:chOff x="6194107" y="1909762"/>
            <a:chExt cx="4967764" cy="2043589"/>
          </a:xfrm>
        </p:grpSpPr>
        <p:sp>
          <p:nvSpPr>
            <p:cNvPr id="9" name="Shape 7"/>
            <p:cNvSpPr/>
            <p:nvPr/>
          </p:nvSpPr>
          <p:spPr>
            <a:xfrm>
              <a:off x="6194107" y="1909762"/>
              <a:ext cx="4967764" cy="2043589"/>
            </a:xfrm>
            <a:prstGeom prst="roundRect">
              <a:avLst>
                <a:gd name="adj" fmla="val 4348"/>
              </a:avLst>
            </a:prstGeom>
            <a:solidFill>
              <a:srgbClr val="E7F3EC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6422707" y="2414586"/>
              <a:ext cx="4522471" cy="983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000" b="1">
                  <a:solidFill>
                    <a:srgbClr val="3E8E5A"/>
                  </a:solidFill>
                  <a:latin typeface="Arial"/>
                  <a:ea typeface="Arial" pitchFamily="34" charset="-122"/>
                  <a:cs typeface="Arial"/>
                </a:rPr>
                <a:t>Timing </a:t>
              </a:r>
              <a:r>
                <a:rPr lang="ko-KR" altLang="en-US" sz="3000" b="1">
                  <a:solidFill>
                    <a:srgbClr val="3E8E5A"/>
                  </a:solidFill>
                  <a:latin typeface="Arial"/>
                  <a:ea typeface="Arial" pitchFamily="34" charset="-122"/>
                  <a:cs typeface="Arial"/>
                </a:rPr>
                <a:t>여유</a:t>
              </a:r>
            </a:p>
            <a:p>
              <a:r>
                <a:rPr lang="en-US" sz="3000" b="1">
                  <a:solidFill>
                    <a:srgbClr val="3E8E5A"/>
                  </a:solidFill>
                  <a:latin typeface="Arial"/>
                  <a:ea typeface="Arial" pitchFamily="34" charset="-122"/>
                  <a:cs typeface="Arial"/>
                </a:rPr>
                <a:t>WNS, WHS, CLK</a:t>
              </a:r>
              <a:endParaRPr lang="en-US" sz="3000">
                <a:latin typeface="Arial"/>
                <a:ea typeface="Calibri"/>
                <a:cs typeface="Arial"/>
              </a:endParaRPr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33E57D15-B155-D26F-698C-054B9D8E0834}"/>
                </a:ext>
              </a:extLst>
            </p:cNvPr>
            <p:cNvSpPr/>
            <p:nvPr/>
          </p:nvSpPr>
          <p:spPr>
            <a:xfrm>
              <a:off x="6422707" y="3362325"/>
              <a:ext cx="4522471" cy="308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20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목표</a:t>
              </a:r>
              <a:r>
                <a:rPr lang="en-US" sz="120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 clk: 100MHz</a:t>
              </a:r>
              <a:endParaRPr lang="en-US" sz="1200">
                <a:latin typeface="Arial"/>
                <a:cs typeface="Arial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1590C13-6315-80E6-5A96-891E573E1D61}"/>
              </a:ext>
            </a:extLst>
          </p:cNvPr>
          <p:cNvGrpSpPr/>
          <p:nvPr/>
        </p:nvGrpSpPr>
        <p:grpSpPr>
          <a:xfrm>
            <a:off x="6194107" y="4273391"/>
            <a:ext cx="4967764" cy="2043589"/>
            <a:chOff x="6194107" y="4273391"/>
            <a:chExt cx="4967764" cy="2043589"/>
          </a:xfrm>
        </p:grpSpPr>
        <p:sp>
          <p:nvSpPr>
            <p:cNvPr id="19" name="Shape 17"/>
            <p:cNvSpPr/>
            <p:nvPr/>
          </p:nvSpPr>
          <p:spPr>
            <a:xfrm>
              <a:off x="6194107" y="4273391"/>
              <a:ext cx="4967764" cy="2043589"/>
            </a:xfrm>
            <a:prstGeom prst="roundRect">
              <a:avLst>
                <a:gd name="adj" fmla="val 4348"/>
              </a:avLst>
            </a:prstGeom>
            <a:solidFill>
              <a:srgbClr val="FBEAE7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6422707" y="4849653"/>
              <a:ext cx="4522471" cy="661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3000" b="1">
                  <a:solidFill>
                    <a:srgbClr val="B33A3A"/>
                  </a:solidFill>
                  <a:latin typeface="Arial"/>
                  <a:ea typeface="Arial" pitchFamily="34" charset="-122"/>
                  <a:cs typeface="Arial"/>
                </a:rPr>
                <a:t>전체 시스템의 FPS</a:t>
              </a:r>
              <a:endParaRPr lang="ko-KR" altLang="en-US" sz="3000" b="1">
                <a:solidFill>
                  <a:srgbClr val="B33A3A"/>
                </a:solidFill>
                <a:latin typeface="Arial"/>
                <a:cs typeface="Arial"/>
              </a:endParaRPr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3CA7ED65-CE5D-D93C-4CEC-9CE4501CBA3A}"/>
                </a:ext>
              </a:extLst>
            </p:cNvPr>
            <p:cNvSpPr/>
            <p:nvPr/>
          </p:nvSpPr>
          <p:spPr>
            <a:xfrm>
              <a:off x="6422706" y="5529262"/>
              <a:ext cx="4522471" cy="308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200" b="1">
                  <a:solidFill>
                    <a:srgbClr val="2E3B52"/>
                  </a:solidFill>
                  <a:latin typeface="Arial"/>
                  <a:ea typeface="맑은 고딕"/>
                  <a:cs typeface="Arial"/>
                </a:rPr>
                <a:t>목표 FPS: 10~15fps</a:t>
              </a:r>
              <a:endParaRPr lang="en-US" sz="1200" b="1">
                <a:solidFill>
                  <a:srgbClr val="2E3B52"/>
                </a:solidFill>
                <a:latin typeface="Arial"/>
                <a:cs typeface="Arial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50C494F-E2B3-DBC8-84E4-8B2D83C818AE}"/>
              </a:ext>
            </a:extLst>
          </p:cNvPr>
          <p:cNvSpPr txBox="1"/>
          <p:nvPr/>
        </p:nvSpPr>
        <p:spPr>
          <a:xfrm>
            <a:off x="4215895" y="1294534"/>
            <a:ext cx="3651662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800" b="1">
                <a:solidFill>
                  <a:srgbClr val="C00000"/>
                </a:solidFill>
                <a:latin typeface="Calibri"/>
                <a:ea typeface="맑은 고딕"/>
                <a:cs typeface="Calibri"/>
              </a:rPr>
              <a:t>Hardware Accelerator</a:t>
            </a:r>
            <a:endParaRPr lang="ko-KR" sz="2800">
              <a:solidFill>
                <a:srgbClr val="C000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E41CBBE-A3A5-133B-F4B5-BD9AE39B9304}"/>
              </a:ext>
            </a:extLst>
          </p:cNvPr>
          <p:cNvSpPr/>
          <p:nvPr/>
        </p:nvSpPr>
        <p:spPr>
          <a:xfrm>
            <a:off x="466997" y="316775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Entire Structure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F3321B9-F14E-9483-7E4D-FE3932A64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13" y="917724"/>
            <a:ext cx="1857375" cy="2219325"/>
          </a:xfrm>
          <a:prstGeom prst="rect">
            <a:avLst/>
          </a:prstGeom>
        </p:spPr>
      </p:pic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28D70-0AA2-36A6-6E82-74DF895FC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49" y="3214597"/>
            <a:ext cx="11358880" cy="1902277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4442AC-10C6-AFAA-574D-163161EC914B}"/>
              </a:ext>
            </a:extLst>
          </p:cNvPr>
          <p:cNvSpPr/>
          <p:nvPr/>
        </p:nvSpPr>
        <p:spPr>
          <a:xfrm>
            <a:off x="677454" y="2737034"/>
            <a:ext cx="9084623" cy="22967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A885C-A440-64B8-2138-5B6207CE02FC}"/>
              </a:ext>
            </a:extLst>
          </p:cNvPr>
          <p:cNvSpPr txBox="1"/>
          <p:nvPr/>
        </p:nvSpPr>
        <p:spPr>
          <a:xfrm>
            <a:off x="3394364" y="2366097"/>
            <a:ext cx="36516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b="1">
                <a:solidFill>
                  <a:srgbClr val="002060"/>
                </a:solidFill>
                <a:ea typeface="맑은 고딕"/>
                <a:cs typeface="Calibri"/>
              </a:rPr>
              <a:t>YOLOv8n</a:t>
            </a:r>
            <a:endParaRPr lang="ko-KR" altLang="en-US" sz="2000" b="1">
              <a:solidFill>
                <a:srgbClr val="00206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58AB4-1A87-B16C-750C-E7131256BFD9}"/>
              </a:ext>
            </a:extLst>
          </p:cNvPr>
          <p:cNvSpPr txBox="1"/>
          <p:nvPr/>
        </p:nvSpPr>
        <p:spPr>
          <a:xfrm>
            <a:off x="3701143" y="2949967"/>
            <a:ext cx="36516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2060"/>
                </a:solidFill>
                <a:latin typeface="Arial"/>
                <a:ea typeface="맑은 고딕"/>
                <a:cs typeface="Arial"/>
              </a:rPr>
              <a:t>model.6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CF5BB4A-2E8F-BFAA-1FDA-A4672011506D}"/>
              </a:ext>
            </a:extLst>
          </p:cNvPr>
          <p:cNvSpPr/>
          <p:nvPr/>
        </p:nvSpPr>
        <p:spPr>
          <a:xfrm>
            <a:off x="4023109" y="2903721"/>
            <a:ext cx="3083874" cy="195144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0A0B7-AA43-73DF-B12E-4C3ECB8FEE19}"/>
              </a:ext>
            </a:extLst>
          </p:cNvPr>
          <p:cNvSpPr txBox="1"/>
          <p:nvPr/>
        </p:nvSpPr>
        <p:spPr>
          <a:xfrm>
            <a:off x="1547812" y="5762624"/>
            <a:ext cx="80248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b="1">
                <a:solidFill>
                  <a:srgbClr val="C00000"/>
                </a:solidFill>
                <a:ea typeface="+mn-lt"/>
                <a:cs typeface="+mn-lt"/>
              </a:rPr>
              <a:t>FPGA </a:t>
            </a:r>
            <a:r>
              <a:rPr lang="en-US" altLang="ko-KR" b="1" err="1">
                <a:solidFill>
                  <a:srgbClr val="C00000"/>
                </a:solidFill>
                <a:ea typeface="+mn-lt"/>
                <a:cs typeface="+mn-lt"/>
              </a:rPr>
              <a:t>자원을</a:t>
            </a:r>
            <a:r>
              <a:rPr lang="en-US" altLang="ko-KR" b="1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altLang="ko-KR" b="1" err="1">
                <a:solidFill>
                  <a:srgbClr val="C00000"/>
                </a:solidFill>
                <a:ea typeface="+mn-lt"/>
                <a:cs typeface="+mn-lt"/>
              </a:rPr>
              <a:t>고려하여</a:t>
            </a:r>
            <a:r>
              <a:rPr lang="en-US" altLang="ko-KR" b="1">
                <a:solidFill>
                  <a:srgbClr val="C00000"/>
                </a:solidFill>
                <a:ea typeface="+mn-lt"/>
                <a:cs typeface="+mn-lt"/>
              </a:rPr>
              <a:t> model.6(C2f) </a:t>
            </a:r>
            <a:r>
              <a:rPr lang="en-US" altLang="ko-KR" b="1" err="1">
                <a:solidFill>
                  <a:srgbClr val="C00000"/>
                </a:solidFill>
                <a:ea typeface="+mn-lt"/>
                <a:cs typeface="+mn-lt"/>
              </a:rPr>
              <a:t>단일</a:t>
            </a:r>
            <a:r>
              <a:rPr lang="en-US" altLang="ko-KR" b="1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en-US" altLang="ko-KR" b="1" err="1">
                <a:solidFill>
                  <a:srgbClr val="C00000"/>
                </a:solidFill>
                <a:ea typeface="+mn-lt"/>
                <a:cs typeface="+mn-lt"/>
              </a:rPr>
              <a:t>레이어를</a:t>
            </a:r>
            <a:r>
              <a:rPr lang="en-US" altLang="ko-KR" b="1">
                <a:solidFill>
                  <a:srgbClr val="C00000"/>
                </a:solidFill>
                <a:ea typeface="+mn-lt"/>
                <a:cs typeface="+mn-lt"/>
              </a:rPr>
              <a:t> 설계 목표로 </a:t>
            </a:r>
            <a:r>
              <a:rPr lang="en-US" altLang="ko-KR" b="1" err="1">
                <a:solidFill>
                  <a:srgbClr val="C00000"/>
                </a:solidFill>
                <a:ea typeface="+mn-lt"/>
                <a:cs typeface="+mn-lt"/>
              </a:rPr>
              <a:t>설정</a:t>
            </a:r>
            <a:r>
              <a:rPr lang="en-US" altLang="ko-KR" b="1">
                <a:solidFill>
                  <a:srgbClr val="C00000"/>
                </a:solidFill>
                <a:ea typeface="+mn-lt"/>
                <a:cs typeface="+mn-lt"/>
              </a:rPr>
              <a:t> </a:t>
            </a: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9521B00F-5B2D-5155-5493-BF26EDDA26C5}"/>
              </a:ext>
            </a:extLst>
          </p:cNvPr>
          <p:cNvSpPr/>
          <p:nvPr/>
        </p:nvSpPr>
        <p:spPr>
          <a:xfrm>
            <a:off x="5274469" y="4952999"/>
            <a:ext cx="547687" cy="678656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3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201" y="201168"/>
            <a:ext cx="11803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1F3B66"/>
                </a:solidFill>
                <a:latin typeface="Arial"/>
                <a:cs typeface="Arial"/>
              </a:rPr>
              <a:t>C2f(Cross Stage Partial with 2 convolutions fusion)</a:t>
            </a:r>
            <a:endParaRPr lang="ko-KR" altLang="en-US" sz="3600">
              <a:ea typeface="맑은 고딕" panose="020B0503020000020004" pitchFamily="34" charset="-127"/>
              <a:cs typeface="Calibri" panose="020F0502020204030204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CADAACC-292E-D84C-8761-9BBBA024B89D}"/>
              </a:ext>
            </a:extLst>
          </p:cNvPr>
          <p:cNvGrpSpPr/>
          <p:nvPr/>
        </p:nvGrpSpPr>
        <p:grpSpPr>
          <a:xfrm>
            <a:off x="2482437" y="959612"/>
            <a:ext cx="7543800" cy="5696712"/>
            <a:chOff x="2514600" y="896112"/>
            <a:chExt cx="7543800" cy="5696712"/>
          </a:xfrm>
        </p:grpSpPr>
        <p:sp>
          <p:nvSpPr>
            <p:cNvPr id="3" name="Shape 1"/>
            <p:cNvSpPr/>
            <p:nvPr/>
          </p:nvSpPr>
          <p:spPr>
            <a:xfrm>
              <a:off x="2766060" y="896112"/>
              <a:ext cx="2788920" cy="4389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5875">
              <a:solidFill>
                <a:srgbClr val="2E3B52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66060" y="896112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2E3B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 (128ch)</a:t>
              </a:r>
              <a:endParaRPr lang="en-US" sz="1300"/>
            </a:p>
          </p:txBody>
        </p:sp>
        <p:sp>
          <p:nvSpPr>
            <p:cNvPr id="5" name="Shape 3"/>
            <p:cNvSpPr/>
            <p:nvPr/>
          </p:nvSpPr>
          <p:spPr>
            <a:xfrm>
              <a:off x="4059936" y="1335024"/>
              <a:ext cx="201168" cy="246888"/>
            </a:xfrm>
            <a:prstGeom prst="downArrow">
              <a:avLst/>
            </a:prstGeom>
            <a:solidFill>
              <a:srgbClr val="8A929E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2766060" y="1600200"/>
              <a:ext cx="2788920" cy="475488"/>
            </a:xfrm>
            <a:prstGeom prst="roundRect">
              <a:avLst>
                <a:gd name="adj" fmla="val 15385"/>
              </a:avLst>
            </a:prstGeom>
            <a:solidFill>
              <a:srgbClr val="EDF1F7"/>
            </a:solidFill>
            <a:ln w="15875">
              <a:solidFill>
                <a:srgbClr val="2E3B52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766060" y="1600200"/>
              <a:ext cx="2788920" cy="4754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25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Conv (</a:t>
              </a:r>
              <a:r>
                <a:rPr lang="en-US" sz="1250" b="1">
                  <a:solidFill>
                    <a:srgbClr val="FF0000"/>
                  </a:solidFill>
                  <a:latin typeface="Arial"/>
                  <a:ea typeface="Arial" pitchFamily="34" charset="-122"/>
                  <a:cs typeface="Arial"/>
                </a:rPr>
                <a:t>cv1</a:t>
              </a:r>
              <a:r>
                <a:rPr lang="en-US" sz="125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, 1×1, 128→128)</a:t>
              </a:r>
            </a:p>
            <a:p>
              <a:pPr algn="ctr"/>
              <a:r>
                <a:rPr lang="en-US" sz="1250" b="1" err="1">
                  <a:solidFill>
                    <a:srgbClr val="2E3B52"/>
                  </a:solidFill>
                  <a:latin typeface="Arial"/>
                  <a:cs typeface="Arial"/>
                </a:rPr>
                <a:t>BN+SiLu</a:t>
              </a:r>
              <a:endParaRPr lang="en-US" sz="1250" b="1">
                <a:solidFill>
                  <a:srgbClr val="2E3B52"/>
                </a:solidFill>
                <a:latin typeface="Arial"/>
                <a:cs typeface="Arial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4059936" y="2075688"/>
              <a:ext cx="201168" cy="274320"/>
            </a:xfrm>
            <a:prstGeom prst="downArrow">
              <a:avLst/>
            </a:prstGeom>
            <a:solidFill>
              <a:srgbClr val="8A929E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4114800" y="2350008"/>
              <a:ext cx="91440" cy="91440"/>
            </a:xfrm>
            <a:prstGeom prst="ellipse">
              <a:avLst/>
            </a:prstGeom>
            <a:solidFill>
              <a:srgbClr val="2E3B5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2743200" y="2221992"/>
              <a:ext cx="1280160" cy="2560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b="1" i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Split</a:t>
              </a:r>
              <a:endParaRPr lang="en-US" sz="1100" b="1">
                <a:solidFill>
                  <a:srgbClr val="000000"/>
                </a:solidFill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059936" y="2441448"/>
              <a:ext cx="201168" cy="192024"/>
            </a:xfrm>
            <a:prstGeom prst="downArrow">
              <a:avLst/>
            </a:prstGeom>
            <a:solidFill>
              <a:srgbClr val="8A929E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2766060" y="2651760"/>
              <a:ext cx="2788920" cy="621792"/>
            </a:xfrm>
            <a:prstGeom prst="roundRect">
              <a:avLst>
                <a:gd name="adj" fmla="val 11765"/>
              </a:avLst>
            </a:prstGeom>
            <a:solidFill>
              <a:srgbClr val="EDF1F7"/>
            </a:solidFill>
            <a:ln w="15875">
              <a:solidFill>
                <a:srgbClr val="2E3B52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2766060" y="2651760"/>
              <a:ext cx="2788920" cy="6217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0000"/>
                  </a:solidFill>
                  <a:latin typeface="Arial"/>
                  <a:ea typeface="Arial" pitchFamily="34" charset="-122"/>
                  <a:cs typeface="Arial"/>
                </a:rPr>
                <a:t>Bottleneck 1</a:t>
              </a:r>
              <a:endParaRPr lang="en-US" sz="1200">
                <a:solidFill>
                  <a:srgbClr val="FF0000"/>
                </a:solidFill>
                <a:latin typeface="Arial"/>
                <a:ea typeface="Calibri"/>
                <a:cs typeface="Arial"/>
              </a:endParaRPr>
            </a:p>
            <a:p>
              <a:pPr algn="ctr"/>
              <a:r>
                <a:rPr lang="en-US" sz="120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Conv3×3, Conv3×3, </a:t>
              </a:r>
              <a:r>
                <a:rPr lang="en-US" sz="1200" b="1" err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BN+SiLu</a:t>
              </a:r>
              <a:endParaRPr lang="en-US" sz="120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endParaRPr>
            </a:p>
            <a:p>
              <a:pPr algn="ctr"/>
              <a:r>
                <a:rPr lang="en-US" sz="120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residual add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4059936" y="3273552"/>
              <a:ext cx="201168" cy="292608"/>
            </a:xfrm>
            <a:prstGeom prst="downArrow">
              <a:avLst/>
            </a:prstGeom>
            <a:solidFill>
              <a:srgbClr val="8A929E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2766060" y="3584448"/>
              <a:ext cx="2788920" cy="621792"/>
            </a:xfrm>
            <a:prstGeom prst="roundRect">
              <a:avLst>
                <a:gd name="adj" fmla="val 11765"/>
              </a:avLst>
            </a:prstGeom>
            <a:solidFill>
              <a:srgbClr val="EDF1F7"/>
            </a:solidFill>
            <a:ln w="15875">
              <a:solidFill>
                <a:srgbClr val="2E3B52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766060" y="3584448"/>
              <a:ext cx="2788920" cy="6217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algn="ctr"/>
              <a:endParaRPr lang="en-US" sz="1200" b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endParaRPr>
            </a:p>
            <a:p>
              <a:pPr algn="ctr"/>
              <a:r>
                <a:rPr lang="en-US" sz="1200" b="1">
                  <a:solidFill>
                    <a:srgbClr val="FF0000"/>
                  </a:solidFill>
                  <a:latin typeface="Arial"/>
                  <a:ea typeface="Arial" pitchFamily="34" charset="-122"/>
                  <a:cs typeface="Arial"/>
                </a:rPr>
                <a:t>Bottleneck 2</a:t>
              </a:r>
              <a:endParaRPr lang="en-US"/>
            </a:p>
            <a:p>
              <a:pPr algn="ctr"/>
              <a:r>
                <a:rPr lang="en-US" sz="1200" b="1">
                  <a:solidFill>
                    <a:srgbClr val="2E3B52"/>
                  </a:solidFill>
                  <a:latin typeface="Arial"/>
                  <a:cs typeface="Arial"/>
                </a:rPr>
                <a:t>Conv3×3, Conv3×3, </a:t>
              </a:r>
              <a:r>
                <a:rPr lang="en-US" sz="1200" b="1" err="1">
                  <a:solidFill>
                    <a:srgbClr val="2E3B52"/>
                  </a:solidFill>
                  <a:latin typeface="Arial"/>
                  <a:cs typeface="Arial"/>
                </a:rPr>
                <a:t>BN+SiLu</a:t>
              </a:r>
              <a:endParaRPr lang="en-US" sz="1200" err="1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ctr"/>
              <a:r>
                <a:rPr lang="en-US" sz="1200" b="1">
                  <a:solidFill>
                    <a:srgbClr val="2E3B52"/>
                  </a:solidFill>
                  <a:latin typeface="Arial"/>
                  <a:cs typeface="Arial"/>
                </a:rPr>
                <a:t>residual add</a:t>
              </a:r>
              <a:endParaRPr lang="en-US" sz="120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ctr"/>
              <a:endParaRPr lang="en-US" sz="1200" b="1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160520" y="4206240"/>
              <a:ext cx="914" cy="393192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rot="10800000">
              <a:off x="4105656" y="4489704"/>
              <a:ext cx="109728" cy="109728"/>
            </a:xfrm>
            <a:prstGeom prst="triangle">
              <a:avLst/>
            </a:prstGeom>
            <a:solidFill>
              <a:srgbClr val="5B6472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270248" y="4261104"/>
              <a:ext cx="1188720" cy="21945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y3 (64ch)</a:t>
              </a:r>
              <a:endParaRPr lang="en-US" sz="1050" b="1">
                <a:solidFill>
                  <a:srgbClr val="000000"/>
                </a:solidFill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160520" y="2395728"/>
              <a:ext cx="2834640" cy="914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995160" y="2395728"/>
              <a:ext cx="914" cy="2203704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rot="10800000">
              <a:off x="6940296" y="4489704"/>
              <a:ext cx="109728" cy="109728"/>
            </a:xfrm>
            <a:prstGeom prst="triangle">
              <a:avLst/>
            </a:prstGeom>
            <a:solidFill>
              <a:srgbClr val="5B6472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309360" y="1828800"/>
              <a:ext cx="1371600" cy="4572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y0 (64ch)</a:t>
              </a:r>
              <a:endParaRPr lang="en-US" sz="1050" b="1">
                <a:solidFill>
                  <a:srgbClr val="000000"/>
                </a:solidFill>
              </a:endParaRPr>
            </a:p>
            <a:p>
              <a:pPr marL="0" indent="0" algn="ctr">
                <a:buNone/>
              </a:pPr>
              <a:r>
                <a:rPr lang="en-US" sz="105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그대로 보관</a:t>
              </a:r>
              <a:endParaRPr lang="en-US" sz="1050" b="1">
                <a:solidFill>
                  <a:srgbClr val="000000"/>
                </a:solidFill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4160520" y="2395728"/>
              <a:ext cx="4023360" cy="914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8183880" y="2395728"/>
              <a:ext cx="914" cy="2203704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rot="10800000">
              <a:off x="8129016" y="4489704"/>
              <a:ext cx="109728" cy="109728"/>
            </a:xfrm>
            <a:prstGeom prst="triangle">
              <a:avLst/>
            </a:prstGeom>
            <a:solidFill>
              <a:srgbClr val="5B6472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7498080" y="2103120"/>
              <a:ext cx="1371600" cy="21945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y1 (64ch)</a:t>
              </a:r>
              <a:endParaRPr lang="en-US" sz="1050" b="1">
                <a:solidFill>
                  <a:srgbClr val="000000"/>
                </a:solidFill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160520" y="3273552"/>
              <a:ext cx="5212080" cy="914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9372600" y="3273552"/>
              <a:ext cx="914" cy="132588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 rot="10800000">
              <a:off x="9317736" y="4489704"/>
              <a:ext cx="109728" cy="109728"/>
            </a:xfrm>
            <a:prstGeom prst="triangle">
              <a:avLst/>
            </a:prstGeom>
            <a:solidFill>
              <a:srgbClr val="5B6472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8686800" y="2999232"/>
              <a:ext cx="1371600" cy="21945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y2 (64ch)</a:t>
              </a:r>
              <a:endParaRPr lang="en-US" sz="1050" b="1">
                <a:solidFill>
                  <a:srgbClr val="000000"/>
                </a:solidFill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2514600" y="4617720"/>
              <a:ext cx="7315200" cy="566928"/>
            </a:xfrm>
            <a:prstGeom prst="roundRect">
              <a:avLst>
                <a:gd name="adj" fmla="val 12903"/>
              </a:avLst>
            </a:prstGeom>
            <a:solidFill>
              <a:srgbClr val="2E3B52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2514600" y="4617720"/>
              <a:ext cx="73152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Concat(y0, y1, y2, y3) → 256ch</a:t>
              </a:r>
              <a:endParaRPr lang="en-US" sz="1400"/>
            </a:p>
          </p:txBody>
        </p:sp>
        <p:sp>
          <p:nvSpPr>
            <p:cNvPr id="34" name="Shape 32"/>
            <p:cNvSpPr/>
            <p:nvPr/>
          </p:nvSpPr>
          <p:spPr>
            <a:xfrm>
              <a:off x="4059936" y="5184648"/>
              <a:ext cx="201168" cy="265176"/>
            </a:xfrm>
            <a:prstGeom prst="downArrow">
              <a:avLst/>
            </a:prstGeom>
            <a:solidFill>
              <a:srgbClr val="8A929E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2766060" y="5468112"/>
              <a:ext cx="2788920" cy="475488"/>
            </a:xfrm>
            <a:prstGeom prst="roundRect">
              <a:avLst>
                <a:gd name="adj" fmla="val 15385"/>
              </a:avLst>
            </a:prstGeom>
            <a:solidFill>
              <a:srgbClr val="EDF1F7"/>
            </a:solidFill>
            <a:ln w="15875">
              <a:solidFill>
                <a:srgbClr val="2E3B52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2766060" y="5468112"/>
              <a:ext cx="2788920" cy="4754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25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Conv (</a:t>
              </a:r>
              <a:r>
                <a:rPr lang="en-US" sz="1250" b="1">
                  <a:solidFill>
                    <a:srgbClr val="FF0000"/>
                  </a:solidFill>
                  <a:latin typeface="Arial"/>
                  <a:ea typeface="Arial" pitchFamily="34" charset="-122"/>
                  <a:cs typeface="Arial"/>
                </a:rPr>
                <a:t>cv2</a:t>
              </a:r>
              <a:r>
                <a:rPr lang="en-US" sz="1250" b="1">
                  <a:solidFill>
                    <a:srgbClr val="2E3B52"/>
                  </a:solidFill>
                  <a:latin typeface="Arial"/>
                  <a:ea typeface="Arial" pitchFamily="34" charset="-122"/>
                  <a:cs typeface="Arial"/>
                </a:rPr>
                <a:t>, 1×1, 256→128)</a:t>
              </a:r>
            </a:p>
            <a:p>
              <a:pPr algn="ctr"/>
              <a:r>
                <a:rPr lang="en-US" sz="1250" b="1" err="1">
                  <a:solidFill>
                    <a:srgbClr val="2E3B52"/>
                  </a:solidFill>
                  <a:latin typeface="Arial"/>
                  <a:cs typeface="Arial"/>
                </a:rPr>
                <a:t>BN+SiLu</a:t>
              </a:r>
              <a:endParaRPr lang="en-US" sz="1250" b="1">
                <a:solidFill>
                  <a:srgbClr val="2E3B52"/>
                </a:solidFill>
                <a:latin typeface="Arial"/>
                <a:cs typeface="Arial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059936" y="5943600"/>
              <a:ext cx="201168" cy="210312"/>
            </a:xfrm>
            <a:prstGeom prst="downArrow">
              <a:avLst/>
            </a:prstGeom>
            <a:solidFill>
              <a:srgbClr val="8A929E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2766060" y="6172200"/>
              <a:ext cx="2788920" cy="420624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15875">
              <a:solidFill>
                <a:srgbClr val="2E3B52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2766060" y="6172200"/>
              <a:ext cx="2788920" cy="42062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2E3B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출력 (128ch)</a:t>
              </a:r>
              <a:endParaRPr lang="en-US" sz="1300"/>
            </a:p>
          </p:txBody>
        </p:sp>
      </p:grpSp>
    </p:spTree>
    <p:extLst>
      <p:ext uri="{BB962C8B-B14F-4D97-AF65-F5344CB8AC3E}">
        <p14:creationId xmlns:p14="http://schemas.microsoft.com/office/powerpoint/2010/main" val="372493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AXI-Stream 데이터 흐름 구조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08792" cy="1600200"/>
          </a:xfrm>
          <a:prstGeom prst="roundRect">
            <a:avLst>
              <a:gd name="adj" fmla="val 3429"/>
            </a:avLst>
          </a:prstGeom>
          <a:solidFill>
            <a:srgbClr val="F2F4F8"/>
          </a:solidFill>
          <a:ln w="12700">
            <a:solidFill>
              <a:srgbClr val="C7C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 (Processing System)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937760" y="123444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 메모리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1554480" y="201168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(MM2S · 입력 전송)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7955280" y="201168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(S2MM · 출력 수신)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 flipH="1">
            <a:off x="3931920" y="1737360"/>
            <a:ext cx="1188720" cy="2743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5420323">
            <a:off x="3930398" y="1938879"/>
            <a:ext cx="118872" cy="11887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 flipH="1" flipV="1">
            <a:off x="7040880" y="1737360"/>
            <a:ext cx="1188720" cy="2743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979677">
            <a:off x="7039358" y="1691289"/>
            <a:ext cx="118872" cy="11887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651760"/>
            <a:ext cx="10908792" cy="914"/>
          </a:xfrm>
          <a:prstGeom prst="line">
            <a:avLst/>
          </a:prstGeom>
          <a:noFill/>
          <a:ln w="15875">
            <a:solidFill>
              <a:srgbClr val="B6BEC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2834640"/>
            <a:ext cx="10908792" cy="3383280"/>
          </a:xfrm>
          <a:prstGeom prst="roundRect">
            <a:avLst>
              <a:gd name="adj" fmla="val 1622"/>
            </a:avLst>
          </a:prstGeom>
          <a:solidFill>
            <a:srgbClr val="E4EEFB"/>
          </a:solidFill>
          <a:ln w="12700">
            <a:solidFill>
              <a:srgbClr val="AFC6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 (FPGA Logic)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1312164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2164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1×1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(cv1)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2528316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8316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BN+SiLU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(128ch)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744468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4468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960620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0620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950" b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Bottleneck 1</a:t>
            </a:r>
            <a:br>
              <a:rPr lang="en-US" sz="950" b="1">
                <a:latin typeface="Arial"/>
                <a:ea typeface="Arial" pitchFamily="34" charset="-122"/>
                <a:cs typeface="Arial"/>
              </a:rPr>
            </a:br>
            <a:r>
              <a:rPr lang="en-US" sz="950" b="1">
                <a:solidFill>
                  <a:srgbClr val="2E3B52"/>
                </a:solidFill>
                <a:latin typeface="Arial"/>
                <a:cs typeface="Arial"/>
              </a:rPr>
              <a:t>conv3x3</a:t>
            </a:r>
            <a:br>
              <a:rPr lang="en-US" sz="950" b="1">
                <a:solidFill>
                  <a:srgbClr val="2E3B52"/>
                </a:solidFill>
                <a:latin typeface="Arial"/>
                <a:cs typeface="Arial"/>
              </a:rPr>
            </a:br>
            <a:r>
              <a:rPr lang="en-US" sz="950" b="1">
                <a:solidFill>
                  <a:srgbClr val="2E3B52"/>
                </a:solidFill>
                <a:latin typeface="Arial"/>
                <a:cs typeface="Arial"/>
              </a:rPr>
              <a:t>bn_silu_64​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6176772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6772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950" b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Bottleneck 2</a:t>
            </a:r>
            <a:br>
              <a:rPr lang="en-US" sz="950" b="1">
                <a:latin typeface="Arial"/>
                <a:ea typeface="Arial" pitchFamily="34" charset="-122"/>
                <a:cs typeface="Arial"/>
              </a:rPr>
            </a:br>
            <a:r>
              <a:rPr lang="en-US" sz="950" b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conv3x3</a:t>
            </a:r>
            <a:br>
              <a:rPr lang="en-US" sz="950" b="1">
                <a:latin typeface="Arial"/>
                <a:ea typeface="Arial" pitchFamily="34" charset="-122"/>
                <a:cs typeface="Arial"/>
              </a:rPr>
            </a:br>
            <a:r>
              <a:rPr lang="en-US" sz="950" b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bn_silu_64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7392924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2924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(256ch)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8609076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09076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1×1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(cv2)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9825228" y="4160520"/>
            <a:ext cx="1051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3B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5228" y="4160520"/>
            <a:ext cx="1051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BN+SiLU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(128ch)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2382012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37" name="Shape 35"/>
          <p:cNvSpPr/>
          <p:nvPr/>
        </p:nvSpPr>
        <p:spPr>
          <a:xfrm>
            <a:off x="3598164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38" name="Shape 36"/>
          <p:cNvSpPr/>
          <p:nvPr/>
        </p:nvSpPr>
        <p:spPr>
          <a:xfrm>
            <a:off x="4814316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39" name="Shape 37"/>
          <p:cNvSpPr/>
          <p:nvPr/>
        </p:nvSpPr>
        <p:spPr>
          <a:xfrm>
            <a:off x="6030468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40" name="Shape 38"/>
          <p:cNvSpPr/>
          <p:nvPr/>
        </p:nvSpPr>
        <p:spPr>
          <a:xfrm>
            <a:off x="7246620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41" name="Shape 39"/>
          <p:cNvSpPr/>
          <p:nvPr/>
        </p:nvSpPr>
        <p:spPr>
          <a:xfrm>
            <a:off x="8462772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42" name="Shape 40"/>
          <p:cNvSpPr/>
          <p:nvPr/>
        </p:nvSpPr>
        <p:spPr>
          <a:xfrm>
            <a:off x="9678924" y="4549140"/>
            <a:ext cx="128016" cy="182880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44" name="Shape 42"/>
          <p:cNvSpPr/>
          <p:nvPr/>
        </p:nvSpPr>
        <p:spPr>
          <a:xfrm flipH="1">
            <a:off x="1837944" y="2514600"/>
            <a:ext cx="1042416" cy="1645920"/>
          </a:xfrm>
          <a:prstGeom prst="line">
            <a:avLst/>
          </a:prstGeom>
          <a:noFill/>
          <a:ln w="19050">
            <a:solidFill>
              <a:srgbClr val="C25A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2740847">
            <a:off x="1810309" y="4050871"/>
            <a:ext cx="118872" cy="118872"/>
          </a:xfrm>
          <a:prstGeom prst="triangle">
            <a:avLst/>
          </a:prstGeom>
          <a:solidFill>
            <a:srgbClr val="C25A1E"/>
          </a:solidFill>
          <a:ln/>
        </p:spPr>
      </p:sp>
      <p:sp>
        <p:nvSpPr>
          <p:cNvPr id="46" name="Shape 44"/>
          <p:cNvSpPr/>
          <p:nvPr/>
        </p:nvSpPr>
        <p:spPr>
          <a:xfrm flipH="1" flipV="1">
            <a:off x="9281160" y="2514600"/>
            <a:ext cx="1069848" cy="1645920"/>
          </a:xfrm>
          <a:prstGeom prst="line">
            <a:avLst/>
          </a:prstGeom>
          <a:noFill/>
          <a:ln w="19050">
            <a:solidFill>
              <a:srgbClr val="C25A1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9618568">
            <a:off x="9254116" y="2504998"/>
            <a:ext cx="118872" cy="118872"/>
          </a:xfrm>
          <a:prstGeom prst="triangle">
            <a:avLst/>
          </a:prstGeom>
          <a:solidFill>
            <a:srgbClr val="C25A1E"/>
          </a:solidFill>
          <a:ln/>
        </p:spPr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4AD2B85F-A491-10EE-0AE8-3BDEE5612225}"/>
              </a:ext>
            </a:extLst>
          </p:cNvPr>
          <p:cNvSpPr/>
          <p:nvPr/>
        </p:nvSpPr>
        <p:spPr>
          <a:xfrm>
            <a:off x="2267217" y="320143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C00000"/>
                </a:solidFill>
                <a:latin typeface="Arial"/>
                <a:ea typeface="Arial" pitchFamily="34" charset="-122"/>
                <a:cs typeface="Arial"/>
              </a:rPr>
              <a:t>AXI-Stream</a:t>
            </a:r>
            <a:endParaRPr lang="en-US" sz="1400" b="1">
              <a:solidFill>
                <a:srgbClr val="C00000"/>
              </a:solidFill>
              <a:latin typeface="Arial"/>
              <a:ea typeface="Calibri"/>
              <a:cs typeface="Arial"/>
            </a:endParaRPr>
          </a:p>
          <a:p>
            <a:pPr marL="0" indent="0" algn="ctr">
              <a:buNone/>
            </a:pPr>
            <a:r>
              <a:rPr lang="en-US" sz="1400" b="1" i="1" err="1">
                <a:solidFill>
                  <a:srgbClr val="C00000"/>
                </a:solidFill>
                <a:latin typeface="Arial"/>
                <a:ea typeface="Arial" pitchFamily="34" charset="-122"/>
                <a:cs typeface="Arial"/>
              </a:rPr>
              <a:t>입력</a:t>
            </a:r>
            <a:endParaRPr lang="en-US" sz="1400" b="1">
              <a:solidFill>
                <a:srgbClr val="C0000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5944AACE-4704-855A-D881-37F8D06B8496}"/>
              </a:ext>
            </a:extLst>
          </p:cNvPr>
          <p:cNvSpPr/>
          <p:nvPr/>
        </p:nvSpPr>
        <p:spPr>
          <a:xfrm>
            <a:off x="9618914" y="3201429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C00000"/>
                </a:solidFill>
                <a:latin typeface="Arial"/>
                <a:ea typeface="Arial" pitchFamily="34" charset="-122"/>
                <a:cs typeface="Arial"/>
              </a:rPr>
              <a:t>AXI-Stream</a:t>
            </a:r>
            <a:endParaRPr lang="en-US" sz="1400" b="1">
              <a:solidFill>
                <a:srgbClr val="C00000"/>
              </a:solidFill>
              <a:latin typeface="Arial"/>
              <a:ea typeface="Calibri" panose="020F0502020204030204"/>
              <a:cs typeface="Arial"/>
            </a:endParaRPr>
          </a:p>
          <a:p>
            <a:pPr marL="0" indent="0" algn="ctr">
              <a:buNone/>
            </a:pPr>
            <a:r>
              <a:rPr lang="en-US" sz="1400" b="1" i="1" err="1">
                <a:solidFill>
                  <a:srgbClr val="C00000"/>
                </a:solidFill>
                <a:latin typeface="Arial"/>
                <a:ea typeface="Arial" pitchFamily="34" charset="-122"/>
                <a:cs typeface="Arial"/>
              </a:rPr>
              <a:t>출력</a:t>
            </a:r>
            <a:endParaRPr lang="en-US" sz="1400" b="1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FB9132-3155-FB2B-DEB9-E146C716D95F}"/>
              </a:ext>
            </a:extLst>
          </p:cNvPr>
          <p:cNvSpPr/>
          <p:nvPr/>
        </p:nvSpPr>
        <p:spPr>
          <a:xfrm>
            <a:off x="1083194" y="3893950"/>
            <a:ext cx="10024753" cy="153472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E6EABF-3272-FA0E-D901-6CADF67562A8}"/>
              </a:ext>
            </a:extLst>
          </p:cNvPr>
          <p:cNvSpPr txBox="1"/>
          <p:nvPr/>
        </p:nvSpPr>
        <p:spPr>
          <a:xfrm>
            <a:off x="4255325" y="3493325"/>
            <a:ext cx="36516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b="1">
                <a:solidFill>
                  <a:srgbClr val="C00000"/>
                </a:solidFill>
                <a:latin typeface="Calibri"/>
                <a:ea typeface="맑은 고딕"/>
                <a:cs typeface="Calibri"/>
              </a:rPr>
              <a:t>STREAM</a:t>
            </a:r>
          </a:p>
        </p:txBody>
      </p:sp>
    </p:spTree>
    <p:extLst>
      <p:ext uri="{BB962C8B-B14F-4D97-AF65-F5344CB8AC3E}">
        <p14:creationId xmlns:p14="http://schemas.microsoft.com/office/powerpoint/2010/main" val="71785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4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18번의 연산 호출 8개의 IP로 구현</a:t>
            </a:r>
          </a:p>
        </p:txBody>
      </p:sp>
      <p:sp>
        <p:nvSpPr>
          <p:cNvPr id="4" name="Text 2"/>
          <p:cNvSpPr/>
          <p:nvPr/>
        </p:nvSpPr>
        <p:spPr>
          <a:xfrm>
            <a:off x="777240" y="1307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C2f 연산 종류</a:t>
            </a:r>
            <a:endParaRPr lang="en-US" altLang="ko-KR" sz="1400" b="1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74964"/>
              </p:ext>
            </p:extLst>
          </p:nvPr>
        </p:nvGraphicFramePr>
        <p:xfrm>
          <a:off x="777240" y="1691640"/>
          <a:ext cx="4846320" cy="3072384"/>
        </p:xfrm>
        <a:graphic>
          <a:graphicData uri="http://schemas.openxmlformats.org/drawingml/2006/table">
            <a:tbl>
              <a:tblPr/>
              <a:tblGrid>
                <a:gridCol w="3392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연산 / IP</a:t>
                      </a:r>
                      <a:endParaRPr lang="en-US" sz="12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사용</a:t>
                      </a:r>
                      <a:r>
                        <a:rPr lang="en-US" altLang="ko-KR" sz="1200" b="1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altLang="ko-KR" sz="1200" b="1" err="1">
                          <a:solidFill>
                            <a:srgbClr val="FFFFFF"/>
                          </a:solidFill>
                        </a:rPr>
                        <a:t>회수</a:t>
                      </a:r>
                      <a:endParaRPr lang="en-US" sz="1200" b="1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Conv 3×3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4회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Conv 1×1</a:t>
                      </a:r>
                      <a:endParaRPr lang="en-US" sz="1300" b="0" i="0" u="none" strike="noStrike" noProof="0">
                        <a:solidFill>
                          <a:srgbClr val="2E3B5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2회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Batch Normalization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4회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SiLU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4회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Residual Add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2회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Concat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1회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Split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F3B66"/>
                          </a:solidFill>
                        </a:rPr>
                        <a:t>1회</a:t>
                      </a:r>
                      <a:endParaRPr lang="en-US" sz="13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37960" y="1307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실제</a:t>
            </a:r>
            <a:r>
              <a:rPr lang="en-US" sz="1400" b="1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400" b="1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구현 IP </a:t>
            </a:r>
            <a:endParaRPr lang="en-US" sz="1400" b="1">
              <a:solidFill>
                <a:srgbClr val="3E8E5A"/>
              </a:solidFill>
              <a:latin typeface="Arial"/>
              <a:cs typeface="Arial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181154"/>
              </p:ext>
            </p:extLst>
          </p:nvPr>
        </p:nvGraphicFramePr>
        <p:xfrm>
          <a:off x="6537960" y="1691640"/>
          <a:ext cx="4846316" cy="3072384"/>
        </p:xfrm>
        <a:graphic>
          <a:graphicData uri="http://schemas.openxmlformats.org/drawingml/2006/table">
            <a:tbl>
              <a:tblPr/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설계에 필요</a:t>
                      </a:r>
                      <a:r>
                        <a:rPr lang="en-US" altLang="ko-KR" sz="1200" b="1">
                          <a:solidFill>
                            <a:srgbClr val="FFFFFF"/>
                          </a:solidFill>
                        </a:rPr>
                        <a:t> IP</a:t>
                      </a:r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IP </a:t>
                      </a:r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개수</a:t>
                      </a: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Conv 3×3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 b="1">
                        <a:solidFill>
                          <a:srgbClr val="3E8E5A"/>
                        </a:solidFill>
                      </a:endParaRP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Conv 1×1  (128ch, 256ch)</a:t>
                      </a:r>
                      <a:endParaRPr lang="ko-KR" altLang="en-US" sz="1250">
                        <a:solidFill>
                          <a:srgbClr val="2E3B52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2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/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err="1">
                          <a:solidFill>
                            <a:srgbClr val="2E3B52"/>
                          </a:solidFill>
                        </a:rPr>
                        <a:t>BN+SiLU</a:t>
                      </a: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  (64ch)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 b="1">
                        <a:solidFill>
                          <a:srgbClr val="3E8E5A"/>
                        </a:solidFill>
                      </a:endParaRP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err="1">
                          <a:solidFill>
                            <a:srgbClr val="2E3B52"/>
                          </a:solidFill>
                        </a:rPr>
                        <a:t>BN+SiLU</a:t>
                      </a: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  (128ch)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 b="1">
                        <a:solidFill>
                          <a:srgbClr val="3E8E5A"/>
                        </a:solidFill>
                      </a:endParaRP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Residual Add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 b="1">
                        <a:solidFill>
                          <a:srgbClr val="3E8E5A"/>
                        </a:solidFill>
                      </a:endParaRP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err="1">
                          <a:solidFill>
                            <a:srgbClr val="2E3B52"/>
                          </a:solidFill>
                        </a:rPr>
                        <a:t>Concat</a:t>
                      </a:r>
                      <a:endParaRPr lang="en-US" sz="1250" err="1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 b="1">
                        <a:solidFill>
                          <a:srgbClr val="3E8E5A"/>
                        </a:solidFill>
                      </a:endParaRP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2E3B52"/>
                          </a:solidFill>
                        </a:rPr>
                        <a:t>Split</a:t>
                      </a:r>
                      <a:endParaRPr lang="en-US" sz="12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8DCE2"/>
                      </a:solidFill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3E8E5A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3E8E5A"/>
                          </a:solidFill>
                        </a:rPr>
                        <a:t>개</a:t>
                      </a:r>
                      <a:endParaRPr lang="en-US" sz="1300" b="1">
                        <a:solidFill>
                          <a:srgbClr val="3E8E5A"/>
                        </a:solidFill>
                      </a:endParaRPr>
                    </a:p>
                  </a:txBody>
                  <a:tcPr>
                    <a:lnL w="9524">
                      <a:solidFill>
                        <a:srgbClr val="D8DCE2"/>
                      </a:solidFill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2880360"/>
            <a:ext cx="457200" cy="457200"/>
          </a:xfrm>
          <a:prstGeom prst="rightArrow">
            <a:avLst/>
          </a:prstGeom>
          <a:solidFill>
            <a:srgbClr val="AAB2BD"/>
          </a:solidFill>
          <a:ln/>
        </p:spPr>
      </p:sp>
    </p:spTree>
    <p:extLst>
      <p:ext uri="{BB962C8B-B14F-4D97-AF65-F5344CB8AC3E}">
        <p14:creationId xmlns:p14="http://schemas.microsoft.com/office/powerpoint/2010/main" val="247765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IP의 </a:t>
            </a:r>
            <a:r>
              <a:rPr lang="en-US" sz="26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재사용</a:t>
            </a:r>
            <a:r>
              <a:rPr 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해결</a:t>
            </a:r>
            <a:endParaRPr lang="en-US" sz="2600" b="1">
              <a:solidFill>
                <a:srgbClr val="1F3B66"/>
              </a:solidFill>
              <a:latin typeface="Arial"/>
              <a:cs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71748"/>
            <a:ext cx="3200400" cy="4187371"/>
          </a:xfrm>
          <a:prstGeom prst="roundRect">
            <a:avLst>
              <a:gd name="adj" fmla="val 2857"/>
            </a:avLst>
          </a:prstGeom>
          <a:solidFill>
            <a:srgbClr val="EDF1F7"/>
          </a:solidFill>
          <a:ln w="28575">
            <a:solidFill>
              <a:srgbClr val="002060"/>
            </a:solidFill>
          </a:ln>
        </p:spPr>
      </p:sp>
      <p:sp>
        <p:nvSpPr>
          <p:cNvPr id="4" name="Text 2"/>
          <p:cNvSpPr/>
          <p:nvPr/>
        </p:nvSpPr>
        <p:spPr>
          <a:xfrm>
            <a:off x="640080" y="1618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재사용이 필요한 IP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182880" cy="18288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194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Conv3x3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960120" y="3383280"/>
            <a:ext cx="182880" cy="18288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Bn_silu_64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960120" y="4297680"/>
            <a:ext cx="182880" cy="18288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023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Bn_silu_128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960120" y="5212080"/>
            <a:ext cx="182880" cy="18288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937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Residual_add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3950208" y="3273552"/>
            <a:ext cx="548640" cy="402336"/>
          </a:xfrm>
          <a:prstGeom prst="rightArrow">
            <a:avLst/>
          </a:prstGeom>
          <a:solidFill>
            <a:srgbClr val="AAB2BD"/>
          </a:solidFill>
          <a:ln/>
        </p:spPr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276CC5A-5BC0-E23C-69A3-6DF05548FDB9}"/>
              </a:ext>
            </a:extLst>
          </p:cNvPr>
          <p:cNvGrpSpPr/>
          <p:nvPr/>
        </p:nvGrpSpPr>
        <p:grpSpPr>
          <a:xfrm>
            <a:off x="4508863" y="2537823"/>
            <a:ext cx="1783080" cy="1783080"/>
            <a:chOff x="4508863" y="2537823"/>
            <a:chExt cx="1783080" cy="1783080"/>
          </a:xfrm>
        </p:grpSpPr>
        <p:sp>
          <p:nvSpPr>
            <p:cNvPr id="14" name="Shape 12"/>
            <p:cNvSpPr/>
            <p:nvPr/>
          </p:nvSpPr>
          <p:spPr>
            <a:xfrm>
              <a:off x="4590505" y="2601324"/>
              <a:ext cx="1619795" cy="1647008"/>
            </a:xfrm>
            <a:prstGeom prst="ellipse">
              <a:avLst/>
            </a:prstGeom>
            <a:solidFill>
              <a:srgbClr val="DCE7F7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508863" y="2537823"/>
              <a:ext cx="178308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700" b="1">
                  <a:solidFill>
                    <a:srgbClr val="1F3B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교통정리</a:t>
              </a:r>
              <a:endParaRPr lang="en-US" sz="170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700" b="1">
                  <a:solidFill>
                    <a:srgbClr val="1F3B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필요</a:t>
              </a:r>
              <a:endParaRPr lang="en-US" sz="1700"/>
            </a:p>
          </p:txBody>
        </p:sp>
      </p:grpSp>
      <p:sp>
        <p:nvSpPr>
          <p:cNvPr id="16" name="Shape 14"/>
          <p:cNvSpPr/>
          <p:nvPr/>
        </p:nvSpPr>
        <p:spPr>
          <a:xfrm>
            <a:off x="7178040" y="1214846"/>
            <a:ext cx="4373575" cy="2880360"/>
          </a:xfrm>
          <a:prstGeom prst="roundRect">
            <a:avLst>
              <a:gd name="adj" fmla="val 3175"/>
            </a:avLst>
          </a:prstGeom>
          <a:solidFill>
            <a:srgbClr val="EDF1F7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488585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err="1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bottleneck_router</a:t>
            </a:r>
            <a:endParaRPr lang="en-US" sz="1700" b="1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52360" y="2064657"/>
            <a:ext cx="384048" cy="384048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20646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8001000" y="1980857"/>
            <a:ext cx="3385152" cy="84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Conv3x3, bn_silu_64,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residual_add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각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IP가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호출될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때마다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입출력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포트를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다르게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연결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116217"/>
            <a:ext cx="384048" cy="384048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311621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8001000" y="3052209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35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Residual_add의</a:t>
            </a:r>
            <a:r>
              <a:rPr lang="en-US" sz="135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shortcut </a:t>
            </a:r>
            <a:r>
              <a:rPr lang="en-US" sz="135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값을</a:t>
            </a:r>
            <a:r>
              <a:rPr lang="en-US" sz="135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5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저장하는</a:t>
            </a:r>
            <a:r>
              <a:rPr lang="en-US" sz="135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br>
              <a:rPr lang="en-US" sz="1350">
                <a:latin typeface="Arial"/>
                <a:ea typeface="Arial" pitchFamily="34" charset="-122"/>
                <a:cs typeface="Arial"/>
              </a:rPr>
            </a:br>
            <a:r>
              <a:rPr lang="en-US" sz="135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버퍼</a:t>
            </a:r>
            <a:r>
              <a:rPr lang="en-US" sz="135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(</a:t>
            </a:r>
            <a:r>
              <a:rPr lang="en-US" sz="135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uram</a:t>
            </a:r>
            <a:r>
              <a:rPr lang="en-US" sz="135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7178040" y="4297680"/>
            <a:ext cx="4373575" cy="1463040"/>
          </a:xfrm>
          <a:prstGeom prst="roundRect">
            <a:avLst>
              <a:gd name="adj" fmla="val 6250"/>
            </a:avLst>
          </a:prstGeom>
          <a:solidFill>
            <a:srgbClr val="EDF1F7"/>
          </a:solidFill>
          <a:ln w="12700">
            <a:solidFill>
              <a:srgbClr val="C4CCD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452360" y="448056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bn128_silu_router</a:t>
            </a:r>
            <a:endParaRPr lang="en-US" sz="1700"/>
          </a:p>
        </p:txBody>
      </p:sp>
      <p:sp>
        <p:nvSpPr>
          <p:cNvPr id="26" name="Text 24"/>
          <p:cNvSpPr/>
          <p:nvPr/>
        </p:nvSpPr>
        <p:spPr>
          <a:xfrm>
            <a:off x="7452360" y="4919472"/>
            <a:ext cx="3824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Bn_silu_128 재사용을 위한 순서 전환 라우터</a:t>
            </a:r>
            <a:endParaRPr lang="en-US" sz="135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850CA7F-AAED-8351-01B1-AA4B63D0C16C}"/>
              </a:ext>
            </a:extLst>
          </p:cNvPr>
          <p:cNvSpPr/>
          <p:nvPr/>
        </p:nvSpPr>
        <p:spPr>
          <a:xfrm>
            <a:off x="7013233" y="1083355"/>
            <a:ext cx="4723380" cy="484074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532B90B-5571-E50A-096E-FB3FA3640089}"/>
              </a:ext>
            </a:extLst>
          </p:cNvPr>
          <p:cNvSpPr/>
          <p:nvPr/>
        </p:nvSpPr>
        <p:spPr>
          <a:xfrm>
            <a:off x="6408564" y="3264480"/>
            <a:ext cx="548640" cy="402336"/>
          </a:xfrm>
          <a:prstGeom prst="rightArrow">
            <a:avLst/>
          </a:prstGeom>
          <a:solidFill>
            <a:srgbClr val="AAB2BD"/>
          </a:solidFill>
          <a:ln/>
        </p:spPr>
      </p:sp>
    </p:spTree>
    <p:extLst>
      <p:ext uri="{BB962C8B-B14F-4D97-AF65-F5344CB8AC3E}">
        <p14:creationId xmlns:p14="http://schemas.microsoft.com/office/powerpoint/2010/main" val="186800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2BD83-15E8-B70D-231C-7062EAF7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237432-8552-ECE1-FD00-C61DAE584CA6}"/>
              </a:ext>
            </a:extLst>
          </p:cNvPr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HLS </a:t>
            </a:r>
            <a:r>
              <a:rPr lang="en-US" sz="26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합성</a:t>
            </a:r>
            <a:r>
              <a:rPr 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6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리포트</a:t>
            </a:r>
            <a:r>
              <a:rPr 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6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종합</a:t>
            </a:r>
            <a:endParaRPr lang="en-US" sz="2600" err="1">
              <a:latin typeface="Arial"/>
              <a:cs typeface="Arial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3124507D-070B-5C68-E34C-140F2F096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15781"/>
              </p:ext>
            </p:extLst>
          </p:nvPr>
        </p:nvGraphicFramePr>
        <p:xfrm>
          <a:off x="502920" y="1143000"/>
          <a:ext cx="11183112" cy="3657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IP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재사용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Latency (1회, cycle)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LUT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BRAM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URAM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DSP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conv1x1 (cv1)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213,004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18,304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64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bn128_router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6,420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463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bn_silu_128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204,862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13,795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22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split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1,602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119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bottleneck_router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1,585,641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6,388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8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conv3x3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1,249,310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31,776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144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335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bn_silu_64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×4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102,460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8,807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25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residual_add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102,433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5,907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13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concat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512,037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13,171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12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8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conv1x1 (cv2)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×1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8A929E"/>
                          </a:solidFill>
                        </a:rPr>
                        <a:t>221,192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2E3B52"/>
                          </a:solidFill>
                        </a:rPr>
                        <a:t>35,740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0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3B52"/>
                          </a:solidFill>
                        </a:rPr>
                        <a:t>128</a:t>
                      </a:r>
                      <a:endParaRPr lang="en-US" sz="95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3B66"/>
                          </a:solidFill>
                        </a:rPr>
                        <a:t>합계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F3B66"/>
                          </a:solidFill>
                        </a:rPr>
                        <a:t>8,561,566*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3A3A"/>
                          </a:solidFill>
                        </a:rPr>
                        <a:t>134,470( 14.8% </a:t>
                      </a:r>
                      <a:r>
                        <a:rPr lang="ko-KR" altLang="en-US" sz="1000" b="1">
                          <a:solidFill>
                            <a:srgbClr val="B33A3A"/>
                          </a:solidFill>
                        </a:rPr>
                        <a:t>초과</a:t>
                      </a:r>
                      <a:r>
                        <a:rPr lang="en-US" sz="1000" b="1">
                          <a:solidFill>
                            <a:srgbClr val="B33A3A"/>
                          </a:solidFill>
                        </a:rPr>
                        <a:t>)</a:t>
                      </a:r>
                      <a:endParaRPr lang="ko-KR" sz="1000" b="1">
                        <a:solidFill>
                          <a:srgbClr val="B33A3A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F3B66"/>
                          </a:solidFill>
                        </a:rPr>
                        <a:t>144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F3B66"/>
                          </a:solidFill>
                        </a:rPr>
                        <a:t>20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F3B66"/>
                          </a:solidFill>
                        </a:rPr>
                        <a:t>596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FDB8E34E-997E-D383-8EC4-E99BDE4E0B79}"/>
              </a:ext>
            </a:extLst>
          </p:cNvPr>
          <p:cNvSpPr/>
          <p:nvPr/>
        </p:nvSpPr>
        <p:spPr>
          <a:xfrm>
            <a:off x="502920" y="5415915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i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8,561,566 cycle × 10ns = 85.6ms/frame → 약 11.7 fps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80A40E9-86AC-61A3-0E32-2200C4D2BA3A}"/>
              </a:ext>
            </a:extLst>
          </p:cNvPr>
          <p:cNvSpPr/>
          <p:nvPr/>
        </p:nvSpPr>
        <p:spPr>
          <a:xfrm>
            <a:off x="651986" y="4957286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A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KV260(XCK26) 예산 — LUT 117,120 · BRAM(RAMB36) 144 · URAM 64 · DSP 1,248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18750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9DE29-B819-83C1-3107-751A373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558B0F-C928-3841-650B-A31C9C4B720E}"/>
              </a:ext>
            </a:extLst>
          </p:cNvPr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 후보 3가지</a:t>
            </a:r>
            <a:endParaRPr lang="en-US" sz="2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4AA479-E54F-17D7-E65E-5578BD8AB376}"/>
              </a:ext>
            </a:extLst>
          </p:cNvPr>
          <p:cNvSpPr/>
          <p:nvPr/>
        </p:nvSpPr>
        <p:spPr>
          <a:xfrm>
            <a:off x="2095348" y="1143000"/>
            <a:ext cx="502920" cy="50292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77F866-339F-1993-A29E-80C91CD972EE}"/>
              </a:ext>
            </a:extLst>
          </p:cNvPr>
          <p:cNvSpPr/>
          <p:nvPr/>
        </p:nvSpPr>
        <p:spPr>
          <a:xfrm>
            <a:off x="209534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39812E-CD23-2A43-EB82-0E9239465A4A}"/>
              </a:ext>
            </a:extLst>
          </p:cNvPr>
          <p:cNvSpPr/>
          <p:nvPr/>
        </p:nvSpPr>
        <p:spPr>
          <a:xfrm>
            <a:off x="700888" y="1737723"/>
            <a:ext cx="3291840" cy="3060699"/>
          </a:xfrm>
          <a:prstGeom prst="roundRect">
            <a:avLst>
              <a:gd name="adj" fmla="val 4571"/>
            </a:avLst>
          </a:prstGeom>
          <a:solidFill>
            <a:srgbClr val="EDF1F7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349E9B-3BE0-4406-775C-F4F8AF8CEC10}"/>
              </a:ext>
            </a:extLst>
          </p:cNvPr>
          <p:cNvSpPr/>
          <p:nvPr/>
        </p:nvSpPr>
        <p:spPr>
          <a:xfrm>
            <a:off x="883768" y="1911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Vivado 실측 </a:t>
            </a:r>
            <a:r>
              <a:rPr lang="ko-KR" altLang="en-US" sz="14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시도</a:t>
            </a:r>
            <a:endParaRPr lang="ko-KR" altLang="en-US" sz="1400" b="1">
              <a:solidFill>
                <a:srgbClr val="1F3B66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1DF82E-0FC8-0971-CCA9-3C535486066B}"/>
              </a:ext>
            </a:extLst>
          </p:cNvPr>
          <p:cNvSpPr/>
          <p:nvPr/>
        </p:nvSpPr>
        <p:spPr>
          <a:xfrm>
            <a:off x="883768" y="2276929"/>
            <a:ext cx="2926080" cy="129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HLS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합성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리포트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자원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수치는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보수적.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14999"/>
              </a:lnSpc>
            </a:pP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실제로는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Vivado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Implementation을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br>
              <a:rPr lang="en-US" altLang="ko-KR" sz="1400">
                <a:latin typeface="Arial"/>
                <a:ea typeface="Arial" pitchFamily="34" charset="-122"/>
                <a:cs typeface="Arial"/>
              </a:rPr>
            </a:b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실행하여</a:t>
            </a:r>
            <a:r>
              <a:rPr lang="en-US" altLang="ko-KR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altLang="ko-KR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얻은</a:t>
            </a:r>
            <a:r>
              <a:rPr lang="en-US" altLang="ko-KR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실측치는 여유가 있을   확률이 있다.</a:t>
            </a:r>
            <a:endParaRPr lang="en-US" sz="1400">
              <a:solidFill>
                <a:srgbClr val="2E3B52"/>
              </a:solidFill>
              <a:latin typeface="Arial"/>
              <a:cs typeface="Arial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2C925F-8220-60E4-686B-7C6E583BBBC0}"/>
              </a:ext>
            </a:extLst>
          </p:cNvPr>
          <p:cNvSpPr/>
          <p:nvPr/>
        </p:nvSpPr>
        <p:spPr>
          <a:xfrm>
            <a:off x="5844388" y="1143000"/>
            <a:ext cx="502920" cy="50292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7EB890-C8AE-03D7-9C5B-BA145B4D0CE8}"/>
              </a:ext>
            </a:extLst>
          </p:cNvPr>
          <p:cNvSpPr/>
          <p:nvPr/>
        </p:nvSpPr>
        <p:spPr>
          <a:xfrm>
            <a:off x="584438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B6C6B6-FE81-4106-D2F9-E7DCBC687DB4}"/>
              </a:ext>
            </a:extLst>
          </p:cNvPr>
          <p:cNvSpPr/>
          <p:nvPr/>
        </p:nvSpPr>
        <p:spPr>
          <a:xfrm>
            <a:off x="4449928" y="1728652"/>
            <a:ext cx="3291840" cy="3060699"/>
          </a:xfrm>
          <a:prstGeom prst="roundRect">
            <a:avLst>
              <a:gd name="adj" fmla="val 4571"/>
            </a:avLst>
          </a:prstGeom>
          <a:solidFill>
            <a:srgbClr val="EDF1F7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FCB554-A5F1-D79D-4A4C-A2E6A98E47B2}"/>
              </a:ext>
            </a:extLst>
          </p:cNvPr>
          <p:cNvSpPr/>
          <p:nvPr/>
        </p:nvSpPr>
        <p:spPr>
          <a:xfrm>
            <a:off x="4632808" y="1911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입력</a:t>
            </a:r>
            <a:r>
              <a:rPr lang="en-US" sz="14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해상도</a:t>
            </a:r>
            <a:r>
              <a:rPr lang="en-US" sz="14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축소</a:t>
            </a:r>
            <a:endParaRPr lang="en-US" sz="1400">
              <a:latin typeface="Aria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462B41-2FEA-4F03-1DEE-0867CFC685E7}"/>
              </a:ext>
            </a:extLst>
          </p:cNvPr>
          <p:cNvSpPr/>
          <p:nvPr/>
        </p:nvSpPr>
        <p:spPr>
          <a:xfrm>
            <a:off x="4632808" y="2273905"/>
            <a:ext cx="2926080" cy="192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가장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직관적인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방법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 </a:t>
            </a: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입력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해상도를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낮추면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연산량과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자원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사용량이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함께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줄어들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것으로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예상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br>
              <a:rPr lang="en-US" sz="1400">
                <a:solidFill>
                  <a:srgbClr val="2E3B52"/>
                </a:solidFill>
                <a:latin typeface="Arial"/>
                <a:cs typeface="Arial"/>
              </a:rPr>
            </a:br>
            <a:r>
              <a:rPr lang="ko-KR" altLang="en-US" sz="140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알고리즘을 바꿀 필요는 없지만 전체IP재합성할 필요가 있음</a:t>
            </a:r>
            <a:endParaRPr lang="en-US" sz="1400">
              <a:solidFill>
                <a:srgbClr val="2E3B52"/>
              </a:solidFill>
              <a:latin typeface="Arial"/>
              <a:cs typeface="Arial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11C5AF6-69C5-197E-3FB0-846E322BE95C}"/>
              </a:ext>
            </a:extLst>
          </p:cNvPr>
          <p:cNvSpPr/>
          <p:nvPr/>
        </p:nvSpPr>
        <p:spPr>
          <a:xfrm>
            <a:off x="9593428" y="1143000"/>
            <a:ext cx="502920" cy="502920"/>
          </a:xfrm>
          <a:prstGeom prst="ellipse">
            <a:avLst/>
          </a:prstGeom>
          <a:solidFill>
            <a:srgbClr val="1F3B66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9D4D8B-E113-063B-9B15-0C91D40C064A}"/>
              </a:ext>
            </a:extLst>
          </p:cNvPr>
          <p:cNvSpPr/>
          <p:nvPr/>
        </p:nvSpPr>
        <p:spPr>
          <a:xfrm>
            <a:off x="959342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90B3536-31A8-7F41-97C7-94B9D17A3DCA}"/>
              </a:ext>
            </a:extLst>
          </p:cNvPr>
          <p:cNvSpPr/>
          <p:nvPr/>
        </p:nvSpPr>
        <p:spPr>
          <a:xfrm>
            <a:off x="8198968" y="1746795"/>
            <a:ext cx="3291840" cy="3051627"/>
          </a:xfrm>
          <a:prstGeom prst="roundRect">
            <a:avLst>
              <a:gd name="adj" fmla="val 4571"/>
            </a:avLst>
          </a:prstGeom>
          <a:solidFill>
            <a:srgbClr val="EDF1F7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8BD5CF-432D-34A4-1CE1-A7A5233B10B8}"/>
              </a:ext>
            </a:extLst>
          </p:cNvPr>
          <p:cNvSpPr/>
          <p:nvPr/>
        </p:nvSpPr>
        <p:spPr>
          <a:xfrm>
            <a:off x="8381848" y="1911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cv2 </a:t>
            </a:r>
            <a:r>
              <a:rPr lang="en-US" sz="16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연산</a:t>
            </a:r>
            <a:r>
              <a:rPr lang="en-US" sz="1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6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제외</a:t>
            </a:r>
            <a:endParaRPr lang="en-US" sz="1600" err="1">
              <a:latin typeface="Arial"/>
              <a:ea typeface="Calibri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DE40409-A5F2-D48E-6853-06BFF455D6F8}"/>
              </a:ext>
            </a:extLst>
          </p:cNvPr>
          <p:cNvSpPr/>
          <p:nvPr/>
        </p:nvSpPr>
        <p:spPr>
          <a:xfrm>
            <a:off x="8381848" y="2276929"/>
            <a:ext cx="2926080" cy="192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C2F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블록의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마지막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1×1 conv(cv2)를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HW에서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제외</a:t>
            </a:r>
            <a:r>
              <a:rPr lang="en-US" altLang="ko-KR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후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 SW(PS)로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이전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 </a:t>
            </a: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세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방법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중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자원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절감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효과가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가장</a:t>
            </a: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큼.</a:t>
            </a:r>
            <a:br>
              <a:rPr lang="en-US" sz="1400">
                <a:latin typeface="Arial"/>
                <a:ea typeface="Arial" pitchFamily="34" charset="-122"/>
                <a:cs typeface="Arial"/>
              </a:rPr>
            </a:br>
            <a:br>
              <a:rPr lang="en-US" sz="1400">
                <a:solidFill>
                  <a:srgbClr val="2E3B52"/>
                </a:solidFill>
                <a:latin typeface="Arial"/>
                <a:cs typeface="Arial"/>
              </a:rPr>
            </a:br>
            <a:r>
              <a:rPr lang="ko-KR" altLang="en-US" sz="140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전체</a:t>
            </a:r>
            <a:r>
              <a:rPr lang="en-US" sz="1400">
                <a:solidFill>
                  <a:srgbClr val="2E3B52"/>
                </a:solidFill>
                <a:latin typeface="Arial"/>
                <a:cs typeface="Arial"/>
              </a:rPr>
              <a:t> IP 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재합성</a:t>
            </a:r>
            <a:r>
              <a:rPr lang="en-US" sz="1400">
                <a:solidFill>
                  <a:srgbClr val="2E3B52"/>
                </a:solidFill>
                <a:latin typeface="Arial"/>
                <a:cs typeface="Arial"/>
              </a:rPr>
              <a:t> </a:t>
            </a:r>
            <a:r>
              <a:rPr lang="ko-KR" altLang="en-US" sz="140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필요가</a:t>
            </a:r>
            <a:r>
              <a:rPr lang="en-US" sz="1400">
                <a:solidFill>
                  <a:srgbClr val="2E3B52"/>
                </a:solidFill>
                <a:latin typeface="Arial"/>
                <a:cs typeface="Arial"/>
              </a:rPr>
              <a:t> </a:t>
            </a:r>
            <a:r>
              <a:rPr lang="ko-KR" altLang="en-US" sz="1400" err="1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lang="en-US" altLang="ko-KR" sz="140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.</a:t>
            </a:r>
            <a:endParaRPr lang="en-US" sz="1400">
              <a:solidFill>
                <a:srgbClr val="2E3B52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997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96CB1-58A3-3A07-6EB5-91520F6B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3B4BF7-E178-53A1-4368-C03C684A02F1}"/>
              </a:ext>
            </a:extLst>
          </p:cNvPr>
          <p:cNvSpPr/>
          <p:nvPr/>
        </p:nvSpPr>
        <p:spPr>
          <a:xfrm>
            <a:off x="457200" y="40898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해결책</a:t>
            </a:r>
            <a:r>
              <a:rPr lang="en-US" sz="2600" b="1">
                <a:solidFill>
                  <a:srgbClr val="1F3B66"/>
                </a:solidFill>
                <a:latin typeface="Arial"/>
                <a:cs typeface="Arial"/>
              </a:rPr>
              <a:t> 1: </a:t>
            </a:r>
            <a:r>
              <a:rPr lang="en-US" sz="2600" b="1" err="1">
                <a:solidFill>
                  <a:srgbClr val="1F3B66"/>
                </a:solidFill>
                <a:latin typeface="Arial"/>
                <a:cs typeface="Arial"/>
              </a:rPr>
              <a:t>Vivado</a:t>
            </a:r>
            <a:r>
              <a:rPr lang="en-US" sz="2600" b="1">
                <a:solidFill>
                  <a:srgbClr val="1F3B66"/>
                </a:solidFill>
                <a:latin typeface="Arial"/>
                <a:cs typeface="Arial"/>
              </a:rPr>
              <a:t> </a:t>
            </a:r>
            <a:r>
              <a:rPr lang="ko-KR" altLang="en-US" sz="2600" b="1" err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실측</a:t>
            </a:r>
            <a:endParaRPr lang="en-US" sz="2600" b="1" err="1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7" name="그림 6" descr="/home/claude/vivado_diagram.png">
            <a:extLst>
              <a:ext uri="{FF2B5EF4-FFF2-40B4-BE49-F238E27FC236}">
                <a16:creationId xmlns:a16="http://schemas.microsoft.com/office/drawing/2014/main" id="{F42A43A6-43DB-110A-5432-954E3859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25" y="1455840"/>
            <a:ext cx="7604414" cy="429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83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898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해결책</a:t>
            </a:r>
            <a:r>
              <a:rPr lang="en-US" sz="2600" b="1">
                <a:solidFill>
                  <a:srgbClr val="1F3B66"/>
                </a:solidFill>
                <a:latin typeface="Arial"/>
                <a:cs typeface="Arial"/>
              </a:rPr>
              <a:t> 1: </a:t>
            </a:r>
            <a:r>
              <a:rPr lang="en-US" sz="2600" b="1" err="1">
                <a:solidFill>
                  <a:srgbClr val="1F3B66"/>
                </a:solidFill>
                <a:latin typeface="Arial"/>
                <a:cs typeface="Arial"/>
              </a:rPr>
              <a:t>Vivado</a:t>
            </a:r>
            <a:r>
              <a:rPr lang="en-US" sz="2600" b="1">
                <a:solidFill>
                  <a:srgbClr val="1F3B66"/>
                </a:solidFill>
                <a:latin typeface="Arial"/>
                <a:cs typeface="Arial"/>
              </a:rPr>
              <a:t> </a:t>
            </a:r>
            <a:r>
              <a:rPr lang="ko-KR" altLang="en-US" sz="2600" b="1" err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실측</a:t>
            </a:r>
            <a:endParaRPr lang="en-US" sz="2600" b="1" err="1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D35B75-DF06-9B47-547B-AB17E4A06E02}"/>
              </a:ext>
            </a:extLst>
          </p:cNvPr>
          <p:cNvGrpSpPr/>
          <p:nvPr/>
        </p:nvGrpSpPr>
        <p:grpSpPr>
          <a:xfrm>
            <a:off x="1615288" y="1511135"/>
            <a:ext cx="4206240" cy="2103120"/>
            <a:chOff x="1615288" y="1511135"/>
            <a:chExt cx="4206240" cy="2103120"/>
          </a:xfrm>
        </p:grpSpPr>
        <p:sp>
          <p:nvSpPr>
            <p:cNvPr id="4" name="Shape 2"/>
            <p:cNvSpPr/>
            <p:nvPr/>
          </p:nvSpPr>
          <p:spPr>
            <a:xfrm>
              <a:off x="1615288" y="1511135"/>
              <a:ext cx="4206240" cy="2103120"/>
            </a:xfrm>
            <a:prstGeom prst="roundRect">
              <a:avLst>
                <a:gd name="adj" fmla="val 4348"/>
              </a:avLst>
            </a:prstGeom>
            <a:solidFill>
              <a:srgbClr val="FBEAE7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615288" y="1783080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B33A3A"/>
                  </a:solidFill>
                  <a:latin typeface="Arial"/>
                  <a:ea typeface="Arial" pitchFamily="34" charset="-122"/>
                  <a:cs typeface="Arial"/>
                </a:rPr>
                <a:t>LUT</a:t>
              </a:r>
              <a:endParaRPr lang="en-US" sz="2000" b="1">
                <a:solidFill>
                  <a:srgbClr val="B33A3A"/>
                </a:solidFill>
                <a:latin typeface="Arial"/>
                <a:cs typeface="Arial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615288" y="2145080"/>
              <a:ext cx="4206240" cy="1168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B33A3A"/>
                  </a:solidFill>
                  <a:ea typeface="+mn-lt"/>
                  <a:cs typeface="+mn-lt"/>
                </a:rPr>
                <a:t>117120(budget)</a:t>
              </a:r>
            </a:p>
            <a:p>
              <a:pPr marL="0" indent="0" algn="ctr">
                <a:buNone/>
              </a:pPr>
              <a:r>
                <a:rPr lang="en-US">
                  <a:solidFill>
                    <a:srgbClr val="B33A3A"/>
                  </a:solidFill>
                  <a:ea typeface="+mn-lt"/>
                  <a:cs typeface="+mn-lt"/>
                </a:rPr>
                <a:t>106,785 (combined)</a:t>
              </a:r>
              <a:endParaRPr lang="en-US"/>
            </a:p>
            <a:p>
              <a:pPr algn="ctr"/>
              <a:r>
                <a:rPr lang="en-US">
                  <a:solidFill>
                    <a:srgbClr val="B33A3A"/>
                  </a:solidFill>
                  <a:ea typeface="+mn-lt"/>
                  <a:cs typeface="+mn-lt"/>
                </a:rPr>
                <a:t>149,953 (total)</a:t>
              </a:r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2679339-45D3-C4AD-03A7-808807E3488A}"/>
              </a:ext>
            </a:extLst>
          </p:cNvPr>
          <p:cNvGrpSpPr/>
          <p:nvPr/>
        </p:nvGrpSpPr>
        <p:grpSpPr>
          <a:xfrm>
            <a:off x="6370168" y="1511135"/>
            <a:ext cx="4206240" cy="2103120"/>
            <a:chOff x="6370168" y="1511135"/>
            <a:chExt cx="4206240" cy="2103120"/>
          </a:xfrm>
        </p:grpSpPr>
        <p:sp>
          <p:nvSpPr>
            <p:cNvPr id="8" name="Shape 6"/>
            <p:cNvSpPr/>
            <p:nvPr/>
          </p:nvSpPr>
          <p:spPr>
            <a:xfrm>
              <a:off x="6370168" y="1511135"/>
              <a:ext cx="4206240" cy="2103120"/>
            </a:xfrm>
            <a:prstGeom prst="roundRect">
              <a:avLst>
                <a:gd name="adj" fmla="val 4348"/>
              </a:avLst>
            </a:prstGeom>
            <a:solidFill>
              <a:srgbClr val="EDF1F7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598768" y="1764792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err="1">
                  <a:solidFill>
                    <a:srgbClr val="1F3B66"/>
                  </a:solidFill>
                  <a:latin typeface="Arial"/>
                  <a:ea typeface="Arial" pitchFamily="34" charset="-122"/>
                  <a:cs typeface="Arial"/>
                </a:rPr>
                <a:t>결과</a:t>
              </a:r>
              <a:endParaRPr lang="en-US" sz="2000" err="1">
                <a:latin typeface="Arial"/>
                <a:ea typeface="Calibri"/>
                <a:cs typeface="Arial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598768" y="2148840"/>
              <a:ext cx="374904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4999"/>
                </a:lnSpc>
              </a:pPr>
              <a:r>
                <a:rPr lang="ko-KR" altLang="en-US" sz="1400">
                  <a:ea typeface="+mn-lt"/>
                  <a:cs typeface="+mn-lt"/>
                </a:rPr>
                <a:t>논리적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ko-KR" altLang="en-US" sz="1400">
                  <a:ea typeface="+mn-lt"/>
                  <a:cs typeface="+mn-lt"/>
                </a:rPr>
                <a:t>필요량(combined)</a:t>
              </a:r>
              <a:r>
                <a:rPr lang="en-US" altLang="ko-KR" sz="1400">
                  <a:ea typeface="+mn-lt"/>
                  <a:cs typeface="+mn-lt"/>
                </a:rPr>
                <a:t> </a:t>
              </a:r>
              <a:r>
                <a:rPr lang="en-US" sz="1400" err="1">
                  <a:ea typeface="+mn-lt"/>
                  <a:cs typeface="+mn-lt"/>
                </a:rPr>
                <a:t>기준으로는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en-US" sz="1400" err="1">
                  <a:ea typeface="+mn-lt"/>
                  <a:cs typeface="+mn-lt"/>
                </a:rPr>
                <a:t>예산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ko-KR" altLang="en-US" sz="1400" err="1">
                  <a:ea typeface="+mn-lt"/>
                  <a:cs typeface="+mn-lt"/>
                </a:rPr>
                <a:t>범위</a:t>
              </a:r>
              <a:r>
                <a:rPr lang="en-US" sz="1400">
                  <a:ea typeface="+mn-lt"/>
                  <a:cs typeface="+mn-lt"/>
                </a:rPr>
                <a:t> 내</a:t>
              </a:r>
              <a:endParaRPr lang="en-US" altLang="ko-KR" sz="1400">
                <a:ea typeface="Calibri"/>
                <a:cs typeface="Calibri"/>
              </a:endParaRPr>
            </a:p>
            <a:p>
              <a:pPr>
                <a:lnSpc>
                  <a:spcPct val="114999"/>
                </a:lnSpc>
              </a:pPr>
              <a:endParaRPr lang="en-US" altLang="ko-KR" sz="1400">
                <a:ea typeface="Calibri"/>
                <a:cs typeface="Calibri"/>
              </a:endParaRPr>
            </a:p>
            <a:p>
              <a:pPr>
                <a:lnSpc>
                  <a:spcPct val="115000"/>
                </a:lnSpc>
              </a:pPr>
              <a:r>
                <a:rPr lang="ko-KR" altLang="en-US" sz="1400">
                  <a:ea typeface="+mn-lt"/>
                  <a:cs typeface="+mn-lt"/>
                </a:rPr>
                <a:t>하지만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ko-KR" altLang="en-US" sz="1400">
                  <a:ea typeface="+mn-lt"/>
                  <a:cs typeface="+mn-lt"/>
                </a:rPr>
                <a:t>실제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ko-KR" altLang="en-US" sz="1400">
                  <a:ea typeface="+mn-lt"/>
                  <a:cs typeface="+mn-lt"/>
                </a:rPr>
                <a:t>배치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ko-KR" altLang="en-US" sz="1400">
                  <a:ea typeface="+mn-lt"/>
                  <a:cs typeface="+mn-lt"/>
                </a:rPr>
                <a:t>시</a:t>
              </a:r>
              <a:r>
                <a:rPr lang="en-US" sz="1400">
                  <a:ea typeface="+mn-lt"/>
                  <a:cs typeface="+mn-lt"/>
                </a:rPr>
                <a:t> control set</a:t>
              </a:r>
              <a:r>
                <a:rPr lang="ko-KR" altLang="en-US" sz="1400">
                  <a:ea typeface="+mn-lt"/>
                  <a:cs typeface="+mn-lt"/>
                </a:rPr>
                <a:t>을</a:t>
              </a:r>
              <a:r>
                <a:rPr lang="en-US" altLang="ko-KR" sz="1400">
                  <a:ea typeface="+mn-lt"/>
                  <a:cs typeface="+mn-lt"/>
                </a:rPr>
                <a:t> </a:t>
              </a:r>
              <a:r>
                <a:rPr lang="ko-KR" altLang="en-US" sz="1400">
                  <a:ea typeface="+mn-lt"/>
                  <a:cs typeface="+mn-lt"/>
                </a:rPr>
                <a:t>고려한</a:t>
              </a:r>
              <a:r>
                <a:rPr lang="en-US" altLang="ko-KR" sz="1400">
                  <a:ea typeface="+mn-lt"/>
                  <a:cs typeface="+mn-lt"/>
                </a:rPr>
                <a:t> total </a:t>
              </a:r>
              <a:r>
                <a:rPr lang="ko-KR" altLang="en-US" sz="1400">
                  <a:ea typeface="+mn-lt"/>
                  <a:cs typeface="+mn-lt"/>
                </a:rPr>
                <a:t> 예산 </a:t>
              </a:r>
              <a:r>
                <a:rPr lang="en-US" sz="1400">
                  <a:ea typeface="+mn-lt"/>
                  <a:cs typeface="+mn-lt"/>
                </a:rPr>
                <a:t>32,833</a:t>
              </a:r>
              <a:r>
                <a:rPr lang="ko-KR" altLang="en-US" sz="1400">
                  <a:ea typeface="+mn-lt"/>
                  <a:cs typeface="+mn-lt"/>
                </a:rPr>
                <a:t>개</a:t>
              </a:r>
              <a:r>
                <a:rPr lang="en-US" sz="1400">
                  <a:ea typeface="+mn-lt"/>
                  <a:cs typeface="+mn-lt"/>
                </a:rPr>
                <a:t> </a:t>
              </a:r>
              <a:r>
                <a:rPr lang="ko-KR" altLang="en-US" sz="1400">
                  <a:ea typeface="+mn-lt"/>
                  <a:cs typeface="+mn-lt"/>
                </a:rPr>
                <a:t>초과</a:t>
              </a:r>
              <a:r>
                <a:rPr lang="en-US" sz="1400">
                  <a:solidFill>
                    <a:srgbClr val="2E3B52"/>
                  </a:solidFill>
                  <a:ea typeface="+mn-lt"/>
                  <a:cs typeface="+mn-lt"/>
                </a:rPr>
                <a:t> </a:t>
              </a:r>
              <a:endParaRPr lang="en-US" sz="1400">
                <a:solidFill>
                  <a:srgbClr val="2E3B52"/>
                </a:solidFill>
                <a:latin typeface="Arial"/>
                <a:cs typeface="Arial"/>
              </a:endParaRPr>
            </a:p>
          </p:txBody>
        </p:sp>
      </p:grp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1615288" y="3931920"/>
          <a:ext cx="8961121" cy="1874520"/>
        </p:xfrm>
        <a:graphic>
          <a:graphicData uri="http://schemas.openxmlformats.org/drawingml/2006/table">
            <a:tbl>
              <a:tblPr/>
              <a:tblGrid>
                <a:gridCol w="2509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자원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사용량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예산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사용률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B33A3A"/>
                          </a:solidFill>
                        </a:rPr>
                        <a:t>LUT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A3A"/>
                          </a:solidFill>
                        </a:rPr>
                        <a:t>106,785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117,120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A3A"/>
                          </a:solidFill>
                        </a:rPr>
                        <a:t>91%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FF (CLB Registers)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192,797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234,240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82%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DSP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728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1,248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58%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BRAM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129.5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144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URAM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56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87%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71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77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해결책</a:t>
            </a:r>
            <a:r>
              <a:rPr lang="en-US" altLang="ko-KR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 3: </a:t>
            </a:r>
            <a:r>
              <a:rPr 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cv2</a:t>
            </a:r>
            <a:r>
              <a:rPr lang="en-US" altLang="ko-KR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연산을</a:t>
            </a:r>
            <a:r>
              <a:rPr lang="en-US" sz="2600" b="1">
                <a:solidFill>
                  <a:srgbClr val="1F3B66"/>
                </a:solidFill>
                <a:latin typeface="Arial"/>
                <a:cs typeface="Arial"/>
              </a:rPr>
              <a:t> </a:t>
            </a:r>
            <a:r>
              <a:rPr lang="en-US" sz="2600" b="1" err="1">
                <a:solidFill>
                  <a:srgbClr val="1F3B66"/>
                </a:solidFill>
                <a:latin typeface="Arial"/>
                <a:cs typeface="Arial"/>
              </a:rPr>
              <a:t>SW로</a:t>
            </a:r>
            <a:r>
              <a:rPr lang="en-US" altLang="ko-KR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이전</a:t>
            </a:r>
            <a:endParaRPr lang="en-US" sz="2600">
              <a:solidFill>
                <a:srgbClr val="000000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98168" y="12801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BEAE7"/>
          </a:solidFill>
          <a:ln/>
        </p:spPr>
      </p:sp>
      <p:sp>
        <p:nvSpPr>
          <p:cNvPr id="5" name="Text 3"/>
          <p:cNvSpPr/>
          <p:nvPr/>
        </p:nvSpPr>
        <p:spPr>
          <a:xfrm>
            <a:off x="1798168" y="1408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3A3A"/>
                </a:solidFill>
                <a:latin typeface="Arial"/>
                <a:ea typeface="Arial" pitchFamily="34" charset="-122"/>
                <a:cs typeface="Arial"/>
              </a:rPr>
              <a:t>cv2 </a:t>
            </a:r>
            <a:r>
              <a:rPr lang="en-US" sz="2000" b="1" dirty="0" err="1">
                <a:solidFill>
                  <a:srgbClr val="B33A3A"/>
                </a:solidFill>
                <a:latin typeface="Arial"/>
                <a:ea typeface="Arial" pitchFamily="34" charset="-122"/>
                <a:cs typeface="Arial"/>
              </a:rPr>
              <a:t>포함</a:t>
            </a:r>
            <a:endParaRPr lang="en-US" sz="2000" b="1">
              <a:solidFill>
                <a:srgbClr val="B33A3A"/>
              </a:solidFill>
              <a:latin typeface="Arial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43740" y="1773647"/>
            <a:ext cx="3712028" cy="938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117120(budget)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106,785 (combined)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149,953 (total)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38648" y="1970532"/>
            <a:ext cx="914400" cy="402336"/>
          </a:xfrm>
          <a:prstGeom prst="rightArrow">
            <a:avLst/>
          </a:prstGeom>
          <a:solidFill>
            <a:srgbClr val="8A929E"/>
          </a:solidFill>
          <a:ln/>
        </p:spPr>
      </p:sp>
      <p:sp>
        <p:nvSpPr>
          <p:cNvPr id="10" name="Shape 8"/>
          <p:cNvSpPr/>
          <p:nvPr/>
        </p:nvSpPr>
        <p:spPr>
          <a:xfrm>
            <a:off x="6735928" y="12801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E7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735928" y="1408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cv2 </a:t>
            </a:r>
            <a:r>
              <a:rPr lang="ko-KR" altLang="en-US" sz="2000" b="1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제외</a:t>
            </a:r>
            <a:endParaRPr lang="ko-KR" altLang="en-US" sz="2000" b="1">
              <a:solidFill>
                <a:srgbClr val="3E8E5A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35928" y="1909717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65,659(combined)</a:t>
            </a:r>
          </a:p>
          <a:p>
            <a:pPr algn="ctr"/>
            <a:r>
              <a:rPr lang="en-US" dirty="0">
                <a:solidFill>
                  <a:srgbClr val="3E8E5A"/>
                </a:solidFill>
                <a:latin typeface="Arial"/>
                <a:cs typeface="Arial"/>
              </a:rPr>
              <a:t>Control set </a:t>
            </a:r>
            <a:r>
              <a:rPr lang="ko-KR" altLang="en-US" dirty="0" err="1">
                <a:solidFill>
                  <a:srgbClr val="3E8E5A"/>
                </a:solidFill>
                <a:latin typeface="Arial"/>
                <a:cs typeface="Arial"/>
              </a:rPr>
              <a:t>문제도</a:t>
            </a:r>
            <a:r>
              <a:rPr lang="en-US" dirty="0">
                <a:solidFill>
                  <a:srgbClr val="3E8E5A"/>
                </a:solidFill>
                <a:latin typeface="Arial"/>
                <a:cs typeface="Arial"/>
              </a:rPr>
              <a:t> </a:t>
            </a:r>
            <a:r>
              <a:rPr lang="ko-KR" altLang="en-US" dirty="0" err="1">
                <a:solidFill>
                  <a:srgbClr val="3E8E5A"/>
                </a:solidFill>
                <a:latin typeface="Arial"/>
                <a:cs typeface="Arial"/>
              </a:rPr>
              <a:t>해결</a:t>
            </a:r>
            <a:endParaRPr lang="en-US" altLang="ko-KR" dirty="0" err="1">
              <a:solidFill>
                <a:srgbClr val="3E8E5A"/>
              </a:solidFill>
              <a:latin typeface="Arial"/>
              <a:ea typeface="맑은 고딕"/>
              <a:cs typeface="Arial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1737360" y="3337560"/>
          <a:ext cx="8705088" cy="1691640"/>
        </p:xfrm>
        <a:graphic>
          <a:graphicData uri="http://schemas.openxmlformats.org/drawingml/2006/table">
            <a:tbl>
              <a:tblPr/>
              <a:tblGrid>
                <a:gridCol w="1764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자원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이전 (cv2 포함)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이후 (cv2 제외)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예산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LUT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A3A"/>
                          </a:solidFill>
                        </a:rPr>
                        <a:t>106,785 (91%)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3E8E5A"/>
                          </a:solidFill>
                        </a:rPr>
                        <a:t>65,659 (56%)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117,120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FF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192,797 (82%)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E8E5A"/>
                          </a:solidFill>
                        </a:rPr>
                        <a:t>130,945 (56%)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234,240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BRAM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129.5 (90%)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E8E5A"/>
                          </a:solidFill>
                        </a:rPr>
                        <a:t>121.5 (84%)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144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URAM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56 (87%)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8A929E"/>
                          </a:solidFill>
                        </a:rPr>
                        <a:t>56 (87%)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DSP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728 (58%)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E8E5A"/>
                          </a:solidFill>
                        </a:rPr>
                        <a:t>472 (38%)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1,248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Timing Report</a:t>
            </a:r>
            <a:endParaRPr lang="en-US" sz="2600" b="1">
              <a:solidFill>
                <a:srgbClr val="1F3B66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CV2 연산 </a:t>
            </a:r>
            <a:r>
              <a:rPr lang="en-US" altLang="ko-KR" sz="1300" dirty="0" err="1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제외</a:t>
            </a:r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300" dirty="0" err="1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반영</a:t>
            </a:r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후</a:t>
            </a:r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300" dirty="0" err="1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재합성</a:t>
            </a:r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300" dirty="0" err="1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결과</a:t>
            </a:r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 — Design Timing Summary (</a:t>
            </a:r>
            <a:r>
              <a:rPr lang="en-US" altLang="ko-KR" sz="1300" dirty="0" err="1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Vivado</a:t>
            </a:r>
            <a:r>
              <a:rPr lang="en-US" altLang="ko-KR" sz="1300" dirty="0">
                <a:solidFill>
                  <a:srgbClr val="2E3B52"/>
                </a:solidFill>
                <a:latin typeface="Arial"/>
                <a:ea typeface="맑은 고딕"/>
                <a:cs typeface="Arial"/>
              </a:rPr>
              <a:t> Implementation)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4"/>
          <p:cNvSpPr/>
          <p:nvPr/>
        </p:nvSpPr>
        <p:spPr>
          <a:xfrm>
            <a:off x="467400" y="1600200"/>
            <a:ext cx="3600000" cy="3200400"/>
          </a:xfrm>
          <a:prstGeom prst="roundRect">
            <a:avLst>
              <a:gd name="adj" fmla="val 4348"/>
            </a:avLst>
          </a:prstGeom>
          <a:solidFill>
            <a:srgbClr val="EAF0FA"/>
          </a:solidFill>
          <a:ln/>
        </p:spPr>
      </p:sp>
      <p:sp>
        <p:nvSpPr>
          <p:cNvPr id="5" name="Text 5"/>
          <p:cNvSpPr/>
          <p:nvPr/>
        </p:nvSpPr>
        <p:spPr>
          <a:xfrm>
            <a:off x="741720" y="1828800"/>
            <a:ext cx="305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741720" y="2286000"/>
            <a:ext cx="305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Negative Slack (WNS)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0.631 ns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Negative Slack (TNS)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 ns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Failing Endpoints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Endpoints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419,254</a:t>
            </a:r>
          </a:p>
        </p:txBody>
      </p:sp>
      <p:sp>
        <p:nvSpPr>
          <p:cNvPr id="7" name="Shape 7"/>
          <p:cNvSpPr/>
          <p:nvPr/>
        </p:nvSpPr>
        <p:spPr>
          <a:xfrm>
            <a:off x="4296000" y="1600200"/>
            <a:ext cx="3600000" cy="3200400"/>
          </a:xfrm>
          <a:prstGeom prst="roundRect">
            <a:avLst>
              <a:gd name="adj" fmla="val 4348"/>
            </a:avLst>
          </a:prstGeom>
          <a:solidFill>
            <a:srgbClr val="EAF0FA"/>
          </a:solidFill>
          <a:ln/>
        </p:spPr>
      </p:sp>
      <p:sp>
        <p:nvSpPr>
          <p:cNvPr id="8" name="Text 8"/>
          <p:cNvSpPr/>
          <p:nvPr/>
        </p:nvSpPr>
        <p:spPr>
          <a:xfrm>
            <a:off x="4570320" y="1828800"/>
            <a:ext cx="305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500" dirty="0"/>
          </a:p>
        </p:txBody>
      </p:sp>
      <p:sp>
        <p:nvSpPr>
          <p:cNvPr id="9" name="Text 9"/>
          <p:cNvSpPr/>
          <p:nvPr/>
        </p:nvSpPr>
        <p:spPr>
          <a:xfrm>
            <a:off x="4570320" y="2286000"/>
            <a:ext cx="305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Hold Slack (WHS)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0.010 ns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Hold Slack (THS)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 ns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Failing Endpoints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Endpoints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419,254</a:t>
            </a:r>
          </a:p>
        </p:txBody>
      </p:sp>
      <p:sp>
        <p:nvSpPr>
          <p:cNvPr id="10" name="Shape 10"/>
          <p:cNvSpPr/>
          <p:nvPr/>
        </p:nvSpPr>
        <p:spPr>
          <a:xfrm>
            <a:off x="8124600" y="1600200"/>
            <a:ext cx="3600000" cy="3200400"/>
          </a:xfrm>
          <a:prstGeom prst="roundRect">
            <a:avLst>
              <a:gd name="adj" fmla="val 4348"/>
            </a:avLst>
          </a:prstGeom>
          <a:solidFill>
            <a:srgbClr val="EAF0FA"/>
          </a:solidFill>
          <a:ln/>
        </p:spPr>
      </p:sp>
      <p:sp>
        <p:nvSpPr>
          <p:cNvPr id="11" name="Text 11"/>
          <p:cNvSpPr/>
          <p:nvPr/>
        </p:nvSpPr>
        <p:spPr>
          <a:xfrm>
            <a:off x="8398920" y="1828800"/>
            <a:ext cx="305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Width</a:t>
            </a:r>
            <a:endParaRPr lang="en-US" sz="1500" dirty="0"/>
          </a:p>
        </p:txBody>
      </p:sp>
      <p:sp>
        <p:nvSpPr>
          <p:cNvPr id="12" name="Text 12"/>
          <p:cNvSpPr/>
          <p:nvPr/>
        </p:nvSpPr>
        <p:spPr>
          <a:xfrm>
            <a:off x="8398920" y="2286000"/>
            <a:ext cx="305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Pulse Width Slack (WPWS)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3.500 ns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Pulse Width Neg. Slack (TPWS)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 ns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Failing Endpoints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Endpoints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159,790</a:t>
            </a:r>
          </a:p>
        </p:txBody>
      </p:sp>
      <p:sp>
        <p:nvSpPr>
          <p:cNvPr id="13" name="Shape banner"/>
          <p:cNvSpPr/>
          <p:nvPr/>
        </p:nvSpPr>
        <p:spPr>
          <a:xfrm>
            <a:off x="467400" y="5074920"/>
            <a:ext cx="11257200" cy="502920"/>
          </a:xfrm>
          <a:prstGeom prst="roundRect">
            <a:avLst>
              <a:gd name="adj" fmla="val 4348"/>
            </a:avLst>
          </a:prstGeom>
          <a:solidFill>
            <a:srgbClr val="E7F5EC"/>
          </a:solidFill>
          <a:ln/>
        </p:spPr>
      </p:sp>
      <p:sp>
        <p:nvSpPr>
          <p:cNvPr id="14" name="Text banner"/>
          <p:cNvSpPr/>
          <p:nvPr/>
        </p:nvSpPr>
        <p:spPr>
          <a:xfrm>
            <a:off x="741720" y="5074920"/>
            <a:ext cx="1070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user specified timing constraints are met.</a:t>
            </a:r>
            <a:endParaRPr lang="en-US" sz="1400" dirty="0"/>
          </a:p>
        </p:txBody>
      </p:sp>
      <p:sp>
        <p:nvSpPr>
          <p:cNvPr id="15" name="Text footnote"/>
          <p:cNvSpPr/>
          <p:nvPr/>
        </p:nvSpPr>
        <p:spPr>
          <a:xfrm>
            <a:off x="457504" y="5715000"/>
            <a:ext cx="11267096" cy="844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Setup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여유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0.631 ns</a:t>
            </a:r>
            <a:endParaRPr lang="en-US" sz="1050" i="1" dirty="0">
              <a:solidFill>
                <a:srgbClr val="FF0000"/>
              </a:solidFill>
              <a:latin typeface="Arial"/>
              <a:ea typeface="Calibri"/>
              <a:cs typeface="Arial"/>
            </a:endParaRPr>
          </a:p>
          <a:p>
            <a:r>
              <a:rPr lang="en-US" sz="1050" dirty="0">
                <a:solidFill>
                  <a:srgbClr val="FF0000"/>
                </a:solidFill>
                <a:latin typeface="Arial"/>
                <a:ea typeface="+mn-lt"/>
                <a:cs typeface="Arial"/>
              </a:rPr>
              <a:t>10ns(</a:t>
            </a:r>
            <a:r>
              <a:rPr lang="ko-KR" altLang="en-US" sz="1050" err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목표</a:t>
            </a:r>
            <a:r>
              <a:rPr lang="en-US" altLang="ko-KR" sz="1050" dirty="0">
                <a:solidFill>
                  <a:srgbClr val="FF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ko-KR" altLang="en-US" sz="1050" err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주기</a:t>
            </a:r>
            <a:r>
              <a:rPr lang="en-US" sz="1050" dirty="0">
                <a:solidFill>
                  <a:srgbClr val="FF0000"/>
                </a:solidFill>
                <a:latin typeface="Arial"/>
                <a:ea typeface="+mn-lt"/>
                <a:cs typeface="Arial"/>
              </a:rPr>
              <a:t>) - 0.631ns(</a:t>
            </a:r>
            <a:r>
              <a:rPr lang="ko-KR" altLang="en-US" sz="1050" err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남은</a:t>
            </a:r>
            <a:r>
              <a:rPr lang="en-US" altLang="ko-KR" sz="1050" dirty="0">
                <a:solidFill>
                  <a:srgbClr val="FF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ko-KR" altLang="en-US" sz="1050" err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여유</a:t>
            </a:r>
            <a:r>
              <a:rPr lang="en-US" sz="1050">
                <a:solidFill>
                  <a:srgbClr val="FF0000"/>
                </a:solidFill>
                <a:latin typeface="Arial"/>
                <a:ea typeface="+mn-lt"/>
                <a:cs typeface="Arial"/>
              </a:rPr>
              <a:t>) = 9.369ns, 1 / 9.369ns =</a:t>
            </a:r>
            <a:r>
              <a:rPr lang="en-US" altLang="ko-KR" sz="1050" dirty="0">
                <a:solidFill>
                  <a:srgbClr val="FF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ko-KR" altLang="en-US" sz="1050">
                <a:solidFill>
                  <a:srgbClr val="FF0000"/>
                </a:solidFill>
                <a:latin typeface="Arial"/>
                <a:ea typeface="+mn-lt"/>
                <a:cs typeface="Arial"/>
              </a:rPr>
              <a:t>약</a:t>
            </a:r>
            <a:r>
              <a:rPr lang="en-US" sz="1050">
                <a:solidFill>
                  <a:srgbClr val="FF0000"/>
                </a:solidFill>
                <a:latin typeface="Arial"/>
                <a:ea typeface="+mn-lt"/>
                <a:cs typeface="Arial"/>
              </a:rPr>
              <a:t> 106.7MHz</a:t>
            </a:r>
            <a:endParaRPr lang="en-US">
              <a:latin typeface="Arial"/>
              <a:cs typeface="Arial"/>
            </a:endParaRPr>
          </a:p>
          <a:p>
            <a:pPr marL="0" indent="0" algn="l">
              <a:buNone/>
            </a:pP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기준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최대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도달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가능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클럭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≈ 106.7 MHz (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목표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100 MHz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대비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여유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i="1" dirty="0" err="1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확보</a:t>
            </a:r>
            <a:r>
              <a:rPr lang="en-US" sz="1050" i="1" dirty="0">
                <a:solidFill>
                  <a:srgbClr val="FF0000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050">
              <a:solidFill>
                <a:srgbClr val="FF0000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333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 — Bitstream 생성 성공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91840" y="173736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03320" y="1700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통과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251460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3320" y="2478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통과 (LUT 65,659 / 56%)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329184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255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통과 (WNS +0.631 ns)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406908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4032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Bitstream 생성 성공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cv2를 SW로 이전한 뒤, 4단계 모두 통과 — 하드웨어 최종 완성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7" y="316775"/>
            <a:ext cx="11094415" cy="1743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여기서부터는 sw 구현 페이지</a:t>
            </a:r>
            <a:br>
              <a:rPr lang="ko-KR" altLang="en-US" sz="40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40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나머지 팀원들이 할 예정</a:t>
            </a:r>
            <a:endParaRPr lang="ko-KR" altLang="en-US" sz="4000" b="1" dirty="0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679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5FE9E61-9445-A9DC-4F39-CD4EA19323FC}"/>
              </a:ext>
            </a:extLst>
          </p:cNvPr>
          <p:cNvSpPr/>
          <p:nvPr/>
        </p:nvSpPr>
        <p:spPr>
          <a:xfrm>
            <a:off x="466997" y="316775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출력</a:t>
            </a:r>
            <a:endParaRPr lang="ko-KR" altLang="en-US" sz="4000" b="1" dirty="0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339BCD-F1D6-6081-BF88-3E4D5AECC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58" y="1251049"/>
            <a:ext cx="64198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98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C72DD18-9531-0265-C021-5E3876C74C69}"/>
              </a:ext>
            </a:extLst>
          </p:cNvPr>
          <p:cNvSpPr/>
          <p:nvPr/>
        </p:nvSpPr>
        <p:spPr>
          <a:xfrm>
            <a:off x="466997" y="316775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개발 목표 및 개발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CA7E7-3080-4962-72A4-85D7937C85DB}"/>
              </a:ext>
            </a:extLst>
          </p:cNvPr>
          <p:cNvSpPr txBox="1"/>
          <p:nvPr/>
        </p:nvSpPr>
        <p:spPr>
          <a:xfrm>
            <a:off x="3354779" y="1395351"/>
            <a:ext cx="49777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주제 및 결과 요약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개발 목표 및 개발 결과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핵심 기술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결과 분석 및 기대 효과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향후 연구 과제</a:t>
            </a:r>
          </a:p>
          <a:p>
            <a:pPr marL="285750" indent="-285750">
              <a:buFont typeface="Arial"/>
              <a:buChar char="•"/>
            </a:pPr>
            <a:r>
              <a:rPr lang="ko-KR">
                <a:latin typeface="Arial"/>
                <a:ea typeface="맑은 고딕"/>
                <a:cs typeface="Arial"/>
              </a:rPr>
              <a:t>프로젝트 수행 후기</a:t>
            </a:r>
          </a:p>
          <a:p>
            <a:pPr algn="l"/>
            <a:endParaRPr lang="ko-KR" altLang="en-US"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1106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양자화(Quantization) — INT8 기반 설계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 본 모든 IP는 float가 아니라 INT8(8bit 정수) 기반으로 설계했습니다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21680" y="1524000"/>
            <a:ext cx="3600000" cy="3200400"/>
          </a:xfrm>
          <a:prstGeom prst="roundRect">
            <a:avLst>
              <a:gd name="adj" fmla="val 4348"/>
            </a:avLst>
          </a:prstGeom>
          <a:solidFill>
            <a:srgbClr val="EAF0FA"/>
          </a:solidFill>
          <a:ln/>
        </p:spPr>
      </p:sp>
      <p:sp>
        <p:nvSpPr>
          <p:cNvPr id="5" name="Text 5"/>
          <p:cNvSpPr/>
          <p:nvPr/>
        </p:nvSpPr>
        <p:spPr>
          <a:xfrm>
            <a:off x="696000" y="1752600"/>
            <a:ext cx="305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왜 INT8인가</a:t>
            </a: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696000" y="2255520"/>
            <a:ext cx="3051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FPGA에서 float(32bit) 연산은 DSP·LUT를 많이 소모합니다.</a:t>
            </a:r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연산 비중이 가장 큰 Conv 레이어를 INT8 정수 연산으로 바꾸면, 자원 사용량과 속도 모두에서 이득을 얻습니다.</a:t>
            </a:r>
          </a:p>
        </p:txBody>
      </p:sp>
      <p:sp>
        <p:nvSpPr>
          <p:cNvPr id="7" name="Shape 7"/>
          <p:cNvSpPr/>
          <p:nvPr/>
        </p:nvSpPr>
        <p:spPr>
          <a:xfrm>
            <a:off x="4296000" y="1524000"/>
            <a:ext cx="3600000" cy="3200400"/>
          </a:xfrm>
          <a:prstGeom prst="roundRect">
            <a:avLst>
              <a:gd name="adj" fmla="val 4348"/>
            </a:avLst>
          </a:prstGeom>
          <a:solidFill>
            <a:srgbClr val="EAF0FA"/>
          </a:solidFill>
          <a:ln/>
        </p:spPr>
      </p:sp>
      <p:sp>
        <p:nvSpPr>
          <p:cNvPr id="8" name="Text 8"/>
          <p:cNvSpPr/>
          <p:nvPr/>
        </p:nvSpPr>
        <p:spPr>
          <a:xfrm>
            <a:off x="4570320" y="1752600"/>
            <a:ext cx="305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레이어별 적용 방식</a:t>
            </a:r>
            <a:endParaRPr lang="en-US" sz="1500" dirty="0"/>
          </a:p>
        </p:txBody>
      </p:sp>
      <p:sp>
        <p:nvSpPr>
          <p:cNvPr id="9" name="Text 9"/>
          <p:cNvSpPr/>
          <p:nvPr/>
        </p:nvSpPr>
        <p:spPr>
          <a:xfrm>
            <a:off x="4570320" y="2255520"/>
            <a:ext cx="3051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Conv(1×1·3×3): int8×int8 정수 MAC 그대로 수행</a:t>
            </a:r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BN+SiLU·Residual Add: float로 변환해 계산 후, 반올림+clamp(-128~127)로 다시 int8 출력</a:t>
            </a:r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연산량이 많은 곳은 정수로, 적고 복잡한 곳은 float로 처리해 자원과 정확도의 균형을 맞췄습니다.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8170320" y="1524000"/>
            <a:ext cx="3600000" cy="3200400"/>
          </a:xfrm>
          <a:prstGeom prst="roundRect">
            <a:avLst>
              <a:gd name="adj" fmla="val 4348"/>
            </a:avLst>
          </a:prstGeom>
          <a:solidFill>
            <a:srgbClr val="EAF0FA"/>
          </a:solidFill>
          <a:ln/>
        </p:spPr>
      </p:sp>
      <p:sp>
        <p:nvSpPr>
          <p:cNvPr id="11" name="Text 11"/>
          <p:cNvSpPr/>
          <p:nvPr/>
        </p:nvSpPr>
        <p:spPr>
          <a:xfrm>
            <a:off x="8444640" y="1752600"/>
            <a:ext cx="305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보정(Calibration)</a:t>
            </a:r>
            <a:endParaRPr lang="en-US" sz="1500" dirty="0"/>
          </a:p>
        </p:txBody>
      </p:sp>
      <p:sp>
        <p:nvSpPr>
          <p:cNvPr id="12" name="Text 12"/>
          <p:cNvSpPr/>
          <p:nvPr/>
        </p:nvSpPr>
        <p:spPr>
          <a:xfrm>
            <a:off x="8444640" y="2255520"/>
            <a:ext cx="3051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valid_dataset 114장을 모델에 통과시켜 각 지점의 실제 값 분포를 확인</a:t>
            </a:r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MSE(평균제곱오차) 최소화 기준으로 클리핑·양자화 오차의 균형을 맞춰 스케일(S_in, S_cat, bn_scale 등) 산출</a:t>
            </a:r>
          </a:p>
        </p:txBody>
      </p:sp>
      <p:sp>
        <p:nvSpPr>
          <p:cNvPr id="13" name="Text footer"/>
          <p:cNvSpPr/>
          <p:nvPr/>
        </p:nvSpPr>
        <p:spPr>
          <a:xfrm>
            <a:off x="421680" y="4998720"/>
            <a:ext cx="113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양자화 체계가 model.6 전체(9개 IP)에 처음부터 끝까지 일관되게 적용됐습니다.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18</Slides>
  <Notes>13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59</cp:revision>
  <dcterms:created xsi:type="dcterms:W3CDTF">2026-08-10T01:47:46Z</dcterms:created>
  <dcterms:modified xsi:type="dcterms:W3CDTF">2026-08-11T09:25:49Z</dcterms:modified>
</cp:coreProperties>
</file>