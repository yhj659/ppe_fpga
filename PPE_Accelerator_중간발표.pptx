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초기</c:v>
                </c:pt>
              </c:strCache>
            </c:strRef>
          </c:tx>
          <c:spPr>
            <a:solidFill>
              <a:srgbClr val="C00000"/>
            </a:solidFill>
            <a:effectLst/>
          </c:spPr>
          <c:invertIfNegative val="0"/>
          <c:dLbls>
            <c:numFmt formatCode="#,##0" sourceLinked="0"/>
            <c:txPr>
              <a:bodyPr/>
              <a:lstStyle/>
              <a:p>
                <a:pPr>
                  <a:defRPr b="0" i="0" strike="noStrike" sz="1000" u="none">
                    <a:solidFill>
                      <a:srgbClr val="1F2A37"/>
                    </a:solidFill>
                    <a:latin typeface="Arial"/>
                  </a:defRPr>
                </a:pPr>
              </a:p>
            </c:txPr>
            <c:showLegendKey val="0"/>
            <c:showVal val="1"/>
            <c:showCatName val="0"/>
            <c:showSerName val="0"/>
            <c:showPercent val="0"/>
            <c:showBubbleSize val="0"/>
            <c:showLeaderLines val="0"/>
          </c:dLbls>
          <c:cat>
            <c:multiLvlStrRef>
              <c:f>Sheet1!$A$2:$A$3</c:f>
              <c:multiLvlStrCache>
                <c:ptCount val="2"/>
                <c:lvl>
                  <c:pt idx="0">
                    <c:v>Node overlaps</c:v>
                  </c:pt>
                  <c:pt idx="1">
                    <c:v>Routing error nets</c:v>
                  </c:pt>
                </c:lvl>
              </c:multiLvlStrCache>
            </c:multiLvlStrRef>
          </c:cat>
          <c:val>
            <c:numRef>
              <c:f>Sheet1!$B$2:$B$3</c:f>
              <c:numCache>
                <c:formatCode>General</c:formatCode>
                <c:ptCount val="2"/>
                <c:pt idx="0">
                  <c:v>66590</c:v>
                </c:pt>
                <c:pt idx="1">
                  <c:v>58353</c:v>
                </c:pt>
              </c:numCache>
            </c:numRef>
          </c:val>
        </c:ser>
        <c:ser>
          <c:idx val="1"/>
          <c:order val="1"/>
          <c:tx>
            <c:strRef>
              <c:f>Sheet1!$C$1</c:f>
              <c:strCache>
                <c:ptCount val="1"/>
                <c:pt idx="0">
                  <c:v>수정 후</c:v>
                </c:pt>
              </c:strCache>
            </c:strRef>
          </c:tx>
          <c:spPr>
            <a:solidFill>
              <a:srgbClr val="2E7D32"/>
            </a:solidFill>
            <a:effectLst/>
          </c:spPr>
          <c:invertIfNegative val="0"/>
          <c:dLbls>
            <c:numFmt formatCode="#,##0" sourceLinked="0"/>
            <c:txPr>
              <a:bodyPr/>
              <a:lstStyle/>
              <a:p>
                <a:pPr>
                  <a:defRPr b="0" i="0" strike="noStrike" sz="1000" u="none">
                    <a:solidFill>
                      <a:srgbClr val="1F2A37"/>
                    </a:solidFill>
                    <a:latin typeface="Arial"/>
                  </a:defRPr>
                </a:pPr>
              </a:p>
            </c:txPr>
            <c:showLegendKey val="0"/>
            <c:showVal val="1"/>
            <c:showCatName val="0"/>
            <c:showSerName val="0"/>
            <c:showPercent val="0"/>
            <c:showBubbleSize val="0"/>
            <c:showLeaderLines val="0"/>
          </c:dLbls>
          <c:cat>
            <c:multiLvlStrRef>
              <c:f>Sheet1!$A$2:$A$3</c:f>
              <c:multiLvlStrCache>
                <c:ptCount val="2"/>
                <c:lvl>
                  <c:pt idx="0">
                    <c:v>Node overlaps</c:v>
                  </c:pt>
                  <c:pt idx="1">
                    <c:v>Routing error nets</c:v>
                  </c:pt>
                </c:lvl>
              </c:multiLvlStrCache>
            </c:multiLvlStrRef>
          </c:cat>
          <c:val>
            <c:numRef>
              <c:f>Sheet1!$C$2:$C$3</c:f>
              <c:numCache>
                <c:formatCode>General</c:formatCode>
                <c:ptCount val="2"/>
                <c:pt idx="0">
                  <c:v>1698</c:v>
                </c:pt>
                <c:pt idx="1">
                  <c:v>2257</c:v>
                </c:pt>
              </c:numCache>
            </c:numRef>
          </c:val>
        </c:ser>
        <c:dLbls>
          <c:numFmt formatCode="#,##0" sourceLinked="0"/>
          <c:txPr>
            <a:bodyPr/>
            <a:lstStyle/>
            <a:p>
              <a:pPr>
                <a:defRPr b="0" i="0" strike="noStrike" sz="1000" u="none">
                  <a:solidFill>
                    <a:srgbClr val="1F2A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9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LUT</c:v>
                </c:pt>
              </c:strCache>
            </c:strRef>
          </c:tx>
          <c:spPr>
            <a:solidFill>
              <a:srgbClr val="C00000"/>
            </a:solidFill>
            <a:effectLst/>
          </c:spPr>
          <c:invertIfNegative val="0"/>
          <c:dLbls>
            <c:numFmt formatCode="#,##0" sourceLinked="0"/>
            <c:txPr>
              <a:bodyPr/>
              <a:lstStyle/>
              <a:p>
                <a:pPr>
                  <a:defRPr b="0" i="0" strike="noStrike" sz="900" u="none">
                    <a:solidFill>
                      <a:srgbClr val="1F2A37"/>
                    </a:solidFill>
                    <a:latin typeface="Arial"/>
                  </a:defRPr>
                </a:pPr>
              </a:p>
            </c:txPr>
            <c:showLegendKey val="0"/>
            <c:showVal val="1"/>
            <c:showCatName val="0"/>
            <c:showSerName val="0"/>
            <c:showPercent val="0"/>
            <c:showBubbleSize val="0"/>
            <c:showLeaderLines val="0"/>
          </c:dLbls>
          <c:dPt>
            <c:idx val="0"/>
            <c:invertIfNegative val="0"/>
            <c:bubble3D val="0"/>
            <c:spPr>
              <a:solidFill>
                <a:srgbClr val="C00000"/>
              </a:solidFill>
              <a:effectLst/>
            </c:spPr>
          </c:dPt>
          <c:dPt>
            <c:idx val="1"/>
            <c:invertIfNegative val="0"/>
            <c:bubble3D val="0"/>
            <c:spPr>
              <a:solidFill>
                <a:srgbClr val="2F5597"/>
              </a:solidFill>
              <a:effectLst/>
            </c:spPr>
          </c:dPt>
          <c:dPt>
            <c:idx val="2"/>
            <c:invertIfNegative val="0"/>
            <c:bubble3D val="0"/>
            <c:spPr>
              <a:solidFill>
                <a:srgbClr val="2F5597"/>
              </a:solidFill>
              <a:effectLst/>
            </c:spPr>
          </c:dPt>
          <c:dPt>
            <c:idx val="3"/>
            <c:invertIfNegative val="0"/>
            <c:bubble3D val="0"/>
            <c:spPr>
              <a:solidFill>
                <a:srgbClr val="2F5597"/>
              </a:solidFill>
              <a:effectLst/>
            </c:spPr>
          </c:dPt>
          <c:dPt>
            <c:idx val="4"/>
            <c:invertIfNegative val="0"/>
            <c:bubble3D val="0"/>
            <c:spPr>
              <a:solidFill>
                <a:srgbClr val="2F5597"/>
              </a:solidFill>
              <a:effectLst/>
            </c:spPr>
          </c:dPt>
          <c:dPt>
            <c:idx val="5"/>
            <c:invertIfNegative val="0"/>
            <c:bubble3D val="0"/>
            <c:spPr>
              <a:solidFill>
                <a:srgbClr val="2F5597"/>
              </a:solidFill>
              <a:effectLst/>
            </c:spPr>
          </c:dPt>
          <c:cat>
            <c:multiLvlStrRef>
              <c:f>Sheet1!$A$2:$A$7</c:f>
              <c:multiLvlStrCache>
                <c:ptCount val="6"/>
                <c:lvl>
                  <c:pt idx="0">
                    <c:v>Conv3×3</c:v>
                  </c:pt>
                  <c:pt idx="1">
                    <c:v>Conv1×1 cv2</c:v>
                  </c:pt>
                  <c:pt idx="2">
                    <c:v>BN+SiLU 128</c:v>
                  </c:pt>
                  <c:pt idx="3">
                    <c:v>Conv1×1 cv1</c:v>
                  </c:pt>
                  <c:pt idx="4">
                    <c:v>Concat</c:v>
                  </c:pt>
                  <c:pt idx="5">
                    <c:v>BN+SiLU 64</c:v>
                  </c:pt>
                </c:lvl>
              </c:multiLvlStrCache>
            </c:multiLvlStrRef>
          </c:cat>
          <c:val>
            <c:numRef>
              <c:f>Sheet1!$B$2:$B$7</c:f>
              <c:numCache>
                <c:formatCode>General</c:formatCode>
                <c:ptCount val="6"/>
                <c:pt idx="0">
                  <c:v>30515</c:v>
                </c:pt>
                <c:pt idx="1">
                  <c:v>13022</c:v>
                </c:pt>
                <c:pt idx="2">
                  <c:v>10526</c:v>
                </c:pt>
                <c:pt idx="3">
                  <c:v>8404</c:v>
                </c:pt>
                <c:pt idx="4">
                  <c:v>7669</c:v>
                </c:pt>
                <c:pt idx="5">
                  <c:v>6967</c:v>
                </c:pt>
              </c:numCache>
            </c:numRef>
          </c:val>
        </c:ser>
        <c:dLbls>
          <c:numFmt formatCode="#,##0" sourceLinked="0"/>
          <c:txPr>
            <a:bodyPr/>
            <a:lstStyle/>
            <a:p>
              <a:pPr>
                <a:defRPr b="0" i="0" strike="noStrike" sz="900" u="none">
                  <a:solidFill>
                    <a:srgbClr val="1F2A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500000"/>
          <a:lstStyle/>
          <a:p>
            <a:pPr>
              <a:defRPr sz="85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팀은 산업현장의 안전모와 안전조끼 등 PPE 착용 여부를 감지하는 YOLOv8n 모델을 대상으로, 연산량이 큰 model.6 C2f 블록을 Kria KV260 FPGA에서 가속하는 작업을 진행하고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YOLO 모델을 처음부터 FPGA에 모두 구현하기보다는, 우선 model.6 C2f 블록을 하드웨어 가속기로 구현하고 PS와 PL 사이의 데이터 전송과 제어 구조를 완성하는 것을 1차 목표로 설정했습니다.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model.6에는 같은 Conv3×3과 BN+SiLU 연산이 여러 번 반복됩니다. 저희 설계에서는 같은 기능을 여러 개 복제하기보다 Router를 이용해 하나의 IP를 반복 실행하는 방식으로 FPGA 자원 사용을 줄이고자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개별 IP의 인터페이스가 모두 동일한 것은 아니므로 component.xml과 실제 Vivado 포트를 확인하면서 연결했습니다. Feature map은 주로 AXI4-Stream으로 전달하고, 제어값과 scale은 AXI4-Lite, weight와 BN 파라미터는 DDR 또는 BRAM을 통해 공급하도록 구성했습니다.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기능 검증과 물리 구현 검증을 분리했습니다. C Simulation이 통과했다고 FPGA 구현이 완료되는 것은 아니기 때문에, 합성 이후 자원과 배치·배선 결과까지 단계적으로 확인하고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개별 연산 기능은 Golden 데이터와 대부분 완전히 일치했습니다. BN+SiLU 64에서는 10만 개 이상의 출력 중 한 개만 1 LSB 차이를 보였습니다. 현재 문제는 연산 정확도보다는 전체 IP를 한 FPGA에 통합했을 때 발생하는 물리적 라우팅 문제입니다.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C2f와 별도로 최소 DMA–Stream 경로에서는 Bitstream 생성까지 성공한 경험이 있습니다. 다만 보드에서 AXI-Lite 레지스터 접근 timeout이 발생해 Platform과 XSA, PS–PL reset 설정을 추가로 점검하고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Block Design은 합성과 배치 단계까지 진행됐으며, 합성 후 Black Box는 0개입니다. 현재 최종적으로 남은 핵심 문제는 배선 혼잡 때문에 Routing이 합법적으로 완료되지 않는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초기에는 AXI Stream의 back-pressure 신호가 조합 피드백을 형성했습니다. 단순히 DRC 예외를 설정하지 않고, HLS 인터페이스에 forward와 reverse register slice를 삽입해 구조적으로 루프를 제거했습니다.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조합루프 제거 후 라우팅 오류는 96% 이상 감소했습니다. 따라서 수정 방향은 효과가 있었습니다. 하지만 오류가 0이 되지는 않았고, 다음 단계에서 자원 밀집과 배선 혼잡이 새로운 핵심 병목으로 확인됐습니다.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현재는 LUT나 BRAM 총량만 놓고 보면 FPGA 용량 안에 들어가지만, 특정 위치에 지나치게 많은 LUT와 배선이 몰려 배선 경로를 찾지 못하고 있습니다. 즉 전체 자원량과 실제 routability는 별개의 문제입니다.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BRAM은 약 36%, URAM은 약 31%, DSP는 약 58%이므로 이 자원들의 용량 초과가 직접 원인은 아닙니다. 반면 LUT 사용률은 82% 수준이며, LUTRAM과 초광폭 배선까지 겹쳐 라우팅 난도가 크게 증가했습니다.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Conv3×3 하나가 약 3만 LUT와 1만 1천 LUTRAM을 사용하고 있습니다. Conv1×1 cv2 역시 4천 개 이상의 LUTRAM을 사용합니다. 현재 최적화 우선순위는 이 두 연산 IP의 병렬도와 메모리 partition을 조정하는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병렬도를 16에서 8로 낮추자 LUT와 BRAM은 감소했지만, 8개의 부분합을 한 번에 DSP로 더하도록 구성하면서 DSP가 증가했고 지연시간도 두 배가 됐습니다. 기능은 통과했지만, 이 구조는 추가적인 adder tree와 누산 구조 개선이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교수님 피드백에 따라 100MHz PS clock을 Clock Wizard에 입력하고 150MHz와 300MHz를 생성하는 구조를 추가했습니다. Active Low reset과 locked 기반 reset 동기화도 적용했습니다. 다만 현재 HLS IP가 300MHz 동작을 보장하지 않으므로, 실제 소비 도메인은 CDC와 Timing 검증 후 결정해야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중간발표 시점에는 전체 Bitstream 생성 완료라고 보고할 수는 없습니다. 다만 단위 IP 기능 검증, 전체 Block Design, 합성, 배치 및 조합루프 제거까지 완료했고, 초기 대비 라우팅 오류를 96% 이상 줄였습니다.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실행 중인 Implementation 결과를 먼저 확인하되, 동일한 congestion이 재현되면 단순 재시도는 하지 않을 계획입니다. Conv3×3의 병렬도와 메모리 구조를 조정해 실제 배선량을 낮춘 후 Bitstream과 Vitis 보드 검증으로 진행할 예정입니다.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최종적으로 Bitstream 생성 자체뿐 아니라 실제 KV260 보드에서 입력과 weight를 전달하고, IP 실행 결과를 Golden 데이터와 비교한 뒤 실측 FPS를 평가하는 것을 완료 기준으로 삼고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현재까지 연산 기능과 시스템 연결의 핵심 문제는 대부분 확인했습니다. 남은 핵심은 Conv3×3 중심의 배선 혼잡을 줄이고 합법적인 Routing을 확보하는 것입니다. 이를 해결한 뒤 Bitstream과 Vitis 보드 실행까지 완성하겠습니다.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4472C4"/>
          </a:solidFill>
          <a:ln/>
        </p:spPr>
      </p:sp>
      <p:sp>
        <p:nvSpPr>
          <p:cNvPr id="3" name="Text 1"/>
          <p:cNvSpPr/>
          <p:nvPr/>
        </p:nvSpPr>
        <p:spPr>
          <a:xfrm>
            <a:off x="822960" y="868680"/>
            <a:ext cx="8229600" cy="365760"/>
          </a:xfrm>
          <a:prstGeom prst="rect">
            <a:avLst/>
          </a:prstGeom>
          <a:noFill/>
          <a:ln/>
        </p:spPr>
        <p:txBody>
          <a:bodyPr wrap="square" rtlCol="0" anchor="ctr"/>
          <a:lstStyle/>
          <a:p>
            <a:pPr indent="0" marL="0">
              <a:buNone/>
            </a:pPr>
            <a:r>
              <a:rPr lang="en-US" sz="1500" b="1" dirty="0">
                <a:solidFill>
                  <a:srgbClr val="9BB3E8"/>
                </a:solidFill>
                <a:latin typeface="맑은 고딕" pitchFamily="34" charset="0"/>
                <a:ea typeface="맑은 고딕" pitchFamily="34" charset="-122"/>
                <a:cs typeface="맑은 고딕" pitchFamily="34" charset="-120"/>
              </a:rPr>
              <a:t>2026 하드웨어 가속 시스템 구축 과정 · 중간발표</a:t>
            </a:r>
            <a:endParaRPr lang="en-US" sz="1500" dirty="0"/>
          </a:p>
        </p:txBody>
      </p:sp>
      <p:sp>
        <p:nvSpPr>
          <p:cNvPr id="4" name="Text 2"/>
          <p:cNvSpPr/>
          <p:nvPr/>
        </p:nvSpPr>
        <p:spPr>
          <a:xfrm>
            <a:off x="822960" y="1965960"/>
            <a:ext cx="10789920" cy="1600200"/>
          </a:xfrm>
          <a:prstGeom prst="rect">
            <a:avLst/>
          </a:prstGeom>
          <a:noFill/>
          <a:ln/>
        </p:spPr>
        <p:txBody>
          <a:bodyPr wrap="square" rtlCol="0" anchor="ctr"/>
          <a:lstStyle/>
          <a:p>
            <a:pPr indent="0" marL="0">
              <a:lnSpc>
                <a:spcPct val="105000"/>
              </a:lnSpc>
              <a:buNone/>
            </a:pPr>
            <a:r>
              <a:rPr lang="en-US" sz="3800" b="1" dirty="0">
                <a:solidFill>
                  <a:srgbClr val="FFFFFF"/>
                </a:solidFill>
                <a:latin typeface="맑은 고딕" pitchFamily="34" charset="0"/>
                <a:ea typeface="맑은 고딕" pitchFamily="34" charset="-122"/>
                <a:cs typeface="맑은 고딕" pitchFamily="34" charset="-120"/>
              </a:rPr>
              <a:t>PPE Monitoring AI</a:t>
            </a:r>
            <a:endParaRPr lang="en-US" sz="3800" dirty="0"/>
          </a:p>
          <a:p>
            <a:pPr indent="0" marL="0">
              <a:lnSpc>
                <a:spcPct val="105000"/>
              </a:lnSpc>
              <a:buNone/>
            </a:pPr>
            <a:r>
              <a:rPr lang="en-US" sz="3800" b="1" dirty="0">
                <a:solidFill>
                  <a:srgbClr val="FFFFFF"/>
                </a:solidFill>
                <a:latin typeface="맑은 고딕" pitchFamily="34" charset="0"/>
                <a:ea typeface="맑은 고딕" pitchFamily="34" charset="-122"/>
                <a:cs typeface="맑은 고딕" pitchFamily="34" charset="-120"/>
              </a:rPr>
              <a:t>Hardware Accelerator</a:t>
            </a:r>
            <a:endParaRPr lang="en-US" sz="3800" dirty="0"/>
          </a:p>
        </p:txBody>
      </p:sp>
      <p:sp>
        <p:nvSpPr>
          <p:cNvPr id="5" name="Text 3"/>
          <p:cNvSpPr/>
          <p:nvPr/>
        </p:nvSpPr>
        <p:spPr>
          <a:xfrm>
            <a:off x="822960" y="3584448"/>
            <a:ext cx="10515600" cy="457200"/>
          </a:xfrm>
          <a:prstGeom prst="rect">
            <a:avLst/>
          </a:prstGeom>
          <a:noFill/>
          <a:ln/>
        </p:spPr>
        <p:txBody>
          <a:bodyPr wrap="square" rtlCol="0" anchor="ctr"/>
          <a:lstStyle/>
          <a:p>
            <a:pPr indent="0" marL="0">
              <a:buNone/>
            </a:pPr>
            <a:r>
              <a:rPr lang="en-US" sz="1800" dirty="0">
                <a:solidFill>
                  <a:srgbClr val="C9D6F5"/>
                </a:solidFill>
                <a:latin typeface="맑은 고딕" pitchFamily="34" charset="0"/>
                <a:ea typeface="맑은 고딕" pitchFamily="34" charset="-122"/>
                <a:cs typeface="맑은 고딕" pitchFamily="34" charset="-120"/>
              </a:rPr>
              <a:t>YOLOv8n model.6 C2f 블록의 Kria KV260 FPGA 가속기 구현</a:t>
            </a:r>
            <a:endParaRPr lang="en-US" sz="1800" dirty="0"/>
          </a:p>
        </p:txBody>
      </p:sp>
      <p:sp>
        <p:nvSpPr>
          <p:cNvPr id="6" name="Shape 4"/>
          <p:cNvSpPr/>
          <p:nvPr/>
        </p:nvSpPr>
        <p:spPr>
          <a:xfrm>
            <a:off x="822960" y="4160520"/>
            <a:ext cx="5943600" cy="0"/>
          </a:xfrm>
          <a:prstGeom prst="line">
            <a:avLst/>
          </a:prstGeom>
          <a:noFill/>
          <a:ln w="12700">
            <a:solidFill>
              <a:srgbClr val="3E5488"/>
            </a:solidFill>
            <a:prstDash val="solid"/>
          </a:ln>
        </p:spPr>
      </p:sp>
      <p:sp>
        <p:nvSpPr>
          <p:cNvPr id="7" name="Text 5"/>
          <p:cNvSpPr/>
          <p:nvPr/>
        </p:nvSpPr>
        <p:spPr>
          <a:xfrm>
            <a:off x="822960" y="4389120"/>
            <a:ext cx="1645920" cy="329184"/>
          </a:xfrm>
          <a:prstGeom prst="rect">
            <a:avLst/>
          </a:prstGeom>
          <a:noFill/>
          <a:ln/>
        </p:spPr>
        <p:txBody>
          <a:bodyPr wrap="square" rtlCol="0" anchor="ctr"/>
          <a:lstStyle/>
          <a:p>
            <a:pPr indent="0" marL="0">
              <a:buNone/>
            </a:pPr>
            <a:r>
              <a:rPr lang="en-US" sz="1300" b="1" dirty="0">
                <a:solidFill>
                  <a:srgbClr val="8C9BC4"/>
                </a:solidFill>
                <a:latin typeface="맑은 고딕" pitchFamily="34" charset="0"/>
                <a:ea typeface="맑은 고딕" pitchFamily="34" charset="-122"/>
                <a:cs typeface="맑은 고딕" pitchFamily="34" charset="-120"/>
              </a:rPr>
              <a:t>개발 환경</a:t>
            </a:r>
            <a:endParaRPr lang="en-US" sz="1300" dirty="0"/>
          </a:p>
        </p:txBody>
      </p:sp>
      <p:sp>
        <p:nvSpPr>
          <p:cNvPr id="8" name="Text 6"/>
          <p:cNvSpPr/>
          <p:nvPr/>
        </p:nvSpPr>
        <p:spPr>
          <a:xfrm>
            <a:off x="2468880" y="4389120"/>
            <a:ext cx="7315200" cy="329184"/>
          </a:xfrm>
          <a:prstGeom prst="rect">
            <a:avLst/>
          </a:prstGeom>
          <a:noFill/>
          <a:ln/>
        </p:spPr>
        <p:txBody>
          <a:bodyPr wrap="square" rtlCol="0" anchor="ctr"/>
          <a:lstStyle/>
          <a:p>
            <a:pPr indent="0" marL="0">
              <a:buNone/>
            </a:pPr>
            <a:r>
              <a:rPr lang="en-US" sz="1300" dirty="0">
                <a:solidFill>
                  <a:srgbClr val="FFFFFF"/>
                </a:solidFill>
                <a:latin typeface="맑은 고딕" pitchFamily="34" charset="0"/>
                <a:ea typeface="맑은 고딕" pitchFamily="34" charset="-122"/>
                <a:cs typeface="맑은 고딕" pitchFamily="34" charset="-120"/>
              </a:rPr>
              <a:t>Vivado / Vitis / Vitis HLS 2022.2</a:t>
            </a:r>
            <a:endParaRPr lang="en-US" sz="1300" dirty="0"/>
          </a:p>
        </p:txBody>
      </p:sp>
      <p:sp>
        <p:nvSpPr>
          <p:cNvPr id="9" name="Text 7"/>
          <p:cNvSpPr/>
          <p:nvPr/>
        </p:nvSpPr>
        <p:spPr>
          <a:xfrm>
            <a:off x="822960" y="4754880"/>
            <a:ext cx="1645920" cy="329184"/>
          </a:xfrm>
          <a:prstGeom prst="rect">
            <a:avLst/>
          </a:prstGeom>
          <a:noFill/>
          <a:ln/>
        </p:spPr>
        <p:txBody>
          <a:bodyPr wrap="square" rtlCol="0" anchor="ctr"/>
          <a:lstStyle/>
          <a:p>
            <a:pPr indent="0" marL="0">
              <a:buNone/>
            </a:pPr>
            <a:r>
              <a:rPr lang="en-US" sz="1300" b="1" dirty="0">
                <a:solidFill>
                  <a:srgbClr val="8C9BC4"/>
                </a:solidFill>
                <a:latin typeface="맑은 고딕" pitchFamily="34" charset="0"/>
                <a:ea typeface="맑은 고딕" pitchFamily="34" charset="-122"/>
                <a:cs typeface="맑은 고딕" pitchFamily="34" charset="-120"/>
              </a:rPr>
              <a:t>대상 보드</a:t>
            </a:r>
            <a:endParaRPr lang="en-US" sz="1300" dirty="0"/>
          </a:p>
        </p:txBody>
      </p:sp>
      <p:sp>
        <p:nvSpPr>
          <p:cNvPr id="10" name="Text 8"/>
          <p:cNvSpPr/>
          <p:nvPr/>
        </p:nvSpPr>
        <p:spPr>
          <a:xfrm>
            <a:off x="2468880" y="4754880"/>
            <a:ext cx="7315200" cy="329184"/>
          </a:xfrm>
          <a:prstGeom prst="rect">
            <a:avLst/>
          </a:prstGeom>
          <a:noFill/>
          <a:ln/>
        </p:spPr>
        <p:txBody>
          <a:bodyPr wrap="square" rtlCol="0" anchor="ctr"/>
          <a:lstStyle/>
          <a:p>
            <a:pPr indent="0" marL="0">
              <a:buNone/>
            </a:pPr>
            <a:r>
              <a:rPr lang="en-US" sz="1300" dirty="0">
                <a:solidFill>
                  <a:srgbClr val="FFFFFF"/>
                </a:solidFill>
                <a:latin typeface="맑은 고딕" pitchFamily="34" charset="0"/>
                <a:ea typeface="맑은 고딕" pitchFamily="34" charset="-122"/>
                <a:cs typeface="맑은 고딕" pitchFamily="34" charset="-120"/>
              </a:rPr>
              <a:t>AMD/Xilinx Kria KV260</a:t>
            </a:r>
            <a:endParaRPr lang="en-US" sz="1300" dirty="0"/>
          </a:p>
        </p:txBody>
      </p:sp>
      <p:sp>
        <p:nvSpPr>
          <p:cNvPr id="11" name="Text 9"/>
          <p:cNvSpPr/>
          <p:nvPr/>
        </p:nvSpPr>
        <p:spPr>
          <a:xfrm>
            <a:off x="822960" y="5120640"/>
            <a:ext cx="1645920" cy="329184"/>
          </a:xfrm>
          <a:prstGeom prst="rect">
            <a:avLst/>
          </a:prstGeom>
          <a:noFill/>
          <a:ln/>
        </p:spPr>
        <p:txBody>
          <a:bodyPr wrap="square" rtlCol="0" anchor="ctr"/>
          <a:lstStyle/>
          <a:p>
            <a:pPr indent="0" marL="0">
              <a:buNone/>
            </a:pPr>
            <a:r>
              <a:rPr lang="en-US" sz="1300" b="1" dirty="0">
                <a:solidFill>
                  <a:srgbClr val="8C9BC4"/>
                </a:solidFill>
                <a:latin typeface="맑은 고딕" pitchFamily="34" charset="0"/>
                <a:ea typeface="맑은 고딕" pitchFamily="34" charset="-122"/>
                <a:cs typeface="맑은 고딕" pitchFamily="34" charset="-120"/>
              </a:rPr>
              <a:t>대상 FPGA</a:t>
            </a:r>
            <a:endParaRPr lang="en-US" sz="1300" dirty="0"/>
          </a:p>
        </p:txBody>
      </p:sp>
      <p:sp>
        <p:nvSpPr>
          <p:cNvPr id="12" name="Text 10"/>
          <p:cNvSpPr/>
          <p:nvPr/>
        </p:nvSpPr>
        <p:spPr>
          <a:xfrm>
            <a:off x="2468880" y="5120640"/>
            <a:ext cx="7315200" cy="329184"/>
          </a:xfrm>
          <a:prstGeom prst="rect">
            <a:avLst/>
          </a:prstGeom>
          <a:noFill/>
          <a:ln/>
        </p:spPr>
        <p:txBody>
          <a:bodyPr wrap="square" rtlCol="0" anchor="ctr"/>
          <a:lstStyle/>
          <a:p>
            <a:pPr indent="0" marL="0">
              <a:buNone/>
            </a:pPr>
            <a:r>
              <a:rPr lang="en-US" sz="1300" dirty="0">
                <a:solidFill>
                  <a:srgbClr val="FFFFFF"/>
                </a:solidFill>
                <a:latin typeface="맑은 고딕" pitchFamily="34" charset="0"/>
                <a:ea typeface="맑은 고딕" pitchFamily="34" charset="-122"/>
                <a:cs typeface="맑은 고딕" pitchFamily="34" charset="-120"/>
              </a:rPr>
              <a:t>XCK26</a:t>
            </a:r>
            <a:endParaRPr lang="en-US" sz="1300" dirty="0"/>
          </a:p>
        </p:txBody>
      </p:sp>
      <p:sp>
        <p:nvSpPr>
          <p:cNvPr id="13" name="Text 11"/>
          <p:cNvSpPr/>
          <p:nvPr/>
        </p:nvSpPr>
        <p:spPr>
          <a:xfrm>
            <a:off x="822960" y="5486400"/>
            <a:ext cx="1645920" cy="329184"/>
          </a:xfrm>
          <a:prstGeom prst="rect">
            <a:avLst/>
          </a:prstGeom>
          <a:noFill/>
          <a:ln/>
        </p:spPr>
        <p:txBody>
          <a:bodyPr wrap="square" rtlCol="0" anchor="ctr"/>
          <a:lstStyle/>
          <a:p>
            <a:pPr indent="0" marL="0">
              <a:buNone/>
            </a:pPr>
            <a:r>
              <a:rPr lang="en-US" sz="1300" b="1" dirty="0">
                <a:solidFill>
                  <a:srgbClr val="8C9BC4"/>
                </a:solidFill>
                <a:latin typeface="맑은 고딕" pitchFamily="34" charset="0"/>
                <a:ea typeface="맑은 고딕" pitchFamily="34" charset="-122"/>
                <a:cs typeface="맑은 고딕" pitchFamily="34" charset="-120"/>
              </a:rPr>
              <a:t>보고 구분</a:t>
            </a:r>
            <a:endParaRPr lang="en-US" sz="1300" dirty="0"/>
          </a:p>
        </p:txBody>
      </p:sp>
      <p:sp>
        <p:nvSpPr>
          <p:cNvPr id="14" name="Text 12"/>
          <p:cNvSpPr/>
          <p:nvPr/>
        </p:nvSpPr>
        <p:spPr>
          <a:xfrm>
            <a:off x="2468880" y="5486400"/>
            <a:ext cx="7315200" cy="329184"/>
          </a:xfrm>
          <a:prstGeom prst="rect">
            <a:avLst/>
          </a:prstGeom>
          <a:noFill/>
          <a:ln/>
        </p:spPr>
        <p:txBody>
          <a:bodyPr wrap="square" rtlCol="0" anchor="ctr"/>
          <a:lstStyle/>
          <a:p>
            <a:pPr indent="0" marL="0">
              <a:buNone/>
            </a:pPr>
            <a:r>
              <a:rPr lang="en-US" sz="1300" dirty="0">
                <a:solidFill>
                  <a:srgbClr val="FFFFFF"/>
                </a:solidFill>
                <a:latin typeface="맑은 고딕" pitchFamily="34" charset="0"/>
                <a:ea typeface="맑은 고딕" pitchFamily="34" charset="-122"/>
                <a:cs typeface="맑은 고딕" pitchFamily="34" charset="-120"/>
              </a:rPr>
              <a:t>중간 진행 보고</a:t>
            </a:r>
            <a:endParaRPr lang="en-US" sz="1300" dirty="0"/>
          </a:p>
        </p:txBody>
      </p:sp>
      <p:sp>
        <p:nvSpPr>
          <p:cNvPr id="15" name="Shape 13"/>
          <p:cNvSpPr/>
          <p:nvPr/>
        </p:nvSpPr>
        <p:spPr>
          <a:xfrm>
            <a:off x="8412480" y="4389120"/>
            <a:ext cx="2971800" cy="1234440"/>
          </a:xfrm>
          <a:prstGeom prst="roundRect">
            <a:avLst>
              <a:gd name="adj" fmla="val 5926"/>
            </a:avLst>
          </a:prstGeom>
          <a:solidFill>
            <a:srgbClr val="27345C"/>
          </a:solidFill>
          <a:ln w="12700">
            <a:solidFill>
              <a:srgbClr val="3E5488"/>
            </a:solidFill>
            <a:prstDash val="solid"/>
          </a:ln>
        </p:spPr>
      </p:sp>
      <p:sp>
        <p:nvSpPr>
          <p:cNvPr id="16" name="Text 14"/>
          <p:cNvSpPr/>
          <p:nvPr/>
        </p:nvSpPr>
        <p:spPr>
          <a:xfrm>
            <a:off x="8641080" y="4507992"/>
            <a:ext cx="2560320" cy="292608"/>
          </a:xfrm>
          <a:prstGeom prst="rect">
            <a:avLst/>
          </a:prstGeom>
          <a:noFill/>
          <a:ln/>
        </p:spPr>
        <p:txBody>
          <a:bodyPr wrap="square" rtlCol="0" anchor="ctr"/>
          <a:lstStyle/>
          <a:p>
            <a:pPr indent="0" marL="0">
              <a:buNone/>
            </a:pPr>
            <a:r>
              <a:rPr lang="en-US" sz="1200" dirty="0">
                <a:solidFill>
                  <a:srgbClr val="C9D6F5"/>
                </a:solidFill>
                <a:latin typeface="맑은 고딕" pitchFamily="34" charset="0"/>
                <a:ea typeface="맑은 고딕" pitchFamily="34" charset="-122"/>
                <a:cs typeface="맑은 고딕" pitchFamily="34" charset="-120"/>
              </a:rPr>
              <a:t>발표일: 2026.08.__</a:t>
            </a:r>
            <a:endParaRPr lang="en-US" sz="1200" dirty="0"/>
          </a:p>
        </p:txBody>
      </p:sp>
      <p:sp>
        <p:nvSpPr>
          <p:cNvPr id="17" name="Text 15"/>
          <p:cNvSpPr/>
          <p:nvPr/>
        </p:nvSpPr>
        <p:spPr>
          <a:xfrm>
            <a:off x="8641080" y="4846320"/>
            <a:ext cx="2560320" cy="292608"/>
          </a:xfrm>
          <a:prstGeom prst="rect">
            <a:avLst/>
          </a:prstGeom>
          <a:noFill/>
          <a:ln/>
        </p:spPr>
        <p:txBody>
          <a:bodyPr wrap="square" rtlCol="0" anchor="ctr"/>
          <a:lstStyle/>
          <a:p>
            <a:pPr indent="0" marL="0">
              <a:buNone/>
            </a:pPr>
            <a:r>
              <a:rPr lang="en-US" sz="1200" dirty="0">
                <a:solidFill>
                  <a:srgbClr val="C9D6F5"/>
                </a:solidFill>
                <a:latin typeface="맑은 고딕" pitchFamily="34" charset="0"/>
                <a:ea typeface="맑은 고딕" pitchFamily="34" charset="-122"/>
                <a:cs typeface="맑은 고딕" pitchFamily="34" charset="-120"/>
              </a:rPr>
              <a:t>팀명 / 발표자: __________</a:t>
            </a:r>
            <a:endParaRPr lang="en-US" sz="1200" dirty="0"/>
          </a:p>
        </p:txBody>
      </p:sp>
      <p:sp>
        <p:nvSpPr>
          <p:cNvPr id="18" name="Text 16"/>
          <p:cNvSpPr/>
          <p:nvPr/>
        </p:nvSpPr>
        <p:spPr>
          <a:xfrm>
            <a:off x="8641080" y="5184648"/>
            <a:ext cx="2560320" cy="365760"/>
          </a:xfrm>
          <a:prstGeom prst="rect">
            <a:avLst/>
          </a:prstGeom>
          <a:noFill/>
          <a:ln/>
        </p:spPr>
        <p:txBody>
          <a:bodyPr wrap="square"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A 팀</a:t>
            </a:r>
            <a:endParaRPr lang="en-US" sz="1600" dirty="0"/>
          </a:p>
        </p:txBody>
      </p:sp>
      <p:sp>
        <p:nvSpPr>
          <p:cNvPr id="19" name="Text 17"/>
          <p:cNvSpPr/>
          <p:nvPr/>
        </p:nvSpPr>
        <p:spPr>
          <a:xfrm>
            <a:off x="822960" y="6035040"/>
            <a:ext cx="7132320" cy="548640"/>
          </a:xfrm>
          <a:prstGeom prst="rect">
            <a:avLst/>
          </a:prstGeom>
          <a:noFill/>
          <a:ln/>
        </p:spPr>
        <p:txBody>
          <a:bodyPr wrap="square" rtlCol="0" anchor="ctr"/>
          <a:lstStyle/>
          <a:p>
            <a:pPr indent="0" marL="0">
              <a:lnSpc>
                <a:spcPct val="120000"/>
              </a:lnSpc>
              <a:buNone/>
            </a:pPr>
            <a:r>
              <a:rPr lang="en-US" sz="1050" i="1" dirty="0">
                <a:solidFill>
                  <a:srgbClr val="7C8BB0"/>
                </a:solidFill>
                <a:latin typeface="맑은 고딕" pitchFamily="34" charset="0"/>
                <a:ea typeface="맑은 고딕" pitchFamily="34" charset="-122"/>
                <a:cs typeface="맑은 고딕" pitchFamily="34" charset="-120"/>
              </a:rPr>
              <a:t>본 자료는 중간발표용으로, 전체 Bitstream 생성 및 보드 실행 검증은</a:t>
            </a:r>
            <a:endParaRPr lang="en-US" sz="1050" dirty="0"/>
          </a:p>
          <a:p>
            <a:pPr indent="0" marL="0">
              <a:lnSpc>
                <a:spcPct val="120000"/>
              </a:lnSpc>
              <a:buNone/>
            </a:pPr>
            <a:r>
              <a:rPr lang="en-US" sz="1050" i="1" dirty="0">
                <a:solidFill>
                  <a:srgbClr val="7C8BB0"/>
                </a:solidFill>
                <a:latin typeface="맑은 고딕" pitchFamily="34" charset="0"/>
                <a:ea typeface="맑은 고딕" pitchFamily="34" charset="-122"/>
                <a:cs typeface="맑은 고딕" pitchFamily="34" charset="-120"/>
              </a:rPr>
              <a:t>후속 단계로 진행됩니다.</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472C4"/>
          </a:solidFill>
          <a:ln/>
        </p:spPr>
      </p:sp>
      <p:sp>
        <p:nvSpPr>
          <p:cNvPr id="3" name="Text 1"/>
          <p:cNvSpPr/>
          <p:nvPr/>
        </p:nvSpPr>
        <p:spPr>
          <a:xfrm>
            <a:off x="457200" y="182880"/>
            <a:ext cx="9875520" cy="566928"/>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프로젝트 배경과 목표</a:t>
            </a:r>
            <a:endParaRPr lang="en-US" sz="2600" dirty="0"/>
          </a:p>
        </p:txBody>
      </p:sp>
      <p:sp>
        <p:nvSpPr>
          <p:cNvPr id="4" name="Text 2"/>
          <p:cNvSpPr/>
          <p:nvPr/>
        </p:nvSpPr>
        <p:spPr>
          <a:xfrm>
            <a:off x="10698480" y="73152"/>
            <a:ext cx="1234440" cy="731520"/>
          </a:xfrm>
          <a:prstGeom prst="rect">
            <a:avLst/>
          </a:prstGeom>
          <a:noFill/>
          <a:ln/>
        </p:spPr>
        <p:txBody>
          <a:bodyPr wrap="square" rtlCol="0" anchor="ctr"/>
          <a:lstStyle/>
          <a:p>
            <a:pPr algn="r" indent="0" marL="0">
              <a:buNone/>
            </a:pPr>
            <a:r>
              <a:rPr lang="en-US" sz="3000" b="1" dirty="0">
                <a:solidFill>
                  <a:srgbClr val="9BB3E8"/>
                </a:solidFill>
                <a:latin typeface="Calibri" pitchFamily="34" charset="0"/>
                <a:ea typeface="Calibri" pitchFamily="34" charset="-122"/>
                <a:cs typeface="Calibri" pitchFamily="34" charset="-120"/>
              </a:rPr>
              <a:t>02</a:t>
            </a:r>
            <a:endParaRPr lang="en-US" sz="3000" dirty="0"/>
          </a:p>
        </p:txBody>
      </p:sp>
      <p:sp>
        <p:nvSpPr>
          <p:cNvPr id="5" name="Shape 3"/>
          <p:cNvSpPr/>
          <p:nvPr/>
        </p:nvSpPr>
        <p:spPr>
          <a:xfrm>
            <a:off x="457200" y="1234440"/>
            <a:ext cx="82296" cy="310896"/>
          </a:xfrm>
          <a:prstGeom prst="rect">
            <a:avLst/>
          </a:prstGeom>
          <a:solidFill>
            <a:srgbClr val="4472C4"/>
          </a:solidFill>
          <a:ln/>
        </p:spPr>
      </p:sp>
      <p:sp>
        <p:nvSpPr>
          <p:cNvPr id="6" name="Text 4"/>
          <p:cNvSpPr/>
          <p:nvPr/>
        </p:nvSpPr>
        <p:spPr>
          <a:xfrm>
            <a:off x="621792" y="1207008"/>
            <a:ext cx="513892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프로젝트 배경</a:t>
            </a:r>
            <a:endParaRPr lang="en-US" sz="1600" dirty="0"/>
          </a:p>
        </p:txBody>
      </p:sp>
      <p:sp>
        <p:nvSpPr>
          <p:cNvPr id="7" name="Text 5"/>
          <p:cNvSpPr/>
          <p:nvPr/>
        </p:nvSpPr>
        <p:spPr>
          <a:xfrm>
            <a:off x="502920" y="1691640"/>
            <a:ext cx="5257800" cy="3017520"/>
          </a:xfrm>
          <a:prstGeom prst="rect">
            <a:avLst/>
          </a:prstGeom>
          <a:noFill/>
          <a:ln/>
        </p:spPr>
        <p:txBody>
          <a:bodyPr wrap="square" rtlCol="0" anchor="t"/>
          <a:lstStyle/>
          <a:p>
            <a:pPr marL="177800" indent="-177800">
              <a:lnSpc>
                <a:spcPct val="108000"/>
              </a:lnSpc>
              <a:spcAft>
                <a:spcPts val="1400"/>
              </a:spcAft>
              <a:buSzPct val="100000"/>
              <a:buChar char="▪"/>
            </a:pPr>
            <a:r>
              <a:rPr lang="en-US" sz="1450" dirty="0">
                <a:solidFill>
                  <a:srgbClr val="1F2A37"/>
                </a:solidFill>
                <a:latin typeface="맑은 고딕" pitchFamily="34" charset="0"/>
                <a:ea typeface="맑은 고딕" pitchFamily="34" charset="-122"/>
                <a:cs typeface="맑은 고딕" pitchFamily="34" charset="-120"/>
              </a:rPr>
              <a:t>산업현장 PPE 착용 여부 및 위험구역 침입 감지</a:t>
            </a:r>
            <a:endParaRPr lang="en-US" sz="1450" dirty="0"/>
          </a:p>
          <a:p>
            <a:pPr marL="177800" indent="-177800">
              <a:lnSpc>
                <a:spcPct val="108000"/>
              </a:lnSpc>
              <a:spcAft>
                <a:spcPts val="1400"/>
              </a:spcAft>
              <a:buSzPct val="100000"/>
              <a:buChar char="▪"/>
            </a:pPr>
            <a:r>
              <a:rPr lang="en-US" sz="1450" dirty="0">
                <a:solidFill>
                  <a:srgbClr val="1F2A37"/>
                </a:solidFill>
                <a:latin typeface="맑은 고딕" pitchFamily="34" charset="0"/>
                <a:ea typeface="맑은 고딕" pitchFamily="34" charset="-122"/>
                <a:cs typeface="맑은 고딕" pitchFamily="34" charset="-120"/>
              </a:rPr>
              <a:t>기존 소프트웨어 추론 성능: 평균 약 6 FPS</a:t>
            </a:r>
            <a:endParaRPr lang="en-US" sz="1450" dirty="0"/>
          </a:p>
          <a:p>
            <a:pPr marL="177800" indent="-177800">
              <a:lnSpc>
                <a:spcPct val="108000"/>
              </a:lnSpc>
              <a:spcAft>
                <a:spcPts val="1400"/>
              </a:spcAft>
              <a:buSzPct val="100000"/>
              <a:buChar char="▪"/>
            </a:pPr>
            <a:r>
              <a:rPr lang="en-US" sz="1450" dirty="0">
                <a:solidFill>
                  <a:srgbClr val="1F2A37"/>
                </a:solidFill>
                <a:latin typeface="맑은 고딕" pitchFamily="34" charset="0"/>
                <a:ea typeface="맑은 고딕" pitchFamily="34" charset="-122"/>
                <a:cs typeface="맑은 고딕" pitchFamily="34" charset="-120"/>
              </a:rPr>
              <a:t>YOLOv8n 일부 연산을 FPGA PL에서 처리하여 성능 향상</a:t>
            </a:r>
            <a:endParaRPr lang="en-US" sz="1450" dirty="0"/>
          </a:p>
          <a:p>
            <a:pPr marL="177800" indent="-177800">
              <a:lnSpc>
                <a:spcPct val="108000"/>
              </a:lnSpc>
              <a:spcAft>
                <a:spcPts val="1400"/>
              </a:spcAft>
              <a:buSzPct val="100000"/>
              <a:buChar char="▪"/>
            </a:pPr>
            <a:r>
              <a:rPr lang="en-US" sz="1450" dirty="0">
                <a:solidFill>
                  <a:srgbClr val="1F2A37"/>
                </a:solidFill>
                <a:latin typeface="맑은 고딕" pitchFamily="34" charset="0"/>
                <a:ea typeface="맑은 고딕" pitchFamily="34" charset="-122"/>
                <a:cs typeface="맑은 고딕" pitchFamily="34" charset="-120"/>
              </a:rPr>
              <a:t>INT8 양자화를 통한 연산량 및 메모리 사용 감소</a:t>
            </a:r>
            <a:endParaRPr lang="en-US" sz="1450" dirty="0"/>
          </a:p>
        </p:txBody>
      </p:sp>
      <p:sp>
        <p:nvSpPr>
          <p:cNvPr id="8" name="Shape 6"/>
          <p:cNvSpPr/>
          <p:nvPr/>
        </p:nvSpPr>
        <p:spPr>
          <a:xfrm>
            <a:off x="6263640" y="1234440"/>
            <a:ext cx="82296" cy="310896"/>
          </a:xfrm>
          <a:prstGeom prst="rect">
            <a:avLst/>
          </a:prstGeom>
          <a:solidFill>
            <a:srgbClr val="2F5597"/>
          </a:solidFill>
          <a:ln/>
        </p:spPr>
      </p:sp>
      <p:sp>
        <p:nvSpPr>
          <p:cNvPr id="9" name="Text 7"/>
          <p:cNvSpPr/>
          <p:nvPr/>
        </p:nvSpPr>
        <p:spPr>
          <a:xfrm>
            <a:off x="6428232" y="1207008"/>
            <a:ext cx="527608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목표</a:t>
            </a:r>
            <a:endParaRPr lang="en-US" sz="1600" dirty="0"/>
          </a:p>
        </p:txBody>
      </p:sp>
      <p:sp>
        <p:nvSpPr>
          <p:cNvPr id="10" name="Text 8"/>
          <p:cNvSpPr/>
          <p:nvPr/>
        </p:nvSpPr>
        <p:spPr>
          <a:xfrm>
            <a:off x="6309360" y="1691640"/>
            <a:ext cx="5394960" cy="3017520"/>
          </a:xfrm>
          <a:prstGeom prst="rect">
            <a:avLst/>
          </a:prstGeom>
          <a:noFill/>
          <a:ln/>
        </p:spPr>
        <p:txBody>
          <a:bodyPr wrap="square" rtlCol="0" anchor="t"/>
          <a:lstStyle/>
          <a:p>
            <a:pPr marL="177800" indent="-177800">
              <a:lnSpc>
                <a:spcPct val="108000"/>
              </a:lnSpc>
              <a:spcAft>
                <a:spcPts val="1100"/>
              </a:spcAft>
              <a:buSzPct val="100000"/>
              <a:buChar char="▪"/>
            </a:pPr>
            <a:r>
              <a:rPr lang="en-US" sz="1450" dirty="0">
                <a:solidFill>
                  <a:srgbClr val="1F2A37"/>
                </a:solidFill>
                <a:latin typeface="맑은 고딕" pitchFamily="34" charset="0"/>
                <a:ea typeface="맑은 고딕" pitchFamily="34" charset="-122"/>
                <a:cs typeface="맑은 고딕" pitchFamily="34" charset="-120"/>
              </a:rPr>
              <a:t>입력 해상도: 640 × 640</a:t>
            </a:r>
            <a:endParaRPr lang="en-US" sz="1450" dirty="0"/>
          </a:p>
          <a:p>
            <a:pPr marL="177800" indent="-177800">
              <a:lnSpc>
                <a:spcPct val="108000"/>
              </a:lnSpc>
              <a:spcAft>
                <a:spcPts val="1100"/>
              </a:spcAft>
              <a:buSzPct val="100000"/>
              <a:buChar char="▪"/>
            </a:pPr>
            <a:r>
              <a:rPr lang="en-US" sz="1450" dirty="0">
                <a:solidFill>
                  <a:srgbClr val="1F2A37"/>
                </a:solidFill>
                <a:latin typeface="맑은 고딕" pitchFamily="34" charset="0"/>
                <a:ea typeface="맑은 고딕" pitchFamily="34" charset="-122"/>
                <a:cs typeface="맑은 고딕" pitchFamily="34" charset="-120"/>
              </a:rPr>
              <a:t>대상 블록: YOLOv8n model.6 C2f</a:t>
            </a:r>
            <a:endParaRPr lang="en-US" sz="1450" dirty="0"/>
          </a:p>
          <a:p>
            <a:pPr marL="177800" indent="-177800">
              <a:lnSpc>
                <a:spcPct val="108000"/>
              </a:lnSpc>
              <a:spcAft>
                <a:spcPts val="1100"/>
              </a:spcAft>
              <a:buSzPct val="100000"/>
              <a:buChar char="▪"/>
            </a:pPr>
            <a:r>
              <a:rPr lang="en-US" sz="1450" dirty="0">
                <a:solidFill>
                  <a:srgbClr val="1F2A37"/>
                </a:solidFill>
                <a:latin typeface="맑은 고딕" pitchFamily="34" charset="0"/>
                <a:ea typeface="맑은 고딕" pitchFamily="34" charset="-122"/>
                <a:cs typeface="맑은 고딕" pitchFamily="34" charset="-120"/>
              </a:rPr>
              <a:t>Activation / Weight: INT8</a:t>
            </a:r>
            <a:endParaRPr lang="en-US" sz="1450" dirty="0"/>
          </a:p>
          <a:p>
            <a:pPr marL="177800" indent="-177800">
              <a:lnSpc>
                <a:spcPct val="108000"/>
              </a:lnSpc>
              <a:spcAft>
                <a:spcPts val="1100"/>
              </a:spcAft>
              <a:buSzPct val="100000"/>
              <a:buChar char="▪"/>
            </a:pPr>
            <a:r>
              <a:rPr lang="en-US" sz="1450" dirty="0">
                <a:solidFill>
                  <a:srgbClr val="1F2A37"/>
                </a:solidFill>
                <a:latin typeface="맑은 고딕" pitchFamily="34" charset="0"/>
                <a:ea typeface="맑은 고딕" pitchFamily="34" charset="-122"/>
                <a:cs typeface="맑은 고딕" pitchFamily="34" charset="-120"/>
              </a:rPr>
              <a:t>Accumulator: INT32</a:t>
            </a:r>
            <a:endParaRPr lang="en-US" sz="1450" dirty="0"/>
          </a:p>
          <a:p>
            <a:pPr marL="177800" indent="-177800">
              <a:lnSpc>
                <a:spcPct val="108000"/>
              </a:lnSpc>
              <a:spcAft>
                <a:spcPts val="1100"/>
              </a:spcAft>
              <a:buSzPct val="100000"/>
              <a:buChar char="▪"/>
            </a:pPr>
            <a:r>
              <a:rPr lang="en-US" sz="1450" dirty="0">
                <a:solidFill>
                  <a:srgbClr val="1F2A37"/>
                </a:solidFill>
                <a:latin typeface="맑은 고딕" pitchFamily="34" charset="0"/>
                <a:ea typeface="맑은 고딕" pitchFamily="34" charset="-122"/>
                <a:cs typeface="맑은 고딕" pitchFamily="34" charset="-120"/>
              </a:rPr>
              <a:t>목표 성능: 15 FPS 이상 (목표치, 미실측)</a:t>
            </a:r>
            <a:endParaRPr lang="en-US" sz="1450" dirty="0"/>
          </a:p>
          <a:p>
            <a:pPr marL="177800" indent="-177800">
              <a:lnSpc>
                <a:spcPct val="108000"/>
              </a:lnSpc>
              <a:spcAft>
                <a:spcPts val="1100"/>
              </a:spcAft>
              <a:buSzPct val="100000"/>
              <a:buChar char="▪"/>
            </a:pPr>
            <a:r>
              <a:rPr lang="en-US" sz="1450" dirty="0">
                <a:solidFill>
                  <a:srgbClr val="1F2A37"/>
                </a:solidFill>
                <a:latin typeface="맑은 고딕" pitchFamily="34" charset="0"/>
                <a:ea typeface="맑은 고딕" pitchFamily="34" charset="-122"/>
                <a:cs typeface="맑은 고딕" pitchFamily="34" charset="-120"/>
              </a:rPr>
              <a:t>최종 산출물: Bitstream, XSA/HWH, Vitis 제어 프로그램</a:t>
            </a:r>
            <a:endParaRPr lang="en-US" sz="1450" dirty="0"/>
          </a:p>
        </p:txBody>
      </p:sp>
      <p:sp>
        <p:nvSpPr>
          <p:cNvPr id="11" name="Shape 9"/>
          <p:cNvSpPr/>
          <p:nvPr/>
        </p:nvSpPr>
        <p:spPr>
          <a:xfrm>
            <a:off x="6080760" y="1234440"/>
            <a:ext cx="0" cy="4297680"/>
          </a:xfrm>
          <a:prstGeom prst="line">
            <a:avLst/>
          </a:prstGeom>
          <a:noFill/>
          <a:ln w="12700">
            <a:solidFill>
              <a:srgbClr val="D9E0EC"/>
            </a:solidFill>
            <a:prstDash val="solid"/>
          </a:ln>
        </p:spPr>
      </p:sp>
      <p:sp>
        <p:nvSpPr>
          <p:cNvPr id="12" name="Shape 10"/>
          <p:cNvSpPr/>
          <p:nvPr/>
        </p:nvSpPr>
        <p:spPr>
          <a:xfrm>
            <a:off x="457200" y="5074920"/>
            <a:ext cx="11247120" cy="1051560"/>
          </a:xfrm>
          <a:prstGeom prst="rect">
            <a:avLst>
              <a:gd name="adj" fmla="val 5217"/>
            </a:avLst>
          </a:prstGeom>
          <a:solidFill>
            <a:srgbClr val="EAF0FB"/>
          </a:solidFill>
          <a:ln w="12700">
            <a:solidFill>
              <a:srgbClr val="C9D6F5"/>
            </a:solidFill>
            <a:prstDash val="solid"/>
          </a:ln>
        </p:spPr>
      </p:sp>
      <p:sp>
        <p:nvSpPr>
          <p:cNvPr id="13" name="Text 11"/>
          <p:cNvSpPr/>
          <p:nvPr/>
        </p:nvSpPr>
        <p:spPr>
          <a:xfrm>
            <a:off x="685800" y="5074920"/>
            <a:ext cx="10789920" cy="1051560"/>
          </a:xfrm>
          <a:prstGeom prst="rect">
            <a:avLst/>
          </a:prstGeom>
          <a:noFill/>
          <a:ln/>
        </p:spPr>
        <p:txBody>
          <a:bodyPr wrap="square" rtlCol="0" anchor="ctr"/>
          <a:lstStyle/>
          <a:p>
            <a:pPr algn="l" indent="0" marL="0">
              <a:buNone/>
            </a:pPr>
            <a:r>
              <a:rPr lang="en-US" sz="1400" b="1" dirty="0">
                <a:solidFill>
                  <a:srgbClr val="1F3864"/>
                </a:solidFill>
                <a:latin typeface="맑은 고딕" pitchFamily="34" charset="0"/>
                <a:ea typeface="맑은 고딕" pitchFamily="34" charset="-122"/>
                <a:cs typeface="맑은 고딕" pitchFamily="34" charset="-120"/>
              </a:rPr>
              <a:t>전체 YOLO 모델을 처음부터 FPGA에 모두 구현하기보다는, 우선 model.6 C2f 블록을 하드웨어 가속기로</a:t>
            </a:r>
            <a:endParaRPr lang="en-US" sz="1400" dirty="0"/>
          </a:p>
          <a:p>
            <a:pPr algn="l" indent="0" marL="0">
              <a:buNone/>
            </a:pPr>
            <a:r>
              <a:rPr lang="en-US" sz="1400" b="1" dirty="0">
                <a:solidFill>
                  <a:srgbClr val="1F3864"/>
                </a:solidFill>
                <a:latin typeface="맑은 고딕" pitchFamily="34" charset="0"/>
                <a:ea typeface="맑은 고딕" pitchFamily="34" charset="-122"/>
                <a:cs typeface="맑은 고딕" pitchFamily="34" charset="-120"/>
              </a:rPr>
              <a:t>구현하고 PS–PL 데이터 전송 및 제어 구조를 완성하는 것을 1차 목표로 설정</a:t>
            </a:r>
            <a:endParaRPr lang="en-US" sz="1400" dirty="0"/>
          </a:p>
        </p:txBody>
      </p:sp>
      <p:sp>
        <p:nvSpPr>
          <p:cNvPr id="14" name="Text 12"/>
          <p:cNvSpPr/>
          <p:nvPr/>
        </p:nvSpPr>
        <p:spPr>
          <a:xfrm>
            <a:off x="457200" y="6547104"/>
            <a:ext cx="9875520" cy="256032"/>
          </a:xfrm>
          <a:prstGeom prst="rect">
            <a:avLst/>
          </a:prstGeom>
          <a:noFill/>
          <a:ln/>
        </p:spPr>
        <p:txBody>
          <a:bodyPr wrap="square" rtlCol="0" anchor="ctr"/>
          <a:lstStyle/>
          <a:p>
            <a:pPr indent="0" marL="0">
              <a:buNone/>
            </a:pPr>
            <a:r>
              <a:rPr lang="en-US" sz="900" dirty="0">
                <a:solidFill>
                  <a:srgbClr val="C9CFDA"/>
                </a:solidFill>
                <a:latin typeface="맑은 고딕" pitchFamily="34" charset="0"/>
                <a:ea typeface="맑은 고딕" pitchFamily="34" charset="-122"/>
                <a:cs typeface="맑은 고딕" pitchFamily="34" charset="-120"/>
              </a:rPr>
              <a:t>PPE Accelerator · 중간발표</a:t>
            </a:r>
            <a:endParaRPr lang="en-US" sz="900" dirty="0"/>
          </a:p>
        </p:txBody>
      </p:sp>
      <p:sp>
        <p:nvSpPr>
          <p:cNvPr id="15" name="Text 13"/>
          <p:cNvSpPr/>
          <p:nvPr/>
        </p:nvSpPr>
        <p:spPr>
          <a:xfrm>
            <a:off x="11064240" y="6547104"/>
            <a:ext cx="685800" cy="256032"/>
          </a:xfrm>
          <a:prstGeom prst="rect">
            <a:avLst/>
          </a:prstGeom>
          <a:noFill/>
          <a:ln/>
        </p:spPr>
        <p:txBody>
          <a:bodyPr wrap="square"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2 / 19</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472C4"/>
          </a:solidFill>
          <a:ln/>
        </p:spPr>
      </p:sp>
      <p:sp>
        <p:nvSpPr>
          <p:cNvPr id="3" name="Text 1"/>
          <p:cNvSpPr/>
          <p:nvPr/>
        </p:nvSpPr>
        <p:spPr>
          <a:xfrm>
            <a:off x="457200" y="182880"/>
            <a:ext cx="9875520" cy="566928"/>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대상 C2f 블록 구조 — YOLOv8n model.6 데이터 흐름</a:t>
            </a:r>
            <a:endParaRPr lang="en-US" sz="2600" dirty="0"/>
          </a:p>
        </p:txBody>
      </p:sp>
      <p:sp>
        <p:nvSpPr>
          <p:cNvPr id="4" name="Text 2"/>
          <p:cNvSpPr/>
          <p:nvPr/>
        </p:nvSpPr>
        <p:spPr>
          <a:xfrm>
            <a:off x="10698480" y="73152"/>
            <a:ext cx="1234440" cy="731520"/>
          </a:xfrm>
          <a:prstGeom prst="rect">
            <a:avLst/>
          </a:prstGeom>
          <a:noFill/>
          <a:ln/>
        </p:spPr>
        <p:txBody>
          <a:bodyPr wrap="square" rtlCol="0" anchor="ctr"/>
          <a:lstStyle/>
          <a:p>
            <a:pPr algn="r" indent="0" marL="0">
              <a:buNone/>
            </a:pPr>
            <a:r>
              <a:rPr lang="en-US" sz="3000" b="1" dirty="0">
                <a:solidFill>
                  <a:srgbClr val="9BB3E8"/>
                </a:solidFill>
                <a:latin typeface="Calibri" pitchFamily="34" charset="0"/>
                <a:ea typeface="Calibri" pitchFamily="34" charset="-122"/>
                <a:cs typeface="Calibri" pitchFamily="34" charset="-120"/>
              </a:rPr>
              <a:t>03</a:t>
            </a:r>
            <a:endParaRPr lang="en-US" sz="3000" dirty="0"/>
          </a:p>
        </p:txBody>
      </p:sp>
      <p:sp>
        <p:nvSpPr>
          <p:cNvPr id="5" name="Shape 3"/>
          <p:cNvSpPr/>
          <p:nvPr/>
        </p:nvSpPr>
        <p:spPr>
          <a:xfrm>
            <a:off x="457200" y="1078992"/>
            <a:ext cx="256032" cy="201168"/>
          </a:xfrm>
          <a:prstGeom prst="rect">
            <a:avLst/>
          </a:prstGeom>
          <a:solidFill>
            <a:srgbClr val="2F5597"/>
          </a:solidFill>
          <a:ln/>
        </p:spPr>
      </p:sp>
      <p:sp>
        <p:nvSpPr>
          <p:cNvPr id="6" name="Text 4"/>
          <p:cNvSpPr/>
          <p:nvPr/>
        </p:nvSpPr>
        <p:spPr>
          <a:xfrm>
            <a:off x="786384" y="1014984"/>
            <a:ext cx="1737360" cy="329184"/>
          </a:xfrm>
          <a:prstGeom prst="rect">
            <a:avLst/>
          </a:prstGeom>
          <a:noFill/>
          <a:ln/>
        </p:spPr>
        <p:txBody>
          <a:bodyPr wrap="square" rtlCol="0" anchor="ctr"/>
          <a:lstStyle/>
          <a:p>
            <a:pPr indent="0" marL="0">
              <a:buNone/>
            </a:pPr>
            <a:r>
              <a:rPr lang="en-US" sz="1050" dirty="0">
                <a:solidFill>
                  <a:srgbClr val="5B6472"/>
                </a:solidFill>
                <a:latin typeface="맑은 고딕" pitchFamily="34" charset="0"/>
                <a:ea typeface="맑은 고딕" pitchFamily="34" charset="-122"/>
                <a:cs typeface="맑은 고딕" pitchFamily="34" charset="-120"/>
              </a:rPr>
              <a:t>Conv</a:t>
            </a:r>
            <a:endParaRPr lang="en-US" sz="1050" dirty="0"/>
          </a:p>
        </p:txBody>
      </p:sp>
      <p:sp>
        <p:nvSpPr>
          <p:cNvPr id="7" name="Shape 5"/>
          <p:cNvSpPr/>
          <p:nvPr/>
        </p:nvSpPr>
        <p:spPr>
          <a:xfrm>
            <a:off x="1691640" y="1078992"/>
            <a:ext cx="256032" cy="201168"/>
          </a:xfrm>
          <a:prstGeom prst="rect">
            <a:avLst/>
          </a:prstGeom>
          <a:solidFill>
            <a:srgbClr val="ED7D31"/>
          </a:solidFill>
          <a:ln/>
        </p:spPr>
      </p:sp>
      <p:sp>
        <p:nvSpPr>
          <p:cNvPr id="8" name="Text 6"/>
          <p:cNvSpPr/>
          <p:nvPr/>
        </p:nvSpPr>
        <p:spPr>
          <a:xfrm>
            <a:off x="2020824" y="1014984"/>
            <a:ext cx="1737360" cy="329184"/>
          </a:xfrm>
          <a:prstGeom prst="rect">
            <a:avLst/>
          </a:prstGeom>
          <a:noFill/>
          <a:ln/>
        </p:spPr>
        <p:txBody>
          <a:bodyPr wrap="square" rtlCol="0" anchor="ctr"/>
          <a:lstStyle/>
          <a:p>
            <a:pPr indent="0" marL="0">
              <a:buNone/>
            </a:pPr>
            <a:r>
              <a:rPr lang="en-US" sz="1050" dirty="0">
                <a:solidFill>
                  <a:srgbClr val="5B6472"/>
                </a:solidFill>
                <a:latin typeface="맑은 고딕" pitchFamily="34" charset="0"/>
                <a:ea typeface="맑은 고딕" pitchFamily="34" charset="-122"/>
                <a:cs typeface="맑은 고딕" pitchFamily="34" charset="-120"/>
              </a:rPr>
              <a:t>BN + SiLU</a:t>
            </a:r>
            <a:endParaRPr lang="en-US" sz="1050" dirty="0"/>
          </a:p>
        </p:txBody>
      </p:sp>
      <p:sp>
        <p:nvSpPr>
          <p:cNvPr id="9" name="Shape 7"/>
          <p:cNvSpPr/>
          <p:nvPr/>
        </p:nvSpPr>
        <p:spPr>
          <a:xfrm>
            <a:off x="3200400" y="1078992"/>
            <a:ext cx="256032" cy="201168"/>
          </a:xfrm>
          <a:prstGeom prst="rect">
            <a:avLst/>
          </a:prstGeom>
          <a:solidFill>
            <a:srgbClr val="548235"/>
          </a:solidFill>
          <a:ln/>
        </p:spPr>
      </p:sp>
      <p:sp>
        <p:nvSpPr>
          <p:cNvPr id="10" name="Text 8"/>
          <p:cNvSpPr/>
          <p:nvPr/>
        </p:nvSpPr>
        <p:spPr>
          <a:xfrm>
            <a:off x="3529584" y="1014984"/>
            <a:ext cx="1737360" cy="329184"/>
          </a:xfrm>
          <a:prstGeom prst="rect">
            <a:avLst/>
          </a:prstGeom>
          <a:noFill/>
          <a:ln/>
        </p:spPr>
        <p:txBody>
          <a:bodyPr wrap="square" rtlCol="0" anchor="ctr"/>
          <a:lstStyle/>
          <a:p>
            <a:pPr indent="0" marL="0">
              <a:buNone/>
            </a:pPr>
            <a:r>
              <a:rPr lang="en-US" sz="1050" dirty="0">
                <a:solidFill>
                  <a:srgbClr val="5B6472"/>
                </a:solidFill>
                <a:latin typeface="맑은 고딕" pitchFamily="34" charset="0"/>
                <a:ea typeface="맑은 고딕" pitchFamily="34" charset="-122"/>
                <a:cs typeface="맑은 고딕" pitchFamily="34" charset="-120"/>
              </a:rPr>
              <a:t>Split / Concat</a:t>
            </a:r>
            <a:endParaRPr lang="en-US" sz="1050" dirty="0"/>
          </a:p>
        </p:txBody>
      </p:sp>
      <p:sp>
        <p:nvSpPr>
          <p:cNvPr id="11" name="Shape 9"/>
          <p:cNvSpPr/>
          <p:nvPr/>
        </p:nvSpPr>
        <p:spPr>
          <a:xfrm>
            <a:off x="4892040" y="1078992"/>
            <a:ext cx="256032" cy="201168"/>
          </a:xfrm>
          <a:prstGeom prst="rect">
            <a:avLst/>
          </a:prstGeom>
          <a:solidFill>
            <a:srgbClr val="7030A0"/>
          </a:solidFill>
          <a:ln/>
        </p:spPr>
      </p:sp>
      <p:sp>
        <p:nvSpPr>
          <p:cNvPr id="12" name="Text 10"/>
          <p:cNvSpPr/>
          <p:nvPr/>
        </p:nvSpPr>
        <p:spPr>
          <a:xfrm>
            <a:off x="5221224" y="1014984"/>
            <a:ext cx="1737360" cy="329184"/>
          </a:xfrm>
          <a:prstGeom prst="rect">
            <a:avLst/>
          </a:prstGeom>
          <a:noFill/>
          <a:ln/>
        </p:spPr>
        <p:txBody>
          <a:bodyPr wrap="square" rtlCol="0" anchor="ctr"/>
          <a:lstStyle/>
          <a:p>
            <a:pPr indent="0" marL="0">
              <a:buNone/>
            </a:pPr>
            <a:r>
              <a:rPr lang="en-US" sz="1050" dirty="0">
                <a:solidFill>
                  <a:srgbClr val="5B6472"/>
                </a:solidFill>
                <a:latin typeface="맑은 고딕" pitchFamily="34" charset="0"/>
                <a:ea typeface="맑은 고딕" pitchFamily="34" charset="-122"/>
                <a:cs typeface="맑은 고딕" pitchFamily="34" charset="-120"/>
              </a:rPr>
              <a:t>Residual</a:t>
            </a:r>
            <a:endParaRPr lang="en-US" sz="1050" dirty="0"/>
          </a:p>
        </p:txBody>
      </p:sp>
      <p:sp>
        <p:nvSpPr>
          <p:cNvPr id="13" name="Shape 11"/>
          <p:cNvSpPr/>
          <p:nvPr/>
        </p:nvSpPr>
        <p:spPr>
          <a:xfrm>
            <a:off x="6172200" y="1179576"/>
            <a:ext cx="256032" cy="0"/>
          </a:xfrm>
          <a:prstGeom prst="line">
            <a:avLst/>
          </a:prstGeom>
          <a:noFill/>
          <a:ln w="28575">
            <a:solidFill>
              <a:srgbClr val="808080"/>
            </a:solidFill>
            <a:prstDash val="dash"/>
          </a:ln>
        </p:spPr>
      </p:sp>
      <p:sp>
        <p:nvSpPr>
          <p:cNvPr id="14" name="Text 12"/>
          <p:cNvSpPr/>
          <p:nvPr/>
        </p:nvSpPr>
        <p:spPr>
          <a:xfrm>
            <a:off x="6501384" y="1014984"/>
            <a:ext cx="1737360" cy="329184"/>
          </a:xfrm>
          <a:prstGeom prst="rect">
            <a:avLst/>
          </a:prstGeom>
          <a:noFill/>
          <a:ln/>
        </p:spPr>
        <p:txBody>
          <a:bodyPr wrap="square" rtlCol="0" anchor="ctr"/>
          <a:lstStyle/>
          <a:p>
            <a:pPr indent="0" marL="0">
              <a:buNone/>
            </a:pPr>
            <a:r>
              <a:rPr lang="en-US" sz="1050" dirty="0">
                <a:solidFill>
                  <a:srgbClr val="5B6472"/>
                </a:solidFill>
                <a:latin typeface="맑은 고딕" pitchFamily="34" charset="0"/>
                <a:ea typeface="맑은 고딕" pitchFamily="34" charset="-122"/>
                <a:cs typeface="맑은 고딕" pitchFamily="34" charset="-120"/>
              </a:rPr>
              <a:t>Router (반복 실행 제어)</a:t>
            </a:r>
            <a:endParaRPr lang="en-US" sz="1050" dirty="0"/>
          </a:p>
        </p:txBody>
      </p:sp>
      <p:sp>
        <p:nvSpPr>
          <p:cNvPr id="15" name="Shape 13"/>
          <p:cNvSpPr/>
          <p:nvPr/>
        </p:nvSpPr>
        <p:spPr>
          <a:xfrm>
            <a:off x="548640" y="1508760"/>
            <a:ext cx="2926080" cy="384048"/>
          </a:xfrm>
          <a:prstGeom prst="roundRect">
            <a:avLst>
              <a:gd name="adj" fmla="val 14286"/>
            </a:avLst>
          </a:prstGeom>
          <a:solidFill>
            <a:srgbClr val="5B6472"/>
          </a:solidFill>
          <a:ln w="15875">
            <a:solidFill>
              <a:srgbClr val="5B6472"/>
            </a:solidFill>
            <a:prstDash val="solid"/>
          </a:ln>
        </p:spPr>
      </p:sp>
      <p:sp>
        <p:nvSpPr>
          <p:cNvPr id="16" name="Text 14"/>
          <p:cNvSpPr/>
          <p:nvPr/>
        </p:nvSpPr>
        <p:spPr>
          <a:xfrm>
            <a:off x="576072" y="1536192"/>
            <a:ext cx="2871216" cy="329184"/>
          </a:xfrm>
          <a:prstGeom prst="rect">
            <a:avLst/>
          </a:prstGeom>
          <a:noFill/>
          <a:ln/>
        </p:spPr>
        <p:txBody>
          <a:bodyPr wrap="square" rtlCol="0" anchor="ctr"/>
          <a:lstStyle/>
          <a:p>
            <a:pPr algn="ctr" indent="0" marL="0">
              <a:lnSpc>
                <a:spcPct val="100000"/>
              </a:lnSpc>
              <a:buNone/>
            </a:pPr>
            <a:r>
              <a:rPr lang="en-US" sz="1200" b="1" dirty="0">
                <a:solidFill>
                  <a:srgbClr val="FFFFFF"/>
                </a:solidFill>
                <a:latin typeface="맑은 고딕" pitchFamily="34" charset="0"/>
                <a:ea typeface="맑은 고딕" pitchFamily="34" charset="-122"/>
                <a:cs typeface="맑은 고딕" pitchFamily="34" charset="-120"/>
              </a:rPr>
              <a:t>Input  128×40×40</a:t>
            </a:r>
            <a:endParaRPr lang="en-US" sz="1200" dirty="0"/>
          </a:p>
        </p:txBody>
      </p:sp>
      <p:sp>
        <p:nvSpPr>
          <p:cNvPr id="17" name="Shape 15"/>
          <p:cNvSpPr/>
          <p:nvPr/>
        </p:nvSpPr>
        <p:spPr>
          <a:xfrm>
            <a:off x="2011680" y="1892808"/>
            <a:ext cx="914" cy="118872"/>
          </a:xfrm>
          <a:prstGeom prst="line">
            <a:avLst/>
          </a:prstGeom>
          <a:noFill/>
          <a:ln w="19050">
            <a:solidFill>
              <a:srgbClr val="8C93A3"/>
            </a:solidFill>
            <a:prstDash val="solid"/>
            <a:tailEnd type="triangle"/>
          </a:ln>
        </p:spPr>
      </p:sp>
      <p:sp>
        <p:nvSpPr>
          <p:cNvPr id="18" name="Shape 16"/>
          <p:cNvSpPr/>
          <p:nvPr/>
        </p:nvSpPr>
        <p:spPr>
          <a:xfrm>
            <a:off x="548640" y="2011680"/>
            <a:ext cx="2926080" cy="384048"/>
          </a:xfrm>
          <a:prstGeom prst="roundRect">
            <a:avLst>
              <a:gd name="adj" fmla="val 14286"/>
            </a:avLst>
          </a:prstGeom>
          <a:solidFill>
            <a:srgbClr val="2F5597"/>
          </a:solidFill>
          <a:ln w="15875">
            <a:solidFill>
              <a:srgbClr val="2F5597"/>
            </a:solidFill>
            <a:prstDash val="solid"/>
          </a:ln>
        </p:spPr>
      </p:sp>
      <p:sp>
        <p:nvSpPr>
          <p:cNvPr id="19" name="Text 17"/>
          <p:cNvSpPr/>
          <p:nvPr/>
        </p:nvSpPr>
        <p:spPr>
          <a:xfrm>
            <a:off x="576072" y="2039112"/>
            <a:ext cx="2871216" cy="329184"/>
          </a:xfrm>
          <a:prstGeom prst="rect">
            <a:avLst/>
          </a:prstGeom>
          <a:noFill/>
          <a:ln/>
        </p:spPr>
        <p:txBody>
          <a:bodyPr wrap="square" rtlCol="0" anchor="ctr"/>
          <a:lstStyle/>
          <a:p>
            <a:pPr algn="ctr" indent="0" marL="0">
              <a:lnSpc>
                <a:spcPct val="100000"/>
              </a:lnSpc>
              <a:buNone/>
            </a:pPr>
            <a:r>
              <a:rPr lang="en-US" sz="1200" b="1" dirty="0">
                <a:solidFill>
                  <a:srgbClr val="FFFFFF"/>
                </a:solidFill>
                <a:latin typeface="맑은 고딕" pitchFamily="34" charset="0"/>
                <a:ea typeface="맑은 고딕" pitchFamily="34" charset="-122"/>
                <a:cs typeface="맑은 고딕" pitchFamily="34" charset="-120"/>
              </a:rPr>
              <a:t>Conv1×1 : 128 → 128</a:t>
            </a:r>
            <a:endParaRPr lang="en-US" sz="1200" dirty="0"/>
          </a:p>
        </p:txBody>
      </p:sp>
      <p:sp>
        <p:nvSpPr>
          <p:cNvPr id="20" name="Shape 18"/>
          <p:cNvSpPr/>
          <p:nvPr/>
        </p:nvSpPr>
        <p:spPr>
          <a:xfrm>
            <a:off x="2011680" y="2395728"/>
            <a:ext cx="914" cy="118872"/>
          </a:xfrm>
          <a:prstGeom prst="line">
            <a:avLst/>
          </a:prstGeom>
          <a:noFill/>
          <a:ln w="19050">
            <a:solidFill>
              <a:srgbClr val="8C93A3"/>
            </a:solidFill>
            <a:prstDash val="solid"/>
            <a:tailEnd type="triangle"/>
          </a:ln>
        </p:spPr>
      </p:sp>
      <p:sp>
        <p:nvSpPr>
          <p:cNvPr id="21" name="Shape 19"/>
          <p:cNvSpPr/>
          <p:nvPr/>
        </p:nvSpPr>
        <p:spPr>
          <a:xfrm>
            <a:off x="548640" y="2514600"/>
            <a:ext cx="2926080" cy="384048"/>
          </a:xfrm>
          <a:prstGeom prst="roundRect">
            <a:avLst>
              <a:gd name="adj" fmla="val 14286"/>
            </a:avLst>
          </a:prstGeom>
          <a:solidFill>
            <a:srgbClr val="ED7D31"/>
          </a:solidFill>
          <a:ln w="15875">
            <a:solidFill>
              <a:srgbClr val="ED7D31"/>
            </a:solidFill>
            <a:prstDash val="solid"/>
          </a:ln>
        </p:spPr>
      </p:sp>
      <p:sp>
        <p:nvSpPr>
          <p:cNvPr id="22" name="Text 20"/>
          <p:cNvSpPr/>
          <p:nvPr/>
        </p:nvSpPr>
        <p:spPr>
          <a:xfrm>
            <a:off x="576072" y="2542032"/>
            <a:ext cx="2871216" cy="329184"/>
          </a:xfrm>
          <a:prstGeom prst="rect">
            <a:avLst/>
          </a:prstGeom>
          <a:noFill/>
          <a:ln/>
        </p:spPr>
        <p:txBody>
          <a:bodyPr wrap="square" rtlCol="0" anchor="ctr"/>
          <a:lstStyle/>
          <a:p>
            <a:pPr algn="ctr" indent="0" marL="0">
              <a:lnSpc>
                <a:spcPct val="100000"/>
              </a:lnSpc>
              <a:buNone/>
            </a:pPr>
            <a:r>
              <a:rPr lang="en-US" sz="1200" b="1" dirty="0">
                <a:solidFill>
                  <a:srgbClr val="FFFFFF"/>
                </a:solidFill>
                <a:latin typeface="맑은 고딕" pitchFamily="34" charset="0"/>
                <a:ea typeface="맑은 고딕" pitchFamily="34" charset="-122"/>
                <a:cs typeface="맑은 고딕" pitchFamily="34" charset="-120"/>
              </a:rPr>
              <a:t>BN + SiLU 128</a:t>
            </a:r>
            <a:endParaRPr lang="en-US" sz="1200" dirty="0"/>
          </a:p>
        </p:txBody>
      </p:sp>
      <p:sp>
        <p:nvSpPr>
          <p:cNvPr id="23" name="Shape 21"/>
          <p:cNvSpPr/>
          <p:nvPr/>
        </p:nvSpPr>
        <p:spPr>
          <a:xfrm>
            <a:off x="2011680" y="2898648"/>
            <a:ext cx="914" cy="118872"/>
          </a:xfrm>
          <a:prstGeom prst="line">
            <a:avLst/>
          </a:prstGeom>
          <a:noFill/>
          <a:ln w="19050">
            <a:solidFill>
              <a:srgbClr val="8C93A3"/>
            </a:solidFill>
            <a:prstDash val="solid"/>
            <a:tailEnd type="triangle"/>
          </a:ln>
        </p:spPr>
      </p:sp>
      <p:sp>
        <p:nvSpPr>
          <p:cNvPr id="24" name="Shape 22"/>
          <p:cNvSpPr/>
          <p:nvPr/>
        </p:nvSpPr>
        <p:spPr>
          <a:xfrm>
            <a:off x="548640" y="3017520"/>
            <a:ext cx="2926080" cy="384048"/>
          </a:xfrm>
          <a:prstGeom prst="roundRect">
            <a:avLst>
              <a:gd name="adj" fmla="val 14286"/>
            </a:avLst>
          </a:prstGeom>
          <a:solidFill>
            <a:srgbClr val="548235"/>
          </a:solidFill>
          <a:ln w="15875">
            <a:solidFill>
              <a:srgbClr val="548235"/>
            </a:solidFill>
            <a:prstDash val="solid"/>
          </a:ln>
        </p:spPr>
      </p:sp>
      <p:sp>
        <p:nvSpPr>
          <p:cNvPr id="25" name="Text 23"/>
          <p:cNvSpPr/>
          <p:nvPr/>
        </p:nvSpPr>
        <p:spPr>
          <a:xfrm>
            <a:off x="576072" y="3044952"/>
            <a:ext cx="2871216" cy="329184"/>
          </a:xfrm>
          <a:prstGeom prst="rect">
            <a:avLst/>
          </a:prstGeom>
          <a:noFill/>
          <a:ln/>
        </p:spPr>
        <p:txBody>
          <a:bodyPr wrap="square" rtlCol="0" anchor="ctr"/>
          <a:lstStyle/>
          <a:p>
            <a:pPr algn="ctr" indent="0" marL="0">
              <a:lnSpc>
                <a:spcPct val="100000"/>
              </a:lnSpc>
              <a:buNone/>
            </a:pPr>
            <a:r>
              <a:rPr lang="en-US" sz="1200" b="1" dirty="0">
                <a:solidFill>
                  <a:srgbClr val="FFFFFF"/>
                </a:solidFill>
                <a:latin typeface="맑은 고딕" pitchFamily="34" charset="0"/>
                <a:ea typeface="맑은 고딕" pitchFamily="34" charset="-122"/>
                <a:cs typeface="맑은 고딕" pitchFamily="34" charset="-120"/>
              </a:rPr>
              <a:t>Split : 128 → 64 + 64</a:t>
            </a:r>
            <a:endParaRPr lang="en-US" sz="1200" dirty="0"/>
          </a:p>
        </p:txBody>
      </p:sp>
      <p:sp>
        <p:nvSpPr>
          <p:cNvPr id="26" name="Shape 24"/>
          <p:cNvSpPr/>
          <p:nvPr/>
        </p:nvSpPr>
        <p:spPr>
          <a:xfrm>
            <a:off x="1051560" y="3401568"/>
            <a:ext cx="914" cy="1042416"/>
          </a:xfrm>
          <a:prstGeom prst="line">
            <a:avLst/>
          </a:prstGeom>
          <a:noFill/>
          <a:ln w="19050">
            <a:solidFill>
              <a:srgbClr val="8C93A3"/>
            </a:solidFill>
            <a:prstDash val="solid"/>
            <a:tailEnd type="triangle"/>
          </a:ln>
        </p:spPr>
      </p:sp>
      <p:sp>
        <p:nvSpPr>
          <p:cNvPr id="27" name="Text 25"/>
          <p:cNvSpPr/>
          <p:nvPr/>
        </p:nvSpPr>
        <p:spPr>
          <a:xfrm>
            <a:off x="457200" y="3840480"/>
            <a:ext cx="502920" cy="237744"/>
          </a:xfrm>
          <a:prstGeom prst="rect">
            <a:avLst/>
          </a:prstGeom>
          <a:noFill/>
          <a:ln/>
        </p:spPr>
        <p:txBody>
          <a:bodyPr wrap="square" rtlCol="0" anchor="ctr"/>
          <a:lstStyle/>
          <a:p>
            <a:pPr algn="r" indent="0" marL="0">
              <a:buNone/>
            </a:pPr>
            <a:r>
              <a:rPr lang="en-US" sz="1100" b="1" dirty="0">
                <a:solidFill>
                  <a:srgbClr val="548235"/>
                </a:solidFill>
                <a:latin typeface="맑은 고딕" pitchFamily="34" charset="0"/>
                <a:ea typeface="맑은 고딕" pitchFamily="34" charset="-122"/>
                <a:cs typeface="맑은 고딕" pitchFamily="34" charset="-120"/>
              </a:rPr>
              <a:t>y0</a:t>
            </a:r>
            <a:endParaRPr lang="en-US" sz="1100" dirty="0"/>
          </a:p>
        </p:txBody>
      </p:sp>
      <p:sp>
        <p:nvSpPr>
          <p:cNvPr id="28" name="Shape 26"/>
          <p:cNvSpPr/>
          <p:nvPr/>
        </p:nvSpPr>
        <p:spPr>
          <a:xfrm>
            <a:off x="3931920" y="3401568"/>
            <a:ext cx="914" cy="118872"/>
          </a:xfrm>
          <a:prstGeom prst="line">
            <a:avLst/>
          </a:prstGeom>
          <a:noFill/>
          <a:ln w="19050">
            <a:solidFill>
              <a:srgbClr val="8C93A3"/>
            </a:solidFill>
            <a:prstDash val="solid"/>
            <a:tailEnd type="triangle"/>
          </a:ln>
        </p:spPr>
      </p:sp>
      <p:sp>
        <p:nvSpPr>
          <p:cNvPr id="29" name="Text 27"/>
          <p:cNvSpPr/>
          <p:nvPr/>
        </p:nvSpPr>
        <p:spPr>
          <a:xfrm>
            <a:off x="4096512" y="3310128"/>
            <a:ext cx="457200" cy="164592"/>
          </a:xfrm>
          <a:prstGeom prst="rect">
            <a:avLst/>
          </a:prstGeom>
          <a:noFill/>
          <a:ln/>
        </p:spPr>
        <p:txBody>
          <a:bodyPr wrap="square" rtlCol="0" anchor="ctr"/>
          <a:lstStyle/>
          <a:p>
            <a:pPr indent="0" marL="0">
              <a:buNone/>
            </a:pPr>
            <a:r>
              <a:rPr lang="en-US" sz="950" b="1" dirty="0">
                <a:solidFill>
                  <a:srgbClr val="548235"/>
                </a:solidFill>
                <a:latin typeface="맑은 고딕" pitchFamily="34" charset="0"/>
                <a:ea typeface="맑은 고딕" pitchFamily="34" charset="-122"/>
                <a:cs typeface="맑은 고딕" pitchFamily="34" charset="-120"/>
              </a:rPr>
              <a:t>y1</a:t>
            </a:r>
            <a:endParaRPr lang="en-US" sz="950" dirty="0"/>
          </a:p>
        </p:txBody>
      </p:sp>
      <p:sp>
        <p:nvSpPr>
          <p:cNvPr id="30" name="Shape 28"/>
          <p:cNvSpPr/>
          <p:nvPr/>
        </p:nvSpPr>
        <p:spPr>
          <a:xfrm>
            <a:off x="2240280" y="3465576"/>
            <a:ext cx="3383280" cy="987552"/>
          </a:xfrm>
          <a:prstGeom prst="rect">
            <a:avLst/>
          </a:prstGeom>
          <a:ln w="19050">
            <a:solidFill>
              <a:srgbClr val="808080"/>
            </a:solidFill>
            <a:prstDash val="dash"/>
          </a:ln>
        </p:spPr>
      </p:sp>
      <p:sp>
        <p:nvSpPr>
          <p:cNvPr id="31" name="Shape 29"/>
          <p:cNvSpPr/>
          <p:nvPr/>
        </p:nvSpPr>
        <p:spPr>
          <a:xfrm>
            <a:off x="2377440" y="3520440"/>
            <a:ext cx="3108960" cy="384048"/>
          </a:xfrm>
          <a:prstGeom prst="roundRect">
            <a:avLst>
              <a:gd name="adj" fmla="val 14286"/>
            </a:avLst>
          </a:prstGeom>
          <a:solidFill>
            <a:srgbClr val="44546A"/>
          </a:solidFill>
          <a:ln w="15875">
            <a:solidFill>
              <a:srgbClr val="44546A"/>
            </a:solidFill>
            <a:prstDash val="solid"/>
          </a:ln>
        </p:spPr>
      </p:sp>
      <p:sp>
        <p:nvSpPr>
          <p:cNvPr id="32" name="Text 30"/>
          <p:cNvSpPr/>
          <p:nvPr/>
        </p:nvSpPr>
        <p:spPr>
          <a:xfrm>
            <a:off x="2404872" y="3547872"/>
            <a:ext cx="3054096" cy="329184"/>
          </a:xfrm>
          <a:prstGeom prst="rect">
            <a:avLst/>
          </a:prstGeom>
          <a:noFill/>
          <a:ln/>
        </p:spPr>
        <p:txBody>
          <a:bodyPr wrap="square" rtlCol="0" anchor="ctr"/>
          <a:lstStyle/>
          <a:p>
            <a:pPr algn="ctr" indent="0" marL="0">
              <a:lnSpc>
                <a:spcPct val="100000"/>
              </a:lnSpc>
              <a:buNone/>
            </a:pPr>
            <a:r>
              <a:rPr lang="en-US" sz="1050" b="1" dirty="0">
                <a:solidFill>
                  <a:srgbClr val="FFFFFF"/>
                </a:solidFill>
                <a:latin typeface="맑은 고딕" pitchFamily="34" charset="0"/>
                <a:ea typeface="맑은 고딕" pitchFamily="34" charset="-122"/>
                <a:cs typeface="맑은 고딕" pitchFamily="34" charset="-120"/>
              </a:rPr>
              <a:t>Bottleneck 0</a:t>
            </a:r>
            <a:endParaRPr lang="en-US" sz="1050" dirty="0"/>
          </a:p>
          <a:p>
            <a:pPr algn="ctr" indent="0" marL="0">
              <a:lnSpc>
                <a:spcPct val="100000"/>
              </a:lnSpc>
              <a:buNone/>
            </a:pPr>
            <a:r>
              <a:rPr lang="en-US" sz="1050" b="1" dirty="0">
                <a:solidFill>
                  <a:srgbClr val="FFFFFF"/>
                </a:solidFill>
                <a:latin typeface="맑은 고딕" pitchFamily="34" charset="0"/>
                <a:ea typeface="맑은 고딕" pitchFamily="34" charset="-122"/>
                <a:cs typeface="맑은 고딕" pitchFamily="34" charset="-120"/>
              </a:rPr>
              <a:t>Conv3×3→BN+SiLU ×2 + Residual Add</a:t>
            </a:r>
            <a:endParaRPr lang="en-US" sz="1050" dirty="0"/>
          </a:p>
        </p:txBody>
      </p:sp>
      <p:sp>
        <p:nvSpPr>
          <p:cNvPr id="33" name="Text 31"/>
          <p:cNvSpPr/>
          <p:nvPr/>
        </p:nvSpPr>
        <p:spPr>
          <a:xfrm>
            <a:off x="5541264" y="3813048"/>
            <a:ext cx="365760" cy="237744"/>
          </a:xfrm>
          <a:prstGeom prst="rect">
            <a:avLst/>
          </a:prstGeom>
          <a:noFill/>
          <a:ln/>
        </p:spPr>
        <p:txBody>
          <a:bodyPr wrap="square" rtlCol="0" anchor="ctr"/>
          <a:lstStyle/>
          <a:p>
            <a:pPr indent="0" marL="0">
              <a:buNone/>
            </a:pPr>
            <a:r>
              <a:rPr lang="en-US" sz="1050" b="1" dirty="0">
                <a:solidFill>
                  <a:srgbClr val="548235"/>
                </a:solidFill>
                <a:latin typeface="맑은 고딕" pitchFamily="34" charset="0"/>
                <a:ea typeface="맑은 고딕" pitchFamily="34" charset="-122"/>
                <a:cs typeface="맑은 고딕" pitchFamily="34" charset="-120"/>
              </a:rPr>
              <a:t>y2</a:t>
            </a:r>
            <a:endParaRPr lang="en-US" sz="1050" dirty="0"/>
          </a:p>
        </p:txBody>
      </p:sp>
      <p:sp>
        <p:nvSpPr>
          <p:cNvPr id="34" name="Shape 32"/>
          <p:cNvSpPr/>
          <p:nvPr/>
        </p:nvSpPr>
        <p:spPr>
          <a:xfrm>
            <a:off x="3931920" y="3904488"/>
            <a:ext cx="914" cy="109728"/>
          </a:xfrm>
          <a:prstGeom prst="line">
            <a:avLst/>
          </a:prstGeom>
          <a:noFill/>
          <a:ln w="19050">
            <a:solidFill>
              <a:srgbClr val="8C93A3"/>
            </a:solidFill>
            <a:prstDash val="solid"/>
            <a:tailEnd type="triangle"/>
          </a:ln>
        </p:spPr>
      </p:sp>
      <p:sp>
        <p:nvSpPr>
          <p:cNvPr id="35" name="Shape 33"/>
          <p:cNvSpPr/>
          <p:nvPr/>
        </p:nvSpPr>
        <p:spPr>
          <a:xfrm>
            <a:off x="2377440" y="4014216"/>
            <a:ext cx="3108960" cy="384048"/>
          </a:xfrm>
          <a:prstGeom prst="roundRect">
            <a:avLst>
              <a:gd name="adj" fmla="val 14286"/>
            </a:avLst>
          </a:prstGeom>
          <a:solidFill>
            <a:srgbClr val="44546A"/>
          </a:solidFill>
          <a:ln w="15875">
            <a:solidFill>
              <a:srgbClr val="44546A"/>
            </a:solidFill>
            <a:prstDash val="solid"/>
          </a:ln>
        </p:spPr>
      </p:sp>
      <p:sp>
        <p:nvSpPr>
          <p:cNvPr id="36" name="Text 34"/>
          <p:cNvSpPr/>
          <p:nvPr/>
        </p:nvSpPr>
        <p:spPr>
          <a:xfrm>
            <a:off x="2404872" y="4041648"/>
            <a:ext cx="3054096" cy="329184"/>
          </a:xfrm>
          <a:prstGeom prst="rect">
            <a:avLst/>
          </a:prstGeom>
          <a:noFill/>
          <a:ln/>
        </p:spPr>
        <p:txBody>
          <a:bodyPr wrap="square" rtlCol="0" anchor="ctr"/>
          <a:lstStyle/>
          <a:p>
            <a:pPr algn="ctr" indent="0" marL="0">
              <a:lnSpc>
                <a:spcPct val="100000"/>
              </a:lnSpc>
              <a:buNone/>
            </a:pPr>
            <a:r>
              <a:rPr lang="en-US" sz="1050" b="1" dirty="0">
                <a:solidFill>
                  <a:srgbClr val="FFFFFF"/>
                </a:solidFill>
                <a:latin typeface="맑은 고딕" pitchFamily="34" charset="0"/>
                <a:ea typeface="맑은 고딕" pitchFamily="34" charset="-122"/>
                <a:cs typeface="맑은 고딕" pitchFamily="34" charset="-120"/>
              </a:rPr>
              <a:t>Bottleneck 1</a:t>
            </a:r>
            <a:endParaRPr lang="en-US" sz="1050" dirty="0"/>
          </a:p>
          <a:p>
            <a:pPr algn="ctr" indent="0" marL="0">
              <a:lnSpc>
                <a:spcPct val="100000"/>
              </a:lnSpc>
              <a:buNone/>
            </a:pPr>
            <a:r>
              <a:rPr lang="en-US" sz="1050" b="1" dirty="0">
                <a:solidFill>
                  <a:srgbClr val="FFFFFF"/>
                </a:solidFill>
                <a:latin typeface="맑은 고딕" pitchFamily="34" charset="0"/>
                <a:ea typeface="맑은 고딕" pitchFamily="34" charset="-122"/>
                <a:cs typeface="맑은 고딕" pitchFamily="34" charset="-120"/>
              </a:rPr>
              <a:t>Conv3×3→BN+SiLU ×2 + Residual Add</a:t>
            </a:r>
            <a:endParaRPr lang="en-US" sz="1050" dirty="0"/>
          </a:p>
        </p:txBody>
      </p:sp>
      <p:sp>
        <p:nvSpPr>
          <p:cNvPr id="37" name="Text 35"/>
          <p:cNvSpPr/>
          <p:nvPr/>
        </p:nvSpPr>
        <p:spPr>
          <a:xfrm>
            <a:off x="5541264" y="4306824"/>
            <a:ext cx="365760" cy="237744"/>
          </a:xfrm>
          <a:prstGeom prst="rect">
            <a:avLst/>
          </a:prstGeom>
          <a:noFill/>
          <a:ln/>
        </p:spPr>
        <p:txBody>
          <a:bodyPr wrap="square" rtlCol="0" anchor="ctr"/>
          <a:lstStyle/>
          <a:p>
            <a:pPr indent="0" marL="0">
              <a:buNone/>
            </a:pPr>
            <a:r>
              <a:rPr lang="en-US" sz="1050" b="1" dirty="0">
                <a:solidFill>
                  <a:srgbClr val="548235"/>
                </a:solidFill>
                <a:latin typeface="맑은 고딕" pitchFamily="34" charset="0"/>
                <a:ea typeface="맑은 고딕" pitchFamily="34" charset="-122"/>
                <a:cs typeface="맑은 고딕" pitchFamily="34" charset="-120"/>
              </a:rPr>
              <a:t>y3</a:t>
            </a:r>
            <a:endParaRPr lang="en-US" sz="1050" dirty="0"/>
          </a:p>
        </p:txBody>
      </p:sp>
      <p:sp>
        <p:nvSpPr>
          <p:cNvPr id="38" name="Shape 36"/>
          <p:cNvSpPr/>
          <p:nvPr/>
        </p:nvSpPr>
        <p:spPr>
          <a:xfrm>
            <a:off x="3931920" y="4398264"/>
            <a:ext cx="914" cy="45720"/>
          </a:xfrm>
          <a:prstGeom prst="line">
            <a:avLst/>
          </a:prstGeom>
          <a:noFill/>
          <a:ln w="19050">
            <a:solidFill>
              <a:srgbClr val="8C93A3"/>
            </a:solidFill>
            <a:prstDash val="solid"/>
            <a:tailEnd type="triangle"/>
          </a:ln>
        </p:spPr>
      </p:sp>
      <p:sp>
        <p:nvSpPr>
          <p:cNvPr id="39" name="Shape 37"/>
          <p:cNvSpPr/>
          <p:nvPr/>
        </p:nvSpPr>
        <p:spPr>
          <a:xfrm>
            <a:off x="548640" y="4507992"/>
            <a:ext cx="4937760" cy="384048"/>
          </a:xfrm>
          <a:prstGeom prst="roundRect">
            <a:avLst>
              <a:gd name="adj" fmla="val 14286"/>
            </a:avLst>
          </a:prstGeom>
          <a:solidFill>
            <a:srgbClr val="548235"/>
          </a:solidFill>
          <a:ln w="15875">
            <a:solidFill>
              <a:srgbClr val="548235"/>
            </a:solidFill>
            <a:prstDash val="solid"/>
          </a:ln>
        </p:spPr>
      </p:sp>
      <p:sp>
        <p:nvSpPr>
          <p:cNvPr id="40" name="Text 38"/>
          <p:cNvSpPr/>
          <p:nvPr/>
        </p:nvSpPr>
        <p:spPr>
          <a:xfrm>
            <a:off x="576072" y="4535424"/>
            <a:ext cx="4882896" cy="329184"/>
          </a:xfrm>
          <a:prstGeom prst="rect">
            <a:avLst/>
          </a:prstGeom>
          <a:noFill/>
          <a:ln/>
        </p:spPr>
        <p:txBody>
          <a:bodyPr wrap="square" rtlCol="0" anchor="ctr"/>
          <a:lstStyle/>
          <a:p>
            <a:pPr algn="ctr" indent="0" marL="0">
              <a:lnSpc>
                <a:spcPct val="100000"/>
              </a:lnSpc>
              <a:buNone/>
            </a:pPr>
            <a:r>
              <a:rPr lang="en-US" sz="1150" b="1" dirty="0">
                <a:solidFill>
                  <a:srgbClr val="FFFFFF"/>
                </a:solidFill>
                <a:latin typeface="맑은 고딕" pitchFamily="34" charset="0"/>
                <a:ea typeface="맑은 고딕" pitchFamily="34" charset="-122"/>
                <a:cs typeface="맑은 고딕" pitchFamily="34" charset="-120"/>
              </a:rPr>
              <a:t>Concat : y0 + y1 + y2 + y3   (64×4 → 256 channels)</a:t>
            </a:r>
            <a:endParaRPr lang="en-US" sz="1150" dirty="0"/>
          </a:p>
        </p:txBody>
      </p:sp>
      <p:sp>
        <p:nvSpPr>
          <p:cNvPr id="41" name="Shape 39"/>
          <p:cNvSpPr/>
          <p:nvPr/>
        </p:nvSpPr>
        <p:spPr>
          <a:xfrm>
            <a:off x="3017520" y="4892040"/>
            <a:ext cx="914" cy="118872"/>
          </a:xfrm>
          <a:prstGeom prst="line">
            <a:avLst/>
          </a:prstGeom>
          <a:noFill/>
          <a:ln w="19050">
            <a:solidFill>
              <a:srgbClr val="8C93A3"/>
            </a:solidFill>
            <a:prstDash val="solid"/>
            <a:tailEnd type="triangle"/>
          </a:ln>
        </p:spPr>
      </p:sp>
      <p:sp>
        <p:nvSpPr>
          <p:cNvPr id="42" name="Shape 40"/>
          <p:cNvSpPr/>
          <p:nvPr/>
        </p:nvSpPr>
        <p:spPr>
          <a:xfrm>
            <a:off x="1554480" y="5010912"/>
            <a:ext cx="2926080" cy="384048"/>
          </a:xfrm>
          <a:prstGeom prst="roundRect">
            <a:avLst>
              <a:gd name="adj" fmla="val 14286"/>
            </a:avLst>
          </a:prstGeom>
          <a:solidFill>
            <a:srgbClr val="2F5597"/>
          </a:solidFill>
          <a:ln w="15875">
            <a:solidFill>
              <a:srgbClr val="2F5597"/>
            </a:solidFill>
            <a:prstDash val="solid"/>
          </a:ln>
        </p:spPr>
      </p:sp>
      <p:sp>
        <p:nvSpPr>
          <p:cNvPr id="43" name="Text 41"/>
          <p:cNvSpPr/>
          <p:nvPr/>
        </p:nvSpPr>
        <p:spPr>
          <a:xfrm>
            <a:off x="1581912" y="5038344"/>
            <a:ext cx="2871216" cy="329184"/>
          </a:xfrm>
          <a:prstGeom prst="rect">
            <a:avLst/>
          </a:prstGeom>
          <a:noFill/>
          <a:ln/>
        </p:spPr>
        <p:txBody>
          <a:bodyPr wrap="square" rtlCol="0" anchor="ctr"/>
          <a:lstStyle/>
          <a:p>
            <a:pPr algn="ctr" indent="0" marL="0">
              <a:lnSpc>
                <a:spcPct val="100000"/>
              </a:lnSpc>
              <a:buNone/>
            </a:pPr>
            <a:r>
              <a:rPr lang="en-US" sz="1200" b="1" dirty="0">
                <a:solidFill>
                  <a:srgbClr val="FFFFFF"/>
                </a:solidFill>
                <a:latin typeface="맑은 고딕" pitchFamily="34" charset="0"/>
                <a:ea typeface="맑은 고딕" pitchFamily="34" charset="-122"/>
                <a:cs typeface="맑은 고딕" pitchFamily="34" charset="-120"/>
              </a:rPr>
              <a:t>Conv1×1 : 256 → 128</a:t>
            </a:r>
            <a:endParaRPr lang="en-US" sz="1200" dirty="0"/>
          </a:p>
        </p:txBody>
      </p:sp>
      <p:sp>
        <p:nvSpPr>
          <p:cNvPr id="44" name="Shape 42"/>
          <p:cNvSpPr/>
          <p:nvPr/>
        </p:nvSpPr>
        <p:spPr>
          <a:xfrm>
            <a:off x="3017520" y="5394960"/>
            <a:ext cx="914" cy="118872"/>
          </a:xfrm>
          <a:prstGeom prst="line">
            <a:avLst/>
          </a:prstGeom>
          <a:noFill/>
          <a:ln w="19050">
            <a:solidFill>
              <a:srgbClr val="8C93A3"/>
            </a:solidFill>
            <a:prstDash val="solid"/>
            <a:tailEnd type="triangle"/>
          </a:ln>
        </p:spPr>
      </p:sp>
      <p:sp>
        <p:nvSpPr>
          <p:cNvPr id="45" name="Shape 43"/>
          <p:cNvSpPr/>
          <p:nvPr/>
        </p:nvSpPr>
        <p:spPr>
          <a:xfrm>
            <a:off x="1554480" y="5513832"/>
            <a:ext cx="2926080" cy="384048"/>
          </a:xfrm>
          <a:prstGeom prst="roundRect">
            <a:avLst>
              <a:gd name="adj" fmla="val 14286"/>
            </a:avLst>
          </a:prstGeom>
          <a:solidFill>
            <a:srgbClr val="ED7D31"/>
          </a:solidFill>
          <a:ln w="15875">
            <a:solidFill>
              <a:srgbClr val="ED7D31"/>
            </a:solidFill>
            <a:prstDash val="solid"/>
          </a:ln>
        </p:spPr>
      </p:sp>
      <p:sp>
        <p:nvSpPr>
          <p:cNvPr id="46" name="Text 44"/>
          <p:cNvSpPr/>
          <p:nvPr/>
        </p:nvSpPr>
        <p:spPr>
          <a:xfrm>
            <a:off x="1581912" y="5541264"/>
            <a:ext cx="2871216" cy="329184"/>
          </a:xfrm>
          <a:prstGeom prst="rect">
            <a:avLst/>
          </a:prstGeom>
          <a:noFill/>
          <a:ln/>
        </p:spPr>
        <p:txBody>
          <a:bodyPr wrap="square" rtlCol="0" anchor="ctr"/>
          <a:lstStyle/>
          <a:p>
            <a:pPr algn="ctr" indent="0" marL="0">
              <a:lnSpc>
                <a:spcPct val="100000"/>
              </a:lnSpc>
              <a:buNone/>
            </a:pPr>
            <a:r>
              <a:rPr lang="en-US" sz="1200" b="1" dirty="0">
                <a:solidFill>
                  <a:srgbClr val="FFFFFF"/>
                </a:solidFill>
                <a:latin typeface="맑은 고딕" pitchFamily="34" charset="0"/>
                <a:ea typeface="맑은 고딕" pitchFamily="34" charset="-122"/>
                <a:cs typeface="맑은 고딕" pitchFamily="34" charset="-120"/>
              </a:rPr>
              <a:t>BN + SiLU 128</a:t>
            </a:r>
            <a:endParaRPr lang="en-US" sz="1200" dirty="0"/>
          </a:p>
        </p:txBody>
      </p:sp>
      <p:sp>
        <p:nvSpPr>
          <p:cNvPr id="47" name="Shape 45"/>
          <p:cNvSpPr/>
          <p:nvPr/>
        </p:nvSpPr>
        <p:spPr>
          <a:xfrm>
            <a:off x="3017520" y="5897880"/>
            <a:ext cx="914" cy="118872"/>
          </a:xfrm>
          <a:prstGeom prst="line">
            <a:avLst/>
          </a:prstGeom>
          <a:noFill/>
          <a:ln w="19050">
            <a:solidFill>
              <a:srgbClr val="8C93A3"/>
            </a:solidFill>
            <a:prstDash val="solid"/>
            <a:tailEnd type="triangle"/>
          </a:ln>
        </p:spPr>
      </p:sp>
      <p:sp>
        <p:nvSpPr>
          <p:cNvPr id="48" name="Shape 46"/>
          <p:cNvSpPr/>
          <p:nvPr/>
        </p:nvSpPr>
        <p:spPr>
          <a:xfrm>
            <a:off x="1554480" y="6016752"/>
            <a:ext cx="2926080" cy="384048"/>
          </a:xfrm>
          <a:prstGeom prst="roundRect">
            <a:avLst>
              <a:gd name="adj" fmla="val 14286"/>
            </a:avLst>
          </a:prstGeom>
          <a:solidFill>
            <a:srgbClr val="5B6472"/>
          </a:solidFill>
          <a:ln w="15875">
            <a:solidFill>
              <a:srgbClr val="5B6472"/>
            </a:solidFill>
            <a:prstDash val="solid"/>
          </a:ln>
        </p:spPr>
      </p:sp>
      <p:sp>
        <p:nvSpPr>
          <p:cNvPr id="49" name="Text 47"/>
          <p:cNvSpPr/>
          <p:nvPr/>
        </p:nvSpPr>
        <p:spPr>
          <a:xfrm>
            <a:off x="1581912" y="6044184"/>
            <a:ext cx="2871216" cy="329184"/>
          </a:xfrm>
          <a:prstGeom prst="rect">
            <a:avLst/>
          </a:prstGeom>
          <a:noFill/>
          <a:ln/>
        </p:spPr>
        <p:txBody>
          <a:bodyPr wrap="square" rtlCol="0" anchor="ctr"/>
          <a:lstStyle/>
          <a:p>
            <a:pPr algn="ctr" indent="0" marL="0">
              <a:lnSpc>
                <a:spcPct val="100000"/>
              </a:lnSpc>
              <a:buNone/>
            </a:pPr>
            <a:r>
              <a:rPr lang="en-US" sz="1200" b="1" dirty="0">
                <a:solidFill>
                  <a:srgbClr val="FFFFFF"/>
                </a:solidFill>
                <a:latin typeface="맑은 고딕" pitchFamily="34" charset="0"/>
                <a:ea typeface="맑은 고딕" pitchFamily="34" charset="-122"/>
                <a:cs typeface="맑은 고딕" pitchFamily="34" charset="-120"/>
              </a:rPr>
              <a:t>Output 128×40×40</a:t>
            </a:r>
            <a:endParaRPr lang="en-US" sz="1200" dirty="0"/>
          </a:p>
        </p:txBody>
      </p:sp>
      <p:sp>
        <p:nvSpPr>
          <p:cNvPr id="50" name="Shape 48"/>
          <p:cNvSpPr/>
          <p:nvPr/>
        </p:nvSpPr>
        <p:spPr>
          <a:xfrm>
            <a:off x="5989320" y="1508760"/>
            <a:ext cx="5742432" cy="621792"/>
          </a:xfrm>
          <a:prstGeom prst="rect">
            <a:avLst>
              <a:gd name="adj" fmla="val 8824"/>
            </a:avLst>
          </a:prstGeom>
          <a:solidFill>
            <a:srgbClr val="EFF3FB"/>
          </a:solidFill>
          <a:ln w="12700">
            <a:solidFill>
              <a:srgbClr val="D9E0EC"/>
            </a:solidFill>
            <a:prstDash val="solid"/>
          </a:ln>
        </p:spPr>
      </p:sp>
      <p:sp>
        <p:nvSpPr>
          <p:cNvPr id="51" name="Text 49"/>
          <p:cNvSpPr/>
          <p:nvPr/>
        </p:nvSpPr>
        <p:spPr>
          <a:xfrm>
            <a:off x="6217920" y="1508760"/>
            <a:ext cx="5285232" cy="621792"/>
          </a:xfrm>
          <a:prstGeom prst="rect">
            <a:avLst/>
          </a:prstGeom>
          <a:noFill/>
          <a:ln/>
        </p:spPr>
        <p:txBody>
          <a:bodyPr wrap="square" rtlCol="0" anchor="ctr"/>
          <a:lstStyle/>
          <a:p>
            <a:pPr algn="l" indent="0" marL="0">
              <a:buNone/>
            </a:pPr>
            <a:r>
              <a:rPr lang="en-US" sz="1400" b="1" dirty="0">
                <a:solidFill>
                  <a:srgbClr val="1F3864"/>
                </a:solidFill>
                <a:latin typeface="맑은 고딕" pitchFamily="34" charset="0"/>
                <a:ea typeface="맑은 고딕" pitchFamily="34" charset="-122"/>
                <a:cs typeface="맑은 고딕" pitchFamily="34" charset="-120"/>
              </a:rPr>
              <a:t>Conv3×3 IP는 4회 실행</a:t>
            </a:r>
            <a:endParaRPr lang="en-US" sz="1400" dirty="0"/>
          </a:p>
        </p:txBody>
      </p:sp>
      <p:sp>
        <p:nvSpPr>
          <p:cNvPr id="52" name="Shape 50"/>
          <p:cNvSpPr/>
          <p:nvPr/>
        </p:nvSpPr>
        <p:spPr>
          <a:xfrm>
            <a:off x="5989320" y="2267712"/>
            <a:ext cx="5742432" cy="621792"/>
          </a:xfrm>
          <a:prstGeom prst="rect">
            <a:avLst>
              <a:gd name="adj" fmla="val 8824"/>
            </a:avLst>
          </a:prstGeom>
          <a:solidFill>
            <a:srgbClr val="EFF3FB"/>
          </a:solidFill>
          <a:ln w="12700">
            <a:solidFill>
              <a:srgbClr val="D9E0EC"/>
            </a:solidFill>
            <a:prstDash val="solid"/>
          </a:ln>
        </p:spPr>
      </p:sp>
      <p:sp>
        <p:nvSpPr>
          <p:cNvPr id="53" name="Text 51"/>
          <p:cNvSpPr/>
          <p:nvPr/>
        </p:nvSpPr>
        <p:spPr>
          <a:xfrm>
            <a:off x="6217920" y="2267712"/>
            <a:ext cx="5285232" cy="621792"/>
          </a:xfrm>
          <a:prstGeom prst="rect">
            <a:avLst/>
          </a:prstGeom>
          <a:noFill/>
          <a:ln/>
        </p:spPr>
        <p:txBody>
          <a:bodyPr wrap="square" rtlCol="0" anchor="ctr"/>
          <a:lstStyle/>
          <a:p>
            <a:pPr algn="l" indent="0" marL="0">
              <a:buNone/>
            </a:pPr>
            <a:r>
              <a:rPr lang="en-US" sz="1400" b="1" dirty="0">
                <a:solidFill>
                  <a:srgbClr val="1F3864"/>
                </a:solidFill>
                <a:latin typeface="맑은 고딕" pitchFamily="34" charset="0"/>
                <a:ea typeface="맑은 고딕" pitchFamily="34" charset="-122"/>
                <a:cs typeface="맑은 고딕" pitchFamily="34" charset="-120"/>
              </a:rPr>
              <a:t>BN+SiLU 64 IP는 4회 실행</a:t>
            </a:r>
            <a:endParaRPr lang="en-US" sz="1400" dirty="0"/>
          </a:p>
        </p:txBody>
      </p:sp>
      <p:sp>
        <p:nvSpPr>
          <p:cNvPr id="54" name="Shape 52"/>
          <p:cNvSpPr/>
          <p:nvPr/>
        </p:nvSpPr>
        <p:spPr>
          <a:xfrm>
            <a:off x="5989320" y="3026664"/>
            <a:ext cx="5742432" cy="621792"/>
          </a:xfrm>
          <a:prstGeom prst="rect">
            <a:avLst>
              <a:gd name="adj" fmla="val 8824"/>
            </a:avLst>
          </a:prstGeom>
          <a:solidFill>
            <a:srgbClr val="EFF3FB"/>
          </a:solidFill>
          <a:ln w="12700">
            <a:solidFill>
              <a:srgbClr val="D9E0EC"/>
            </a:solidFill>
            <a:prstDash val="solid"/>
          </a:ln>
        </p:spPr>
      </p:sp>
      <p:sp>
        <p:nvSpPr>
          <p:cNvPr id="55" name="Text 53"/>
          <p:cNvSpPr/>
          <p:nvPr/>
        </p:nvSpPr>
        <p:spPr>
          <a:xfrm>
            <a:off x="6217920" y="3026664"/>
            <a:ext cx="5285232" cy="621792"/>
          </a:xfrm>
          <a:prstGeom prst="rect">
            <a:avLst/>
          </a:prstGeom>
          <a:noFill/>
          <a:ln/>
        </p:spPr>
        <p:txBody>
          <a:bodyPr wrap="square" rtlCol="0" anchor="ctr"/>
          <a:lstStyle/>
          <a:p>
            <a:pPr algn="l" indent="0" marL="0">
              <a:buNone/>
            </a:pPr>
            <a:r>
              <a:rPr lang="en-US" sz="1400" b="1" dirty="0">
                <a:solidFill>
                  <a:srgbClr val="1F3864"/>
                </a:solidFill>
                <a:latin typeface="맑은 고딕" pitchFamily="34" charset="0"/>
                <a:ea typeface="맑은 고딕" pitchFamily="34" charset="-122"/>
                <a:cs typeface="맑은 고딕" pitchFamily="34" charset="-120"/>
              </a:rPr>
              <a:t>동일 IP를 반복 활용하는 구조로 자원 절감</a:t>
            </a:r>
            <a:endParaRPr lang="en-US" sz="1400" dirty="0"/>
          </a:p>
        </p:txBody>
      </p:sp>
      <p:sp>
        <p:nvSpPr>
          <p:cNvPr id="56" name="Shape 54"/>
          <p:cNvSpPr/>
          <p:nvPr/>
        </p:nvSpPr>
        <p:spPr>
          <a:xfrm>
            <a:off x="5989320" y="3785616"/>
            <a:ext cx="5742432" cy="621792"/>
          </a:xfrm>
          <a:prstGeom prst="rect">
            <a:avLst>
              <a:gd name="adj" fmla="val 8824"/>
            </a:avLst>
          </a:prstGeom>
          <a:solidFill>
            <a:srgbClr val="EFF3FB"/>
          </a:solidFill>
          <a:ln w="12700">
            <a:solidFill>
              <a:srgbClr val="D9E0EC"/>
            </a:solidFill>
            <a:prstDash val="solid"/>
          </a:ln>
        </p:spPr>
      </p:sp>
      <p:sp>
        <p:nvSpPr>
          <p:cNvPr id="57" name="Text 55"/>
          <p:cNvSpPr/>
          <p:nvPr/>
        </p:nvSpPr>
        <p:spPr>
          <a:xfrm>
            <a:off x="6217920" y="3785616"/>
            <a:ext cx="5285232" cy="621792"/>
          </a:xfrm>
          <a:prstGeom prst="rect">
            <a:avLst/>
          </a:prstGeom>
          <a:noFill/>
          <a:ln/>
        </p:spPr>
        <p:txBody>
          <a:bodyPr wrap="square" rtlCol="0" anchor="ctr"/>
          <a:lstStyle/>
          <a:p>
            <a:pPr algn="l" indent="0" marL="0">
              <a:buNone/>
            </a:pPr>
            <a:r>
              <a:rPr lang="en-US" sz="1400" b="1" dirty="0">
                <a:solidFill>
                  <a:srgbClr val="1F3864"/>
                </a:solidFill>
                <a:latin typeface="맑은 고딕" pitchFamily="34" charset="0"/>
                <a:ea typeface="맑은 고딕" pitchFamily="34" charset="-122"/>
                <a:cs typeface="맑은 고딕" pitchFamily="34" charset="-120"/>
              </a:rPr>
              <a:t>Router IP가 반복 실행 경로를 제어</a:t>
            </a:r>
            <a:endParaRPr lang="en-US" sz="1400" dirty="0"/>
          </a:p>
        </p:txBody>
      </p:sp>
      <p:sp>
        <p:nvSpPr>
          <p:cNvPr id="58" name="Shape 56"/>
          <p:cNvSpPr/>
          <p:nvPr/>
        </p:nvSpPr>
        <p:spPr>
          <a:xfrm>
            <a:off x="5989320" y="4754880"/>
            <a:ext cx="5742432" cy="1536192"/>
          </a:xfrm>
          <a:prstGeom prst="rect">
            <a:avLst>
              <a:gd name="adj" fmla="val 3571"/>
            </a:avLst>
          </a:prstGeom>
          <a:solidFill>
            <a:srgbClr val="F7F9FC"/>
          </a:solidFill>
          <a:ln w="12700">
            <a:solidFill>
              <a:srgbClr val="D9E0EC"/>
            </a:solidFill>
            <a:prstDash val="solid"/>
          </a:ln>
        </p:spPr>
      </p:sp>
      <p:sp>
        <p:nvSpPr>
          <p:cNvPr id="59" name="Text 57"/>
          <p:cNvSpPr/>
          <p:nvPr/>
        </p:nvSpPr>
        <p:spPr>
          <a:xfrm>
            <a:off x="6217920" y="4754880"/>
            <a:ext cx="5285232" cy="1536192"/>
          </a:xfrm>
          <a:prstGeom prst="rect">
            <a:avLst/>
          </a:prstGeom>
          <a:noFill/>
          <a:ln/>
        </p:spPr>
        <p:txBody>
          <a:bodyPr wrap="square" rtlCol="0" anchor="ctr"/>
          <a:lstStyle/>
          <a:p>
            <a:pPr algn="l" indent="0" marL="0">
              <a:buNone/>
            </a:pPr>
            <a:r>
              <a:rPr lang="en-US" sz="1200" dirty="0">
                <a:solidFill>
                  <a:srgbClr val="1F3864"/>
                </a:solidFill>
                <a:latin typeface="맑은 고딕" pitchFamily="34" charset="0"/>
                <a:ea typeface="맑은 고딕" pitchFamily="34" charset="-122"/>
                <a:cs typeface="맑은 고딕" pitchFamily="34" charset="-120"/>
              </a:rPr>
              <a:t>설계 포인트</a:t>
            </a:r>
            <a:endParaRPr lang="en-US" sz="1200" dirty="0"/>
          </a:p>
          <a:p>
            <a:pPr algn="l" indent="0" marL="0">
              <a:buNone/>
            </a:pPr>
            <a:r>
              <a:rPr lang="en-US" sz="1200" dirty="0">
                <a:solidFill>
                  <a:srgbClr val="1F3864"/>
                </a:solidFill>
                <a:latin typeface="맑은 고딕" pitchFamily="34" charset="0"/>
                <a:ea typeface="맑은 고딕" pitchFamily="34" charset="-122"/>
                <a:cs typeface="맑은 고딕" pitchFamily="34" charset="-120"/>
              </a:rPr>
              <a:t>Conv3×3과 BN+SiLU를 매 위치마다 새로 두지 않고,</a:t>
            </a:r>
            <a:endParaRPr lang="en-US" sz="1200" dirty="0"/>
          </a:p>
          <a:p>
            <a:pPr algn="l" indent="0" marL="0">
              <a:buNone/>
            </a:pPr>
            <a:r>
              <a:rPr lang="en-US" sz="1200" dirty="0">
                <a:solidFill>
                  <a:srgbClr val="1F3864"/>
                </a:solidFill>
                <a:latin typeface="맑은 고딕" pitchFamily="34" charset="0"/>
                <a:ea typeface="맑은 고딕" pitchFamily="34" charset="-122"/>
                <a:cs typeface="맑은 고딕" pitchFamily="34" charset="-120"/>
              </a:rPr>
              <a:t>Router가 제어 신호로 동일 IP를 시분할 재사용하도록 구성해</a:t>
            </a:r>
            <a:endParaRPr lang="en-US" sz="1200" dirty="0"/>
          </a:p>
          <a:p>
            <a:pPr algn="l" indent="0" marL="0">
              <a:buNone/>
            </a:pPr>
            <a:r>
              <a:rPr lang="en-US" sz="1200" dirty="0">
                <a:solidFill>
                  <a:srgbClr val="1F3864"/>
                </a:solidFill>
                <a:latin typeface="맑은 고딕" pitchFamily="34" charset="0"/>
                <a:ea typeface="맑은 고딕" pitchFamily="34" charset="-122"/>
                <a:cs typeface="맑은 고딕" pitchFamily="34" charset="-120"/>
              </a:rPr>
              <a:t>LUT/DSP 등 반복 연산 자원 총량을 줄였습니다.</a:t>
            </a:r>
            <a:endParaRPr lang="en-US" sz="1200" dirty="0"/>
          </a:p>
        </p:txBody>
      </p:sp>
      <p:sp>
        <p:nvSpPr>
          <p:cNvPr id="60" name="Text 58"/>
          <p:cNvSpPr/>
          <p:nvPr/>
        </p:nvSpPr>
        <p:spPr>
          <a:xfrm>
            <a:off x="457200" y="6547104"/>
            <a:ext cx="9875520" cy="256032"/>
          </a:xfrm>
          <a:prstGeom prst="rect">
            <a:avLst/>
          </a:prstGeom>
          <a:noFill/>
          <a:ln/>
        </p:spPr>
        <p:txBody>
          <a:bodyPr wrap="square" rtlCol="0" anchor="ctr"/>
          <a:lstStyle/>
          <a:p>
            <a:pPr indent="0" marL="0">
              <a:buNone/>
            </a:pPr>
            <a:r>
              <a:rPr lang="en-US" sz="900" dirty="0">
                <a:solidFill>
                  <a:srgbClr val="C9CFDA"/>
                </a:solidFill>
                <a:latin typeface="맑은 고딕" pitchFamily="34" charset="0"/>
                <a:ea typeface="맑은 고딕" pitchFamily="34" charset="-122"/>
                <a:cs typeface="맑은 고딕" pitchFamily="34" charset="-120"/>
              </a:rPr>
              <a:t>PPE Accelerator · 중간발표</a:t>
            </a:r>
            <a:endParaRPr lang="en-US" sz="900" dirty="0"/>
          </a:p>
        </p:txBody>
      </p:sp>
      <p:sp>
        <p:nvSpPr>
          <p:cNvPr id="61" name="Text 59"/>
          <p:cNvSpPr/>
          <p:nvPr/>
        </p:nvSpPr>
        <p:spPr>
          <a:xfrm>
            <a:off x="11064240" y="6547104"/>
            <a:ext cx="685800" cy="256032"/>
          </a:xfrm>
          <a:prstGeom prst="rect">
            <a:avLst/>
          </a:prstGeom>
          <a:noFill/>
          <a:ln/>
        </p:spPr>
        <p:txBody>
          <a:bodyPr wrap="square"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3 / 19</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472C4"/>
          </a:solidFill>
          <a:ln/>
        </p:spPr>
      </p:sp>
      <p:sp>
        <p:nvSpPr>
          <p:cNvPr id="3" name="Text 1"/>
          <p:cNvSpPr/>
          <p:nvPr/>
        </p:nvSpPr>
        <p:spPr>
          <a:xfrm>
            <a:off x="457200" y="182880"/>
            <a:ext cx="9875520" cy="566928"/>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구현한 HLS IP 구성</a:t>
            </a:r>
            <a:endParaRPr lang="en-US" sz="2600" dirty="0"/>
          </a:p>
        </p:txBody>
      </p:sp>
      <p:sp>
        <p:nvSpPr>
          <p:cNvPr id="4" name="Text 2"/>
          <p:cNvSpPr/>
          <p:nvPr/>
        </p:nvSpPr>
        <p:spPr>
          <a:xfrm>
            <a:off x="10698480" y="73152"/>
            <a:ext cx="1234440" cy="731520"/>
          </a:xfrm>
          <a:prstGeom prst="rect">
            <a:avLst/>
          </a:prstGeom>
          <a:noFill/>
          <a:ln/>
        </p:spPr>
        <p:txBody>
          <a:bodyPr wrap="square" rtlCol="0" anchor="ctr"/>
          <a:lstStyle/>
          <a:p>
            <a:pPr algn="r" indent="0" marL="0">
              <a:buNone/>
            </a:pPr>
            <a:r>
              <a:rPr lang="en-US" sz="3000" b="1" dirty="0">
                <a:solidFill>
                  <a:srgbClr val="9BB3E8"/>
                </a:solidFill>
                <a:latin typeface="Calibri" pitchFamily="34" charset="0"/>
                <a:ea typeface="Calibri" pitchFamily="34" charset="-122"/>
                <a:cs typeface="Calibri" pitchFamily="34" charset="-120"/>
              </a:rPr>
              <a:t>04</a:t>
            </a:r>
            <a:endParaRPr lang="en-US" sz="3000" dirty="0"/>
          </a:p>
        </p:txBody>
      </p:sp>
      <p:sp>
        <p:nvSpPr>
          <p:cNvPr id="5" name="Shape 3"/>
          <p:cNvSpPr/>
          <p:nvPr/>
        </p:nvSpPr>
        <p:spPr>
          <a:xfrm>
            <a:off x="457200" y="1097280"/>
            <a:ext cx="82296" cy="310896"/>
          </a:xfrm>
          <a:prstGeom prst="rect">
            <a:avLst/>
          </a:prstGeom>
          <a:solidFill>
            <a:srgbClr val="4472C4"/>
          </a:solidFill>
          <a:ln/>
        </p:spPr>
      </p:sp>
      <p:sp>
        <p:nvSpPr>
          <p:cNvPr id="6" name="Text 4"/>
          <p:cNvSpPr/>
          <p:nvPr/>
        </p:nvSpPr>
        <p:spPr>
          <a:xfrm>
            <a:off x="621792" y="1069848"/>
            <a:ext cx="715060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현재 통합 대상 HLS IP</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7315200" cy="914400"/>
        </p:xfrm>
        <a:graphic>
          <a:graphicData uri="http://schemas.openxmlformats.org/drawingml/2006/table">
            <a:tbl>
              <a:tblPr/>
              <a:tblGrid>
                <a:gridCol w="2194560"/>
                <a:gridCol w="2468880"/>
                <a:gridCol w="1920240"/>
                <a:gridCol w="731520"/>
              </a:tblGrid>
              <a:tr h="292608">
                <a:tc>
                  <a:txBody>
                    <a:bodyPr/>
                    <a:lstStyle/>
                    <a:p>
                      <a:pPr algn="ctr" indent="0" marL="0">
                        <a:buNone/>
                      </a:pPr>
                      <a:r>
                        <a:rPr lang="en-US" sz="1050" b="1" dirty="0">
                          <a:solidFill>
                            <a:srgbClr val="FFFFFF"/>
                          </a:solidFill>
                        </a:rPr>
                        <a:t>IP 종류</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1050" b="1" dirty="0">
                          <a:solidFill>
                            <a:srgbClr val="FFFFFF"/>
                          </a:solidFill>
                        </a:rPr>
                        <a:t>주요 기능</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1050" b="1" dirty="0">
                          <a:solidFill>
                            <a:srgbClr val="FFFFFF"/>
                          </a:solidFill>
                        </a:rPr>
                        <a:t>데이터 형식</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1050" b="1" dirty="0">
                          <a:solidFill>
                            <a:srgbClr val="FFFFFF"/>
                          </a:solidFill>
                        </a:rPr>
                        <a:t>실행 횟수</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r>
              <a:tr h="292608">
                <a:tc>
                  <a:txBody>
                    <a:bodyPr/>
                    <a:lstStyle/>
                    <a:p>
                      <a:pPr algn="l" indent="0" marL="0">
                        <a:buNone/>
                      </a:pPr>
                      <a:r>
                        <a:rPr lang="en-US" sz="1050" dirty="0">
                          <a:solidFill>
                            <a:srgbClr val="1F2A37"/>
                          </a:solidFill>
                        </a:rPr>
                        <a:t>Conv1×1 cv1</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A37"/>
                          </a:solidFill>
                        </a:rPr>
                        <a:t>128 → 128</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A37"/>
                          </a:solidFill>
                        </a:rPr>
                        <a:t>INT8×INT8→INT32</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A37"/>
                          </a:solidFill>
                        </a:rPr>
                        <a:t>1</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292608">
                <a:tc>
                  <a:txBody>
                    <a:bodyPr/>
                    <a:lstStyle/>
                    <a:p>
                      <a:pPr algn="l" indent="0" marL="0">
                        <a:buNone/>
                      </a:pPr>
                      <a:r>
                        <a:rPr lang="en-US" sz="1050" dirty="0">
                          <a:solidFill>
                            <a:srgbClr val="1F2A37"/>
                          </a:solidFill>
                        </a:rPr>
                        <a:t>Conv1×1 cv2</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050" dirty="0">
                          <a:solidFill>
                            <a:srgbClr val="1F2A37"/>
                          </a:solidFill>
                        </a:rPr>
                        <a:t>256 → 128</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050" dirty="0">
                          <a:solidFill>
                            <a:srgbClr val="1F2A37"/>
                          </a:solidFill>
                        </a:rPr>
                        <a:t>INT8×INT8→INT32</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050" dirty="0">
                          <a:solidFill>
                            <a:srgbClr val="1F2A37"/>
                          </a:solidFill>
                        </a:rPr>
                        <a:t>1</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292608">
                <a:tc>
                  <a:txBody>
                    <a:bodyPr/>
                    <a:lstStyle/>
                    <a:p>
                      <a:pPr algn="l" indent="0" marL="0">
                        <a:buNone/>
                      </a:pPr>
                      <a:r>
                        <a:rPr lang="en-US" sz="1050" dirty="0">
                          <a:solidFill>
                            <a:srgbClr val="1F2A37"/>
                          </a:solidFill>
                        </a:rPr>
                        <a:t>Conv3×3</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A37"/>
                          </a:solidFill>
                        </a:rPr>
                        <a:t>64→64, K=3, PAD=1</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A37"/>
                          </a:solidFill>
                        </a:rPr>
                        <a:t>INT8×INT8→INT32</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A37"/>
                          </a:solidFill>
                        </a:rPr>
                        <a:t>4</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292608">
                <a:tc>
                  <a:txBody>
                    <a:bodyPr/>
                    <a:lstStyle/>
                    <a:p>
                      <a:pPr algn="l" indent="0" marL="0">
                        <a:buNone/>
                      </a:pPr>
                      <a:r>
                        <a:rPr lang="en-US" sz="1050" dirty="0">
                          <a:solidFill>
                            <a:srgbClr val="1F2A37"/>
                          </a:solidFill>
                        </a:rPr>
                        <a:t>BN+SiLU 64</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050" dirty="0">
                          <a:solidFill>
                            <a:srgbClr val="1F2A37"/>
                          </a:solidFill>
                        </a:rPr>
                        <a:t>정규화 및 활성화</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050" dirty="0">
                          <a:solidFill>
                            <a:srgbClr val="1F2A37"/>
                          </a:solidFill>
                        </a:rPr>
                        <a:t>INT32 → INT8</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050" dirty="0">
                          <a:solidFill>
                            <a:srgbClr val="1F2A37"/>
                          </a:solidFill>
                        </a:rPr>
                        <a:t>4</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292608">
                <a:tc>
                  <a:txBody>
                    <a:bodyPr/>
                    <a:lstStyle/>
                    <a:p>
                      <a:pPr algn="l" indent="0" marL="0">
                        <a:buNone/>
                      </a:pPr>
                      <a:r>
                        <a:rPr lang="en-US" sz="1050" dirty="0">
                          <a:solidFill>
                            <a:srgbClr val="1F2A37"/>
                          </a:solidFill>
                        </a:rPr>
                        <a:t>BN+SiLU 128</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A37"/>
                          </a:solidFill>
                        </a:rPr>
                        <a:t>정규화 및 활성화</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A37"/>
                          </a:solidFill>
                        </a:rPr>
                        <a:t>INT32 → INT8</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A37"/>
                          </a:solidFill>
                        </a:rPr>
                        <a:t>2</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292608">
                <a:tc>
                  <a:txBody>
                    <a:bodyPr/>
                    <a:lstStyle/>
                    <a:p>
                      <a:pPr algn="l" indent="0" marL="0">
                        <a:buNone/>
                      </a:pPr>
                      <a:r>
                        <a:rPr lang="en-US" sz="1050" dirty="0">
                          <a:solidFill>
                            <a:srgbClr val="1F2A37"/>
                          </a:solidFill>
                        </a:rPr>
                        <a:t>Split</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050" dirty="0">
                          <a:solidFill>
                            <a:srgbClr val="1F2A37"/>
                          </a:solidFill>
                        </a:rPr>
                        <a:t>128 → 64+64</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050" dirty="0">
                          <a:solidFill>
                            <a:srgbClr val="1F2A37"/>
                          </a:solidFill>
                        </a:rPr>
                        <a:t>INT8</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050" dirty="0">
                          <a:solidFill>
                            <a:srgbClr val="1F2A37"/>
                          </a:solidFill>
                        </a:rPr>
                        <a:t>1</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292608">
                <a:tc>
                  <a:txBody>
                    <a:bodyPr/>
                    <a:lstStyle/>
                    <a:p>
                      <a:pPr algn="l" indent="0" marL="0">
                        <a:buNone/>
                      </a:pPr>
                      <a:r>
                        <a:rPr lang="en-US" sz="1050" dirty="0">
                          <a:solidFill>
                            <a:srgbClr val="1F2A37"/>
                          </a:solidFill>
                        </a:rPr>
                        <a:t>Concat</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A37"/>
                          </a:solidFill>
                        </a:rPr>
                        <a:t>64×4 → 256</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A37"/>
                          </a:solidFill>
                        </a:rPr>
                        <a:t>INT8</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A37"/>
                          </a:solidFill>
                        </a:rPr>
                        <a:t>1</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292608">
                <a:tc>
                  <a:txBody>
                    <a:bodyPr/>
                    <a:lstStyle/>
                    <a:p>
                      <a:pPr algn="l" indent="0" marL="0">
                        <a:buNone/>
                      </a:pPr>
                      <a:r>
                        <a:rPr lang="en-US" sz="1050" dirty="0">
                          <a:solidFill>
                            <a:srgbClr val="1F2A37"/>
                          </a:solidFill>
                        </a:rPr>
                        <a:t>Residual Add</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050" dirty="0">
                          <a:solidFill>
                            <a:srgbClr val="1F2A37"/>
                          </a:solidFill>
                        </a:rPr>
                        <a:t>skip connection</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050" dirty="0">
                          <a:solidFill>
                            <a:srgbClr val="1F2A37"/>
                          </a:solidFill>
                        </a:rPr>
                        <a:t>INT8</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050" dirty="0">
                          <a:solidFill>
                            <a:srgbClr val="1F2A37"/>
                          </a:solidFill>
                        </a:rPr>
                        <a:t>2</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292608">
                <a:tc>
                  <a:txBody>
                    <a:bodyPr/>
                    <a:lstStyle/>
                    <a:p>
                      <a:pPr algn="l" indent="0" marL="0">
                        <a:buNone/>
                      </a:pPr>
                      <a:r>
                        <a:rPr lang="en-US" sz="1050" dirty="0">
                          <a:solidFill>
                            <a:srgbClr val="1F2A37"/>
                          </a:solidFill>
                        </a:rPr>
                        <a:t>Router</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A37"/>
                          </a:solidFill>
                        </a:rPr>
                        <a:t>반복 실행 경로 제어</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A37"/>
                          </a:solidFill>
                        </a:rPr>
                        <a:t>AXI4-Stream</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A37"/>
                          </a:solidFill>
                        </a:rPr>
                        <a:t>반복</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bl>
          </a:graphicData>
        </a:graphic>
      </p:graphicFrame>
      <p:sp>
        <p:nvSpPr>
          <p:cNvPr id="8" name="Shape 5"/>
          <p:cNvSpPr/>
          <p:nvPr/>
        </p:nvSpPr>
        <p:spPr>
          <a:xfrm>
            <a:off x="8092440" y="1097280"/>
            <a:ext cx="82296" cy="310896"/>
          </a:xfrm>
          <a:prstGeom prst="rect">
            <a:avLst/>
          </a:prstGeom>
          <a:solidFill>
            <a:srgbClr val="2F5597"/>
          </a:solidFill>
          <a:ln/>
        </p:spPr>
      </p:sp>
      <p:sp>
        <p:nvSpPr>
          <p:cNvPr id="9" name="Text 6"/>
          <p:cNvSpPr/>
          <p:nvPr/>
        </p:nvSpPr>
        <p:spPr>
          <a:xfrm>
            <a:off x="8257032" y="1069848"/>
            <a:ext cx="349300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인터페이스</a:t>
            </a:r>
            <a:endParaRPr lang="en-US" sz="1600" dirty="0"/>
          </a:p>
        </p:txBody>
      </p:sp>
      <p:sp>
        <p:nvSpPr>
          <p:cNvPr id="10" name="Text 7"/>
          <p:cNvSpPr/>
          <p:nvPr/>
        </p:nvSpPr>
        <p:spPr>
          <a:xfrm>
            <a:off x="8138160" y="1508760"/>
            <a:ext cx="3566160" cy="3017520"/>
          </a:xfrm>
          <a:prstGeom prst="rect">
            <a:avLst/>
          </a:prstGeom>
          <a:noFill/>
          <a:ln/>
        </p:spPr>
        <p:txBody>
          <a:bodyPr wrap="square" rtlCol="0" anchor="t"/>
          <a:lstStyle/>
          <a:p>
            <a:pPr marL="177800" indent="-177800">
              <a:lnSpc>
                <a:spcPct val="108000"/>
              </a:lnSpc>
              <a:spcAft>
                <a:spcPts val="15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Feature map: AXI4-Stream</a:t>
            </a:r>
            <a:endParaRPr lang="en-US" sz="1300" dirty="0"/>
          </a:p>
          <a:p>
            <a:pPr marL="177800" indent="-177800">
              <a:lnSpc>
                <a:spcPct val="108000"/>
              </a:lnSpc>
              <a:spcAft>
                <a:spcPts val="15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제어 인자: AXI4-Lite</a:t>
            </a:r>
            <a:endParaRPr lang="en-US" sz="1300" dirty="0"/>
          </a:p>
          <a:p>
            <a:pPr marL="177800" indent="-177800">
              <a:lnSpc>
                <a:spcPct val="108000"/>
              </a:lnSpc>
              <a:spcAft>
                <a:spcPts val="15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Weight: AXI Master 또는 BRAM</a:t>
            </a:r>
            <a:endParaRPr lang="en-US" sz="1300" dirty="0"/>
          </a:p>
          <a:p>
            <a:pPr marL="177800" indent="-177800">
              <a:lnSpc>
                <a:spcPct val="108000"/>
              </a:lnSpc>
              <a:spcAft>
                <a:spcPts val="15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BN scale/shift: BRAM 기반 파라미터 메모리</a:t>
            </a:r>
            <a:endParaRPr lang="en-US" sz="1300" dirty="0"/>
          </a:p>
          <a:p>
            <a:pPr marL="177800" indent="-177800">
              <a:lnSpc>
                <a:spcPct val="108000"/>
              </a:lnSpc>
              <a:spcAft>
                <a:spcPts val="15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외부 메모리 전송: AXI DMA 및 PS DDR</a:t>
            </a:r>
            <a:endParaRPr lang="en-US" sz="1300" dirty="0"/>
          </a:p>
        </p:txBody>
      </p:sp>
      <p:sp>
        <p:nvSpPr>
          <p:cNvPr id="11" name="Shape 8"/>
          <p:cNvSpPr/>
          <p:nvPr/>
        </p:nvSpPr>
        <p:spPr>
          <a:xfrm>
            <a:off x="7909560" y="1097280"/>
            <a:ext cx="0" cy="4434840"/>
          </a:xfrm>
          <a:prstGeom prst="line">
            <a:avLst/>
          </a:prstGeom>
          <a:noFill/>
          <a:ln w="12700">
            <a:solidFill>
              <a:srgbClr val="D9E0EC"/>
            </a:solidFill>
            <a:prstDash val="solid"/>
          </a:ln>
        </p:spPr>
      </p:sp>
      <p:sp>
        <p:nvSpPr>
          <p:cNvPr id="12" name="Shape 9"/>
          <p:cNvSpPr/>
          <p:nvPr/>
        </p:nvSpPr>
        <p:spPr>
          <a:xfrm>
            <a:off x="457200" y="4892040"/>
            <a:ext cx="82296" cy="310896"/>
          </a:xfrm>
          <a:prstGeom prst="rect">
            <a:avLst/>
          </a:prstGeom>
          <a:solidFill>
            <a:srgbClr val="2F5597"/>
          </a:solidFill>
          <a:ln/>
        </p:spPr>
      </p:sp>
      <p:sp>
        <p:nvSpPr>
          <p:cNvPr id="13" name="Text 10"/>
          <p:cNvSpPr/>
          <p:nvPr/>
        </p:nvSpPr>
        <p:spPr>
          <a:xfrm>
            <a:off x="621792" y="4864608"/>
            <a:ext cx="1108252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IP 인터페이스 데이터 경로</a:t>
            </a:r>
            <a:endParaRPr lang="en-US" sz="1600" dirty="0"/>
          </a:p>
        </p:txBody>
      </p:sp>
      <p:sp>
        <p:nvSpPr>
          <p:cNvPr id="14" name="Shape 11"/>
          <p:cNvSpPr/>
          <p:nvPr/>
        </p:nvSpPr>
        <p:spPr>
          <a:xfrm>
            <a:off x="457200" y="5349240"/>
            <a:ext cx="1497003" cy="502920"/>
          </a:xfrm>
          <a:prstGeom prst="roundRect">
            <a:avLst>
              <a:gd name="adj" fmla="val 10909"/>
            </a:avLst>
          </a:prstGeom>
          <a:solidFill>
            <a:srgbClr val="6B7793"/>
          </a:solidFill>
          <a:ln w="15875">
            <a:solidFill>
              <a:srgbClr val="6B7793"/>
            </a:solidFill>
            <a:prstDash val="solid"/>
          </a:ln>
        </p:spPr>
      </p:sp>
      <p:sp>
        <p:nvSpPr>
          <p:cNvPr id="15" name="Text 12"/>
          <p:cNvSpPr/>
          <p:nvPr/>
        </p:nvSpPr>
        <p:spPr>
          <a:xfrm>
            <a:off x="484632" y="5376672"/>
            <a:ext cx="1442139" cy="448056"/>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PS DDR</a:t>
            </a:r>
            <a:endParaRPr lang="en-US" sz="950" dirty="0"/>
          </a:p>
        </p:txBody>
      </p:sp>
      <p:sp>
        <p:nvSpPr>
          <p:cNvPr id="16" name="Shape 13"/>
          <p:cNvSpPr/>
          <p:nvPr/>
        </p:nvSpPr>
        <p:spPr>
          <a:xfrm>
            <a:off x="1954203" y="5596128"/>
            <a:ext cx="109728" cy="914"/>
          </a:xfrm>
          <a:prstGeom prst="line">
            <a:avLst/>
          </a:prstGeom>
          <a:noFill/>
          <a:ln w="19050">
            <a:solidFill>
              <a:srgbClr val="8C93A3"/>
            </a:solidFill>
            <a:prstDash val="solid"/>
            <a:tailEnd type="triangle"/>
          </a:ln>
        </p:spPr>
      </p:sp>
      <p:sp>
        <p:nvSpPr>
          <p:cNvPr id="17" name="Shape 14"/>
          <p:cNvSpPr/>
          <p:nvPr/>
        </p:nvSpPr>
        <p:spPr>
          <a:xfrm>
            <a:off x="2063931" y="5349240"/>
            <a:ext cx="1497003" cy="502920"/>
          </a:xfrm>
          <a:prstGeom prst="roundRect">
            <a:avLst>
              <a:gd name="adj" fmla="val 10909"/>
            </a:avLst>
          </a:prstGeom>
          <a:solidFill>
            <a:srgbClr val="6B7793"/>
          </a:solidFill>
          <a:ln w="15875">
            <a:solidFill>
              <a:srgbClr val="6B7793"/>
            </a:solidFill>
            <a:prstDash val="solid"/>
          </a:ln>
        </p:spPr>
      </p:sp>
      <p:sp>
        <p:nvSpPr>
          <p:cNvPr id="18" name="Text 15"/>
          <p:cNvSpPr/>
          <p:nvPr/>
        </p:nvSpPr>
        <p:spPr>
          <a:xfrm>
            <a:off x="2091363" y="5376672"/>
            <a:ext cx="1442139" cy="448056"/>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AXI DMA</a:t>
            </a:r>
            <a:endParaRPr lang="en-US" sz="950" dirty="0"/>
          </a:p>
        </p:txBody>
      </p:sp>
      <p:sp>
        <p:nvSpPr>
          <p:cNvPr id="19" name="Shape 16"/>
          <p:cNvSpPr/>
          <p:nvPr/>
        </p:nvSpPr>
        <p:spPr>
          <a:xfrm>
            <a:off x="3560935" y="5596128"/>
            <a:ext cx="109728" cy="914"/>
          </a:xfrm>
          <a:prstGeom prst="line">
            <a:avLst/>
          </a:prstGeom>
          <a:noFill/>
          <a:ln w="19050">
            <a:solidFill>
              <a:srgbClr val="8C93A3"/>
            </a:solidFill>
            <a:prstDash val="solid"/>
            <a:tailEnd type="triangle"/>
          </a:ln>
        </p:spPr>
      </p:sp>
      <p:sp>
        <p:nvSpPr>
          <p:cNvPr id="20" name="Shape 17"/>
          <p:cNvSpPr/>
          <p:nvPr/>
        </p:nvSpPr>
        <p:spPr>
          <a:xfrm>
            <a:off x="3670663" y="5349240"/>
            <a:ext cx="1497003" cy="502920"/>
          </a:xfrm>
          <a:prstGeom prst="roundRect">
            <a:avLst>
              <a:gd name="adj" fmla="val 10909"/>
            </a:avLst>
          </a:prstGeom>
          <a:solidFill>
            <a:srgbClr val="6B7793"/>
          </a:solidFill>
          <a:ln w="15875">
            <a:solidFill>
              <a:srgbClr val="6B7793"/>
            </a:solidFill>
            <a:prstDash val="solid"/>
          </a:ln>
        </p:spPr>
      </p:sp>
      <p:sp>
        <p:nvSpPr>
          <p:cNvPr id="21" name="Text 18"/>
          <p:cNvSpPr/>
          <p:nvPr/>
        </p:nvSpPr>
        <p:spPr>
          <a:xfrm>
            <a:off x="3698095" y="5376672"/>
            <a:ext cx="1442139" cy="448056"/>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AXI4-Stream (Feature map)</a:t>
            </a:r>
            <a:endParaRPr lang="en-US" sz="950" dirty="0"/>
          </a:p>
        </p:txBody>
      </p:sp>
      <p:sp>
        <p:nvSpPr>
          <p:cNvPr id="22" name="Shape 19"/>
          <p:cNvSpPr/>
          <p:nvPr/>
        </p:nvSpPr>
        <p:spPr>
          <a:xfrm>
            <a:off x="5167666" y="5596128"/>
            <a:ext cx="109728" cy="914"/>
          </a:xfrm>
          <a:prstGeom prst="line">
            <a:avLst/>
          </a:prstGeom>
          <a:noFill/>
          <a:ln w="19050">
            <a:solidFill>
              <a:srgbClr val="8C93A3"/>
            </a:solidFill>
            <a:prstDash val="solid"/>
            <a:tailEnd type="triangle"/>
          </a:ln>
        </p:spPr>
      </p:sp>
      <p:sp>
        <p:nvSpPr>
          <p:cNvPr id="23" name="Shape 20"/>
          <p:cNvSpPr/>
          <p:nvPr/>
        </p:nvSpPr>
        <p:spPr>
          <a:xfrm>
            <a:off x="5277394" y="5349240"/>
            <a:ext cx="1497003" cy="502920"/>
          </a:xfrm>
          <a:prstGeom prst="roundRect">
            <a:avLst>
              <a:gd name="adj" fmla="val 10909"/>
            </a:avLst>
          </a:prstGeom>
          <a:solidFill>
            <a:srgbClr val="2F5597"/>
          </a:solidFill>
          <a:ln w="15875">
            <a:solidFill>
              <a:srgbClr val="2F5597"/>
            </a:solidFill>
            <a:prstDash val="solid"/>
          </a:ln>
        </p:spPr>
      </p:sp>
      <p:sp>
        <p:nvSpPr>
          <p:cNvPr id="24" name="Text 21"/>
          <p:cNvSpPr/>
          <p:nvPr/>
        </p:nvSpPr>
        <p:spPr>
          <a:xfrm>
            <a:off x="5304826" y="5376672"/>
            <a:ext cx="1442139" cy="448056"/>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HLS IP</a:t>
            </a:r>
            <a:endParaRPr lang="en-US" sz="950" dirty="0"/>
          </a:p>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(AXI4-Lite 제어)</a:t>
            </a:r>
            <a:endParaRPr lang="en-US" sz="950" dirty="0"/>
          </a:p>
        </p:txBody>
      </p:sp>
      <p:sp>
        <p:nvSpPr>
          <p:cNvPr id="25" name="Shape 22"/>
          <p:cNvSpPr/>
          <p:nvPr/>
        </p:nvSpPr>
        <p:spPr>
          <a:xfrm>
            <a:off x="6774398" y="5596128"/>
            <a:ext cx="109728" cy="914"/>
          </a:xfrm>
          <a:prstGeom prst="line">
            <a:avLst/>
          </a:prstGeom>
          <a:noFill/>
          <a:ln w="19050">
            <a:solidFill>
              <a:srgbClr val="8C93A3"/>
            </a:solidFill>
            <a:prstDash val="solid"/>
            <a:tailEnd type="triangle"/>
          </a:ln>
        </p:spPr>
      </p:sp>
      <p:sp>
        <p:nvSpPr>
          <p:cNvPr id="26" name="Shape 23"/>
          <p:cNvSpPr/>
          <p:nvPr/>
        </p:nvSpPr>
        <p:spPr>
          <a:xfrm>
            <a:off x="6884126" y="5349240"/>
            <a:ext cx="1497003" cy="502920"/>
          </a:xfrm>
          <a:prstGeom prst="roundRect">
            <a:avLst>
              <a:gd name="adj" fmla="val 10909"/>
            </a:avLst>
          </a:prstGeom>
          <a:solidFill>
            <a:srgbClr val="6B7793"/>
          </a:solidFill>
          <a:ln w="15875">
            <a:solidFill>
              <a:srgbClr val="6B7793"/>
            </a:solidFill>
            <a:prstDash val="solid"/>
          </a:ln>
        </p:spPr>
      </p:sp>
      <p:sp>
        <p:nvSpPr>
          <p:cNvPr id="27" name="Text 24"/>
          <p:cNvSpPr/>
          <p:nvPr/>
        </p:nvSpPr>
        <p:spPr>
          <a:xfrm>
            <a:off x="6911558" y="5376672"/>
            <a:ext cx="1442139" cy="448056"/>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AXI4-Stream</a:t>
            </a:r>
            <a:endParaRPr lang="en-US" sz="950" dirty="0"/>
          </a:p>
        </p:txBody>
      </p:sp>
      <p:sp>
        <p:nvSpPr>
          <p:cNvPr id="28" name="Shape 25"/>
          <p:cNvSpPr/>
          <p:nvPr/>
        </p:nvSpPr>
        <p:spPr>
          <a:xfrm>
            <a:off x="8381129" y="5596128"/>
            <a:ext cx="109728" cy="914"/>
          </a:xfrm>
          <a:prstGeom prst="line">
            <a:avLst/>
          </a:prstGeom>
          <a:noFill/>
          <a:ln w="19050">
            <a:solidFill>
              <a:srgbClr val="8C93A3"/>
            </a:solidFill>
            <a:prstDash val="solid"/>
            <a:tailEnd type="triangle"/>
          </a:ln>
        </p:spPr>
      </p:sp>
      <p:sp>
        <p:nvSpPr>
          <p:cNvPr id="29" name="Shape 26"/>
          <p:cNvSpPr/>
          <p:nvPr/>
        </p:nvSpPr>
        <p:spPr>
          <a:xfrm>
            <a:off x="8490857" y="5349240"/>
            <a:ext cx="1497003" cy="502920"/>
          </a:xfrm>
          <a:prstGeom prst="roundRect">
            <a:avLst>
              <a:gd name="adj" fmla="val 10909"/>
            </a:avLst>
          </a:prstGeom>
          <a:solidFill>
            <a:srgbClr val="6B7793"/>
          </a:solidFill>
          <a:ln w="15875">
            <a:solidFill>
              <a:srgbClr val="6B7793"/>
            </a:solidFill>
            <a:prstDash val="solid"/>
          </a:ln>
        </p:spPr>
      </p:sp>
      <p:sp>
        <p:nvSpPr>
          <p:cNvPr id="30" name="Text 27"/>
          <p:cNvSpPr/>
          <p:nvPr/>
        </p:nvSpPr>
        <p:spPr>
          <a:xfrm>
            <a:off x="8518289" y="5376672"/>
            <a:ext cx="1442139" cy="448056"/>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AXI DMA</a:t>
            </a:r>
            <a:endParaRPr lang="en-US" sz="950" dirty="0"/>
          </a:p>
        </p:txBody>
      </p:sp>
      <p:sp>
        <p:nvSpPr>
          <p:cNvPr id="31" name="Shape 28"/>
          <p:cNvSpPr/>
          <p:nvPr/>
        </p:nvSpPr>
        <p:spPr>
          <a:xfrm>
            <a:off x="9987861" y="5596128"/>
            <a:ext cx="109728" cy="914"/>
          </a:xfrm>
          <a:prstGeom prst="line">
            <a:avLst/>
          </a:prstGeom>
          <a:noFill/>
          <a:ln w="19050">
            <a:solidFill>
              <a:srgbClr val="8C93A3"/>
            </a:solidFill>
            <a:prstDash val="solid"/>
            <a:tailEnd type="triangle"/>
          </a:ln>
        </p:spPr>
      </p:sp>
      <p:sp>
        <p:nvSpPr>
          <p:cNvPr id="32" name="Shape 29"/>
          <p:cNvSpPr/>
          <p:nvPr/>
        </p:nvSpPr>
        <p:spPr>
          <a:xfrm>
            <a:off x="10097589" y="5349240"/>
            <a:ext cx="1497003" cy="502920"/>
          </a:xfrm>
          <a:prstGeom prst="roundRect">
            <a:avLst>
              <a:gd name="adj" fmla="val 10909"/>
            </a:avLst>
          </a:prstGeom>
          <a:solidFill>
            <a:srgbClr val="6B7793"/>
          </a:solidFill>
          <a:ln w="15875">
            <a:solidFill>
              <a:srgbClr val="6B7793"/>
            </a:solidFill>
            <a:prstDash val="solid"/>
          </a:ln>
        </p:spPr>
      </p:sp>
      <p:sp>
        <p:nvSpPr>
          <p:cNvPr id="33" name="Text 30"/>
          <p:cNvSpPr/>
          <p:nvPr/>
        </p:nvSpPr>
        <p:spPr>
          <a:xfrm>
            <a:off x="10125021" y="5376672"/>
            <a:ext cx="1442139" cy="448056"/>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PS DDR</a:t>
            </a:r>
            <a:endParaRPr lang="en-US" sz="950" dirty="0"/>
          </a:p>
        </p:txBody>
      </p:sp>
      <p:sp>
        <p:nvSpPr>
          <p:cNvPr id="34" name="Text 31"/>
          <p:cNvSpPr/>
          <p:nvPr/>
        </p:nvSpPr>
        <p:spPr>
          <a:xfrm>
            <a:off x="457200" y="6547104"/>
            <a:ext cx="9875520" cy="256032"/>
          </a:xfrm>
          <a:prstGeom prst="rect">
            <a:avLst/>
          </a:prstGeom>
          <a:noFill/>
          <a:ln/>
        </p:spPr>
        <p:txBody>
          <a:bodyPr wrap="square" rtlCol="0" anchor="ctr"/>
          <a:lstStyle/>
          <a:p>
            <a:pPr indent="0" marL="0">
              <a:buNone/>
            </a:pPr>
            <a:r>
              <a:rPr lang="en-US" sz="900" i="1" dirty="0">
                <a:solidFill>
                  <a:srgbClr val="5B6472"/>
                </a:solidFill>
                <a:latin typeface="맑은 고딕" pitchFamily="34" charset="0"/>
                <a:ea typeface="맑은 고딕" pitchFamily="34" charset="-122"/>
                <a:cs typeface="맑은 고딕" pitchFamily="34" charset="-120"/>
              </a:rPr>
              <a:t>출처: HLS IP component.xml 및 Vivado Block Design 포트 확인 기준</a:t>
            </a:r>
            <a:endParaRPr lang="en-US" sz="900" dirty="0"/>
          </a:p>
        </p:txBody>
      </p:sp>
      <p:sp>
        <p:nvSpPr>
          <p:cNvPr id="35" name="Text 32"/>
          <p:cNvSpPr/>
          <p:nvPr/>
        </p:nvSpPr>
        <p:spPr>
          <a:xfrm>
            <a:off x="11064240" y="6547104"/>
            <a:ext cx="685800" cy="256032"/>
          </a:xfrm>
          <a:prstGeom prst="rect">
            <a:avLst/>
          </a:prstGeom>
          <a:noFill/>
          <a:ln/>
        </p:spPr>
        <p:txBody>
          <a:bodyPr wrap="square"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4 / 19</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472C4"/>
          </a:solidFill>
          <a:ln/>
        </p:spPr>
      </p:sp>
      <p:sp>
        <p:nvSpPr>
          <p:cNvPr id="3" name="Text 1"/>
          <p:cNvSpPr/>
          <p:nvPr/>
        </p:nvSpPr>
        <p:spPr>
          <a:xfrm>
            <a:off x="457200" y="182880"/>
            <a:ext cx="9875520" cy="566928"/>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개발 및 검증 절차</a:t>
            </a:r>
            <a:endParaRPr lang="en-US" sz="2600" dirty="0"/>
          </a:p>
        </p:txBody>
      </p:sp>
      <p:sp>
        <p:nvSpPr>
          <p:cNvPr id="4" name="Text 2"/>
          <p:cNvSpPr/>
          <p:nvPr/>
        </p:nvSpPr>
        <p:spPr>
          <a:xfrm>
            <a:off x="10698480" y="73152"/>
            <a:ext cx="1234440" cy="731520"/>
          </a:xfrm>
          <a:prstGeom prst="rect">
            <a:avLst/>
          </a:prstGeom>
          <a:noFill/>
          <a:ln/>
        </p:spPr>
        <p:txBody>
          <a:bodyPr wrap="square" rtlCol="0" anchor="ctr"/>
          <a:lstStyle/>
          <a:p>
            <a:pPr algn="r" indent="0" marL="0">
              <a:buNone/>
            </a:pPr>
            <a:r>
              <a:rPr lang="en-US" sz="3000" b="1" dirty="0">
                <a:solidFill>
                  <a:srgbClr val="9BB3E8"/>
                </a:solidFill>
                <a:latin typeface="Calibri" pitchFamily="34" charset="0"/>
                <a:ea typeface="Calibri" pitchFamily="34" charset="-122"/>
                <a:cs typeface="Calibri" pitchFamily="34" charset="-120"/>
              </a:rPr>
              <a:t>05</a:t>
            </a:r>
            <a:endParaRPr lang="en-US" sz="3000" dirty="0"/>
          </a:p>
        </p:txBody>
      </p:sp>
      <p:sp>
        <p:nvSpPr>
          <p:cNvPr id="5" name="Shape 3"/>
          <p:cNvSpPr/>
          <p:nvPr/>
        </p:nvSpPr>
        <p:spPr>
          <a:xfrm>
            <a:off x="457200" y="1097280"/>
            <a:ext cx="82296" cy="310896"/>
          </a:xfrm>
          <a:prstGeom prst="rect">
            <a:avLst/>
          </a:prstGeom>
          <a:solidFill>
            <a:srgbClr val="4472C4"/>
          </a:solidFill>
          <a:ln/>
        </p:spPr>
      </p:sp>
      <p:sp>
        <p:nvSpPr>
          <p:cNvPr id="6" name="Text 4"/>
          <p:cNvSpPr/>
          <p:nvPr/>
        </p:nvSpPr>
        <p:spPr>
          <a:xfrm>
            <a:off x="621792" y="1069848"/>
            <a:ext cx="715060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개발 흐름</a:t>
            </a:r>
            <a:endParaRPr lang="en-US" sz="1600" dirty="0"/>
          </a:p>
        </p:txBody>
      </p:sp>
      <p:sp>
        <p:nvSpPr>
          <p:cNvPr id="7" name="Shape 5"/>
          <p:cNvSpPr/>
          <p:nvPr/>
        </p:nvSpPr>
        <p:spPr>
          <a:xfrm>
            <a:off x="457200" y="1536192"/>
            <a:ext cx="1536192" cy="566928"/>
          </a:xfrm>
          <a:prstGeom prst="roundRect">
            <a:avLst>
              <a:gd name="adj" fmla="val 9677"/>
            </a:avLst>
          </a:prstGeom>
          <a:solidFill>
            <a:srgbClr val="44546A"/>
          </a:solidFill>
          <a:ln w="15875">
            <a:solidFill>
              <a:srgbClr val="44546A"/>
            </a:solidFill>
            <a:prstDash val="solid"/>
          </a:ln>
        </p:spPr>
      </p:sp>
      <p:sp>
        <p:nvSpPr>
          <p:cNvPr id="8" name="Text 6"/>
          <p:cNvSpPr/>
          <p:nvPr/>
        </p:nvSpPr>
        <p:spPr>
          <a:xfrm>
            <a:off x="484632" y="1563624"/>
            <a:ext cx="1481328" cy="512064"/>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PyTorch 학습</a:t>
            </a:r>
            <a:endParaRPr lang="en-US" sz="950" dirty="0"/>
          </a:p>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파라미터</a:t>
            </a:r>
            <a:endParaRPr lang="en-US" sz="950" dirty="0"/>
          </a:p>
        </p:txBody>
      </p:sp>
      <p:sp>
        <p:nvSpPr>
          <p:cNvPr id="9" name="Shape 7"/>
          <p:cNvSpPr/>
          <p:nvPr/>
        </p:nvSpPr>
        <p:spPr>
          <a:xfrm>
            <a:off x="1993392" y="1819656"/>
            <a:ext cx="128016" cy="914"/>
          </a:xfrm>
          <a:prstGeom prst="line">
            <a:avLst/>
          </a:prstGeom>
          <a:noFill/>
          <a:ln w="19050">
            <a:solidFill>
              <a:srgbClr val="8C93A3"/>
            </a:solidFill>
            <a:prstDash val="solid"/>
            <a:tailEnd type="triangle"/>
          </a:ln>
        </p:spPr>
      </p:sp>
      <p:sp>
        <p:nvSpPr>
          <p:cNvPr id="10" name="Shape 8"/>
          <p:cNvSpPr/>
          <p:nvPr/>
        </p:nvSpPr>
        <p:spPr>
          <a:xfrm>
            <a:off x="2121408" y="1536192"/>
            <a:ext cx="1536192" cy="566928"/>
          </a:xfrm>
          <a:prstGeom prst="roundRect">
            <a:avLst>
              <a:gd name="adj" fmla="val 9677"/>
            </a:avLst>
          </a:prstGeom>
          <a:solidFill>
            <a:srgbClr val="44546A"/>
          </a:solidFill>
          <a:ln w="15875">
            <a:solidFill>
              <a:srgbClr val="44546A"/>
            </a:solidFill>
            <a:prstDash val="solid"/>
          </a:ln>
        </p:spPr>
      </p:sp>
      <p:sp>
        <p:nvSpPr>
          <p:cNvPr id="11" name="Text 9"/>
          <p:cNvSpPr/>
          <p:nvPr/>
        </p:nvSpPr>
        <p:spPr>
          <a:xfrm>
            <a:off x="2148840" y="1563624"/>
            <a:ext cx="1481328" cy="512064"/>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Golden 데이터</a:t>
            </a:r>
            <a:endParaRPr lang="en-US" sz="950" dirty="0"/>
          </a:p>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생성</a:t>
            </a:r>
            <a:endParaRPr lang="en-US" sz="950" dirty="0"/>
          </a:p>
        </p:txBody>
      </p:sp>
      <p:sp>
        <p:nvSpPr>
          <p:cNvPr id="12" name="Shape 10"/>
          <p:cNvSpPr/>
          <p:nvPr/>
        </p:nvSpPr>
        <p:spPr>
          <a:xfrm>
            <a:off x="3657600" y="1819656"/>
            <a:ext cx="128016" cy="914"/>
          </a:xfrm>
          <a:prstGeom prst="line">
            <a:avLst/>
          </a:prstGeom>
          <a:noFill/>
          <a:ln w="19050">
            <a:solidFill>
              <a:srgbClr val="8C93A3"/>
            </a:solidFill>
            <a:prstDash val="solid"/>
            <a:tailEnd type="triangle"/>
          </a:ln>
        </p:spPr>
      </p:sp>
      <p:sp>
        <p:nvSpPr>
          <p:cNvPr id="13" name="Shape 11"/>
          <p:cNvSpPr/>
          <p:nvPr/>
        </p:nvSpPr>
        <p:spPr>
          <a:xfrm>
            <a:off x="3785616" y="1536192"/>
            <a:ext cx="1536192" cy="566928"/>
          </a:xfrm>
          <a:prstGeom prst="roundRect">
            <a:avLst>
              <a:gd name="adj" fmla="val 9677"/>
            </a:avLst>
          </a:prstGeom>
          <a:solidFill>
            <a:srgbClr val="44546A"/>
          </a:solidFill>
          <a:ln w="15875">
            <a:solidFill>
              <a:srgbClr val="44546A"/>
            </a:solidFill>
            <a:prstDash val="solid"/>
          </a:ln>
        </p:spPr>
      </p:sp>
      <p:sp>
        <p:nvSpPr>
          <p:cNvPr id="14" name="Text 12"/>
          <p:cNvSpPr/>
          <p:nvPr/>
        </p:nvSpPr>
        <p:spPr>
          <a:xfrm>
            <a:off x="3813048" y="1563624"/>
            <a:ext cx="1481328" cy="512064"/>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HLS C</a:t>
            </a:r>
            <a:endParaRPr lang="en-US" sz="950" dirty="0"/>
          </a:p>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Simulation</a:t>
            </a:r>
            <a:endParaRPr lang="en-US" sz="950" dirty="0"/>
          </a:p>
        </p:txBody>
      </p:sp>
      <p:sp>
        <p:nvSpPr>
          <p:cNvPr id="15" name="Shape 13"/>
          <p:cNvSpPr/>
          <p:nvPr/>
        </p:nvSpPr>
        <p:spPr>
          <a:xfrm>
            <a:off x="5321808" y="1819656"/>
            <a:ext cx="128016" cy="914"/>
          </a:xfrm>
          <a:prstGeom prst="line">
            <a:avLst/>
          </a:prstGeom>
          <a:noFill/>
          <a:ln w="19050">
            <a:solidFill>
              <a:srgbClr val="8C93A3"/>
            </a:solidFill>
            <a:prstDash val="solid"/>
            <a:tailEnd type="triangle"/>
          </a:ln>
        </p:spPr>
      </p:sp>
      <p:sp>
        <p:nvSpPr>
          <p:cNvPr id="16" name="Shape 14"/>
          <p:cNvSpPr/>
          <p:nvPr/>
        </p:nvSpPr>
        <p:spPr>
          <a:xfrm>
            <a:off x="5449824" y="1536192"/>
            <a:ext cx="1536192" cy="566928"/>
          </a:xfrm>
          <a:prstGeom prst="roundRect">
            <a:avLst>
              <a:gd name="adj" fmla="val 9677"/>
            </a:avLst>
          </a:prstGeom>
          <a:solidFill>
            <a:srgbClr val="44546A"/>
          </a:solidFill>
          <a:ln w="15875">
            <a:solidFill>
              <a:srgbClr val="44546A"/>
            </a:solidFill>
            <a:prstDash val="solid"/>
          </a:ln>
        </p:spPr>
      </p:sp>
      <p:sp>
        <p:nvSpPr>
          <p:cNvPr id="17" name="Text 15"/>
          <p:cNvSpPr/>
          <p:nvPr/>
        </p:nvSpPr>
        <p:spPr>
          <a:xfrm>
            <a:off x="5477256" y="1563624"/>
            <a:ext cx="1481328" cy="512064"/>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HLS C</a:t>
            </a:r>
            <a:endParaRPr lang="en-US" sz="950" dirty="0"/>
          </a:p>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Synthesis</a:t>
            </a:r>
            <a:endParaRPr lang="en-US" sz="950" dirty="0"/>
          </a:p>
        </p:txBody>
      </p:sp>
      <p:sp>
        <p:nvSpPr>
          <p:cNvPr id="18" name="Shape 16"/>
          <p:cNvSpPr/>
          <p:nvPr/>
        </p:nvSpPr>
        <p:spPr>
          <a:xfrm>
            <a:off x="6986016" y="1819656"/>
            <a:ext cx="128016" cy="914"/>
          </a:xfrm>
          <a:prstGeom prst="line">
            <a:avLst/>
          </a:prstGeom>
          <a:noFill/>
          <a:ln w="19050">
            <a:solidFill>
              <a:srgbClr val="8C93A3"/>
            </a:solidFill>
            <a:prstDash val="solid"/>
            <a:tailEnd type="triangle"/>
          </a:ln>
        </p:spPr>
      </p:sp>
      <p:sp>
        <p:nvSpPr>
          <p:cNvPr id="19" name="Shape 17"/>
          <p:cNvSpPr/>
          <p:nvPr/>
        </p:nvSpPr>
        <p:spPr>
          <a:xfrm>
            <a:off x="7114032" y="1536192"/>
            <a:ext cx="1536192" cy="566928"/>
          </a:xfrm>
          <a:prstGeom prst="roundRect">
            <a:avLst>
              <a:gd name="adj" fmla="val 9677"/>
            </a:avLst>
          </a:prstGeom>
          <a:solidFill>
            <a:srgbClr val="44546A"/>
          </a:solidFill>
          <a:ln w="15875">
            <a:solidFill>
              <a:srgbClr val="44546A"/>
            </a:solidFill>
            <a:prstDash val="solid"/>
          </a:ln>
        </p:spPr>
      </p:sp>
      <p:sp>
        <p:nvSpPr>
          <p:cNvPr id="20" name="Text 18"/>
          <p:cNvSpPr/>
          <p:nvPr/>
        </p:nvSpPr>
        <p:spPr>
          <a:xfrm>
            <a:off x="7141464" y="1563624"/>
            <a:ext cx="1481328" cy="512064"/>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RTL</a:t>
            </a:r>
            <a:endParaRPr lang="en-US" sz="950" dirty="0"/>
          </a:p>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Co-simulation</a:t>
            </a:r>
            <a:endParaRPr lang="en-US" sz="950" dirty="0"/>
          </a:p>
        </p:txBody>
      </p:sp>
      <p:sp>
        <p:nvSpPr>
          <p:cNvPr id="21" name="Shape 19"/>
          <p:cNvSpPr/>
          <p:nvPr/>
        </p:nvSpPr>
        <p:spPr>
          <a:xfrm>
            <a:off x="8650224" y="1819656"/>
            <a:ext cx="128016" cy="914"/>
          </a:xfrm>
          <a:prstGeom prst="line">
            <a:avLst/>
          </a:prstGeom>
          <a:noFill/>
          <a:ln w="19050">
            <a:solidFill>
              <a:srgbClr val="8C93A3"/>
            </a:solidFill>
            <a:prstDash val="solid"/>
            <a:tailEnd type="triangle"/>
          </a:ln>
        </p:spPr>
      </p:sp>
      <p:sp>
        <p:nvSpPr>
          <p:cNvPr id="22" name="Shape 20"/>
          <p:cNvSpPr/>
          <p:nvPr/>
        </p:nvSpPr>
        <p:spPr>
          <a:xfrm>
            <a:off x="8778240" y="1536192"/>
            <a:ext cx="1536192" cy="566928"/>
          </a:xfrm>
          <a:prstGeom prst="roundRect">
            <a:avLst>
              <a:gd name="adj" fmla="val 9677"/>
            </a:avLst>
          </a:prstGeom>
          <a:solidFill>
            <a:srgbClr val="44546A"/>
          </a:solidFill>
          <a:ln w="15875">
            <a:solidFill>
              <a:srgbClr val="44546A"/>
            </a:solidFill>
            <a:prstDash val="solid"/>
          </a:ln>
        </p:spPr>
      </p:sp>
      <p:sp>
        <p:nvSpPr>
          <p:cNvPr id="23" name="Text 21"/>
          <p:cNvSpPr/>
          <p:nvPr/>
        </p:nvSpPr>
        <p:spPr>
          <a:xfrm>
            <a:off x="8805672" y="1563624"/>
            <a:ext cx="1481328" cy="512064"/>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Vivado IP</a:t>
            </a:r>
            <a:endParaRPr lang="en-US" sz="950" dirty="0"/>
          </a:p>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Export</a:t>
            </a:r>
            <a:endParaRPr lang="en-US" sz="950" dirty="0"/>
          </a:p>
        </p:txBody>
      </p:sp>
      <p:sp>
        <p:nvSpPr>
          <p:cNvPr id="24" name="Shape 22"/>
          <p:cNvSpPr/>
          <p:nvPr/>
        </p:nvSpPr>
        <p:spPr>
          <a:xfrm>
            <a:off x="10314432" y="1819656"/>
            <a:ext cx="128016" cy="914"/>
          </a:xfrm>
          <a:prstGeom prst="line">
            <a:avLst/>
          </a:prstGeom>
          <a:noFill/>
          <a:ln w="19050">
            <a:solidFill>
              <a:srgbClr val="8C93A3"/>
            </a:solidFill>
            <a:prstDash val="solid"/>
            <a:tailEnd type="triangle"/>
          </a:ln>
        </p:spPr>
      </p:sp>
      <p:sp>
        <p:nvSpPr>
          <p:cNvPr id="25" name="Shape 23"/>
          <p:cNvSpPr/>
          <p:nvPr/>
        </p:nvSpPr>
        <p:spPr>
          <a:xfrm>
            <a:off x="10442448" y="1536192"/>
            <a:ext cx="1536192" cy="566928"/>
          </a:xfrm>
          <a:prstGeom prst="roundRect">
            <a:avLst>
              <a:gd name="adj" fmla="val 9677"/>
            </a:avLst>
          </a:prstGeom>
          <a:solidFill>
            <a:srgbClr val="44546A"/>
          </a:solidFill>
          <a:ln w="15875">
            <a:solidFill>
              <a:srgbClr val="44546A"/>
            </a:solidFill>
            <a:prstDash val="solid"/>
          </a:ln>
        </p:spPr>
      </p:sp>
      <p:sp>
        <p:nvSpPr>
          <p:cNvPr id="26" name="Text 24"/>
          <p:cNvSpPr/>
          <p:nvPr/>
        </p:nvSpPr>
        <p:spPr>
          <a:xfrm>
            <a:off x="10469880" y="1563624"/>
            <a:ext cx="1481328" cy="512064"/>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IP Repository</a:t>
            </a:r>
            <a:endParaRPr lang="en-US" sz="950" dirty="0"/>
          </a:p>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등록</a:t>
            </a:r>
            <a:endParaRPr lang="en-US" sz="950" dirty="0"/>
          </a:p>
        </p:txBody>
      </p:sp>
      <p:sp>
        <p:nvSpPr>
          <p:cNvPr id="27" name="Shape 25"/>
          <p:cNvSpPr/>
          <p:nvPr/>
        </p:nvSpPr>
        <p:spPr>
          <a:xfrm>
            <a:off x="11210544" y="2103120"/>
            <a:ext cx="914" cy="384048"/>
          </a:xfrm>
          <a:prstGeom prst="line">
            <a:avLst/>
          </a:prstGeom>
          <a:noFill/>
          <a:ln w="19050">
            <a:solidFill>
              <a:srgbClr val="8C93A3"/>
            </a:solidFill>
            <a:prstDash val="solid"/>
            <a:tailEnd type="triangle"/>
          </a:ln>
        </p:spPr>
      </p:sp>
      <p:sp>
        <p:nvSpPr>
          <p:cNvPr id="28" name="Shape 26"/>
          <p:cNvSpPr/>
          <p:nvPr/>
        </p:nvSpPr>
        <p:spPr>
          <a:xfrm>
            <a:off x="10442448" y="2487168"/>
            <a:ext cx="1536192" cy="566928"/>
          </a:xfrm>
          <a:prstGeom prst="roundRect">
            <a:avLst>
              <a:gd name="adj" fmla="val 9677"/>
            </a:avLst>
          </a:prstGeom>
          <a:solidFill>
            <a:srgbClr val="44546A"/>
          </a:solidFill>
          <a:ln w="15875">
            <a:solidFill>
              <a:srgbClr val="44546A"/>
            </a:solidFill>
            <a:prstDash val="solid"/>
          </a:ln>
        </p:spPr>
      </p:sp>
      <p:sp>
        <p:nvSpPr>
          <p:cNvPr id="29" name="Text 27"/>
          <p:cNvSpPr/>
          <p:nvPr/>
        </p:nvSpPr>
        <p:spPr>
          <a:xfrm>
            <a:off x="10469880" y="2514600"/>
            <a:ext cx="1481328" cy="512064"/>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Block Design</a:t>
            </a:r>
            <a:endParaRPr lang="en-US" sz="950" dirty="0"/>
          </a:p>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통합</a:t>
            </a:r>
            <a:endParaRPr lang="en-US" sz="950" dirty="0"/>
          </a:p>
        </p:txBody>
      </p:sp>
      <p:sp>
        <p:nvSpPr>
          <p:cNvPr id="30" name="Shape 28"/>
          <p:cNvSpPr/>
          <p:nvPr/>
        </p:nvSpPr>
        <p:spPr>
          <a:xfrm flipH="1">
            <a:off x="10314432" y="2770632"/>
            <a:ext cx="128016" cy="914"/>
          </a:xfrm>
          <a:prstGeom prst="line">
            <a:avLst/>
          </a:prstGeom>
          <a:noFill/>
          <a:ln w="19050">
            <a:solidFill>
              <a:srgbClr val="8C93A3"/>
            </a:solidFill>
            <a:prstDash val="solid"/>
            <a:tailEnd type="triangle"/>
          </a:ln>
        </p:spPr>
      </p:sp>
      <p:sp>
        <p:nvSpPr>
          <p:cNvPr id="31" name="Shape 29"/>
          <p:cNvSpPr/>
          <p:nvPr/>
        </p:nvSpPr>
        <p:spPr>
          <a:xfrm>
            <a:off x="8778240" y="2487168"/>
            <a:ext cx="1536192" cy="566928"/>
          </a:xfrm>
          <a:prstGeom prst="roundRect">
            <a:avLst>
              <a:gd name="adj" fmla="val 9677"/>
            </a:avLst>
          </a:prstGeom>
          <a:solidFill>
            <a:srgbClr val="44546A"/>
          </a:solidFill>
          <a:ln w="15875">
            <a:solidFill>
              <a:srgbClr val="44546A"/>
            </a:solidFill>
            <a:prstDash val="solid"/>
          </a:ln>
        </p:spPr>
      </p:sp>
      <p:sp>
        <p:nvSpPr>
          <p:cNvPr id="32" name="Text 30"/>
          <p:cNvSpPr/>
          <p:nvPr/>
        </p:nvSpPr>
        <p:spPr>
          <a:xfrm>
            <a:off x="8805672" y="2514600"/>
            <a:ext cx="1481328" cy="512064"/>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Validate</a:t>
            </a:r>
            <a:endParaRPr lang="en-US" sz="950" dirty="0"/>
          </a:p>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Design</a:t>
            </a:r>
            <a:endParaRPr lang="en-US" sz="950" dirty="0"/>
          </a:p>
        </p:txBody>
      </p:sp>
      <p:sp>
        <p:nvSpPr>
          <p:cNvPr id="33" name="Shape 31"/>
          <p:cNvSpPr/>
          <p:nvPr/>
        </p:nvSpPr>
        <p:spPr>
          <a:xfrm flipH="1">
            <a:off x="8650224" y="2770632"/>
            <a:ext cx="128016" cy="914"/>
          </a:xfrm>
          <a:prstGeom prst="line">
            <a:avLst/>
          </a:prstGeom>
          <a:noFill/>
          <a:ln w="19050">
            <a:solidFill>
              <a:srgbClr val="8C93A3"/>
            </a:solidFill>
            <a:prstDash val="solid"/>
            <a:tailEnd type="triangle"/>
          </a:ln>
        </p:spPr>
      </p:sp>
      <p:sp>
        <p:nvSpPr>
          <p:cNvPr id="34" name="Shape 32"/>
          <p:cNvSpPr/>
          <p:nvPr/>
        </p:nvSpPr>
        <p:spPr>
          <a:xfrm>
            <a:off x="7114032" y="2487168"/>
            <a:ext cx="1536192" cy="566928"/>
          </a:xfrm>
          <a:prstGeom prst="roundRect">
            <a:avLst>
              <a:gd name="adj" fmla="val 9677"/>
            </a:avLst>
          </a:prstGeom>
          <a:solidFill>
            <a:srgbClr val="44546A"/>
          </a:solidFill>
          <a:ln w="15875">
            <a:solidFill>
              <a:srgbClr val="44546A"/>
            </a:solidFill>
            <a:prstDash val="solid"/>
          </a:ln>
        </p:spPr>
      </p:sp>
      <p:sp>
        <p:nvSpPr>
          <p:cNvPr id="35" name="Text 33"/>
          <p:cNvSpPr/>
          <p:nvPr/>
        </p:nvSpPr>
        <p:spPr>
          <a:xfrm>
            <a:off x="7141464" y="2514600"/>
            <a:ext cx="1481328" cy="512064"/>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Synthesis</a:t>
            </a:r>
            <a:endParaRPr lang="en-US" sz="950" dirty="0"/>
          </a:p>
        </p:txBody>
      </p:sp>
      <p:sp>
        <p:nvSpPr>
          <p:cNvPr id="36" name="Shape 34"/>
          <p:cNvSpPr/>
          <p:nvPr/>
        </p:nvSpPr>
        <p:spPr>
          <a:xfrm flipH="1">
            <a:off x="6986016" y="2770632"/>
            <a:ext cx="128016" cy="914"/>
          </a:xfrm>
          <a:prstGeom prst="line">
            <a:avLst/>
          </a:prstGeom>
          <a:noFill/>
          <a:ln w="19050">
            <a:solidFill>
              <a:srgbClr val="8C93A3"/>
            </a:solidFill>
            <a:prstDash val="solid"/>
            <a:tailEnd type="triangle"/>
          </a:ln>
        </p:spPr>
      </p:sp>
      <p:sp>
        <p:nvSpPr>
          <p:cNvPr id="37" name="Shape 35"/>
          <p:cNvSpPr/>
          <p:nvPr/>
        </p:nvSpPr>
        <p:spPr>
          <a:xfrm>
            <a:off x="5449824" y="2487168"/>
            <a:ext cx="1536192" cy="566928"/>
          </a:xfrm>
          <a:prstGeom prst="roundRect">
            <a:avLst>
              <a:gd name="adj" fmla="val 9677"/>
            </a:avLst>
          </a:prstGeom>
          <a:solidFill>
            <a:srgbClr val="44546A"/>
          </a:solidFill>
          <a:ln w="15875">
            <a:solidFill>
              <a:srgbClr val="44546A"/>
            </a:solidFill>
            <a:prstDash val="solid"/>
          </a:ln>
        </p:spPr>
      </p:sp>
      <p:sp>
        <p:nvSpPr>
          <p:cNvPr id="38" name="Text 36"/>
          <p:cNvSpPr/>
          <p:nvPr/>
        </p:nvSpPr>
        <p:spPr>
          <a:xfrm>
            <a:off x="5477256" y="2514600"/>
            <a:ext cx="1481328" cy="512064"/>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Implementation</a:t>
            </a:r>
            <a:endParaRPr lang="en-US" sz="950" dirty="0"/>
          </a:p>
        </p:txBody>
      </p:sp>
      <p:sp>
        <p:nvSpPr>
          <p:cNvPr id="39" name="Shape 37"/>
          <p:cNvSpPr/>
          <p:nvPr/>
        </p:nvSpPr>
        <p:spPr>
          <a:xfrm flipH="1">
            <a:off x="5321808" y="2770632"/>
            <a:ext cx="128016" cy="914"/>
          </a:xfrm>
          <a:prstGeom prst="line">
            <a:avLst/>
          </a:prstGeom>
          <a:noFill/>
          <a:ln w="19050">
            <a:solidFill>
              <a:srgbClr val="8C93A3"/>
            </a:solidFill>
            <a:prstDash val="solid"/>
            <a:tailEnd type="triangle"/>
          </a:ln>
        </p:spPr>
      </p:sp>
      <p:sp>
        <p:nvSpPr>
          <p:cNvPr id="40" name="Shape 38"/>
          <p:cNvSpPr/>
          <p:nvPr/>
        </p:nvSpPr>
        <p:spPr>
          <a:xfrm>
            <a:off x="3785616" y="2487168"/>
            <a:ext cx="1536192" cy="566928"/>
          </a:xfrm>
          <a:prstGeom prst="roundRect">
            <a:avLst>
              <a:gd name="adj" fmla="val 9677"/>
            </a:avLst>
          </a:prstGeom>
          <a:solidFill>
            <a:srgbClr val="44546A"/>
          </a:solidFill>
          <a:ln w="15875">
            <a:solidFill>
              <a:srgbClr val="44546A"/>
            </a:solidFill>
            <a:prstDash val="solid"/>
          </a:ln>
        </p:spPr>
      </p:sp>
      <p:sp>
        <p:nvSpPr>
          <p:cNvPr id="41" name="Text 39"/>
          <p:cNvSpPr/>
          <p:nvPr/>
        </p:nvSpPr>
        <p:spPr>
          <a:xfrm>
            <a:off x="3813048" y="2514600"/>
            <a:ext cx="1481328" cy="512064"/>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Bitstream / XSA</a:t>
            </a:r>
            <a:endParaRPr lang="en-US" sz="950" dirty="0"/>
          </a:p>
        </p:txBody>
      </p:sp>
      <p:sp>
        <p:nvSpPr>
          <p:cNvPr id="42" name="Shape 40"/>
          <p:cNvSpPr/>
          <p:nvPr/>
        </p:nvSpPr>
        <p:spPr>
          <a:xfrm flipH="1">
            <a:off x="3657600" y="2770632"/>
            <a:ext cx="128016" cy="914"/>
          </a:xfrm>
          <a:prstGeom prst="line">
            <a:avLst/>
          </a:prstGeom>
          <a:noFill/>
          <a:ln w="19050">
            <a:solidFill>
              <a:srgbClr val="8C93A3"/>
            </a:solidFill>
            <a:prstDash val="solid"/>
            <a:tailEnd type="triangle"/>
          </a:ln>
        </p:spPr>
      </p:sp>
      <p:sp>
        <p:nvSpPr>
          <p:cNvPr id="43" name="Shape 41"/>
          <p:cNvSpPr/>
          <p:nvPr/>
        </p:nvSpPr>
        <p:spPr>
          <a:xfrm>
            <a:off x="2121408" y="2487168"/>
            <a:ext cx="1536192" cy="566928"/>
          </a:xfrm>
          <a:prstGeom prst="roundRect">
            <a:avLst>
              <a:gd name="adj" fmla="val 9677"/>
            </a:avLst>
          </a:prstGeom>
          <a:solidFill>
            <a:srgbClr val="2F5597"/>
          </a:solidFill>
          <a:ln w="15875">
            <a:solidFill>
              <a:srgbClr val="2F5597"/>
            </a:solidFill>
            <a:prstDash val="solid"/>
          </a:ln>
        </p:spPr>
      </p:sp>
      <p:sp>
        <p:nvSpPr>
          <p:cNvPr id="44" name="Text 42"/>
          <p:cNvSpPr/>
          <p:nvPr/>
        </p:nvSpPr>
        <p:spPr>
          <a:xfrm>
            <a:off x="2148840" y="2514600"/>
            <a:ext cx="1481328" cy="512064"/>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Vitis</a:t>
            </a:r>
            <a:endParaRPr lang="en-US" sz="950" dirty="0"/>
          </a:p>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보드 제어</a:t>
            </a:r>
            <a:endParaRPr lang="en-US" sz="950" dirty="0"/>
          </a:p>
        </p:txBody>
      </p:sp>
      <p:sp>
        <p:nvSpPr>
          <p:cNvPr id="45" name="Shape 43"/>
          <p:cNvSpPr/>
          <p:nvPr/>
        </p:nvSpPr>
        <p:spPr>
          <a:xfrm>
            <a:off x="457200" y="4892040"/>
            <a:ext cx="82296" cy="310896"/>
          </a:xfrm>
          <a:prstGeom prst="rect">
            <a:avLst/>
          </a:prstGeom>
          <a:solidFill>
            <a:srgbClr val="4472C4"/>
          </a:solidFill>
          <a:ln/>
        </p:spPr>
      </p:sp>
      <p:sp>
        <p:nvSpPr>
          <p:cNvPr id="46" name="Text 44"/>
          <p:cNvSpPr/>
          <p:nvPr/>
        </p:nvSpPr>
        <p:spPr>
          <a:xfrm>
            <a:off x="621792" y="4864608"/>
            <a:ext cx="1108252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검증 원칙</a:t>
            </a:r>
            <a:endParaRPr lang="en-US" sz="1600" dirty="0"/>
          </a:p>
        </p:txBody>
      </p:sp>
      <p:sp>
        <p:nvSpPr>
          <p:cNvPr id="47" name="Text 45"/>
          <p:cNvSpPr/>
          <p:nvPr/>
        </p:nvSpPr>
        <p:spPr>
          <a:xfrm>
            <a:off x="502920" y="5230368"/>
            <a:ext cx="11155680" cy="1371600"/>
          </a:xfrm>
          <a:prstGeom prst="rect">
            <a:avLst/>
          </a:prstGeom>
          <a:noFill/>
          <a:ln/>
        </p:spPr>
        <p:txBody>
          <a:bodyPr wrap="square" rtlCol="0" anchor="t"/>
          <a:lstStyle/>
          <a:p>
            <a:pPr marL="177800" indent="-177800">
              <a:lnSpc>
                <a:spcPct val="108000"/>
              </a:lnSpc>
              <a:spcAft>
                <a:spcPts val="6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개별 IP 결과를 Python/PyTorch Golden과 비교 · INT8 출력은 saturation 적용</a:t>
            </a:r>
            <a:endParaRPr lang="en-US" sz="1250" dirty="0"/>
          </a:p>
          <a:p>
            <a:pPr marL="177800" indent="-177800">
              <a:lnSpc>
                <a:spcPct val="108000"/>
              </a:lnSpc>
              <a:spcAft>
                <a:spcPts val="6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HLS pragma의 목표 II가 아닌 실제 Final II 확인 · Vivado에서 Black Box, DRC, Timing, Routing 확인</a:t>
            </a:r>
            <a:endParaRPr lang="en-US" sz="1250" dirty="0"/>
          </a:p>
          <a:p>
            <a:pPr marL="177800" indent="-177800">
              <a:lnSpc>
                <a:spcPct val="108000"/>
              </a:lnSpc>
              <a:spcAft>
                <a:spcPts val="6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Bitstream 파일 생성 전에는 완료로 판단하지 않음</a:t>
            </a:r>
            <a:endParaRPr lang="en-US" sz="1250" dirty="0"/>
          </a:p>
        </p:txBody>
      </p:sp>
      <p:sp>
        <p:nvSpPr>
          <p:cNvPr id="48" name="Text 46"/>
          <p:cNvSpPr/>
          <p:nvPr/>
        </p:nvSpPr>
        <p:spPr>
          <a:xfrm>
            <a:off x="457200" y="6547104"/>
            <a:ext cx="9875520" cy="256032"/>
          </a:xfrm>
          <a:prstGeom prst="rect">
            <a:avLst/>
          </a:prstGeom>
          <a:noFill/>
          <a:ln/>
        </p:spPr>
        <p:txBody>
          <a:bodyPr wrap="square" rtlCol="0" anchor="ctr"/>
          <a:lstStyle/>
          <a:p>
            <a:pPr indent="0" marL="0">
              <a:buNone/>
            </a:pPr>
            <a:r>
              <a:rPr lang="en-US" sz="900" dirty="0">
                <a:solidFill>
                  <a:srgbClr val="C9CFDA"/>
                </a:solidFill>
                <a:latin typeface="맑은 고딕" pitchFamily="34" charset="0"/>
                <a:ea typeface="맑은 고딕" pitchFamily="34" charset="-122"/>
                <a:cs typeface="맑은 고딕" pitchFamily="34" charset="-120"/>
              </a:rPr>
              <a:t>PPE Accelerator · 중간발표</a:t>
            </a:r>
            <a:endParaRPr lang="en-US" sz="900" dirty="0"/>
          </a:p>
        </p:txBody>
      </p:sp>
      <p:sp>
        <p:nvSpPr>
          <p:cNvPr id="49" name="Text 47"/>
          <p:cNvSpPr/>
          <p:nvPr/>
        </p:nvSpPr>
        <p:spPr>
          <a:xfrm>
            <a:off x="11064240" y="6547104"/>
            <a:ext cx="685800" cy="256032"/>
          </a:xfrm>
          <a:prstGeom prst="rect">
            <a:avLst/>
          </a:prstGeom>
          <a:noFill/>
          <a:ln/>
        </p:spPr>
        <p:txBody>
          <a:bodyPr wrap="square"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5 / 19</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472C4"/>
          </a:solidFill>
          <a:ln/>
        </p:spPr>
      </p:sp>
      <p:sp>
        <p:nvSpPr>
          <p:cNvPr id="3" name="Text 1"/>
          <p:cNvSpPr/>
          <p:nvPr/>
        </p:nvSpPr>
        <p:spPr>
          <a:xfrm>
            <a:off x="457200" y="182880"/>
            <a:ext cx="9875520" cy="566928"/>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개별 HLS IP 검증 결과</a:t>
            </a:r>
            <a:endParaRPr lang="en-US" sz="2600" dirty="0"/>
          </a:p>
        </p:txBody>
      </p:sp>
      <p:sp>
        <p:nvSpPr>
          <p:cNvPr id="4" name="Text 2"/>
          <p:cNvSpPr/>
          <p:nvPr/>
        </p:nvSpPr>
        <p:spPr>
          <a:xfrm>
            <a:off x="10698480" y="73152"/>
            <a:ext cx="1234440" cy="731520"/>
          </a:xfrm>
          <a:prstGeom prst="rect">
            <a:avLst/>
          </a:prstGeom>
          <a:noFill/>
          <a:ln/>
        </p:spPr>
        <p:txBody>
          <a:bodyPr wrap="square" rtlCol="0" anchor="ctr"/>
          <a:lstStyle/>
          <a:p>
            <a:pPr algn="r" indent="0" marL="0">
              <a:buNone/>
            </a:pPr>
            <a:r>
              <a:rPr lang="en-US" sz="3000" b="1" dirty="0">
                <a:solidFill>
                  <a:srgbClr val="9BB3E8"/>
                </a:solidFill>
                <a:latin typeface="Calibri" pitchFamily="34" charset="0"/>
                <a:ea typeface="Calibri" pitchFamily="34" charset="-122"/>
                <a:cs typeface="Calibri" pitchFamily="34" charset="-120"/>
              </a:rPr>
              <a:t>06</a:t>
            </a:r>
            <a:endParaRPr lang="en-US" sz="3000" dirty="0"/>
          </a:p>
        </p:txBody>
      </p:sp>
      <p:sp>
        <p:nvSpPr>
          <p:cNvPr id="5" name="Shape 3"/>
          <p:cNvSpPr/>
          <p:nvPr/>
        </p:nvSpPr>
        <p:spPr>
          <a:xfrm>
            <a:off x="457200" y="1097280"/>
            <a:ext cx="82296" cy="310896"/>
          </a:xfrm>
          <a:prstGeom prst="rect">
            <a:avLst/>
          </a:prstGeom>
          <a:solidFill>
            <a:srgbClr val="4472C4"/>
          </a:solidFill>
          <a:ln/>
        </p:spPr>
      </p:sp>
      <p:sp>
        <p:nvSpPr>
          <p:cNvPr id="6" name="Text 4"/>
          <p:cNvSpPr/>
          <p:nvPr/>
        </p:nvSpPr>
        <p:spPr>
          <a:xfrm>
            <a:off x="621792" y="1069848"/>
            <a:ext cx="532180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기존 개별 모듈 검증 결과</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5486400" cy="914400"/>
        </p:xfrm>
        <a:graphic>
          <a:graphicData uri="http://schemas.openxmlformats.org/drawingml/2006/table">
            <a:tbl>
              <a:tblPr/>
              <a:tblGrid>
                <a:gridCol w="1828800"/>
                <a:gridCol w="3657600"/>
              </a:tblGrid>
              <a:tr h="384048">
                <a:tc>
                  <a:txBody>
                    <a:bodyPr/>
                    <a:lstStyle/>
                    <a:p>
                      <a:pPr algn="ctr" indent="0" marL="0">
                        <a:buNone/>
                      </a:pPr>
                      <a:r>
                        <a:rPr lang="en-US" sz="1250" b="1" dirty="0">
                          <a:solidFill>
                            <a:srgbClr val="FFFFFF"/>
                          </a:solidFill>
                        </a:rPr>
                        <a:t>대상</a:t>
                      </a:r>
                      <a:endParaRPr lang="en-US" sz="12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1250" b="1" dirty="0">
                          <a:solidFill>
                            <a:srgbClr val="FFFFFF"/>
                          </a:solidFill>
                        </a:rPr>
                        <a:t>Golden 비교 결과</a:t>
                      </a:r>
                      <a:endParaRPr lang="en-US" sz="12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r>
              <a:tr h="384048">
                <a:tc>
                  <a:txBody>
                    <a:bodyPr/>
                    <a:lstStyle/>
                    <a:p>
                      <a:pPr algn="l" indent="0" marL="0">
                        <a:buNone/>
                      </a:pPr>
                      <a:r>
                        <a:rPr lang="en-US" sz="1250" dirty="0">
                          <a:solidFill>
                            <a:srgbClr val="1F2A37"/>
                          </a:solidFill>
                        </a:rPr>
                        <a:t>Conv3×3</a:t>
                      </a:r>
                      <a:endParaRPr lang="en-US" sz="12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A37"/>
                          </a:solidFill>
                        </a:rPr>
                        <a:t>102,400 / 102,400 exact</a:t>
                      </a:r>
                      <a:endParaRPr lang="en-US" sz="12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1F2A37"/>
                          </a:solidFill>
                        </a:rPr>
                        <a:t>Conv1×1</a:t>
                      </a:r>
                      <a:endParaRPr lang="en-US" sz="12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250" dirty="0">
                          <a:solidFill>
                            <a:srgbClr val="1F2A37"/>
                          </a:solidFill>
                        </a:rPr>
                        <a:t>204,800 / 204,800 exact</a:t>
                      </a:r>
                      <a:endParaRPr lang="en-US" sz="12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384048">
                <a:tc>
                  <a:txBody>
                    <a:bodyPr/>
                    <a:lstStyle/>
                    <a:p>
                      <a:pPr algn="l" indent="0" marL="0">
                        <a:buNone/>
                      </a:pPr>
                      <a:r>
                        <a:rPr lang="en-US" sz="1250" dirty="0">
                          <a:solidFill>
                            <a:srgbClr val="1F2A37"/>
                          </a:solidFill>
                        </a:rPr>
                        <a:t>Split y0/y1</a:t>
                      </a:r>
                      <a:endParaRPr lang="en-US" sz="12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A37"/>
                          </a:solidFill>
                        </a:rPr>
                        <a:t>204,800 / 204,800 exact</a:t>
                      </a:r>
                      <a:endParaRPr lang="en-US" sz="12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1F2A37"/>
                          </a:solidFill>
                        </a:rPr>
                        <a:t>BN+SiLU 64</a:t>
                      </a:r>
                      <a:endParaRPr lang="en-US" sz="12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250" dirty="0">
                          <a:solidFill>
                            <a:srgbClr val="1F2A37"/>
                          </a:solidFill>
                        </a:rPr>
                        <a:t>102,399 exact, 1개 ±1</a:t>
                      </a:r>
                      <a:endParaRPr lang="en-US" sz="12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384048">
                <a:tc>
                  <a:txBody>
                    <a:bodyPr/>
                    <a:lstStyle/>
                    <a:p>
                      <a:pPr algn="l" indent="0" marL="0">
                        <a:buNone/>
                      </a:pPr>
                      <a:r>
                        <a:rPr lang="en-US" sz="1250" dirty="0">
                          <a:solidFill>
                            <a:srgbClr val="1F2A37"/>
                          </a:solidFill>
                        </a:rPr>
                        <a:t>BN+SiLU 128</a:t>
                      </a:r>
                      <a:endParaRPr lang="en-US" sz="12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A37"/>
                          </a:solidFill>
                        </a:rPr>
                        <a:t>204,800 / 204,800 exact</a:t>
                      </a:r>
                      <a:endParaRPr lang="en-US" sz="12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bl>
          </a:graphicData>
        </a:graphic>
      </p:graphicFrame>
      <p:sp>
        <p:nvSpPr>
          <p:cNvPr id="8" name="Shape 5"/>
          <p:cNvSpPr/>
          <p:nvPr/>
        </p:nvSpPr>
        <p:spPr>
          <a:xfrm>
            <a:off x="6355080" y="1097280"/>
            <a:ext cx="82296" cy="310896"/>
          </a:xfrm>
          <a:prstGeom prst="rect">
            <a:avLst/>
          </a:prstGeom>
          <a:solidFill>
            <a:srgbClr val="2F5597"/>
          </a:solidFill>
          <a:ln/>
        </p:spPr>
      </p:sp>
      <p:sp>
        <p:nvSpPr>
          <p:cNvPr id="9" name="Text 6"/>
          <p:cNvSpPr/>
          <p:nvPr/>
        </p:nvSpPr>
        <p:spPr>
          <a:xfrm>
            <a:off x="6519672" y="1069848"/>
            <a:ext cx="523036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확인된 사항</a:t>
            </a:r>
            <a:endParaRPr lang="en-US" sz="1600" dirty="0"/>
          </a:p>
        </p:txBody>
      </p:sp>
      <p:sp>
        <p:nvSpPr>
          <p:cNvPr id="10" name="Text 7"/>
          <p:cNvSpPr/>
          <p:nvPr/>
        </p:nvSpPr>
        <p:spPr>
          <a:xfrm>
            <a:off x="6400800" y="1508760"/>
            <a:ext cx="5349240" cy="2743200"/>
          </a:xfrm>
          <a:prstGeom prst="rect">
            <a:avLst/>
          </a:prstGeom>
          <a:noFill/>
          <a:ln/>
        </p:spPr>
        <p:txBody>
          <a:bodyPr wrap="square" rtlCol="0" anchor="t"/>
          <a:lstStyle/>
          <a:p>
            <a:pPr marL="177800" indent="-177800">
              <a:lnSpc>
                <a:spcPct val="108000"/>
              </a:lnSpc>
              <a:spcAft>
                <a:spcPts val="8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주요 HLS IP의 C Simulation 통과</a:t>
            </a:r>
            <a:endParaRPr lang="en-US" sz="1250" dirty="0"/>
          </a:p>
          <a:p>
            <a:pPr marL="177800" indent="-177800">
              <a:lnSpc>
                <a:spcPct val="108000"/>
              </a:lnSpc>
              <a:spcAft>
                <a:spcPts val="8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HLS C Synthesis 및 IP Export 완료</a:t>
            </a:r>
            <a:endParaRPr lang="en-US" sz="1250" dirty="0"/>
          </a:p>
          <a:p>
            <a:pPr marL="177800" indent="-177800">
              <a:lnSpc>
                <a:spcPct val="108000"/>
              </a:lnSpc>
              <a:spcAft>
                <a:spcPts val="8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8개 Export IP의 component.xml 확인</a:t>
            </a:r>
            <a:endParaRPr lang="en-US" sz="1250" dirty="0"/>
          </a:p>
          <a:p>
            <a:pPr marL="177800" indent="-177800">
              <a:lnSpc>
                <a:spcPct val="108000"/>
              </a:lnSpc>
              <a:spcAft>
                <a:spcPts val="8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Vivado IP Repository 등록 및 Block Design 배치 완료</a:t>
            </a:r>
            <a:endParaRPr lang="en-US" sz="1250" dirty="0"/>
          </a:p>
          <a:p>
            <a:pPr marL="177800" indent="-177800">
              <a:lnSpc>
                <a:spcPct val="108000"/>
              </a:lnSpc>
              <a:spcAft>
                <a:spcPts val="8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변경된 BN64/BN128 loop-fix 버전도 CSim PASS</a:t>
            </a:r>
            <a:endParaRPr lang="en-US" sz="1250" dirty="0"/>
          </a:p>
          <a:p>
            <a:pPr marL="177800" indent="-177800">
              <a:lnSpc>
                <a:spcPct val="108000"/>
              </a:lnSpc>
              <a:spcAft>
                <a:spcPts val="8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Conv3×3 IC_UF=8 실험 버전도 CSim PASS</a:t>
            </a:r>
            <a:endParaRPr lang="en-US" sz="1250" dirty="0"/>
          </a:p>
        </p:txBody>
      </p:sp>
      <p:sp>
        <p:nvSpPr>
          <p:cNvPr id="11" name="Shape 8"/>
          <p:cNvSpPr/>
          <p:nvPr/>
        </p:nvSpPr>
        <p:spPr>
          <a:xfrm>
            <a:off x="457200" y="4160520"/>
            <a:ext cx="11247120" cy="566928"/>
          </a:xfrm>
          <a:prstGeom prst="rect">
            <a:avLst>
              <a:gd name="adj" fmla="val 9677"/>
            </a:avLst>
          </a:prstGeom>
          <a:solidFill>
            <a:srgbClr val="FCEFEF"/>
          </a:solidFill>
          <a:ln w="12700">
            <a:solidFill>
              <a:srgbClr val="E9C3C3"/>
            </a:solidFill>
            <a:prstDash val="solid"/>
          </a:ln>
        </p:spPr>
      </p:sp>
      <p:sp>
        <p:nvSpPr>
          <p:cNvPr id="12" name="Text 9"/>
          <p:cNvSpPr/>
          <p:nvPr/>
        </p:nvSpPr>
        <p:spPr>
          <a:xfrm>
            <a:off x="685800" y="4160520"/>
            <a:ext cx="10789920" cy="566928"/>
          </a:xfrm>
          <a:prstGeom prst="rect">
            <a:avLst/>
          </a:prstGeom>
          <a:noFill/>
          <a:ln/>
        </p:spPr>
        <p:txBody>
          <a:bodyPr wrap="square" rtlCol="0" anchor="ctr"/>
          <a:lstStyle/>
          <a:p>
            <a:pPr algn="l" indent="0" marL="0">
              <a:buNone/>
            </a:pPr>
            <a:r>
              <a:rPr lang="en-US" sz="1300" b="1" dirty="0">
                <a:solidFill>
                  <a:srgbClr val="C00000"/>
                </a:solidFill>
                <a:latin typeface="맑은 고딕" pitchFamily="34" charset="0"/>
                <a:ea typeface="맑은 고딕" pitchFamily="34" charset="-122"/>
                <a:cs typeface="맑은 고딕" pitchFamily="34" charset="-120"/>
              </a:rPr>
              <a:t>주의:  기존 단위 IP 검증 결과와 현재 최종 통합 IP의 구현 성공 여부는 구분해야 한다.</a:t>
            </a:r>
            <a:endParaRPr lang="en-US" sz="1300" dirty="0"/>
          </a:p>
        </p:txBody>
      </p:sp>
      <p:sp>
        <p:nvSpPr>
          <p:cNvPr id="13" name="Shape 10"/>
          <p:cNvSpPr/>
          <p:nvPr/>
        </p:nvSpPr>
        <p:spPr>
          <a:xfrm>
            <a:off x="457200" y="4892040"/>
            <a:ext cx="11247120" cy="1188720"/>
          </a:xfrm>
          <a:prstGeom prst="rect">
            <a:avLst>
              <a:gd name="adj" fmla="val 4615"/>
            </a:avLst>
          </a:prstGeom>
          <a:solidFill>
            <a:srgbClr val="EFF3FB"/>
          </a:solidFill>
          <a:ln w="12700">
            <a:solidFill>
              <a:srgbClr val="D9E0EC"/>
            </a:solidFill>
            <a:prstDash val="solid"/>
          </a:ln>
        </p:spPr>
      </p:sp>
      <p:sp>
        <p:nvSpPr>
          <p:cNvPr id="14" name="Text 11"/>
          <p:cNvSpPr/>
          <p:nvPr/>
        </p:nvSpPr>
        <p:spPr>
          <a:xfrm>
            <a:off x="685800" y="4892040"/>
            <a:ext cx="10789920" cy="1188720"/>
          </a:xfrm>
          <a:prstGeom prst="rect">
            <a:avLst/>
          </a:prstGeom>
          <a:noFill/>
          <a:ln/>
        </p:spPr>
        <p:txBody>
          <a:bodyPr wrap="square" rtlCol="0" anchor="ctr"/>
          <a:lstStyle/>
          <a:p>
            <a:pPr algn="l" indent="0" marL="0">
              <a:buNone/>
            </a:pPr>
            <a:r>
              <a:rPr lang="en-US" sz="1250" dirty="0">
                <a:solidFill>
                  <a:srgbClr val="1F3864"/>
                </a:solidFill>
                <a:latin typeface="맑은 고딕" pitchFamily="34" charset="0"/>
                <a:ea typeface="맑은 고딕" pitchFamily="34" charset="-122"/>
                <a:cs typeface="맑은 고딕" pitchFamily="34" charset="-120"/>
              </a:rPr>
              <a:t>개별 연산 기능은 Golden 데이터와 대부분 완전히 일치했습니다. BN+SiLU 64에서는 10만 개 이상의</a:t>
            </a:r>
            <a:endParaRPr lang="en-US" sz="1250" dirty="0"/>
          </a:p>
          <a:p>
            <a:pPr algn="l" indent="0" marL="0">
              <a:buNone/>
            </a:pPr>
            <a:r>
              <a:rPr lang="en-US" sz="1250" dirty="0">
                <a:solidFill>
                  <a:srgbClr val="1F3864"/>
                </a:solidFill>
                <a:latin typeface="맑은 고딕" pitchFamily="34" charset="0"/>
                <a:ea typeface="맑은 고딕" pitchFamily="34" charset="-122"/>
                <a:cs typeface="맑은 고딕" pitchFamily="34" charset="-120"/>
              </a:rPr>
              <a:t>출력 중 한 개만 1 LSB 차이를 보였습니다. 현재 문제는 연산 정확도보다는 전체 IP를 한 FPGA에</a:t>
            </a:r>
            <a:endParaRPr lang="en-US" sz="1250" dirty="0"/>
          </a:p>
          <a:p>
            <a:pPr algn="l" indent="0" marL="0">
              <a:buNone/>
            </a:pPr>
            <a:r>
              <a:rPr lang="en-US" sz="1250" dirty="0">
                <a:solidFill>
                  <a:srgbClr val="1F3864"/>
                </a:solidFill>
                <a:latin typeface="맑은 고딕" pitchFamily="34" charset="0"/>
                <a:ea typeface="맑은 고딕" pitchFamily="34" charset="-122"/>
                <a:cs typeface="맑은 고딕" pitchFamily="34" charset="-120"/>
              </a:rPr>
              <a:t>통합했을 때 발생하는 물리적 라우팅 문제입니다.</a:t>
            </a:r>
            <a:endParaRPr lang="en-US" sz="1250" dirty="0"/>
          </a:p>
        </p:txBody>
      </p:sp>
      <p:sp>
        <p:nvSpPr>
          <p:cNvPr id="15" name="Text 12"/>
          <p:cNvSpPr/>
          <p:nvPr/>
        </p:nvSpPr>
        <p:spPr>
          <a:xfrm>
            <a:off x="457200" y="6547104"/>
            <a:ext cx="9875520" cy="256032"/>
          </a:xfrm>
          <a:prstGeom prst="rect">
            <a:avLst/>
          </a:prstGeom>
          <a:noFill/>
          <a:ln/>
        </p:spPr>
        <p:txBody>
          <a:bodyPr wrap="square" rtlCol="0" anchor="ctr"/>
          <a:lstStyle/>
          <a:p>
            <a:pPr indent="0" marL="0">
              <a:buNone/>
            </a:pPr>
            <a:r>
              <a:rPr lang="en-US" sz="900" i="1" dirty="0">
                <a:solidFill>
                  <a:srgbClr val="5B6472"/>
                </a:solidFill>
                <a:latin typeface="맑은 고딕" pitchFamily="34" charset="0"/>
                <a:ea typeface="맑은 고딕" pitchFamily="34" charset="-122"/>
                <a:cs typeface="맑은 고딕" pitchFamily="34" charset="-120"/>
              </a:rPr>
              <a:t>출처: HLS C Simulation 결과 vs PyTorch Golden 데이터 비교</a:t>
            </a:r>
            <a:endParaRPr lang="en-US" sz="900" dirty="0"/>
          </a:p>
        </p:txBody>
      </p:sp>
      <p:sp>
        <p:nvSpPr>
          <p:cNvPr id="16" name="Text 13"/>
          <p:cNvSpPr/>
          <p:nvPr/>
        </p:nvSpPr>
        <p:spPr>
          <a:xfrm>
            <a:off x="11064240" y="6547104"/>
            <a:ext cx="685800" cy="256032"/>
          </a:xfrm>
          <a:prstGeom prst="rect">
            <a:avLst/>
          </a:prstGeom>
          <a:noFill/>
          <a:ln/>
        </p:spPr>
        <p:txBody>
          <a:bodyPr wrap="square"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6 / 19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472C4"/>
          </a:solidFill>
          <a:ln/>
        </p:spPr>
      </p:sp>
      <p:sp>
        <p:nvSpPr>
          <p:cNvPr id="3" name="Text 1"/>
          <p:cNvSpPr/>
          <p:nvPr/>
        </p:nvSpPr>
        <p:spPr>
          <a:xfrm>
            <a:off x="457200" y="182880"/>
            <a:ext cx="9875520" cy="566928"/>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최소 시스템 검증 경험</a:t>
            </a:r>
            <a:endParaRPr lang="en-US" sz="2600" dirty="0"/>
          </a:p>
        </p:txBody>
      </p:sp>
      <p:sp>
        <p:nvSpPr>
          <p:cNvPr id="4" name="Text 2"/>
          <p:cNvSpPr/>
          <p:nvPr/>
        </p:nvSpPr>
        <p:spPr>
          <a:xfrm>
            <a:off x="10698480" y="73152"/>
            <a:ext cx="1234440" cy="731520"/>
          </a:xfrm>
          <a:prstGeom prst="rect">
            <a:avLst/>
          </a:prstGeom>
          <a:noFill/>
          <a:ln/>
        </p:spPr>
        <p:txBody>
          <a:bodyPr wrap="square" rtlCol="0" anchor="ctr"/>
          <a:lstStyle/>
          <a:p>
            <a:pPr algn="r" indent="0" marL="0">
              <a:buNone/>
            </a:pPr>
            <a:r>
              <a:rPr lang="en-US" sz="3000" b="1" dirty="0">
                <a:solidFill>
                  <a:srgbClr val="9BB3E8"/>
                </a:solidFill>
                <a:latin typeface="Calibri" pitchFamily="34" charset="0"/>
                <a:ea typeface="Calibri" pitchFamily="34" charset="-122"/>
                <a:cs typeface="Calibri" pitchFamily="34" charset="-120"/>
              </a:rPr>
              <a:t>07</a:t>
            </a:r>
            <a:endParaRPr lang="en-US" sz="3000" dirty="0"/>
          </a:p>
        </p:txBody>
      </p:sp>
      <p:sp>
        <p:nvSpPr>
          <p:cNvPr id="5" name="Shape 3"/>
          <p:cNvSpPr/>
          <p:nvPr/>
        </p:nvSpPr>
        <p:spPr>
          <a:xfrm>
            <a:off x="457200" y="1097280"/>
            <a:ext cx="82296" cy="310896"/>
          </a:xfrm>
          <a:prstGeom prst="rect">
            <a:avLst/>
          </a:prstGeom>
          <a:solidFill>
            <a:srgbClr val="4472C4"/>
          </a:solidFill>
          <a:ln/>
        </p:spPr>
      </p:sp>
      <p:sp>
        <p:nvSpPr>
          <p:cNvPr id="6" name="Text 4"/>
          <p:cNvSpPr/>
          <p:nvPr/>
        </p:nvSpPr>
        <p:spPr>
          <a:xfrm>
            <a:off x="621792" y="1069848"/>
            <a:ext cx="495604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AXI DMA – AXI4-Stream 최소 설계</a:t>
            </a:r>
            <a:endParaRPr lang="en-US" sz="1600" dirty="0"/>
          </a:p>
        </p:txBody>
      </p:sp>
      <p:sp>
        <p:nvSpPr>
          <p:cNvPr id="7" name="Shape 5"/>
          <p:cNvSpPr/>
          <p:nvPr/>
        </p:nvSpPr>
        <p:spPr>
          <a:xfrm>
            <a:off x="502920" y="1600200"/>
            <a:ext cx="1024128" cy="530352"/>
          </a:xfrm>
          <a:prstGeom prst="roundRect">
            <a:avLst>
              <a:gd name="adj" fmla="val 10345"/>
            </a:avLst>
          </a:prstGeom>
          <a:solidFill>
            <a:srgbClr val="5B6472"/>
          </a:solidFill>
          <a:ln w="15875">
            <a:solidFill>
              <a:srgbClr val="5B6472"/>
            </a:solidFill>
            <a:prstDash val="solid"/>
          </a:ln>
        </p:spPr>
      </p:sp>
      <p:sp>
        <p:nvSpPr>
          <p:cNvPr id="8" name="Text 6"/>
          <p:cNvSpPr/>
          <p:nvPr/>
        </p:nvSpPr>
        <p:spPr>
          <a:xfrm>
            <a:off x="530352" y="1627632"/>
            <a:ext cx="969264" cy="475488"/>
          </a:xfrm>
          <a:prstGeom prst="rect">
            <a:avLst/>
          </a:prstGeom>
          <a:noFill/>
          <a:ln/>
        </p:spPr>
        <p:txBody>
          <a:bodyPr wrap="square" rtlCol="0" anchor="ctr"/>
          <a:lstStyle/>
          <a:p>
            <a:pPr algn="ctr" indent="0" marL="0">
              <a:lnSpc>
                <a:spcPct val="100000"/>
              </a:lnSpc>
              <a:buNone/>
            </a:pPr>
            <a:r>
              <a:rPr lang="en-US" sz="730" b="1" dirty="0">
                <a:solidFill>
                  <a:srgbClr val="FFFFFF"/>
                </a:solidFill>
                <a:latin typeface="맑은 고딕" pitchFamily="34" charset="0"/>
                <a:ea typeface="맑은 고딕" pitchFamily="34" charset="-122"/>
                <a:cs typeface="맑은 고딕" pitchFamily="34" charset="-120"/>
              </a:rPr>
              <a:t>DDR</a:t>
            </a:r>
            <a:endParaRPr lang="en-US" sz="730" dirty="0"/>
          </a:p>
        </p:txBody>
      </p:sp>
      <p:sp>
        <p:nvSpPr>
          <p:cNvPr id="9" name="Shape 7"/>
          <p:cNvSpPr/>
          <p:nvPr/>
        </p:nvSpPr>
        <p:spPr>
          <a:xfrm>
            <a:off x="1527048" y="1865376"/>
            <a:ext cx="118872" cy="914"/>
          </a:xfrm>
          <a:prstGeom prst="line">
            <a:avLst/>
          </a:prstGeom>
          <a:noFill/>
          <a:ln w="19050">
            <a:solidFill>
              <a:srgbClr val="8C93A3"/>
            </a:solidFill>
            <a:prstDash val="solid"/>
            <a:tailEnd type="triangle"/>
          </a:ln>
        </p:spPr>
      </p:sp>
      <p:sp>
        <p:nvSpPr>
          <p:cNvPr id="10" name="Shape 8"/>
          <p:cNvSpPr/>
          <p:nvPr/>
        </p:nvSpPr>
        <p:spPr>
          <a:xfrm>
            <a:off x="1645920" y="1600200"/>
            <a:ext cx="1024128" cy="530352"/>
          </a:xfrm>
          <a:prstGeom prst="roundRect">
            <a:avLst>
              <a:gd name="adj" fmla="val 10345"/>
            </a:avLst>
          </a:prstGeom>
          <a:solidFill>
            <a:srgbClr val="2F5597"/>
          </a:solidFill>
          <a:ln w="15875">
            <a:solidFill>
              <a:srgbClr val="2F5597"/>
            </a:solidFill>
            <a:prstDash val="solid"/>
          </a:ln>
        </p:spPr>
      </p:sp>
      <p:sp>
        <p:nvSpPr>
          <p:cNvPr id="11" name="Text 9"/>
          <p:cNvSpPr/>
          <p:nvPr/>
        </p:nvSpPr>
        <p:spPr>
          <a:xfrm>
            <a:off x="1673352" y="1627632"/>
            <a:ext cx="969264" cy="475488"/>
          </a:xfrm>
          <a:prstGeom prst="rect">
            <a:avLst/>
          </a:prstGeom>
          <a:noFill/>
          <a:ln/>
        </p:spPr>
        <p:txBody>
          <a:bodyPr wrap="square" rtlCol="0" anchor="ctr"/>
          <a:lstStyle/>
          <a:p>
            <a:pPr algn="ctr" indent="0" marL="0">
              <a:lnSpc>
                <a:spcPct val="100000"/>
              </a:lnSpc>
              <a:buNone/>
            </a:pPr>
            <a:r>
              <a:rPr lang="en-US" sz="730" b="1" dirty="0">
                <a:solidFill>
                  <a:srgbClr val="FFFFFF"/>
                </a:solidFill>
                <a:latin typeface="맑은 고딕" pitchFamily="34" charset="0"/>
                <a:ea typeface="맑은 고딕" pitchFamily="34" charset="-122"/>
                <a:cs typeface="맑은 고딕" pitchFamily="34" charset="-120"/>
              </a:rPr>
              <a:t>AXI DMA</a:t>
            </a:r>
            <a:endParaRPr lang="en-US" sz="730" dirty="0"/>
          </a:p>
          <a:p>
            <a:pPr algn="ctr" indent="0" marL="0">
              <a:lnSpc>
                <a:spcPct val="100000"/>
              </a:lnSpc>
              <a:buNone/>
            </a:pPr>
            <a:r>
              <a:rPr lang="en-US" sz="730" b="1" dirty="0">
                <a:solidFill>
                  <a:srgbClr val="FFFFFF"/>
                </a:solidFill>
                <a:latin typeface="맑은 고딕" pitchFamily="34" charset="0"/>
                <a:ea typeface="맑은 고딕" pitchFamily="34" charset="-122"/>
                <a:cs typeface="맑은 고딕" pitchFamily="34" charset="-120"/>
              </a:rPr>
              <a:t>MM2S</a:t>
            </a:r>
            <a:endParaRPr lang="en-US" sz="730" dirty="0"/>
          </a:p>
        </p:txBody>
      </p:sp>
      <p:sp>
        <p:nvSpPr>
          <p:cNvPr id="12" name="Shape 10"/>
          <p:cNvSpPr/>
          <p:nvPr/>
        </p:nvSpPr>
        <p:spPr>
          <a:xfrm>
            <a:off x="2670048" y="1865376"/>
            <a:ext cx="118872" cy="914"/>
          </a:xfrm>
          <a:prstGeom prst="line">
            <a:avLst/>
          </a:prstGeom>
          <a:noFill/>
          <a:ln w="19050">
            <a:solidFill>
              <a:srgbClr val="8C93A3"/>
            </a:solidFill>
            <a:prstDash val="solid"/>
            <a:tailEnd type="triangle"/>
          </a:ln>
        </p:spPr>
      </p:sp>
      <p:sp>
        <p:nvSpPr>
          <p:cNvPr id="13" name="Shape 11"/>
          <p:cNvSpPr/>
          <p:nvPr/>
        </p:nvSpPr>
        <p:spPr>
          <a:xfrm>
            <a:off x="2788920" y="1600200"/>
            <a:ext cx="1024128" cy="530352"/>
          </a:xfrm>
          <a:prstGeom prst="roundRect">
            <a:avLst>
              <a:gd name="adj" fmla="val 10345"/>
            </a:avLst>
          </a:prstGeom>
          <a:solidFill>
            <a:srgbClr val="5B6472"/>
          </a:solidFill>
          <a:ln w="15875">
            <a:solidFill>
              <a:srgbClr val="5B6472"/>
            </a:solidFill>
            <a:prstDash val="solid"/>
          </a:ln>
        </p:spPr>
      </p:sp>
      <p:sp>
        <p:nvSpPr>
          <p:cNvPr id="14" name="Text 12"/>
          <p:cNvSpPr/>
          <p:nvPr/>
        </p:nvSpPr>
        <p:spPr>
          <a:xfrm>
            <a:off x="2816352" y="1627632"/>
            <a:ext cx="969264" cy="475488"/>
          </a:xfrm>
          <a:prstGeom prst="rect">
            <a:avLst/>
          </a:prstGeom>
          <a:noFill/>
          <a:ln/>
        </p:spPr>
        <p:txBody>
          <a:bodyPr wrap="square" rtlCol="0" anchor="ctr"/>
          <a:lstStyle/>
          <a:p>
            <a:pPr algn="ctr" indent="0" marL="0">
              <a:lnSpc>
                <a:spcPct val="100000"/>
              </a:lnSpc>
              <a:buNone/>
            </a:pPr>
            <a:r>
              <a:rPr lang="en-US" sz="730" b="1" dirty="0">
                <a:solidFill>
                  <a:srgbClr val="FFFFFF"/>
                </a:solidFill>
                <a:latin typeface="맑은 고딕" pitchFamily="34" charset="0"/>
                <a:ea typeface="맑은 고딕" pitchFamily="34" charset="-122"/>
                <a:cs typeface="맑은 고딕" pitchFamily="34" charset="-120"/>
              </a:rPr>
              <a:t>AXI4-Stream</a:t>
            </a:r>
            <a:endParaRPr lang="en-US" sz="730" dirty="0"/>
          </a:p>
          <a:p>
            <a:pPr algn="ctr" indent="0" marL="0">
              <a:lnSpc>
                <a:spcPct val="100000"/>
              </a:lnSpc>
              <a:buNone/>
            </a:pPr>
            <a:r>
              <a:rPr lang="en-US" sz="730" b="1" dirty="0">
                <a:solidFill>
                  <a:srgbClr val="FFFFFF"/>
                </a:solidFill>
                <a:latin typeface="맑은 고딕" pitchFamily="34" charset="0"/>
                <a:ea typeface="맑은 고딕" pitchFamily="34" charset="-122"/>
                <a:cs typeface="맑은 고딕" pitchFamily="34" charset="-120"/>
              </a:rPr>
              <a:t>Passthrough</a:t>
            </a:r>
            <a:endParaRPr lang="en-US" sz="730" dirty="0"/>
          </a:p>
        </p:txBody>
      </p:sp>
      <p:sp>
        <p:nvSpPr>
          <p:cNvPr id="15" name="Shape 13"/>
          <p:cNvSpPr/>
          <p:nvPr/>
        </p:nvSpPr>
        <p:spPr>
          <a:xfrm>
            <a:off x="3813048" y="1865376"/>
            <a:ext cx="118872" cy="914"/>
          </a:xfrm>
          <a:prstGeom prst="line">
            <a:avLst/>
          </a:prstGeom>
          <a:noFill/>
          <a:ln w="19050">
            <a:solidFill>
              <a:srgbClr val="8C93A3"/>
            </a:solidFill>
            <a:prstDash val="solid"/>
            <a:tailEnd type="triangle"/>
          </a:ln>
        </p:spPr>
      </p:sp>
      <p:sp>
        <p:nvSpPr>
          <p:cNvPr id="16" name="Shape 14"/>
          <p:cNvSpPr/>
          <p:nvPr/>
        </p:nvSpPr>
        <p:spPr>
          <a:xfrm>
            <a:off x="3931920" y="1600200"/>
            <a:ext cx="1024128" cy="530352"/>
          </a:xfrm>
          <a:prstGeom prst="roundRect">
            <a:avLst>
              <a:gd name="adj" fmla="val 10345"/>
            </a:avLst>
          </a:prstGeom>
          <a:solidFill>
            <a:srgbClr val="2F5597"/>
          </a:solidFill>
          <a:ln w="15875">
            <a:solidFill>
              <a:srgbClr val="2F5597"/>
            </a:solidFill>
            <a:prstDash val="solid"/>
          </a:ln>
        </p:spPr>
      </p:sp>
      <p:sp>
        <p:nvSpPr>
          <p:cNvPr id="17" name="Text 15"/>
          <p:cNvSpPr/>
          <p:nvPr/>
        </p:nvSpPr>
        <p:spPr>
          <a:xfrm>
            <a:off x="3959352" y="1627632"/>
            <a:ext cx="969264" cy="475488"/>
          </a:xfrm>
          <a:prstGeom prst="rect">
            <a:avLst/>
          </a:prstGeom>
          <a:noFill/>
          <a:ln/>
        </p:spPr>
        <p:txBody>
          <a:bodyPr wrap="square" rtlCol="0" anchor="ctr"/>
          <a:lstStyle/>
          <a:p>
            <a:pPr algn="ctr" indent="0" marL="0">
              <a:lnSpc>
                <a:spcPct val="100000"/>
              </a:lnSpc>
              <a:buNone/>
            </a:pPr>
            <a:r>
              <a:rPr lang="en-US" sz="730" b="1" dirty="0">
                <a:solidFill>
                  <a:srgbClr val="FFFFFF"/>
                </a:solidFill>
                <a:latin typeface="맑은 고딕" pitchFamily="34" charset="0"/>
                <a:ea typeface="맑은 고딕" pitchFamily="34" charset="-122"/>
                <a:cs typeface="맑은 고딕" pitchFamily="34" charset="-120"/>
              </a:rPr>
              <a:t>AXI DMA</a:t>
            </a:r>
            <a:endParaRPr lang="en-US" sz="730" dirty="0"/>
          </a:p>
          <a:p>
            <a:pPr algn="ctr" indent="0" marL="0">
              <a:lnSpc>
                <a:spcPct val="100000"/>
              </a:lnSpc>
              <a:buNone/>
            </a:pPr>
            <a:r>
              <a:rPr lang="en-US" sz="730" b="1" dirty="0">
                <a:solidFill>
                  <a:srgbClr val="FFFFFF"/>
                </a:solidFill>
                <a:latin typeface="맑은 고딕" pitchFamily="34" charset="0"/>
                <a:ea typeface="맑은 고딕" pitchFamily="34" charset="-122"/>
                <a:cs typeface="맑은 고딕" pitchFamily="34" charset="-120"/>
              </a:rPr>
              <a:t>S2MM</a:t>
            </a:r>
            <a:endParaRPr lang="en-US" sz="730" dirty="0"/>
          </a:p>
        </p:txBody>
      </p:sp>
      <p:sp>
        <p:nvSpPr>
          <p:cNvPr id="18" name="Shape 16"/>
          <p:cNvSpPr/>
          <p:nvPr/>
        </p:nvSpPr>
        <p:spPr>
          <a:xfrm>
            <a:off x="4956048" y="1865376"/>
            <a:ext cx="118872" cy="914"/>
          </a:xfrm>
          <a:prstGeom prst="line">
            <a:avLst/>
          </a:prstGeom>
          <a:noFill/>
          <a:ln w="19050">
            <a:solidFill>
              <a:srgbClr val="8C93A3"/>
            </a:solidFill>
            <a:prstDash val="solid"/>
            <a:tailEnd type="triangle"/>
          </a:ln>
        </p:spPr>
      </p:sp>
      <p:sp>
        <p:nvSpPr>
          <p:cNvPr id="19" name="Shape 17"/>
          <p:cNvSpPr/>
          <p:nvPr/>
        </p:nvSpPr>
        <p:spPr>
          <a:xfrm>
            <a:off x="5074920" y="1600200"/>
            <a:ext cx="1024128" cy="530352"/>
          </a:xfrm>
          <a:prstGeom prst="roundRect">
            <a:avLst>
              <a:gd name="adj" fmla="val 10345"/>
            </a:avLst>
          </a:prstGeom>
          <a:solidFill>
            <a:srgbClr val="5B6472"/>
          </a:solidFill>
          <a:ln w="15875">
            <a:solidFill>
              <a:srgbClr val="5B6472"/>
            </a:solidFill>
            <a:prstDash val="solid"/>
          </a:ln>
        </p:spPr>
      </p:sp>
      <p:sp>
        <p:nvSpPr>
          <p:cNvPr id="20" name="Text 18"/>
          <p:cNvSpPr/>
          <p:nvPr/>
        </p:nvSpPr>
        <p:spPr>
          <a:xfrm>
            <a:off x="5102352" y="1627632"/>
            <a:ext cx="969264" cy="475488"/>
          </a:xfrm>
          <a:prstGeom prst="rect">
            <a:avLst/>
          </a:prstGeom>
          <a:noFill/>
          <a:ln/>
        </p:spPr>
        <p:txBody>
          <a:bodyPr wrap="square" rtlCol="0" anchor="ctr"/>
          <a:lstStyle/>
          <a:p>
            <a:pPr algn="ctr" indent="0" marL="0">
              <a:lnSpc>
                <a:spcPct val="100000"/>
              </a:lnSpc>
              <a:buNone/>
            </a:pPr>
            <a:r>
              <a:rPr lang="en-US" sz="730" b="1" dirty="0">
                <a:solidFill>
                  <a:srgbClr val="FFFFFF"/>
                </a:solidFill>
                <a:latin typeface="맑은 고딕" pitchFamily="34" charset="0"/>
                <a:ea typeface="맑은 고딕" pitchFamily="34" charset="-122"/>
                <a:cs typeface="맑은 고딕" pitchFamily="34" charset="-120"/>
              </a:rPr>
              <a:t>DDR</a:t>
            </a:r>
            <a:endParaRPr lang="en-US" sz="73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514600"/>
          <a:ext cx="5120640" cy="914400"/>
        </p:xfrm>
        <a:graphic>
          <a:graphicData uri="http://schemas.openxmlformats.org/drawingml/2006/table">
            <a:tbl>
              <a:tblPr/>
              <a:tblGrid>
                <a:gridCol w="2743200"/>
                <a:gridCol w="2377440"/>
              </a:tblGrid>
              <a:tr h="288036">
                <a:tc>
                  <a:txBody>
                    <a:bodyPr/>
                    <a:lstStyle/>
                    <a:p>
                      <a:pPr algn="ctr" indent="0" marL="0">
                        <a:buNone/>
                      </a:pPr>
                      <a:r>
                        <a:rPr lang="en-US" sz="1150" b="1" dirty="0">
                          <a:solidFill>
                            <a:srgbClr val="FFFFFF"/>
                          </a:solidFill>
                        </a:rPr>
                        <a:t>항목</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1150" b="1" dirty="0">
                          <a:solidFill>
                            <a:srgbClr val="FFFFFF"/>
                          </a:solidFill>
                        </a:rPr>
                        <a:t>결과</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r>
              <a:tr h="288036">
                <a:tc>
                  <a:txBody>
                    <a:bodyPr/>
                    <a:lstStyle/>
                    <a:p>
                      <a:pPr algn="l" indent="0" marL="0">
                        <a:buNone/>
                      </a:pPr>
                      <a:r>
                        <a:rPr lang="en-US" sz="1150" dirty="0">
                          <a:solidFill>
                            <a:srgbClr val="1F2A37"/>
                          </a:solidFill>
                        </a:rPr>
                        <a:t>Validate Design</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PASS</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288036">
                <a:tc>
                  <a:txBody>
                    <a:bodyPr/>
                    <a:lstStyle/>
                    <a:p>
                      <a:pPr algn="l" indent="0" marL="0">
                        <a:buNone/>
                      </a:pPr>
                      <a:r>
                        <a:rPr lang="en-US" sz="1150" dirty="0">
                          <a:solidFill>
                            <a:srgbClr val="1F2A37"/>
                          </a:solidFill>
                        </a:rPr>
                        <a:t>Synthesis</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50" b="1" dirty="0">
                          <a:solidFill>
                            <a:srgbClr val="2E7D32"/>
                          </a:solidFill>
                        </a:rPr>
                        <a:t>PASS</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288036">
                <a:tc>
                  <a:txBody>
                    <a:bodyPr/>
                    <a:lstStyle/>
                    <a:p>
                      <a:pPr algn="l" indent="0" marL="0">
                        <a:buNone/>
                      </a:pPr>
                      <a:r>
                        <a:rPr lang="en-US" sz="1150" dirty="0">
                          <a:solidFill>
                            <a:srgbClr val="1F2A37"/>
                          </a:solidFill>
                        </a:rPr>
                        <a:t>Implementation</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PASS</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288036">
                <a:tc>
                  <a:txBody>
                    <a:bodyPr/>
                    <a:lstStyle/>
                    <a:p>
                      <a:pPr algn="l" indent="0" marL="0">
                        <a:buNone/>
                      </a:pPr>
                      <a:r>
                        <a:rPr lang="en-US" sz="1150" dirty="0">
                          <a:solidFill>
                            <a:srgbClr val="1F2A37"/>
                          </a:solidFill>
                        </a:rPr>
                        <a:t>Bitstream</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50" b="1" dirty="0">
                          <a:solidFill>
                            <a:srgbClr val="2E7D32"/>
                          </a:solidFill>
                        </a:rPr>
                        <a:t>PASS</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288036">
                <a:tc>
                  <a:txBody>
                    <a:bodyPr/>
                    <a:lstStyle/>
                    <a:p>
                      <a:pPr algn="l" indent="0" marL="0">
                        <a:buNone/>
                      </a:pPr>
                      <a:r>
                        <a:rPr lang="en-US" sz="1150" dirty="0">
                          <a:solidFill>
                            <a:srgbClr val="1F2A37"/>
                          </a:solidFill>
                        </a:rPr>
                        <a:t>WNS</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F2A37"/>
                          </a:solidFill>
                        </a:rPr>
                        <a:t>+5.904 ns</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288036">
                <a:tc>
                  <a:txBody>
                    <a:bodyPr/>
                    <a:lstStyle/>
                    <a:p>
                      <a:pPr algn="l" indent="0" marL="0">
                        <a:buNone/>
                      </a:pPr>
                      <a:r>
                        <a:rPr lang="en-US" sz="1150" dirty="0">
                          <a:solidFill>
                            <a:srgbClr val="1F2A37"/>
                          </a:solidFill>
                        </a:rPr>
                        <a:t>WHS</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50" b="1" dirty="0">
                          <a:solidFill>
                            <a:srgbClr val="1F2A37"/>
                          </a:solidFill>
                        </a:rPr>
                        <a:t>+0.010 ns</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288036">
                <a:tc>
                  <a:txBody>
                    <a:bodyPr/>
                    <a:lstStyle/>
                    <a:p>
                      <a:pPr algn="l" indent="0" marL="0">
                        <a:buNone/>
                      </a:pPr>
                      <a:r>
                        <a:rPr lang="en-US" sz="1150" dirty="0">
                          <a:solidFill>
                            <a:srgbClr val="1F2A37"/>
                          </a:solidFill>
                        </a:rPr>
                        <a:t>LUT</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F2A37"/>
                          </a:solidFill>
                        </a:rPr>
                        <a:t>4,717</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288036">
                <a:tc>
                  <a:txBody>
                    <a:bodyPr/>
                    <a:lstStyle/>
                    <a:p>
                      <a:pPr algn="l" indent="0" marL="0">
                        <a:buNone/>
                      </a:pPr>
                      <a:r>
                        <a:rPr lang="en-US" sz="1150" dirty="0">
                          <a:solidFill>
                            <a:srgbClr val="1F2A37"/>
                          </a:solidFill>
                        </a:rPr>
                        <a:t>Register</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50" b="1" dirty="0">
                          <a:solidFill>
                            <a:srgbClr val="1F2A37"/>
                          </a:solidFill>
                        </a:rPr>
                        <a:t>7,220</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288036">
                <a:tc>
                  <a:txBody>
                    <a:bodyPr/>
                    <a:lstStyle/>
                    <a:p>
                      <a:pPr algn="l" indent="0" marL="0">
                        <a:buNone/>
                      </a:pPr>
                      <a:r>
                        <a:rPr lang="en-US" sz="1150" dirty="0">
                          <a:solidFill>
                            <a:srgbClr val="1F2A37"/>
                          </a:solidFill>
                        </a:rPr>
                        <a:t>BRAM Tile</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F2A37"/>
                          </a:solidFill>
                        </a:rPr>
                        <a:t>2</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288036">
                <a:tc>
                  <a:txBody>
                    <a:bodyPr/>
                    <a:lstStyle/>
                    <a:p>
                      <a:pPr algn="l" indent="0" marL="0">
                        <a:buNone/>
                      </a:pPr>
                      <a:r>
                        <a:rPr lang="en-US" sz="1150" dirty="0">
                          <a:solidFill>
                            <a:srgbClr val="1F2A37"/>
                          </a:solidFill>
                        </a:rPr>
                        <a:t>DSP</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50" b="1" dirty="0">
                          <a:solidFill>
                            <a:srgbClr val="1F2A37"/>
                          </a:solidFill>
                        </a:rPr>
                        <a:t>0</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bl>
          </a:graphicData>
        </a:graphic>
      </p:graphicFrame>
      <p:sp>
        <p:nvSpPr>
          <p:cNvPr id="22" name="Shape 19"/>
          <p:cNvSpPr/>
          <p:nvPr/>
        </p:nvSpPr>
        <p:spPr>
          <a:xfrm>
            <a:off x="5943600" y="1097280"/>
            <a:ext cx="82296" cy="310896"/>
          </a:xfrm>
          <a:prstGeom prst="rect">
            <a:avLst/>
          </a:prstGeom>
          <a:solidFill>
            <a:srgbClr val="2F5597"/>
          </a:solidFill>
          <a:ln/>
        </p:spPr>
      </p:sp>
      <p:sp>
        <p:nvSpPr>
          <p:cNvPr id="23" name="Text 20"/>
          <p:cNvSpPr/>
          <p:nvPr/>
        </p:nvSpPr>
        <p:spPr>
          <a:xfrm>
            <a:off x="6108192" y="1069848"/>
            <a:ext cx="559612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남은 문제</a:t>
            </a:r>
            <a:endParaRPr lang="en-US" sz="1600" dirty="0"/>
          </a:p>
        </p:txBody>
      </p:sp>
      <p:sp>
        <p:nvSpPr>
          <p:cNvPr id="24" name="Text 21"/>
          <p:cNvSpPr/>
          <p:nvPr/>
        </p:nvSpPr>
        <p:spPr>
          <a:xfrm>
            <a:off x="5989320" y="1508760"/>
            <a:ext cx="5715000" cy="2377440"/>
          </a:xfrm>
          <a:prstGeom prst="rect">
            <a:avLst/>
          </a:prstGeom>
          <a:noFill/>
          <a:ln/>
        </p:spPr>
        <p:txBody>
          <a:bodyPr wrap="square" rtlCol="0" anchor="t"/>
          <a:lstStyle/>
          <a:p>
            <a:pPr marL="177800" indent="-177800">
              <a:lnSpc>
                <a:spcPct val="108000"/>
              </a:lnSpc>
              <a:spcAft>
                <a:spcPts val="1200"/>
              </a:spcAft>
              <a:buSzPct val="100000"/>
              <a:buChar char="▪"/>
            </a:pPr>
            <a:r>
              <a:rPr lang="en-US" sz="1350" dirty="0">
                <a:solidFill>
                  <a:srgbClr val="1F2A37"/>
                </a:solidFill>
                <a:latin typeface="맑은 고딕" pitchFamily="34" charset="0"/>
                <a:ea typeface="맑은 고딕" pitchFamily="34" charset="-122"/>
                <a:cs typeface="맑은 고딕" pitchFamily="34" charset="-120"/>
              </a:rPr>
              <a:t>Vitis Standalone 실행 중 AXI DMA register 접근 timeout</a:t>
            </a:r>
            <a:endParaRPr lang="en-US" sz="1350" dirty="0"/>
          </a:p>
          <a:p>
            <a:pPr marL="177800" indent="-177800">
              <a:lnSpc>
                <a:spcPct val="108000"/>
              </a:lnSpc>
              <a:spcAft>
                <a:spcPts val="1200"/>
              </a:spcAft>
              <a:buSzPct val="100000"/>
              <a:buChar char="▪"/>
            </a:pPr>
            <a:r>
              <a:rPr lang="en-US" sz="1350" dirty="0">
                <a:solidFill>
                  <a:srgbClr val="1F2A37"/>
                </a:solidFill>
                <a:latin typeface="맑은 고딕" pitchFamily="34" charset="0"/>
                <a:ea typeface="맑은 고딕" pitchFamily="34" charset="-122"/>
                <a:cs typeface="맑은 고딕" pitchFamily="34" charset="-120"/>
              </a:rPr>
              <a:t>0xA0000000, 0xA0010000 접근에서 A53 EDITR timeout</a:t>
            </a:r>
            <a:endParaRPr lang="en-US" sz="1350" dirty="0"/>
          </a:p>
          <a:p>
            <a:pPr marL="177800" indent="-177800">
              <a:lnSpc>
                <a:spcPct val="108000"/>
              </a:lnSpc>
              <a:spcAft>
                <a:spcPts val="1200"/>
              </a:spcAft>
              <a:buSzPct val="100000"/>
              <a:buChar char="▪"/>
            </a:pPr>
            <a:r>
              <a:rPr lang="en-US" sz="1350" dirty="0">
                <a:solidFill>
                  <a:srgbClr val="1F2A37"/>
                </a:solidFill>
                <a:latin typeface="맑은 고딕" pitchFamily="34" charset="0"/>
                <a:ea typeface="맑은 고딕" pitchFamily="34" charset="-122"/>
                <a:cs typeface="맑은 고딕" pitchFamily="34" charset="-120"/>
              </a:rPr>
              <a:t>Platform/XSA 및 PS–PL Clock/Reset 설정 재점검 중</a:t>
            </a:r>
            <a:endParaRPr lang="en-US" sz="1350" dirty="0"/>
          </a:p>
        </p:txBody>
      </p:sp>
      <p:sp>
        <p:nvSpPr>
          <p:cNvPr id="25" name="Shape 22"/>
          <p:cNvSpPr/>
          <p:nvPr/>
        </p:nvSpPr>
        <p:spPr>
          <a:xfrm>
            <a:off x="5943600" y="3977640"/>
            <a:ext cx="5760720" cy="2331720"/>
          </a:xfrm>
          <a:prstGeom prst="rect">
            <a:avLst>
              <a:gd name="adj" fmla="val 2353"/>
            </a:avLst>
          </a:prstGeom>
          <a:solidFill>
            <a:srgbClr val="EFF3FB"/>
          </a:solidFill>
          <a:ln w="12700">
            <a:solidFill>
              <a:srgbClr val="D9E0EC"/>
            </a:solidFill>
            <a:prstDash val="solid"/>
          </a:ln>
        </p:spPr>
      </p:sp>
      <p:sp>
        <p:nvSpPr>
          <p:cNvPr id="26" name="Text 23"/>
          <p:cNvSpPr/>
          <p:nvPr/>
        </p:nvSpPr>
        <p:spPr>
          <a:xfrm>
            <a:off x="6172200" y="3977640"/>
            <a:ext cx="5303520" cy="2331720"/>
          </a:xfrm>
          <a:prstGeom prst="rect">
            <a:avLst/>
          </a:prstGeom>
          <a:noFill/>
          <a:ln/>
        </p:spPr>
        <p:txBody>
          <a:bodyPr wrap="square" rtlCol="0" anchor="ctr"/>
          <a:lstStyle/>
          <a:p>
            <a:pPr algn="l" indent="0" marL="0">
              <a:buNone/>
            </a:pPr>
            <a:r>
              <a:rPr lang="en-US" sz="1350" dirty="0">
                <a:solidFill>
                  <a:srgbClr val="1F3864"/>
                </a:solidFill>
                <a:latin typeface="맑은 고딕" pitchFamily="34" charset="0"/>
                <a:ea typeface="맑은 고딕" pitchFamily="34" charset="-122"/>
                <a:cs typeface="맑은 고딕" pitchFamily="34" charset="-120"/>
              </a:rPr>
              <a:t>전체 C2f와 별도로 최소 DMA–Stream 경로에서는 Bitstream</a:t>
            </a:r>
            <a:endParaRPr lang="en-US" sz="1350" dirty="0"/>
          </a:p>
          <a:p>
            <a:pPr algn="l" indent="0" marL="0">
              <a:buNone/>
            </a:pPr>
            <a:r>
              <a:rPr lang="en-US" sz="1350" dirty="0">
                <a:solidFill>
                  <a:srgbClr val="1F3864"/>
                </a:solidFill>
                <a:latin typeface="맑은 고딕" pitchFamily="34" charset="0"/>
                <a:ea typeface="맑은 고딕" pitchFamily="34" charset="-122"/>
                <a:cs typeface="맑은 고딕" pitchFamily="34" charset="-120"/>
              </a:rPr>
              <a:t>생성까지 성공한 경험이 있습니다. 다만 보드에서 AXI-Lite</a:t>
            </a:r>
            <a:endParaRPr lang="en-US" sz="1350" dirty="0"/>
          </a:p>
          <a:p>
            <a:pPr algn="l" indent="0" marL="0">
              <a:buNone/>
            </a:pPr>
            <a:r>
              <a:rPr lang="en-US" sz="1350" dirty="0">
                <a:solidFill>
                  <a:srgbClr val="1F3864"/>
                </a:solidFill>
                <a:latin typeface="맑은 고딕" pitchFamily="34" charset="0"/>
                <a:ea typeface="맑은 고딕" pitchFamily="34" charset="-122"/>
                <a:cs typeface="맑은 고딕" pitchFamily="34" charset="-120"/>
              </a:rPr>
              <a:t>레지스터 접근 timeout이 발생해 Platform과 XSA, PS–PL</a:t>
            </a:r>
            <a:endParaRPr lang="en-US" sz="1350" dirty="0"/>
          </a:p>
          <a:p>
            <a:pPr algn="l" indent="0" marL="0">
              <a:buNone/>
            </a:pPr>
            <a:r>
              <a:rPr lang="en-US" sz="1350" dirty="0">
                <a:solidFill>
                  <a:srgbClr val="1F3864"/>
                </a:solidFill>
                <a:latin typeface="맑은 고딕" pitchFamily="34" charset="0"/>
                <a:ea typeface="맑은 고딕" pitchFamily="34" charset="-122"/>
                <a:cs typeface="맑은 고딕" pitchFamily="34" charset="-120"/>
              </a:rPr>
              <a:t>reset 설정을 추가로 점검하고 있습니다.</a:t>
            </a:r>
            <a:endParaRPr lang="en-US" sz="1350" dirty="0"/>
          </a:p>
        </p:txBody>
      </p:sp>
      <p:sp>
        <p:nvSpPr>
          <p:cNvPr id="27" name="Text 24"/>
          <p:cNvSpPr/>
          <p:nvPr/>
        </p:nvSpPr>
        <p:spPr>
          <a:xfrm>
            <a:off x="457200" y="6547104"/>
            <a:ext cx="9875520" cy="256032"/>
          </a:xfrm>
          <a:prstGeom prst="rect">
            <a:avLst/>
          </a:prstGeom>
          <a:noFill/>
          <a:ln/>
        </p:spPr>
        <p:txBody>
          <a:bodyPr wrap="square" rtlCol="0" anchor="ctr"/>
          <a:lstStyle/>
          <a:p>
            <a:pPr indent="0" marL="0">
              <a:buNone/>
            </a:pPr>
            <a:r>
              <a:rPr lang="en-US" sz="900" i="1" dirty="0">
                <a:solidFill>
                  <a:srgbClr val="5B6472"/>
                </a:solidFill>
                <a:latin typeface="맑은 고딕" pitchFamily="34" charset="0"/>
                <a:ea typeface="맑은 고딕" pitchFamily="34" charset="-122"/>
                <a:cs typeface="맑은 고딕" pitchFamily="34" charset="-120"/>
              </a:rPr>
              <a:t>출처: Vivado 2022.2 Implementation Report (최소 DMA 검증 설계)</a:t>
            </a:r>
            <a:endParaRPr lang="en-US" sz="900" dirty="0"/>
          </a:p>
        </p:txBody>
      </p:sp>
      <p:sp>
        <p:nvSpPr>
          <p:cNvPr id="28" name="Text 25"/>
          <p:cNvSpPr/>
          <p:nvPr/>
        </p:nvSpPr>
        <p:spPr>
          <a:xfrm>
            <a:off x="11064240" y="6547104"/>
            <a:ext cx="685800" cy="256032"/>
          </a:xfrm>
          <a:prstGeom prst="rect">
            <a:avLst/>
          </a:prstGeom>
          <a:noFill/>
          <a:ln/>
        </p:spPr>
        <p:txBody>
          <a:bodyPr wrap="square"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7 / 19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472C4"/>
          </a:solidFill>
          <a:ln/>
        </p:spPr>
      </p:sp>
      <p:sp>
        <p:nvSpPr>
          <p:cNvPr id="3" name="Text 1"/>
          <p:cNvSpPr/>
          <p:nvPr/>
        </p:nvSpPr>
        <p:spPr>
          <a:xfrm>
            <a:off x="457200" y="182880"/>
            <a:ext cx="9875520" cy="566928"/>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전체 Block Design 통합 결과</a:t>
            </a:r>
            <a:endParaRPr lang="en-US" sz="2600" dirty="0"/>
          </a:p>
        </p:txBody>
      </p:sp>
      <p:sp>
        <p:nvSpPr>
          <p:cNvPr id="4" name="Text 2"/>
          <p:cNvSpPr/>
          <p:nvPr/>
        </p:nvSpPr>
        <p:spPr>
          <a:xfrm>
            <a:off x="10698480" y="73152"/>
            <a:ext cx="1234440" cy="731520"/>
          </a:xfrm>
          <a:prstGeom prst="rect">
            <a:avLst/>
          </a:prstGeom>
          <a:noFill/>
          <a:ln/>
        </p:spPr>
        <p:txBody>
          <a:bodyPr wrap="square" rtlCol="0" anchor="ctr"/>
          <a:lstStyle/>
          <a:p>
            <a:pPr algn="r" indent="0" marL="0">
              <a:buNone/>
            </a:pPr>
            <a:r>
              <a:rPr lang="en-US" sz="3000" b="1" dirty="0">
                <a:solidFill>
                  <a:srgbClr val="9BB3E8"/>
                </a:solidFill>
                <a:latin typeface="Calibri" pitchFamily="34" charset="0"/>
                <a:ea typeface="Calibri" pitchFamily="34" charset="-122"/>
                <a:cs typeface="Calibri" pitchFamily="34" charset="-120"/>
              </a:rPr>
              <a:t>08</a:t>
            </a:r>
            <a:endParaRPr lang="en-US" sz="3000" dirty="0"/>
          </a:p>
        </p:txBody>
      </p:sp>
      <p:sp>
        <p:nvSpPr>
          <p:cNvPr id="5" name="Shape 3"/>
          <p:cNvSpPr/>
          <p:nvPr/>
        </p:nvSpPr>
        <p:spPr>
          <a:xfrm>
            <a:off x="457200" y="1097280"/>
            <a:ext cx="82296" cy="310896"/>
          </a:xfrm>
          <a:prstGeom prst="rect">
            <a:avLst/>
          </a:prstGeom>
          <a:solidFill>
            <a:srgbClr val="4472C4"/>
          </a:solidFill>
          <a:ln/>
        </p:spPr>
      </p:sp>
      <p:sp>
        <p:nvSpPr>
          <p:cNvPr id="6" name="Text 4"/>
          <p:cNvSpPr/>
          <p:nvPr/>
        </p:nvSpPr>
        <p:spPr>
          <a:xfrm>
            <a:off x="621792" y="1069848"/>
            <a:ext cx="523036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전체 model.6 Block Design 구성</a:t>
            </a:r>
            <a:endParaRPr lang="en-US" sz="1600" dirty="0"/>
          </a:p>
        </p:txBody>
      </p:sp>
      <p:sp>
        <p:nvSpPr>
          <p:cNvPr id="7" name="Text 5"/>
          <p:cNvSpPr/>
          <p:nvPr/>
        </p:nvSpPr>
        <p:spPr>
          <a:xfrm>
            <a:off x="502920" y="1481328"/>
            <a:ext cx="5349240" cy="4206240"/>
          </a:xfrm>
          <a:prstGeom prst="rect">
            <a:avLst/>
          </a:prstGeom>
          <a:noFill/>
          <a:ln/>
        </p:spPr>
        <p:txBody>
          <a:bodyPr wrap="square" rtlCol="0" anchor="t"/>
          <a:lstStyle/>
          <a:p>
            <a:pPr marL="177800" indent="-177800">
              <a:lnSpc>
                <a:spcPct val="108000"/>
              </a:lnSpc>
              <a:spcAft>
                <a:spcPts val="6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Zynq UltraScale+ MPSoC</a:t>
            </a:r>
            <a:endParaRPr lang="en-US" sz="1250" dirty="0"/>
          </a:p>
          <a:p>
            <a:pPr marL="177800" indent="-177800">
              <a:lnSpc>
                <a:spcPct val="108000"/>
              </a:lnSpc>
              <a:spcAft>
                <a:spcPts val="6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AXI DMA</a:t>
            </a:r>
            <a:endParaRPr lang="en-US" sz="1250" dirty="0"/>
          </a:p>
          <a:p>
            <a:pPr marL="177800" indent="-177800">
              <a:lnSpc>
                <a:spcPct val="108000"/>
              </a:lnSpc>
              <a:spcAft>
                <a:spcPts val="6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Control / Data / Parameter SmartConnect</a:t>
            </a:r>
            <a:endParaRPr lang="en-US" sz="1250" dirty="0"/>
          </a:p>
          <a:p>
            <a:pPr marL="177800" indent="-177800">
              <a:lnSpc>
                <a:spcPct val="108000"/>
              </a:lnSpc>
              <a:spcAft>
                <a:spcPts val="6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Input / Output AXIS Width Converter</a:t>
            </a:r>
            <a:endParaRPr lang="en-US" sz="1250" dirty="0"/>
          </a:p>
          <a:p>
            <a:pPr marL="177800" indent="-177800">
              <a:lnSpc>
                <a:spcPct val="108000"/>
              </a:lnSpc>
              <a:spcAft>
                <a:spcPts val="6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Conv1×1 cv1 및 cv2</a:t>
            </a:r>
            <a:endParaRPr lang="en-US" sz="1250" dirty="0"/>
          </a:p>
          <a:p>
            <a:pPr marL="177800" indent="-177800">
              <a:lnSpc>
                <a:spcPct val="108000"/>
              </a:lnSpc>
              <a:spcAft>
                <a:spcPts val="6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Conv3×3</a:t>
            </a:r>
            <a:endParaRPr lang="en-US" sz="1250" dirty="0"/>
          </a:p>
          <a:p>
            <a:pPr marL="177800" indent="-177800">
              <a:lnSpc>
                <a:spcPct val="108000"/>
              </a:lnSpc>
              <a:spcAft>
                <a:spcPts val="6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BN+SiLU 64 / 128</a:t>
            </a:r>
            <a:endParaRPr lang="en-US" sz="1250" dirty="0"/>
          </a:p>
          <a:p>
            <a:pPr marL="177800" indent="-177800">
              <a:lnSpc>
                <a:spcPct val="108000"/>
              </a:lnSpc>
              <a:spcAft>
                <a:spcPts val="6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Split / Concat</a:t>
            </a:r>
            <a:endParaRPr lang="en-US" sz="1250" dirty="0"/>
          </a:p>
          <a:p>
            <a:pPr marL="177800" indent="-177800">
              <a:lnSpc>
                <a:spcPct val="108000"/>
              </a:lnSpc>
              <a:spcAft>
                <a:spcPts val="6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Residual Add</a:t>
            </a:r>
            <a:endParaRPr lang="en-US" sz="1250" dirty="0"/>
          </a:p>
          <a:p>
            <a:pPr marL="177800" indent="-177800">
              <a:lnSpc>
                <a:spcPct val="108000"/>
              </a:lnSpc>
              <a:spcAft>
                <a:spcPts val="6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Bottleneck Router / BN128 Router</a:t>
            </a:r>
            <a:endParaRPr lang="en-US" sz="1250" dirty="0"/>
          </a:p>
          <a:p>
            <a:pPr marL="177800" indent="-177800">
              <a:lnSpc>
                <a:spcPct val="108000"/>
              </a:lnSpc>
              <a:spcAft>
                <a:spcPts val="6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BN scale/shift BRAM 및 AXI BRAM Controller</a:t>
            </a:r>
            <a:endParaRPr lang="en-US" sz="1250" dirty="0"/>
          </a:p>
          <a:p>
            <a:pPr marL="177800" indent="-177800">
              <a:lnSpc>
                <a:spcPct val="108000"/>
              </a:lnSpc>
              <a:spcAft>
                <a:spcPts val="6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Processor System Reset</a:t>
            </a:r>
            <a:endParaRPr lang="en-US" sz="1250" dirty="0"/>
          </a:p>
        </p:txBody>
      </p:sp>
      <p:sp>
        <p:nvSpPr>
          <p:cNvPr id="8" name="Shape 6"/>
          <p:cNvSpPr/>
          <p:nvPr/>
        </p:nvSpPr>
        <p:spPr>
          <a:xfrm>
            <a:off x="6035040" y="1097280"/>
            <a:ext cx="82296" cy="310896"/>
          </a:xfrm>
          <a:prstGeom prst="rect">
            <a:avLst/>
          </a:prstGeom>
          <a:solidFill>
            <a:srgbClr val="2F5597"/>
          </a:solidFill>
          <a:ln/>
        </p:spPr>
      </p:sp>
      <p:sp>
        <p:nvSpPr>
          <p:cNvPr id="9" name="Text 7"/>
          <p:cNvSpPr/>
          <p:nvPr/>
        </p:nvSpPr>
        <p:spPr>
          <a:xfrm>
            <a:off x="6199632" y="1069848"/>
            <a:ext cx="550468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현재 통과한 단계</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035040" y="1481328"/>
          <a:ext cx="5669280" cy="914400"/>
        </p:xfrm>
        <a:graphic>
          <a:graphicData uri="http://schemas.openxmlformats.org/drawingml/2006/table">
            <a:tbl>
              <a:tblPr/>
              <a:tblGrid>
                <a:gridCol w="3566160"/>
                <a:gridCol w="2103120"/>
              </a:tblGrid>
              <a:tr h="306324">
                <a:tc>
                  <a:txBody>
                    <a:bodyPr/>
                    <a:lstStyle/>
                    <a:p>
                      <a:pPr algn="ctr" indent="0" marL="0">
                        <a:buNone/>
                      </a:pPr>
                      <a:r>
                        <a:rPr lang="en-US" sz="1150" b="1" dirty="0">
                          <a:solidFill>
                            <a:srgbClr val="FFFFFF"/>
                          </a:solidFill>
                        </a:rPr>
                        <a:t>단계</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1150" b="1" dirty="0">
                          <a:solidFill>
                            <a:srgbClr val="FFFFFF"/>
                          </a:solidFill>
                        </a:rPr>
                        <a:t>상태</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r>
              <a:tr h="306324">
                <a:tc>
                  <a:txBody>
                    <a:bodyPr/>
                    <a:lstStyle/>
                    <a:p>
                      <a:pPr algn="l" indent="0" marL="0">
                        <a:buNone/>
                      </a:pPr>
                      <a:r>
                        <a:rPr lang="en-US" sz="1150" dirty="0">
                          <a:solidFill>
                            <a:srgbClr val="1F2A37"/>
                          </a:solidFill>
                        </a:rPr>
                        <a:t>IP Catalog 등록</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PASS</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306324">
                <a:tc>
                  <a:txBody>
                    <a:bodyPr/>
                    <a:lstStyle/>
                    <a:p>
                      <a:pPr algn="l" indent="0" marL="0">
                        <a:buNone/>
                      </a:pPr>
                      <a:r>
                        <a:rPr lang="en-US" sz="1150" dirty="0">
                          <a:solidFill>
                            <a:srgbClr val="1F2A37"/>
                          </a:solidFill>
                        </a:rPr>
                        <a:t>Block Design 연결</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50" b="1" dirty="0">
                          <a:solidFill>
                            <a:srgbClr val="2E7D32"/>
                          </a:solidFill>
                        </a:rPr>
                        <a:t>완료</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306324">
                <a:tc>
                  <a:txBody>
                    <a:bodyPr/>
                    <a:lstStyle/>
                    <a:p>
                      <a:pPr algn="l" indent="0" marL="0">
                        <a:buNone/>
                      </a:pPr>
                      <a:r>
                        <a:rPr lang="en-US" sz="1150" dirty="0">
                          <a:solidFill>
                            <a:srgbClr val="1F2A37"/>
                          </a:solidFill>
                        </a:rPr>
                        <a:t>Validate Design</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F2A37"/>
                          </a:solidFill>
                        </a:rPr>
                        <a:t>PASS 이력</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306324">
                <a:tc>
                  <a:txBody>
                    <a:bodyPr/>
                    <a:lstStyle/>
                    <a:p>
                      <a:pPr algn="l" indent="0" marL="0">
                        <a:buNone/>
                      </a:pPr>
                      <a:r>
                        <a:rPr lang="en-US" sz="1150" dirty="0">
                          <a:solidFill>
                            <a:srgbClr val="1F2A37"/>
                          </a:solidFill>
                        </a:rPr>
                        <a:t>Synthesis</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50" b="1" dirty="0">
                          <a:solidFill>
                            <a:srgbClr val="2E7D32"/>
                          </a:solidFill>
                        </a:rPr>
                        <a:t>PASS</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306324">
                <a:tc>
                  <a:txBody>
                    <a:bodyPr/>
                    <a:lstStyle/>
                    <a:p>
                      <a:pPr algn="l" indent="0" marL="0">
                        <a:buNone/>
                      </a:pPr>
                      <a:r>
                        <a:rPr lang="en-US" sz="1150" dirty="0">
                          <a:solidFill>
                            <a:srgbClr val="1F2A37"/>
                          </a:solidFill>
                        </a:rPr>
                        <a:t>Black Box 검사</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F2A37"/>
                          </a:solidFill>
                        </a:rPr>
                        <a:t>0</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306324">
                <a:tc>
                  <a:txBody>
                    <a:bodyPr/>
                    <a:lstStyle/>
                    <a:p>
                      <a:pPr algn="l" indent="0" marL="0">
                        <a:buNone/>
                      </a:pPr>
                      <a:r>
                        <a:rPr lang="en-US" sz="1150" dirty="0">
                          <a:solidFill>
                            <a:srgbClr val="1F2A37"/>
                          </a:solidFill>
                        </a:rPr>
                        <a:t>Placement</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50" b="1" dirty="0">
                          <a:solidFill>
                            <a:srgbClr val="2E7D32"/>
                          </a:solidFill>
                        </a:rPr>
                        <a:t>PASS</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306324">
                <a:tc>
                  <a:txBody>
                    <a:bodyPr/>
                    <a:lstStyle/>
                    <a:p>
                      <a:pPr algn="l" indent="0" marL="0">
                        <a:buNone/>
                      </a:pPr>
                      <a:r>
                        <a:rPr lang="en-US" sz="1150" dirty="0">
                          <a:solidFill>
                            <a:srgbClr val="1F2A37"/>
                          </a:solidFill>
                        </a:rPr>
                        <a:t>LUTLP-1 조합루프 검사</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F2A37"/>
                          </a:solidFill>
                        </a:rPr>
                        <a:t>0</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306324">
                <a:tc>
                  <a:txBody>
                    <a:bodyPr/>
                    <a:lstStyle/>
                    <a:p>
                      <a:pPr algn="l" indent="0" marL="0">
                        <a:buNone/>
                      </a:pPr>
                      <a:r>
                        <a:rPr lang="en-US" sz="1150" dirty="0">
                          <a:solidFill>
                            <a:srgbClr val="1F2A37"/>
                          </a:solidFill>
                        </a:rPr>
                        <a:t>Routing</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50" b="1" dirty="0">
                          <a:solidFill>
                            <a:srgbClr val="C00000"/>
                          </a:solidFill>
                        </a:rPr>
                        <a:t>FAIL</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306324">
                <a:tc>
                  <a:txBody>
                    <a:bodyPr/>
                    <a:lstStyle/>
                    <a:p>
                      <a:pPr algn="l" indent="0" marL="0">
                        <a:buNone/>
                      </a:pPr>
                      <a:r>
                        <a:rPr lang="en-US" sz="1150" dirty="0">
                          <a:solidFill>
                            <a:srgbClr val="1F2A37"/>
                          </a:solidFill>
                        </a:rPr>
                        <a:t>Bitstream</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8C8C8C"/>
                          </a:solidFill>
                        </a:rPr>
                        <a:t>미생성</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306324">
                <a:tc>
                  <a:txBody>
                    <a:bodyPr/>
                    <a:lstStyle/>
                    <a:p>
                      <a:pPr algn="l" indent="0" marL="0">
                        <a:buNone/>
                      </a:pPr>
                      <a:r>
                        <a:rPr lang="en-US" sz="1150" dirty="0">
                          <a:solidFill>
                            <a:srgbClr val="1F2A37"/>
                          </a:solidFill>
                        </a:rPr>
                        <a:t>Vitis 전체 model.6 실행</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50" b="1" dirty="0">
                          <a:solidFill>
                            <a:srgbClr val="8C8C8C"/>
                          </a:solidFill>
                        </a:rPr>
                        <a:t>미진행</a:t>
                      </a:r>
                      <a:endParaRPr lang="en-US" sz="11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bl>
          </a:graphicData>
        </a:graphic>
      </p:graphicFrame>
      <p:sp>
        <p:nvSpPr>
          <p:cNvPr id="11" name="Text 8"/>
          <p:cNvSpPr/>
          <p:nvPr/>
        </p:nvSpPr>
        <p:spPr>
          <a:xfrm>
            <a:off x="457200" y="6547104"/>
            <a:ext cx="9875520" cy="256032"/>
          </a:xfrm>
          <a:prstGeom prst="rect">
            <a:avLst/>
          </a:prstGeom>
          <a:noFill/>
          <a:ln/>
        </p:spPr>
        <p:txBody>
          <a:bodyPr wrap="square" rtlCol="0" anchor="ctr"/>
          <a:lstStyle/>
          <a:p>
            <a:pPr indent="0" marL="0">
              <a:buNone/>
            </a:pPr>
            <a:r>
              <a:rPr lang="en-US" sz="900" i="1" dirty="0">
                <a:solidFill>
                  <a:srgbClr val="5B6472"/>
                </a:solidFill>
                <a:latin typeface="맑은 고딕" pitchFamily="34" charset="0"/>
                <a:ea typeface="맑은 고딕" pitchFamily="34" charset="-122"/>
                <a:cs typeface="맑은 고딕" pitchFamily="34" charset="-120"/>
              </a:rPr>
              <a:t>출처: Vivado 2022.2 Synthesis / Implementation Report</a:t>
            </a:r>
            <a:endParaRPr lang="en-US" sz="900" dirty="0"/>
          </a:p>
        </p:txBody>
      </p:sp>
      <p:sp>
        <p:nvSpPr>
          <p:cNvPr id="12" name="Text 9"/>
          <p:cNvSpPr/>
          <p:nvPr/>
        </p:nvSpPr>
        <p:spPr>
          <a:xfrm>
            <a:off x="11064240" y="6547104"/>
            <a:ext cx="685800" cy="256032"/>
          </a:xfrm>
          <a:prstGeom prst="rect">
            <a:avLst/>
          </a:prstGeom>
          <a:noFill/>
          <a:ln/>
        </p:spPr>
        <p:txBody>
          <a:bodyPr wrap="square"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8 / 19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472C4"/>
          </a:solidFill>
          <a:ln/>
        </p:spPr>
      </p:sp>
      <p:sp>
        <p:nvSpPr>
          <p:cNvPr id="3" name="Text 1"/>
          <p:cNvSpPr/>
          <p:nvPr/>
        </p:nvSpPr>
        <p:spPr>
          <a:xfrm>
            <a:off x="457200" y="182880"/>
            <a:ext cx="9875520" cy="566928"/>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1차 문제 — AXI 조합루프 (Combinational Loop)</a:t>
            </a:r>
            <a:endParaRPr lang="en-US" sz="2600" dirty="0"/>
          </a:p>
        </p:txBody>
      </p:sp>
      <p:sp>
        <p:nvSpPr>
          <p:cNvPr id="4" name="Text 2"/>
          <p:cNvSpPr/>
          <p:nvPr/>
        </p:nvSpPr>
        <p:spPr>
          <a:xfrm>
            <a:off x="10698480" y="73152"/>
            <a:ext cx="1234440" cy="731520"/>
          </a:xfrm>
          <a:prstGeom prst="rect">
            <a:avLst/>
          </a:prstGeom>
          <a:noFill/>
          <a:ln/>
        </p:spPr>
        <p:txBody>
          <a:bodyPr wrap="square" rtlCol="0" anchor="ctr"/>
          <a:lstStyle/>
          <a:p>
            <a:pPr algn="r" indent="0" marL="0">
              <a:buNone/>
            </a:pPr>
            <a:r>
              <a:rPr lang="en-US" sz="3000" b="1" dirty="0">
                <a:solidFill>
                  <a:srgbClr val="9BB3E8"/>
                </a:solidFill>
                <a:latin typeface="Calibri" pitchFamily="34" charset="0"/>
                <a:ea typeface="Calibri" pitchFamily="34" charset="-122"/>
                <a:cs typeface="Calibri" pitchFamily="34" charset="-120"/>
              </a:rPr>
              <a:t>09</a:t>
            </a:r>
            <a:endParaRPr lang="en-US" sz="3000" dirty="0"/>
          </a:p>
        </p:txBody>
      </p:sp>
      <p:sp>
        <p:nvSpPr>
          <p:cNvPr id="5" name="Shape 3"/>
          <p:cNvSpPr/>
          <p:nvPr/>
        </p:nvSpPr>
        <p:spPr>
          <a:xfrm>
            <a:off x="457200" y="1097280"/>
            <a:ext cx="82296" cy="310896"/>
          </a:xfrm>
          <a:prstGeom prst="rect">
            <a:avLst/>
          </a:prstGeom>
          <a:solidFill>
            <a:srgbClr val="4472C4"/>
          </a:solidFill>
          <a:ln/>
        </p:spPr>
      </p:sp>
      <p:sp>
        <p:nvSpPr>
          <p:cNvPr id="6" name="Text 4"/>
          <p:cNvSpPr/>
          <p:nvPr/>
        </p:nvSpPr>
        <p:spPr>
          <a:xfrm>
            <a:off x="621792" y="1069848"/>
            <a:ext cx="523036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발생한 문제</a:t>
            </a:r>
            <a:endParaRPr lang="en-US" sz="1600" dirty="0"/>
          </a:p>
        </p:txBody>
      </p:sp>
      <p:sp>
        <p:nvSpPr>
          <p:cNvPr id="7" name="Text 5"/>
          <p:cNvSpPr/>
          <p:nvPr/>
        </p:nvSpPr>
        <p:spPr>
          <a:xfrm>
            <a:off x="502920" y="1481328"/>
            <a:ext cx="5349240" cy="1554480"/>
          </a:xfrm>
          <a:prstGeom prst="rect">
            <a:avLst/>
          </a:prstGeom>
          <a:noFill/>
          <a:ln/>
        </p:spPr>
        <p:txBody>
          <a:bodyPr wrap="square" rtlCol="0" anchor="t"/>
          <a:lstStyle/>
          <a:p>
            <a:pPr marL="177800" indent="-177800">
              <a:lnSpc>
                <a:spcPct val="108000"/>
              </a:lnSpc>
              <a:spcAft>
                <a:spcPts val="9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Router와 BN+SiLU 사이 AXI4-Stream handshake 경로에서 조합루프 발생</a:t>
            </a:r>
            <a:endParaRPr lang="en-US" sz="1300" dirty="0"/>
          </a:p>
          <a:p>
            <a:pPr marL="177800" indent="-177800">
              <a:lnSpc>
                <a:spcPct val="108000"/>
              </a:lnSpc>
              <a:spcAft>
                <a:spcPts val="9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TREADY와 TVALID의 조합 경로가 서로 연결됨</a:t>
            </a:r>
            <a:endParaRPr lang="en-US" sz="1300" dirty="0"/>
          </a:p>
          <a:p>
            <a:pPr marL="177800" indent="-177800">
              <a:lnSpc>
                <a:spcPct val="108000"/>
              </a:lnSpc>
              <a:spcAft>
                <a:spcPts val="9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Vivado DRC: LUTLP-1 Combinatorial Loop Alert</a:t>
            </a:r>
            <a:endParaRPr lang="en-US" sz="1300" dirty="0"/>
          </a:p>
        </p:txBody>
      </p:sp>
      <p:sp>
        <p:nvSpPr>
          <p:cNvPr id="8" name="Shape 6"/>
          <p:cNvSpPr/>
          <p:nvPr/>
        </p:nvSpPr>
        <p:spPr>
          <a:xfrm>
            <a:off x="457200" y="3063240"/>
            <a:ext cx="82296" cy="310896"/>
          </a:xfrm>
          <a:prstGeom prst="rect">
            <a:avLst/>
          </a:prstGeom>
          <a:solidFill>
            <a:srgbClr val="2F5597"/>
          </a:solidFill>
          <a:ln/>
        </p:spPr>
      </p:sp>
      <p:sp>
        <p:nvSpPr>
          <p:cNvPr id="9" name="Text 7"/>
          <p:cNvSpPr/>
          <p:nvPr/>
        </p:nvSpPr>
        <p:spPr>
          <a:xfrm>
            <a:off x="621792" y="3035808"/>
            <a:ext cx="523036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해결 방법</a:t>
            </a:r>
            <a:endParaRPr lang="en-US" sz="1600" dirty="0"/>
          </a:p>
        </p:txBody>
      </p:sp>
      <p:sp>
        <p:nvSpPr>
          <p:cNvPr id="10" name="Shape 8"/>
          <p:cNvSpPr/>
          <p:nvPr/>
        </p:nvSpPr>
        <p:spPr>
          <a:xfrm>
            <a:off x="502920" y="3429000"/>
            <a:ext cx="5349240" cy="1188720"/>
          </a:xfrm>
          <a:prstGeom prst="rect">
            <a:avLst>
              <a:gd name="adj" fmla="val 3846"/>
            </a:avLst>
          </a:prstGeom>
          <a:solidFill>
            <a:srgbClr val="1F2A37"/>
          </a:solidFill>
          <a:ln/>
        </p:spPr>
      </p:sp>
      <p:sp>
        <p:nvSpPr>
          <p:cNvPr id="11" name="Text 9"/>
          <p:cNvSpPr/>
          <p:nvPr/>
        </p:nvSpPr>
        <p:spPr>
          <a:xfrm>
            <a:off x="685800" y="3520440"/>
            <a:ext cx="5029200" cy="1005840"/>
          </a:xfrm>
          <a:prstGeom prst="rect">
            <a:avLst/>
          </a:prstGeom>
          <a:noFill/>
          <a:ln/>
        </p:spPr>
        <p:txBody>
          <a:bodyPr wrap="square" rtlCol="0" anchor="ctr"/>
          <a:lstStyle/>
          <a:p>
            <a:pPr indent="0" marL="0">
              <a:lnSpc>
                <a:spcPct val="130000"/>
              </a:lnSpc>
              <a:buNone/>
            </a:pPr>
            <a:r>
              <a:rPr lang="en-US" sz="1100" dirty="0">
                <a:solidFill>
                  <a:srgbClr val="9BE38A"/>
                </a:solidFill>
                <a:latin typeface="Courier New" pitchFamily="34" charset="0"/>
                <a:ea typeface="Courier New" pitchFamily="34" charset="-122"/>
                <a:cs typeface="Courier New" pitchFamily="34" charset="-120"/>
              </a:rPr>
              <a:t>#pragma HLS INTERFACE axis port=in_s  register_mode=reverse</a:t>
            </a:r>
            <a:endParaRPr lang="en-US" sz="1100" dirty="0"/>
          </a:p>
          <a:p>
            <a:pPr indent="0" marL="0">
              <a:lnSpc>
                <a:spcPct val="130000"/>
              </a:lnSpc>
              <a:buNone/>
            </a:pPr>
            <a:r>
              <a:rPr lang="en-US" sz="1100" dirty="0">
                <a:solidFill>
                  <a:srgbClr val="9BE38A"/>
                </a:solidFill>
                <a:latin typeface="Courier New" pitchFamily="34" charset="0"/>
                <a:ea typeface="Courier New" pitchFamily="34" charset="-122"/>
                <a:cs typeface="Courier New" pitchFamily="34" charset="-120"/>
              </a:rPr>
              <a:t>#pragma HLS INTERFACE axis port=out_s register_mode=forward</a:t>
            </a:r>
            <a:endParaRPr lang="en-US" sz="1100" dirty="0"/>
          </a:p>
          <a:p>
            <a:pPr indent="0" marL="0">
              <a:lnSpc>
                <a:spcPct val="130000"/>
              </a:lnSpc>
              <a:buNone/>
            </a:pPr>
            <a:r>
              <a:rPr lang="en-US" sz="1100" dirty="0">
                <a:solidFill>
                  <a:srgbClr val="9BE38A"/>
                </a:solidFill>
                <a:latin typeface="Courier New" pitchFamily="34" charset="0"/>
                <a:ea typeface="Courier New" pitchFamily="34" charset="-122"/>
                <a:cs typeface="Courier New" pitchFamily="34" charset="-120"/>
              </a:rPr>
              <a:t>#pragma HLS PIPELINE II=1 style=stp</a:t>
            </a:r>
            <a:endParaRPr lang="en-US" sz="1100" dirty="0"/>
          </a:p>
        </p:txBody>
      </p:sp>
      <p:sp>
        <p:nvSpPr>
          <p:cNvPr id="12" name="Shape 10"/>
          <p:cNvSpPr/>
          <p:nvPr/>
        </p:nvSpPr>
        <p:spPr>
          <a:xfrm>
            <a:off x="457200" y="4800600"/>
            <a:ext cx="82296" cy="310896"/>
          </a:xfrm>
          <a:prstGeom prst="rect">
            <a:avLst/>
          </a:prstGeom>
          <a:solidFill>
            <a:srgbClr val="2F5597"/>
          </a:solidFill>
          <a:ln/>
        </p:spPr>
      </p:sp>
      <p:sp>
        <p:nvSpPr>
          <p:cNvPr id="13" name="Text 11"/>
          <p:cNvSpPr/>
          <p:nvPr/>
        </p:nvSpPr>
        <p:spPr>
          <a:xfrm>
            <a:off x="621792" y="4773168"/>
            <a:ext cx="523036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결과</a:t>
            </a:r>
            <a:endParaRPr lang="en-US" sz="1600" dirty="0"/>
          </a:p>
        </p:txBody>
      </p:sp>
      <p:sp>
        <p:nvSpPr>
          <p:cNvPr id="14" name="Text 12"/>
          <p:cNvSpPr/>
          <p:nvPr/>
        </p:nvSpPr>
        <p:spPr>
          <a:xfrm>
            <a:off x="502920" y="5138928"/>
            <a:ext cx="5349240" cy="1280160"/>
          </a:xfrm>
          <a:prstGeom prst="rect">
            <a:avLst/>
          </a:prstGeom>
          <a:noFill/>
          <a:ln/>
        </p:spPr>
        <p:txBody>
          <a:bodyPr wrap="square" rtlCol="0" anchor="t"/>
          <a:lstStyle/>
          <a:p>
            <a:pPr marL="177800" indent="-177800">
              <a:lnSpc>
                <a:spcPct val="108000"/>
              </a:lnSpc>
              <a:spcAft>
                <a:spcPts val="600"/>
              </a:spcAft>
              <a:buSzPct val="100000"/>
              <a:buChar char="▪"/>
            </a:pPr>
            <a:r>
              <a:rPr lang="en-US" sz="1200" dirty="0">
                <a:solidFill>
                  <a:srgbClr val="1F2A37"/>
                </a:solidFill>
                <a:latin typeface="맑은 고딕" pitchFamily="34" charset="0"/>
                <a:ea typeface="맑은 고딕" pitchFamily="34" charset="-122"/>
                <a:cs typeface="맑은 고딕" pitchFamily="34" charset="-120"/>
              </a:rPr>
              <a:t>BN64 / BN128: reverse + forward register slice 생성 · C Simulation PASS</a:t>
            </a:r>
            <a:endParaRPr lang="en-US" sz="1200" dirty="0"/>
          </a:p>
          <a:p>
            <a:pPr marL="177800" indent="-177800">
              <a:lnSpc>
                <a:spcPct val="108000"/>
              </a:lnSpc>
              <a:spcAft>
                <a:spcPts val="600"/>
              </a:spcAft>
              <a:buSzPct val="100000"/>
              <a:buChar char="▪"/>
            </a:pPr>
            <a:r>
              <a:rPr lang="en-US" sz="1200" dirty="0">
                <a:solidFill>
                  <a:srgbClr val="1F2A37"/>
                </a:solidFill>
                <a:latin typeface="맑은 고딕" pitchFamily="34" charset="0"/>
                <a:ea typeface="맑은 고딕" pitchFamily="34" charset="-122"/>
                <a:cs typeface="맑은 고딕" pitchFamily="34" charset="-120"/>
              </a:rPr>
              <a:t>Final II = 1  ·  LUTLP-1 violations: 1 → 0  ·  합성 Black Box: 0</a:t>
            </a:r>
            <a:endParaRPr lang="en-US" sz="1200" dirty="0"/>
          </a:p>
        </p:txBody>
      </p:sp>
      <p:sp>
        <p:nvSpPr>
          <p:cNvPr id="15" name="Shape 13"/>
          <p:cNvSpPr/>
          <p:nvPr/>
        </p:nvSpPr>
        <p:spPr>
          <a:xfrm>
            <a:off x="6263640" y="1097280"/>
            <a:ext cx="82296" cy="310896"/>
          </a:xfrm>
          <a:prstGeom prst="rect">
            <a:avLst/>
          </a:prstGeom>
          <a:solidFill>
            <a:srgbClr val="4472C4"/>
          </a:solidFill>
          <a:ln/>
        </p:spPr>
      </p:sp>
      <p:sp>
        <p:nvSpPr>
          <p:cNvPr id="16" name="Text 14"/>
          <p:cNvSpPr/>
          <p:nvPr/>
        </p:nvSpPr>
        <p:spPr>
          <a:xfrm>
            <a:off x="6428232" y="1069848"/>
            <a:ext cx="527608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Before / After</a:t>
            </a:r>
            <a:endParaRPr lang="en-US" sz="1600" dirty="0"/>
          </a:p>
        </p:txBody>
      </p:sp>
      <p:sp>
        <p:nvSpPr>
          <p:cNvPr id="17" name="Text 15"/>
          <p:cNvSpPr/>
          <p:nvPr/>
        </p:nvSpPr>
        <p:spPr>
          <a:xfrm>
            <a:off x="6309360" y="1508760"/>
            <a:ext cx="5349240" cy="274320"/>
          </a:xfrm>
          <a:prstGeom prst="rect">
            <a:avLst/>
          </a:prstGeom>
          <a:noFill/>
          <a:ln/>
        </p:spPr>
        <p:txBody>
          <a:bodyPr wrap="square" rtlCol="0" anchor="ctr"/>
          <a:lstStyle/>
          <a:p>
            <a:pPr indent="0" marL="0">
              <a:buNone/>
            </a:pPr>
            <a:r>
              <a:rPr lang="en-US" sz="1250" b="1" dirty="0">
                <a:solidFill>
                  <a:srgbClr val="C00000"/>
                </a:solidFill>
                <a:latin typeface="맑은 고딕" pitchFamily="34" charset="0"/>
                <a:ea typeface="맑은 고딕" pitchFamily="34" charset="-122"/>
                <a:cs typeface="맑은 고딕" pitchFamily="34" charset="-120"/>
              </a:rPr>
              <a:t>Before — 조합 피드백</a:t>
            </a:r>
            <a:endParaRPr lang="en-US" sz="1250" dirty="0"/>
          </a:p>
        </p:txBody>
      </p:sp>
      <p:sp>
        <p:nvSpPr>
          <p:cNvPr id="18" name="Shape 16"/>
          <p:cNvSpPr/>
          <p:nvPr/>
        </p:nvSpPr>
        <p:spPr>
          <a:xfrm>
            <a:off x="6309360" y="1828800"/>
            <a:ext cx="2194560" cy="457200"/>
          </a:xfrm>
          <a:prstGeom prst="roundRect">
            <a:avLst>
              <a:gd name="adj" fmla="val 12000"/>
            </a:avLst>
          </a:prstGeom>
          <a:solidFill>
            <a:srgbClr val="808080"/>
          </a:solidFill>
          <a:ln w="15875">
            <a:solidFill>
              <a:srgbClr val="808080"/>
            </a:solidFill>
            <a:prstDash val="solid"/>
          </a:ln>
        </p:spPr>
      </p:sp>
      <p:sp>
        <p:nvSpPr>
          <p:cNvPr id="19" name="Text 17"/>
          <p:cNvSpPr/>
          <p:nvPr/>
        </p:nvSpPr>
        <p:spPr>
          <a:xfrm>
            <a:off x="6336792" y="1856232"/>
            <a:ext cx="2139696" cy="402336"/>
          </a:xfrm>
          <a:prstGeom prst="rect">
            <a:avLst/>
          </a:prstGeom>
          <a:noFill/>
          <a:ln/>
        </p:spPr>
        <p:txBody>
          <a:bodyPr wrap="square" rtlCol="0" anchor="ctr"/>
          <a:lstStyle/>
          <a:p>
            <a:pPr algn="ctr" indent="0" marL="0">
              <a:lnSpc>
                <a:spcPct val="100000"/>
              </a:lnSpc>
              <a:buNone/>
            </a:pPr>
            <a:r>
              <a:rPr lang="en-US" sz="1050" b="1" dirty="0">
                <a:solidFill>
                  <a:srgbClr val="FFFFFF"/>
                </a:solidFill>
                <a:latin typeface="맑은 고딕" pitchFamily="34" charset="0"/>
                <a:ea typeface="맑은 고딕" pitchFamily="34" charset="-122"/>
                <a:cs typeface="맑은 고딕" pitchFamily="34" charset="-120"/>
              </a:rPr>
              <a:t>Router</a:t>
            </a:r>
            <a:endParaRPr lang="en-US" sz="1050" dirty="0"/>
          </a:p>
          <a:p>
            <a:pPr algn="ctr" indent="0" marL="0">
              <a:lnSpc>
                <a:spcPct val="100000"/>
              </a:lnSpc>
              <a:buNone/>
            </a:pPr>
            <a:r>
              <a:rPr lang="en-US" sz="1050" b="1" dirty="0">
                <a:solidFill>
                  <a:srgbClr val="FFFFFF"/>
                </a:solidFill>
                <a:latin typeface="맑은 고딕" pitchFamily="34" charset="0"/>
                <a:ea typeface="맑은 고딕" pitchFamily="34" charset="-122"/>
                <a:cs typeface="맑은 고딕" pitchFamily="34" charset="-120"/>
              </a:rPr>
              <a:t>TREADY</a:t>
            </a:r>
            <a:endParaRPr lang="en-US" sz="1050" dirty="0"/>
          </a:p>
        </p:txBody>
      </p:sp>
      <p:sp>
        <p:nvSpPr>
          <p:cNvPr id="20" name="Shape 18"/>
          <p:cNvSpPr/>
          <p:nvPr/>
        </p:nvSpPr>
        <p:spPr>
          <a:xfrm>
            <a:off x="9281160" y="1828800"/>
            <a:ext cx="2194560" cy="457200"/>
          </a:xfrm>
          <a:prstGeom prst="roundRect">
            <a:avLst>
              <a:gd name="adj" fmla="val 12000"/>
            </a:avLst>
          </a:prstGeom>
          <a:solidFill>
            <a:srgbClr val="ED7D31"/>
          </a:solidFill>
          <a:ln w="15875">
            <a:solidFill>
              <a:srgbClr val="ED7D31"/>
            </a:solidFill>
            <a:prstDash val="solid"/>
          </a:ln>
        </p:spPr>
      </p:sp>
      <p:sp>
        <p:nvSpPr>
          <p:cNvPr id="21" name="Text 19"/>
          <p:cNvSpPr/>
          <p:nvPr/>
        </p:nvSpPr>
        <p:spPr>
          <a:xfrm>
            <a:off x="9308592" y="1856232"/>
            <a:ext cx="2139696" cy="402336"/>
          </a:xfrm>
          <a:prstGeom prst="rect">
            <a:avLst/>
          </a:prstGeom>
          <a:noFill/>
          <a:ln/>
        </p:spPr>
        <p:txBody>
          <a:bodyPr wrap="square" rtlCol="0" anchor="ctr"/>
          <a:lstStyle/>
          <a:p>
            <a:pPr algn="ctr" indent="0" marL="0">
              <a:lnSpc>
                <a:spcPct val="100000"/>
              </a:lnSpc>
              <a:buNone/>
            </a:pPr>
            <a:r>
              <a:rPr lang="en-US" sz="1050" b="1" dirty="0">
                <a:solidFill>
                  <a:srgbClr val="FFFFFF"/>
                </a:solidFill>
                <a:latin typeface="맑은 고딕" pitchFamily="34" charset="0"/>
                <a:ea typeface="맑은 고딕" pitchFamily="34" charset="-122"/>
                <a:cs typeface="맑은 고딕" pitchFamily="34" charset="-120"/>
              </a:rPr>
              <a:t>BN</a:t>
            </a:r>
            <a:endParaRPr lang="en-US" sz="1050" dirty="0"/>
          </a:p>
          <a:p>
            <a:pPr algn="ctr" indent="0" marL="0">
              <a:lnSpc>
                <a:spcPct val="100000"/>
              </a:lnSpc>
              <a:buNone/>
            </a:pPr>
            <a:r>
              <a:rPr lang="en-US" sz="1050" b="1" dirty="0">
                <a:solidFill>
                  <a:srgbClr val="FFFFFF"/>
                </a:solidFill>
                <a:latin typeface="맑은 고딕" pitchFamily="34" charset="0"/>
                <a:ea typeface="맑은 고딕" pitchFamily="34" charset="-122"/>
                <a:cs typeface="맑은 고딕" pitchFamily="34" charset="-120"/>
              </a:rPr>
              <a:t>TVALID</a:t>
            </a:r>
            <a:endParaRPr lang="en-US" sz="1050" dirty="0"/>
          </a:p>
        </p:txBody>
      </p:sp>
      <p:sp>
        <p:nvSpPr>
          <p:cNvPr id="22" name="Shape 20"/>
          <p:cNvSpPr/>
          <p:nvPr/>
        </p:nvSpPr>
        <p:spPr>
          <a:xfrm>
            <a:off x="8503920" y="1920240"/>
            <a:ext cx="777240" cy="914"/>
          </a:xfrm>
          <a:prstGeom prst="line">
            <a:avLst/>
          </a:prstGeom>
          <a:noFill/>
          <a:ln w="19050">
            <a:solidFill>
              <a:srgbClr val="C00000"/>
            </a:solidFill>
            <a:prstDash val="solid"/>
            <a:tailEnd type="triangle"/>
          </a:ln>
        </p:spPr>
      </p:sp>
      <p:sp>
        <p:nvSpPr>
          <p:cNvPr id="23" name="Shape 21"/>
          <p:cNvSpPr/>
          <p:nvPr/>
        </p:nvSpPr>
        <p:spPr>
          <a:xfrm flipH="1">
            <a:off x="8503920" y="2148840"/>
            <a:ext cx="777240" cy="914"/>
          </a:xfrm>
          <a:prstGeom prst="line">
            <a:avLst/>
          </a:prstGeom>
          <a:noFill/>
          <a:ln w="19050">
            <a:solidFill>
              <a:srgbClr val="C00000"/>
            </a:solidFill>
            <a:prstDash val="solid"/>
            <a:tailEnd type="triangle"/>
          </a:ln>
        </p:spPr>
      </p:sp>
      <p:sp>
        <p:nvSpPr>
          <p:cNvPr id="24" name="Text 22"/>
          <p:cNvSpPr/>
          <p:nvPr/>
        </p:nvSpPr>
        <p:spPr>
          <a:xfrm>
            <a:off x="6309360" y="2331720"/>
            <a:ext cx="5349240" cy="274320"/>
          </a:xfrm>
          <a:prstGeom prst="rect">
            <a:avLst/>
          </a:prstGeom>
          <a:noFill/>
          <a:ln/>
        </p:spPr>
        <p:txBody>
          <a:bodyPr wrap="square" rtlCol="0" anchor="ctr"/>
          <a:lstStyle/>
          <a:p>
            <a:pPr algn="ctr" indent="0" marL="0">
              <a:buNone/>
            </a:pPr>
            <a:r>
              <a:rPr lang="en-US" sz="1050" i="1" dirty="0">
                <a:solidFill>
                  <a:srgbClr val="C00000"/>
                </a:solidFill>
                <a:latin typeface="맑은 고딕" pitchFamily="34" charset="0"/>
                <a:ea typeface="맑은 고딕" pitchFamily="34" charset="-122"/>
                <a:cs typeface="맑은 고딕" pitchFamily="34" charset="-120"/>
              </a:rPr>
              <a:t>조합 피드백 루프</a:t>
            </a:r>
            <a:endParaRPr lang="en-US" sz="1050" dirty="0"/>
          </a:p>
        </p:txBody>
      </p:sp>
      <p:sp>
        <p:nvSpPr>
          <p:cNvPr id="25" name="Text 23"/>
          <p:cNvSpPr/>
          <p:nvPr/>
        </p:nvSpPr>
        <p:spPr>
          <a:xfrm>
            <a:off x="6309360" y="2880360"/>
            <a:ext cx="5349240" cy="274320"/>
          </a:xfrm>
          <a:prstGeom prst="rect">
            <a:avLst/>
          </a:prstGeom>
          <a:noFill/>
          <a:ln/>
        </p:spPr>
        <p:txBody>
          <a:bodyPr wrap="square" rtlCol="0" anchor="ctr"/>
          <a:lstStyle/>
          <a:p>
            <a:pPr indent="0" marL="0">
              <a:buNone/>
            </a:pPr>
            <a:r>
              <a:rPr lang="en-US" sz="1250" b="1" dirty="0">
                <a:solidFill>
                  <a:srgbClr val="2E7D32"/>
                </a:solidFill>
                <a:latin typeface="맑은 고딕" pitchFamily="34" charset="0"/>
                <a:ea typeface="맑은 고딕" pitchFamily="34" charset="-122"/>
                <a:cs typeface="맑은 고딕" pitchFamily="34" charset="-120"/>
              </a:rPr>
              <a:t>After — 순차 경계 삽입</a:t>
            </a:r>
            <a:endParaRPr lang="en-US" sz="1250" dirty="0"/>
          </a:p>
        </p:txBody>
      </p:sp>
      <p:sp>
        <p:nvSpPr>
          <p:cNvPr id="26" name="Shape 24"/>
          <p:cNvSpPr/>
          <p:nvPr/>
        </p:nvSpPr>
        <p:spPr>
          <a:xfrm>
            <a:off x="6309360" y="3200400"/>
            <a:ext cx="1920240" cy="457200"/>
          </a:xfrm>
          <a:prstGeom prst="roundRect">
            <a:avLst>
              <a:gd name="adj" fmla="val 12000"/>
            </a:avLst>
          </a:prstGeom>
          <a:solidFill>
            <a:srgbClr val="808080"/>
          </a:solidFill>
          <a:ln w="15875">
            <a:solidFill>
              <a:srgbClr val="808080"/>
            </a:solidFill>
            <a:prstDash val="solid"/>
          </a:ln>
        </p:spPr>
      </p:sp>
      <p:sp>
        <p:nvSpPr>
          <p:cNvPr id="27" name="Text 25"/>
          <p:cNvSpPr/>
          <p:nvPr/>
        </p:nvSpPr>
        <p:spPr>
          <a:xfrm>
            <a:off x="6336792" y="3227832"/>
            <a:ext cx="1865376" cy="402336"/>
          </a:xfrm>
          <a:prstGeom prst="rect">
            <a:avLst/>
          </a:prstGeom>
          <a:noFill/>
          <a:ln/>
        </p:spPr>
        <p:txBody>
          <a:bodyPr wrap="square" rtlCol="0" anchor="ctr"/>
          <a:lstStyle/>
          <a:p>
            <a:pPr algn="ctr" indent="0" marL="0">
              <a:lnSpc>
                <a:spcPct val="100000"/>
              </a:lnSpc>
              <a:buNone/>
            </a:pPr>
            <a:r>
              <a:rPr lang="en-US" sz="1050" b="1" dirty="0">
                <a:solidFill>
                  <a:srgbClr val="FFFFFF"/>
                </a:solidFill>
                <a:latin typeface="맑은 고딕" pitchFamily="34" charset="0"/>
                <a:ea typeface="맑은 고딕" pitchFamily="34" charset="-122"/>
                <a:cs typeface="맑은 고딕" pitchFamily="34" charset="-120"/>
              </a:rPr>
              <a:t>Router</a:t>
            </a:r>
            <a:endParaRPr lang="en-US" sz="1050" dirty="0"/>
          </a:p>
        </p:txBody>
      </p:sp>
      <p:sp>
        <p:nvSpPr>
          <p:cNvPr id="28" name="Shape 26"/>
          <p:cNvSpPr/>
          <p:nvPr/>
        </p:nvSpPr>
        <p:spPr>
          <a:xfrm>
            <a:off x="8366760" y="3200400"/>
            <a:ext cx="2148840" cy="457200"/>
          </a:xfrm>
          <a:prstGeom prst="roundRect">
            <a:avLst>
              <a:gd name="adj" fmla="val 12000"/>
            </a:avLst>
          </a:prstGeom>
          <a:solidFill>
            <a:srgbClr val="44546A"/>
          </a:solidFill>
          <a:ln w="15875">
            <a:solidFill>
              <a:srgbClr val="44546A"/>
            </a:solidFill>
            <a:prstDash val="solid"/>
          </a:ln>
        </p:spPr>
      </p:sp>
      <p:sp>
        <p:nvSpPr>
          <p:cNvPr id="29" name="Text 27"/>
          <p:cNvSpPr/>
          <p:nvPr/>
        </p:nvSpPr>
        <p:spPr>
          <a:xfrm>
            <a:off x="8394192" y="3227832"/>
            <a:ext cx="2093976" cy="402336"/>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Reverse/Forward</a:t>
            </a:r>
            <a:endParaRPr lang="en-US" sz="950" dirty="0"/>
          </a:p>
          <a:p>
            <a:pPr algn="ctr" indent="0" marL="0">
              <a:lnSpc>
                <a:spcPct val="100000"/>
              </a:lnSpc>
              <a:buNone/>
            </a:pPr>
            <a:r>
              <a:rPr lang="en-US" sz="950" b="1" dirty="0">
                <a:solidFill>
                  <a:srgbClr val="FFFFFF"/>
                </a:solidFill>
                <a:latin typeface="맑은 고딕" pitchFamily="34" charset="0"/>
                <a:ea typeface="맑은 고딕" pitchFamily="34" charset="-122"/>
                <a:cs typeface="맑은 고딕" pitchFamily="34" charset="-120"/>
              </a:rPr>
              <a:t>Register Slice</a:t>
            </a:r>
            <a:endParaRPr lang="en-US" sz="950" dirty="0"/>
          </a:p>
        </p:txBody>
      </p:sp>
      <p:sp>
        <p:nvSpPr>
          <p:cNvPr id="30" name="Shape 28"/>
          <p:cNvSpPr/>
          <p:nvPr/>
        </p:nvSpPr>
        <p:spPr>
          <a:xfrm>
            <a:off x="10652760" y="3200400"/>
            <a:ext cx="640080" cy="457200"/>
          </a:xfrm>
          <a:prstGeom prst="roundRect">
            <a:avLst>
              <a:gd name="adj" fmla="val 12000"/>
            </a:avLst>
          </a:prstGeom>
          <a:solidFill>
            <a:srgbClr val="ED7D31"/>
          </a:solidFill>
          <a:ln w="15875">
            <a:solidFill>
              <a:srgbClr val="ED7D31"/>
            </a:solidFill>
            <a:prstDash val="solid"/>
          </a:ln>
        </p:spPr>
      </p:sp>
      <p:sp>
        <p:nvSpPr>
          <p:cNvPr id="31" name="Text 29"/>
          <p:cNvSpPr/>
          <p:nvPr/>
        </p:nvSpPr>
        <p:spPr>
          <a:xfrm>
            <a:off x="10680192" y="3227832"/>
            <a:ext cx="585216" cy="402336"/>
          </a:xfrm>
          <a:prstGeom prst="rect">
            <a:avLst/>
          </a:prstGeom>
          <a:noFill/>
          <a:ln/>
        </p:spPr>
        <p:txBody>
          <a:bodyPr wrap="square" rtlCol="0" anchor="ctr"/>
          <a:lstStyle/>
          <a:p>
            <a:pPr algn="ctr" indent="0" marL="0">
              <a:lnSpc>
                <a:spcPct val="100000"/>
              </a:lnSpc>
              <a:buNone/>
            </a:pPr>
            <a:r>
              <a:rPr lang="en-US" sz="1050" b="1" dirty="0">
                <a:solidFill>
                  <a:srgbClr val="FFFFFF"/>
                </a:solidFill>
                <a:latin typeface="맑은 고딕" pitchFamily="34" charset="0"/>
                <a:ea typeface="맑은 고딕" pitchFamily="34" charset="-122"/>
                <a:cs typeface="맑은 고딕" pitchFamily="34" charset="-120"/>
              </a:rPr>
              <a:t>BN</a:t>
            </a:r>
            <a:endParaRPr lang="en-US" sz="1050" dirty="0"/>
          </a:p>
        </p:txBody>
      </p:sp>
      <p:sp>
        <p:nvSpPr>
          <p:cNvPr id="32" name="Shape 30"/>
          <p:cNvSpPr/>
          <p:nvPr/>
        </p:nvSpPr>
        <p:spPr>
          <a:xfrm>
            <a:off x="8229600" y="3429000"/>
            <a:ext cx="137160" cy="914"/>
          </a:xfrm>
          <a:prstGeom prst="line">
            <a:avLst/>
          </a:prstGeom>
          <a:noFill/>
          <a:ln w="19050">
            <a:solidFill>
              <a:srgbClr val="8C93A3"/>
            </a:solidFill>
            <a:prstDash val="solid"/>
            <a:tailEnd type="triangle"/>
          </a:ln>
        </p:spPr>
      </p:sp>
      <p:sp>
        <p:nvSpPr>
          <p:cNvPr id="33" name="Shape 31"/>
          <p:cNvSpPr/>
          <p:nvPr/>
        </p:nvSpPr>
        <p:spPr>
          <a:xfrm>
            <a:off x="10515600" y="3429000"/>
            <a:ext cx="137160" cy="914"/>
          </a:xfrm>
          <a:prstGeom prst="line">
            <a:avLst/>
          </a:prstGeom>
          <a:noFill/>
          <a:ln w="19050">
            <a:solidFill>
              <a:srgbClr val="8C93A3"/>
            </a:solidFill>
            <a:prstDash val="solid"/>
            <a:tailEnd type="triangle"/>
          </a:ln>
        </p:spPr>
      </p:sp>
      <p:sp>
        <p:nvSpPr>
          <p:cNvPr id="34" name="Text 32"/>
          <p:cNvSpPr/>
          <p:nvPr/>
        </p:nvSpPr>
        <p:spPr>
          <a:xfrm>
            <a:off x="6309360" y="3703320"/>
            <a:ext cx="5349240" cy="274320"/>
          </a:xfrm>
          <a:prstGeom prst="rect">
            <a:avLst/>
          </a:prstGeom>
          <a:noFill/>
          <a:ln/>
        </p:spPr>
        <p:txBody>
          <a:bodyPr wrap="square" rtlCol="0" anchor="ctr"/>
          <a:lstStyle/>
          <a:p>
            <a:pPr algn="ctr" indent="0" marL="0">
              <a:buNone/>
            </a:pPr>
            <a:r>
              <a:rPr lang="en-US" sz="1050" i="1" dirty="0">
                <a:solidFill>
                  <a:srgbClr val="2E7D32"/>
                </a:solidFill>
                <a:latin typeface="맑은 고딕" pitchFamily="34" charset="0"/>
                <a:ea typeface="맑은 고딕" pitchFamily="34" charset="-122"/>
                <a:cs typeface="맑은 고딕" pitchFamily="34" charset="-120"/>
              </a:rPr>
              <a:t>순차 경계 삽입으로 루프 제거</a:t>
            </a:r>
            <a:endParaRPr lang="en-US" sz="1050" dirty="0"/>
          </a:p>
        </p:txBody>
      </p:sp>
      <p:sp>
        <p:nvSpPr>
          <p:cNvPr id="35" name="Shape 33"/>
          <p:cNvSpPr/>
          <p:nvPr/>
        </p:nvSpPr>
        <p:spPr>
          <a:xfrm>
            <a:off x="6263640" y="4206240"/>
            <a:ext cx="5440680" cy="2103120"/>
          </a:xfrm>
          <a:prstGeom prst="rect">
            <a:avLst>
              <a:gd name="adj" fmla="val 2609"/>
            </a:avLst>
          </a:prstGeom>
          <a:solidFill>
            <a:srgbClr val="EFF3FB"/>
          </a:solidFill>
          <a:ln w="12700">
            <a:solidFill>
              <a:srgbClr val="D9E0EC"/>
            </a:solidFill>
            <a:prstDash val="solid"/>
          </a:ln>
        </p:spPr>
      </p:sp>
      <p:sp>
        <p:nvSpPr>
          <p:cNvPr id="36" name="Text 34"/>
          <p:cNvSpPr/>
          <p:nvPr/>
        </p:nvSpPr>
        <p:spPr>
          <a:xfrm>
            <a:off x="6492240" y="4206240"/>
            <a:ext cx="4983480" cy="2103120"/>
          </a:xfrm>
          <a:prstGeom prst="rect">
            <a:avLst/>
          </a:prstGeom>
          <a:noFill/>
          <a:ln/>
        </p:spPr>
        <p:txBody>
          <a:bodyPr wrap="square" rtlCol="0" anchor="ctr"/>
          <a:lstStyle/>
          <a:p>
            <a:pPr algn="l" indent="0" marL="0">
              <a:buNone/>
            </a:pPr>
            <a:r>
              <a:rPr lang="en-US" sz="1300" dirty="0">
                <a:solidFill>
                  <a:srgbClr val="1F3864"/>
                </a:solidFill>
                <a:latin typeface="맑은 고딕" pitchFamily="34" charset="0"/>
                <a:ea typeface="맑은 고딕" pitchFamily="34" charset="-122"/>
                <a:cs typeface="맑은 고딕" pitchFamily="34" charset="-120"/>
              </a:rPr>
              <a:t>초기에는 AXI Stream의 back-pressure 신호가 조합 피드백을</a:t>
            </a:r>
            <a:endParaRPr lang="en-US" sz="1300" dirty="0"/>
          </a:p>
          <a:p>
            <a:pPr algn="l" indent="0" marL="0">
              <a:buNone/>
            </a:pPr>
            <a:r>
              <a:rPr lang="en-US" sz="1300" dirty="0">
                <a:solidFill>
                  <a:srgbClr val="1F3864"/>
                </a:solidFill>
                <a:latin typeface="맑은 고딕" pitchFamily="34" charset="0"/>
                <a:ea typeface="맑은 고딕" pitchFamily="34" charset="-122"/>
                <a:cs typeface="맑은 고딕" pitchFamily="34" charset="-120"/>
              </a:rPr>
              <a:t>형성했습니다. 단순히 DRC 예외를 설정하지 않고, HLS</a:t>
            </a:r>
            <a:endParaRPr lang="en-US" sz="1300" dirty="0"/>
          </a:p>
          <a:p>
            <a:pPr algn="l" indent="0" marL="0">
              <a:buNone/>
            </a:pPr>
            <a:r>
              <a:rPr lang="en-US" sz="1300" dirty="0">
                <a:solidFill>
                  <a:srgbClr val="1F3864"/>
                </a:solidFill>
                <a:latin typeface="맑은 고딕" pitchFamily="34" charset="0"/>
                <a:ea typeface="맑은 고딕" pitchFamily="34" charset="-122"/>
                <a:cs typeface="맑은 고딕" pitchFamily="34" charset="-120"/>
              </a:rPr>
              <a:t>인터페이스에 forward와 reverse register slice를 삽입해</a:t>
            </a:r>
            <a:endParaRPr lang="en-US" sz="1300" dirty="0"/>
          </a:p>
          <a:p>
            <a:pPr algn="l" indent="0" marL="0">
              <a:buNone/>
            </a:pPr>
            <a:r>
              <a:rPr lang="en-US" sz="1300" dirty="0">
                <a:solidFill>
                  <a:srgbClr val="1F3864"/>
                </a:solidFill>
                <a:latin typeface="맑은 고딕" pitchFamily="34" charset="0"/>
                <a:ea typeface="맑은 고딕" pitchFamily="34" charset="-122"/>
                <a:cs typeface="맑은 고딕" pitchFamily="34" charset="-120"/>
              </a:rPr>
              <a:t>구조적으로 루프를 제거했습니다.</a:t>
            </a:r>
            <a:endParaRPr lang="en-US" sz="1300" dirty="0"/>
          </a:p>
        </p:txBody>
      </p:sp>
      <p:sp>
        <p:nvSpPr>
          <p:cNvPr id="37" name="Text 35"/>
          <p:cNvSpPr/>
          <p:nvPr/>
        </p:nvSpPr>
        <p:spPr>
          <a:xfrm>
            <a:off x="457200" y="6547104"/>
            <a:ext cx="9875520" cy="256032"/>
          </a:xfrm>
          <a:prstGeom prst="rect">
            <a:avLst/>
          </a:prstGeom>
          <a:noFill/>
          <a:ln/>
        </p:spPr>
        <p:txBody>
          <a:bodyPr wrap="square" rtlCol="0" anchor="ctr"/>
          <a:lstStyle/>
          <a:p>
            <a:pPr indent="0" marL="0">
              <a:buNone/>
            </a:pPr>
            <a:r>
              <a:rPr lang="en-US" sz="900" i="1" dirty="0">
                <a:solidFill>
                  <a:srgbClr val="5B6472"/>
                </a:solidFill>
                <a:latin typeface="맑은 고딕" pitchFamily="34" charset="0"/>
                <a:ea typeface="맑은 고딕" pitchFamily="34" charset="-122"/>
                <a:cs typeface="맑은 고딕" pitchFamily="34" charset="-120"/>
              </a:rPr>
              <a:t>출처: Vivado DRC 리포트 (LUTLP-1) 및 HLS Interface 설정</a:t>
            </a:r>
            <a:endParaRPr lang="en-US" sz="900" dirty="0"/>
          </a:p>
        </p:txBody>
      </p:sp>
      <p:sp>
        <p:nvSpPr>
          <p:cNvPr id="38" name="Text 36"/>
          <p:cNvSpPr/>
          <p:nvPr/>
        </p:nvSpPr>
        <p:spPr>
          <a:xfrm>
            <a:off x="11064240" y="6547104"/>
            <a:ext cx="685800" cy="256032"/>
          </a:xfrm>
          <a:prstGeom prst="rect">
            <a:avLst/>
          </a:prstGeom>
          <a:noFill/>
          <a:ln/>
        </p:spPr>
        <p:txBody>
          <a:bodyPr wrap="square"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9 / 19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472C4"/>
          </a:solidFill>
          <a:ln/>
        </p:spPr>
      </p:sp>
      <p:sp>
        <p:nvSpPr>
          <p:cNvPr id="3" name="Text 1"/>
          <p:cNvSpPr/>
          <p:nvPr/>
        </p:nvSpPr>
        <p:spPr>
          <a:xfrm>
            <a:off x="457200" y="182880"/>
            <a:ext cx="9875520" cy="566928"/>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조합루프 수정 효과</a:t>
            </a:r>
            <a:endParaRPr lang="en-US" sz="2600" dirty="0"/>
          </a:p>
        </p:txBody>
      </p:sp>
      <p:sp>
        <p:nvSpPr>
          <p:cNvPr id="4" name="Text 2"/>
          <p:cNvSpPr/>
          <p:nvPr/>
        </p:nvSpPr>
        <p:spPr>
          <a:xfrm>
            <a:off x="10698480" y="73152"/>
            <a:ext cx="1234440" cy="731520"/>
          </a:xfrm>
          <a:prstGeom prst="rect">
            <a:avLst/>
          </a:prstGeom>
          <a:noFill/>
          <a:ln/>
        </p:spPr>
        <p:txBody>
          <a:bodyPr wrap="square" rtlCol="0" anchor="ctr"/>
          <a:lstStyle/>
          <a:p>
            <a:pPr algn="r" indent="0" marL="0">
              <a:buNone/>
            </a:pPr>
            <a:r>
              <a:rPr lang="en-US" sz="3000" b="1" dirty="0">
                <a:solidFill>
                  <a:srgbClr val="9BB3E8"/>
                </a:solidFill>
                <a:latin typeface="Calibri" pitchFamily="34" charset="0"/>
                <a:ea typeface="Calibri" pitchFamily="34" charset="-122"/>
                <a:cs typeface="Calibri" pitchFamily="34" charset="-120"/>
              </a:rPr>
              <a:t>10</a:t>
            </a:r>
            <a:endParaRPr lang="en-US" sz="3000" dirty="0"/>
          </a:p>
        </p:txBody>
      </p:sp>
      <p:sp>
        <p:nvSpPr>
          <p:cNvPr id="5" name="Shape 3"/>
          <p:cNvSpPr/>
          <p:nvPr/>
        </p:nvSpPr>
        <p:spPr>
          <a:xfrm>
            <a:off x="457200" y="1097280"/>
            <a:ext cx="82296" cy="310896"/>
          </a:xfrm>
          <a:prstGeom prst="rect">
            <a:avLst/>
          </a:prstGeom>
          <a:solidFill>
            <a:srgbClr val="4472C4"/>
          </a:solidFill>
          <a:ln/>
        </p:spPr>
      </p:sp>
      <p:sp>
        <p:nvSpPr>
          <p:cNvPr id="6" name="Text 4"/>
          <p:cNvSpPr/>
          <p:nvPr/>
        </p:nvSpPr>
        <p:spPr>
          <a:xfrm>
            <a:off x="621792" y="1069848"/>
            <a:ext cx="523036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수정 전후 Routing 지표</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81328"/>
          <a:ext cx="5394960" cy="914400"/>
        </p:xfrm>
        <a:graphic>
          <a:graphicData uri="http://schemas.openxmlformats.org/drawingml/2006/table">
            <a:tbl>
              <a:tblPr/>
              <a:tblGrid>
                <a:gridCol w="1554480"/>
                <a:gridCol w="1417320"/>
                <a:gridCol w="1234440"/>
                <a:gridCol w="1188720"/>
              </a:tblGrid>
              <a:tr h="384048">
                <a:tc>
                  <a:txBody>
                    <a:bodyPr/>
                    <a:lstStyle/>
                    <a:p>
                      <a:pPr algn="ctr" indent="0" marL="0">
                        <a:buNone/>
                      </a:pPr>
                      <a:r>
                        <a:rPr lang="en-US" sz="1050" b="1" dirty="0">
                          <a:solidFill>
                            <a:srgbClr val="FFFFFF"/>
                          </a:solidFill>
                        </a:rPr>
                        <a:t>지표</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1050" b="1" dirty="0">
                          <a:solidFill>
                            <a:srgbClr val="FFFFFF"/>
                          </a:solidFill>
                        </a:rPr>
                        <a:t>초기</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1050" b="1" dirty="0">
                          <a:solidFill>
                            <a:srgbClr val="FFFFFF"/>
                          </a:solidFill>
                        </a:rPr>
                        <a:t>수정 후</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1050" b="1" dirty="0">
                          <a:solidFill>
                            <a:srgbClr val="FFFFFF"/>
                          </a:solidFill>
                        </a:rPr>
                        <a:t>개선율</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r>
              <a:tr h="384048">
                <a:tc>
                  <a:txBody>
                    <a:bodyPr/>
                    <a:lstStyle/>
                    <a:p>
                      <a:pPr algn="l" indent="0" marL="0">
                        <a:buNone/>
                      </a:pPr>
                      <a:r>
                        <a:rPr lang="en-US" sz="1050" dirty="0">
                          <a:solidFill>
                            <a:srgbClr val="1F2A37"/>
                          </a:solidFill>
                        </a:rPr>
                        <a:t>Node overlaps</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A37"/>
                          </a:solidFill>
                        </a:rPr>
                        <a:t>66,590</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A37"/>
                          </a:solidFill>
                        </a:rPr>
                        <a:t>1,698</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2A37"/>
                          </a:solidFill>
                        </a:rPr>
                        <a:t>약 97.4% 감소</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1F2A37"/>
                          </a:solidFill>
                        </a:rPr>
                        <a:t>Routing error nets</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050" dirty="0">
                          <a:solidFill>
                            <a:srgbClr val="1F2A37"/>
                          </a:solidFill>
                        </a:rPr>
                        <a:t>58,353</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050" dirty="0">
                          <a:solidFill>
                            <a:srgbClr val="1F2A37"/>
                          </a:solidFill>
                        </a:rPr>
                        <a:t>2,257</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050" b="1" dirty="0">
                          <a:solidFill>
                            <a:srgbClr val="1F2A37"/>
                          </a:solidFill>
                        </a:rPr>
                        <a:t>약 96.1% 감소</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384048">
                <a:tc>
                  <a:txBody>
                    <a:bodyPr/>
                    <a:lstStyle/>
                    <a:p>
                      <a:pPr algn="l" indent="0" marL="0">
                        <a:buNone/>
                      </a:pPr>
                      <a:r>
                        <a:rPr lang="en-US" sz="1050" dirty="0">
                          <a:solidFill>
                            <a:srgbClr val="1F2A37"/>
                          </a:solidFill>
                        </a:rPr>
                        <a:t>LUTLP-1</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A37"/>
                          </a:solidFill>
                        </a:rPr>
                        <a:t>존재</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A37"/>
                          </a:solidFill>
                        </a:rPr>
                        <a:t>0</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7D32"/>
                          </a:solidFill>
                        </a:rPr>
                        <a:t>제거</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1F2A37"/>
                          </a:solidFill>
                        </a:rPr>
                        <a:t>Placement</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050" dirty="0">
                          <a:solidFill>
                            <a:srgbClr val="1F2A37"/>
                          </a:solidFill>
                        </a:rPr>
                        <a:t>불안정/실패 이력</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050" dirty="0">
                          <a:solidFill>
                            <a:srgbClr val="1F2A37"/>
                          </a:solidFill>
                        </a:rPr>
                        <a:t>PASS</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050" b="1" dirty="0">
                          <a:solidFill>
                            <a:srgbClr val="2E7D32"/>
                          </a:solidFill>
                        </a:rPr>
                        <a:t>개선</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384048">
                <a:tc>
                  <a:txBody>
                    <a:bodyPr/>
                    <a:lstStyle/>
                    <a:p>
                      <a:pPr algn="l" indent="0" marL="0">
                        <a:buNone/>
                      </a:pPr>
                      <a:r>
                        <a:rPr lang="en-US" sz="1050" dirty="0">
                          <a:solidFill>
                            <a:srgbClr val="1F2A37"/>
                          </a:solidFill>
                        </a:rPr>
                        <a:t>Black Box</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A37"/>
                          </a:solidFill>
                        </a:rPr>
                        <a:t>점검 필요</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A37"/>
                          </a:solidFill>
                        </a:rPr>
                        <a:t>0</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7D32"/>
                          </a:solidFill>
                        </a:rPr>
                        <a:t>정상</a:t>
                      </a:r>
                      <a:endParaRPr lang="en-US" sz="105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bl>
          </a:graphicData>
        </a:graphic>
      </p:graphicFrame>
      <p:sp>
        <p:nvSpPr>
          <p:cNvPr id="8" name="Shape 5"/>
          <p:cNvSpPr/>
          <p:nvPr/>
        </p:nvSpPr>
        <p:spPr>
          <a:xfrm>
            <a:off x="6263640" y="1097280"/>
            <a:ext cx="82296" cy="310896"/>
          </a:xfrm>
          <a:prstGeom prst="rect">
            <a:avLst/>
          </a:prstGeom>
          <a:solidFill>
            <a:srgbClr val="2F5597"/>
          </a:solidFill>
          <a:ln/>
        </p:spPr>
      </p:sp>
      <p:sp>
        <p:nvSpPr>
          <p:cNvPr id="9" name="Text 6"/>
          <p:cNvSpPr/>
          <p:nvPr/>
        </p:nvSpPr>
        <p:spPr>
          <a:xfrm>
            <a:off x="6428232" y="1069848"/>
            <a:ext cx="527608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Node overlap / Routing error 개선</a:t>
            </a:r>
            <a:endParaRPr lang="en-US" sz="1600" dirty="0"/>
          </a:p>
        </p:txBody>
      </p:sp>
      <p:graphicFrame>
        <p:nvGraphicFramePr>
          <p:cNvPr id="10" name="Chart 0" descr=""/>
          <p:cNvGraphicFramePr/>
          <p:nvPr/>
        </p:nvGraphicFramePr>
        <p:xfrm>
          <a:off x="6263640" y="1481328"/>
          <a:ext cx="5440680" cy="2743200"/>
        </p:xfrm>
        <a:graphic xmlns:a="http://schemas.openxmlformats.org/drawingml/2006/main">
          <a:graphicData uri="http://schemas.openxmlformats.org/drawingml/2006/chart">
            <c:chart xmlns:c="http://schemas.openxmlformats.org/drawingml/2006/chart" r:id="rId1"/>
          </a:graphicData>
        </a:graphic>
      </p:graphicFrame>
      <p:sp>
        <p:nvSpPr>
          <p:cNvPr id="11" name="Shape 7"/>
          <p:cNvSpPr/>
          <p:nvPr/>
        </p:nvSpPr>
        <p:spPr>
          <a:xfrm>
            <a:off x="6263640" y="4343400"/>
            <a:ext cx="5440680" cy="502920"/>
          </a:xfrm>
          <a:prstGeom prst="rect">
            <a:avLst>
              <a:gd name="adj" fmla="val 10909"/>
            </a:avLst>
          </a:prstGeom>
          <a:solidFill>
            <a:srgbClr val="EAF4EA"/>
          </a:solidFill>
          <a:ln w="12700">
            <a:solidFill>
              <a:srgbClr val="BFE0BF"/>
            </a:solidFill>
            <a:prstDash val="solid"/>
          </a:ln>
        </p:spPr>
      </p:sp>
      <p:sp>
        <p:nvSpPr>
          <p:cNvPr id="12" name="Text 8"/>
          <p:cNvSpPr/>
          <p:nvPr/>
        </p:nvSpPr>
        <p:spPr>
          <a:xfrm>
            <a:off x="6492240" y="4343400"/>
            <a:ext cx="4983480" cy="502920"/>
          </a:xfrm>
          <a:prstGeom prst="rect">
            <a:avLst/>
          </a:prstGeom>
          <a:noFill/>
          <a:ln/>
        </p:spPr>
        <p:txBody>
          <a:bodyPr wrap="square" rtlCol="0" anchor="ctr"/>
          <a:lstStyle/>
          <a:p>
            <a:pPr algn="ctr" indent="0" marL="0">
              <a:buNone/>
            </a:pPr>
            <a:r>
              <a:rPr lang="en-US" sz="2000" b="1" dirty="0">
                <a:solidFill>
                  <a:srgbClr val="2E7D32"/>
                </a:solidFill>
                <a:latin typeface="맑은 고딕" pitchFamily="34" charset="0"/>
                <a:ea typeface="맑은 고딕" pitchFamily="34" charset="-122"/>
                <a:cs typeface="맑은 고딕" pitchFamily="34" charset="-120"/>
              </a:rPr>
              <a:t>97.4% / 96.1% 감소</a:t>
            </a:r>
            <a:endParaRPr lang="en-US" sz="2000" dirty="0"/>
          </a:p>
        </p:txBody>
      </p:sp>
      <p:sp>
        <p:nvSpPr>
          <p:cNvPr id="13" name="Shape 9"/>
          <p:cNvSpPr/>
          <p:nvPr/>
        </p:nvSpPr>
        <p:spPr>
          <a:xfrm>
            <a:off x="457200" y="5074920"/>
            <a:ext cx="11247120" cy="1051560"/>
          </a:xfrm>
          <a:prstGeom prst="rect">
            <a:avLst>
              <a:gd name="adj" fmla="val 5217"/>
            </a:avLst>
          </a:prstGeom>
          <a:solidFill>
            <a:srgbClr val="EFF3FB"/>
          </a:solidFill>
          <a:ln w="12700">
            <a:solidFill>
              <a:srgbClr val="D9E0EC"/>
            </a:solidFill>
            <a:prstDash val="solid"/>
          </a:ln>
        </p:spPr>
      </p:sp>
      <p:sp>
        <p:nvSpPr>
          <p:cNvPr id="14" name="Text 10"/>
          <p:cNvSpPr/>
          <p:nvPr/>
        </p:nvSpPr>
        <p:spPr>
          <a:xfrm>
            <a:off x="685800" y="5074920"/>
            <a:ext cx="10789920" cy="1051560"/>
          </a:xfrm>
          <a:prstGeom prst="rect">
            <a:avLst/>
          </a:prstGeom>
          <a:noFill/>
          <a:ln/>
        </p:spPr>
        <p:txBody>
          <a:bodyPr wrap="square" rtlCol="0" anchor="ctr"/>
          <a:lstStyle/>
          <a:p>
            <a:pPr algn="l" indent="0" marL="0">
              <a:buNone/>
            </a:pPr>
            <a:r>
              <a:rPr lang="en-US" sz="1250" dirty="0">
                <a:solidFill>
                  <a:srgbClr val="1F3864"/>
                </a:solidFill>
                <a:latin typeface="맑은 고딕" pitchFamily="34" charset="0"/>
                <a:ea typeface="맑은 고딕" pitchFamily="34" charset="-122"/>
                <a:cs typeface="맑은 고딕" pitchFamily="34" charset="-120"/>
              </a:rPr>
              <a:t>조합루프 제거 후 라우팅 오류는 96% 이상 감소했습니다. 따라서 수정 방향은 효과가 있었습니다. 하지만</a:t>
            </a:r>
            <a:endParaRPr lang="en-US" sz="1250" dirty="0"/>
          </a:p>
          <a:p>
            <a:pPr algn="l" indent="0" marL="0">
              <a:buNone/>
            </a:pPr>
            <a:r>
              <a:rPr lang="en-US" sz="1250" dirty="0">
                <a:solidFill>
                  <a:srgbClr val="1F3864"/>
                </a:solidFill>
                <a:latin typeface="맑은 고딕" pitchFamily="34" charset="0"/>
                <a:ea typeface="맑은 고딕" pitchFamily="34" charset="-122"/>
                <a:cs typeface="맑은 고딕" pitchFamily="34" charset="-120"/>
              </a:rPr>
              <a:t>오류가 0이 되지는 않았고, 다음 단계에서 자원 밀집과 배선 혼잡이 새로운 핵심 병목으로 확인됐습니다.</a:t>
            </a:r>
            <a:endParaRPr lang="en-US" sz="1250" dirty="0"/>
          </a:p>
        </p:txBody>
      </p:sp>
      <p:sp>
        <p:nvSpPr>
          <p:cNvPr id="15" name="Text 11"/>
          <p:cNvSpPr/>
          <p:nvPr/>
        </p:nvSpPr>
        <p:spPr>
          <a:xfrm>
            <a:off x="457200" y="6547104"/>
            <a:ext cx="9875520" cy="256032"/>
          </a:xfrm>
          <a:prstGeom prst="rect">
            <a:avLst/>
          </a:prstGeom>
          <a:noFill/>
          <a:ln/>
        </p:spPr>
        <p:txBody>
          <a:bodyPr wrap="square" rtlCol="0" anchor="ctr"/>
          <a:lstStyle/>
          <a:p>
            <a:pPr indent="0" marL="0">
              <a:buNone/>
            </a:pPr>
            <a:r>
              <a:rPr lang="en-US" sz="900" i="1" dirty="0">
                <a:solidFill>
                  <a:srgbClr val="5B6472"/>
                </a:solidFill>
                <a:latin typeface="맑은 고딕" pitchFamily="34" charset="0"/>
                <a:ea typeface="맑은 고딕" pitchFamily="34" charset="-122"/>
                <a:cs typeface="맑은 고딕" pitchFamily="34" charset="-120"/>
              </a:rPr>
              <a:t>출처: Vivado report_route_status (조합루프 수정 전/후 비교)</a:t>
            </a:r>
            <a:endParaRPr lang="en-US" sz="900" dirty="0"/>
          </a:p>
        </p:txBody>
      </p:sp>
      <p:sp>
        <p:nvSpPr>
          <p:cNvPr id="16" name="Text 12"/>
          <p:cNvSpPr/>
          <p:nvPr/>
        </p:nvSpPr>
        <p:spPr>
          <a:xfrm>
            <a:off x="11064240" y="6547104"/>
            <a:ext cx="685800" cy="256032"/>
          </a:xfrm>
          <a:prstGeom prst="rect">
            <a:avLst/>
          </a:prstGeom>
          <a:noFill/>
          <a:ln/>
        </p:spPr>
        <p:txBody>
          <a:bodyPr wrap="square"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10 / 19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472C4"/>
          </a:solidFill>
          <a:ln/>
        </p:spPr>
      </p:sp>
      <p:sp>
        <p:nvSpPr>
          <p:cNvPr id="3" name="Text 1"/>
          <p:cNvSpPr/>
          <p:nvPr/>
        </p:nvSpPr>
        <p:spPr>
          <a:xfrm>
            <a:off x="457200" y="182880"/>
            <a:ext cx="9875520" cy="566928"/>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현재 문제 — Routing Congestion</a:t>
            </a:r>
            <a:endParaRPr lang="en-US" sz="2600" dirty="0"/>
          </a:p>
        </p:txBody>
      </p:sp>
      <p:sp>
        <p:nvSpPr>
          <p:cNvPr id="4" name="Text 2"/>
          <p:cNvSpPr/>
          <p:nvPr/>
        </p:nvSpPr>
        <p:spPr>
          <a:xfrm>
            <a:off x="10698480" y="73152"/>
            <a:ext cx="1234440" cy="731520"/>
          </a:xfrm>
          <a:prstGeom prst="rect">
            <a:avLst/>
          </a:prstGeom>
          <a:noFill/>
          <a:ln/>
        </p:spPr>
        <p:txBody>
          <a:bodyPr wrap="square" rtlCol="0" anchor="ctr"/>
          <a:lstStyle/>
          <a:p>
            <a:pPr algn="r" indent="0" marL="0">
              <a:buNone/>
            </a:pPr>
            <a:r>
              <a:rPr lang="en-US" sz="3000" b="1" dirty="0">
                <a:solidFill>
                  <a:srgbClr val="9BB3E8"/>
                </a:solidFill>
                <a:latin typeface="Calibri" pitchFamily="34" charset="0"/>
                <a:ea typeface="Calibri" pitchFamily="34" charset="-122"/>
                <a:cs typeface="Calibri" pitchFamily="34" charset="-120"/>
              </a:rPr>
              <a:t>11</a:t>
            </a:r>
            <a:endParaRPr lang="en-US" sz="3000" dirty="0"/>
          </a:p>
        </p:txBody>
      </p:sp>
      <p:sp>
        <p:nvSpPr>
          <p:cNvPr id="5" name="Shape 3"/>
          <p:cNvSpPr/>
          <p:nvPr/>
        </p:nvSpPr>
        <p:spPr>
          <a:xfrm>
            <a:off x="457200" y="1097280"/>
            <a:ext cx="82296" cy="310896"/>
          </a:xfrm>
          <a:prstGeom prst="rect">
            <a:avLst/>
          </a:prstGeom>
          <a:solidFill>
            <a:srgbClr val="4472C4"/>
          </a:solidFill>
          <a:ln/>
        </p:spPr>
      </p:sp>
      <p:sp>
        <p:nvSpPr>
          <p:cNvPr id="6" name="Text 4"/>
          <p:cNvSpPr/>
          <p:nvPr/>
        </p:nvSpPr>
        <p:spPr>
          <a:xfrm>
            <a:off x="621792" y="1069848"/>
            <a:ext cx="523036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최종 Implementation 실패 상태</a:t>
            </a:r>
            <a:endParaRPr lang="en-US" sz="1600" dirty="0"/>
          </a:p>
        </p:txBody>
      </p:sp>
      <p:sp>
        <p:nvSpPr>
          <p:cNvPr id="7" name="Text 5"/>
          <p:cNvSpPr/>
          <p:nvPr/>
        </p:nvSpPr>
        <p:spPr>
          <a:xfrm>
            <a:off x="502920" y="1481328"/>
            <a:ext cx="5349240" cy="2651760"/>
          </a:xfrm>
          <a:prstGeom prst="rect">
            <a:avLst/>
          </a:prstGeom>
          <a:noFill/>
          <a:ln/>
        </p:spPr>
        <p:txBody>
          <a:bodyPr wrap="square" rtlCol="0" anchor="t"/>
          <a:lstStyle/>
          <a:p>
            <a:pPr marL="177800" indent="-177800">
              <a:lnSpc>
                <a:spcPct val="108000"/>
              </a:lnSpc>
              <a:spcAft>
                <a:spcPts val="9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Implementation status: route_design Complete, Failed Timing &amp; Nets</a:t>
            </a:r>
            <a:endParaRPr lang="en-US" sz="1300" dirty="0"/>
          </a:p>
          <a:p>
            <a:pPr marL="177800" indent="-177800">
              <a:lnSpc>
                <a:spcPct val="108000"/>
              </a:lnSpc>
              <a:spcAft>
                <a:spcPts val="9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Routing error nets: 2,257  ·  Node overlaps: 1,698</a:t>
            </a:r>
            <a:endParaRPr lang="en-US" sz="1300" dirty="0"/>
          </a:p>
          <a:p>
            <a:pPr marL="177800" indent="-177800">
              <a:lnSpc>
                <a:spcPct val="108000"/>
              </a:lnSpc>
              <a:spcAft>
                <a:spcPts val="9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Congestion level: 6</a:t>
            </a:r>
            <a:endParaRPr lang="en-US" sz="1300" dirty="0"/>
          </a:p>
          <a:p>
            <a:pPr marL="177800" indent="-177800">
              <a:lnSpc>
                <a:spcPct val="108000"/>
              </a:lnSpc>
              <a:spcAft>
                <a:spcPts val="9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High pin-utilization CLB: 최소 2,213개</a:t>
            </a:r>
            <a:endParaRPr lang="en-US" sz="1300" dirty="0"/>
          </a:p>
          <a:p>
            <a:pPr marL="177800" indent="-177800">
              <a:lnSpc>
                <a:spcPct val="108000"/>
              </a:lnSpc>
              <a:spcAft>
                <a:spcPts val="9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Router 실행 시간: 약 2시간 18분</a:t>
            </a:r>
            <a:endParaRPr lang="en-US" sz="1300" dirty="0"/>
          </a:p>
          <a:p>
            <a:pPr marL="177800" indent="-177800">
              <a:lnSpc>
                <a:spcPct val="108000"/>
              </a:lnSpc>
              <a:spcAft>
                <a:spcPts val="9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불법 배선 상태이므로 Timing 결과는 최종 성능으로 사용 불가</a:t>
            </a:r>
            <a:endParaRPr lang="en-US" sz="1300" dirty="0"/>
          </a:p>
        </p:txBody>
      </p:sp>
      <p:sp>
        <p:nvSpPr>
          <p:cNvPr id="8" name="Shape 6"/>
          <p:cNvSpPr/>
          <p:nvPr/>
        </p:nvSpPr>
        <p:spPr>
          <a:xfrm>
            <a:off x="457200" y="4343400"/>
            <a:ext cx="82296" cy="310896"/>
          </a:xfrm>
          <a:prstGeom prst="rect">
            <a:avLst/>
          </a:prstGeom>
          <a:solidFill>
            <a:srgbClr val="2F5597"/>
          </a:solidFill>
          <a:ln/>
        </p:spPr>
      </p:sp>
      <p:sp>
        <p:nvSpPr>
          <p:cNvPr id="9" name="Text 7"/>
          <p:cNvSpPr/>
          <p:nvPr/>
        </p:nvSpPr>
        <p:spPr>
          <a:xfrm>
            <a:off x="621792" y="4315968"/>
            <a:ext cx="523036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직접 원인</a:t>
            </a:r>
            <a:endParaRPr lang="en-US" sz="1600" dirty="0"/>
          </a:p>
        </p:txBody>
      </p:sp>
      <p:sp>
        <p:nvSpPr>
          <p:cNvPr id="10" name="Text 8"/>
          <p:cNvSpPr/>
          <p:nvPr/>
        </p:nvSpPr>
        <p:spPr>
          <a:xfrm>
            <a:off x="502920" y="4709160"/>
            <a:ext cx="5349240" cy="1737360"/>
          </a:xfrm>
          <a:prstGeom prst="rect">
            <a:avLst/>
          </a:prstGeom>
          <a:noFill/>
          <a:ln/>
        </p:spPr>
        <p:txBody>
          <a:bodyPr wrap="square" rtlCol="0" anchor="t"/>
          <a:lstStyle/>
          <a:p>
            <a:pPr marL="177800" indent="-177800">
              <a:lnSpc>
                <a:spcPct val="108000"/>
              </a:lnSpc>
              <a:spcAft>
                <a:spcPts val="600"/>
              </a:spcAft>
              <a:buSzPct val="100000"/>
              <a:buChar char="▪"/>
            </a:pPr>
            <a:r>
              <a:rPr lang="en-US" sz="1200" dirty="0">
                <a:solidFill>
                  <a:srgbClr val="1F2A37"/>
                </a:solidFill>
                <a:latin typeface="맑은 고딕" pitchFamily="34" charset="0"/>
                <a:ea typeface="맑은 고딕" pitchFamily="34" charset="-122"/>
                <a:cs typeface="맑은 고딕" pitchFamily="34" charset="-120"/>
              </a:rPr>
              <a:t>Conv3×3의 완전 UNROLL · 대형 배열의 완전/cyclic ARRAY_PARTITION</a:t>
            </a:r>
            <a:endParaRPr lang="en-US" sz="1200" dirty="0"/>
          </a:p>
          <a:p>
            <a:pPr marL="177800" indent="-177800">
              <a:lnSpc>
                <a:spcPct val="108000"/>
              </a:lnSpc>
              <a:spcAft>
                <a:spcPts val="600"/>
              </a:spcAft>
              <a:buSzPct val="100000"/>
              <a:buChar char="▪"/>
            </a:pPr>
            <a:r>
              <a:rPr lang="en-US" sz="1200" dirty="0">
                <a:solidFill>
                  <a:srgbClr val="1F2A37"/>
                </a:solidFill>
                <a:latin typeface="맑은 고딕" pitchFamily="34" charset="0"/>
                <a:ea typeface="맑은 고딕" pitchFamily="34" charset="-122"/>
                <a:cs typeface="맑은 고딕" pitchFamily="34" charset="-120"/>
              </a:rPr>
              <a:t>LUTRAM 집중 · 2,048/4,096bit의 초광폭 AXI4-Stream</a:t>
            </a:r>
            <a:endParaRPr lang="en-US" sz="1200" dirty="0"/>
          </a:p>
          <a:p>
            <a:pPr marL="177800" indent="-177800">
              <a:lnSpc>
                <a:spcPct val="108000"/>
              </a:lnSpc>
              <a:spcAft>
                <a:spcPts val="600"/>
              </a:spcAft>
              <a:buSzPct val="100000"/>
              <a:buChar char="▪"/>
            </a:pPr>
            <a:r>
              <a:rPr lang="en-US" sz="1200" dirty="0">
                <a:solidFill>
                  <a:srgbClr val="1F2A37"/>
                </a:solidFill>
                <a:latin typeface="맑은 고딕" pitchFamily="34" charset="0"/>
                <a:ea typeface="맑은 고딕" pitchFamily="34" charset="-122"/>
                <a:cs typeface="맑은 고딕" pitchFamily="34" charset="-120"/>
              </a:rPr>
              <a:t>고 fan-out 제어 신호 · 특정 영역에 LUT와 배선이 집중됨</a:t>
            </a:r>
            <a:endParaRPr lang="en-US" sz="1200" dirty="0"/>
          </a:p>
        </p:txBody>
      </p:sp>
      <p:sp>
        <p:nvSpPr>
          <p:cNvPr id="11" name="Shape 9"/>
          <p:cNvSpPr/>
          <p:nvPr/>
        </p:nvSpPr>
        <p:spPr>
          <a:xfrm>
            <a:off x="6080760" y="1097280"/>
            <a:ext cx="0" cy="5257800"/>
          </a:xfrm>
          <a:prstGeom prst="line">
            <a:avLst/>
          </a:prstGeom>
          <a:noFill/>
          <a:ln w="12700">
            <a:solidFill>
              <a:srgbClr val="D9E0EC"/>
            </a:solidFill>
            <a:prstDash val="solid"/>
          </a:ln>
        </p:spPr>
      </p:sp>
      <p:sp>
        <p:nvSpPr>
          <p:cNvPr id="12" name="Shape 10"/>
          <p:cNvSpPr/>
          <p:nvPr/>
        </p:nvSpPr>
        <p:spPr>
          <a:xfrm>
            <a:off x="6309360" y="1097280"/>
            <a:ext cx="82296" cy="310896"/>
          </a:xfrm>
          <a:prstGeom prst="rect">
            <a:avLst/>
          </a:prstGeom>
          <a:solidFill>
            <a:srgbClr val="2F5597"/>
          </a:solidFill>
          <a:ln/>
        </p:spPr>
      </p:sp>
      <p:sp>
        <p:nvSpPr>
          <p:cNvPr id="13" name="Text 11"/>
          <p:cNvSpPr/>
          <p:nvPr/>
        </p:nvSpPr>
        <p:spPr>
          <a:xfrm>
            <a:off x="6473952" y="1069848"/>
            <a:ext cx="523036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핵심 판단</a:t>
            </a:r>
            <a:endParaRPr lang="en-US" sz="1600" dirty="0"/>
          </a:p>
        </p:txBody>
      </p:sp>
      <p:sp>
        <p:nvSpPr>
          <p:cNvPr id="14" name="Shape 12"/>
          <p:cNvSpPr/>
          <p:nvPr/>
        </p:nvSpPr>
        <p:spPr>
          <a:xfrm>
            <a:off x="6309360" y="1508760"/>
            <a:ext cx="5394960" cy="1005840"/>
          </a:xfrm>
          <a:prstGeom prst="rect">
            <a:avLst>
              <a:gd name="adj" fmla="val 5455"/>
            </a:avLst>
          </a:prstGeom>
          <a:solidFill>
            <a:srgbClr val="FCEFEF"/>
          </a:solidFill>
          <a:ln w="12700">
            <a:solidFill>
              <a:srgbClr val="E9C3C3"/>
            </a:solidFill>
            <a:prstDash val="solid"/>
          </a:ln>
        </p:spPr>
      </p:sp>
      <p:sp>
        <p:nvSpPr>
          <p:cNvPr id="15" name="Text 13"/>
          <p:cNvSpPr/>
          <p:nvPr/>
        </p:nvSpPr>
        <p:spPr>
          <a:xfrm>
            <a:off x="6537960" y="1508760"/>
            <a:ext cx="4937760" cy="1005840"/>
          </a:xfrm>
          <a:prstGeom prst="rect">
            <a:avLst/>
          </a:prstGeom>
          <a:noFill/>
          <a:ln/>
        </p:spPr>
        <p:txBody>
          <a:bodyPr wrap="square" rtlCol="0" anchor="ctr"/>
          <a:lstStyle/>
          <a:p>
            <a:pPr algn="ctr" indent="0" marL="0">
              <a:buNone/>
            </a:pPr>
            <a:r>
              <a:rPr lang="en-US" sz="1700" b="1" dirty="0">
                <a:solidFill>
                  <a:srgbClr val="C00000"/>
                </a:solidFill>
                <a:latin typeface="맑은 고딕" pitchFamily="34" charset="0"/>
                <a:ea typeface="맑은 고딕" pitchFamily="34" charset="-122"/>
                <a:cs typeface="맑은 고딕" pitchFamily="34" charset="-120"/>
              </a:rPr>
              <a:t>FPGA 전체 자원 부족보다</a:t>
            </a:r>
            <a:endParaRPr lang="en-US" sz="1700" dirty="0"/>
          </a:p>
          <a:p>
            <a:pPr algn="ctr" indent="0" marL="0">
              <a:buNone/>
            </a:pPr>
            <a:r>
              <a:rPr lang="en-US" sz="1700" b="1" dirty="0">
                <a:solidFill>
                  <a:srgbClr val="C00000"/>
                </a:solidFill>
                <a:latin typeface="맑은 고딕" pitchFamily="34" charset="0"/>
                <a:ea typeface="맑은 고딕" pitchFamily="34" charset="-122"/>
                <a:cs typeface="맑은 고딕" pitchFamily="34" charset="-120"/>
              </a:rPr>
              <a:t>“자원의 물리적 분포와 연결 밀도”가 문제</a:t>
            </a:r>
            <a:endParaRPr lang="en-US" sz="1700" dirty="0"/>
          </a:p>
        </p:txBody>
      </p:sp>
      <p:sp>
        <p:nvSpPr>
          <p:cNvPr id="16" name="Shape 14"/>
          <p:cNvSpPr/>
          <p:nvPr/>
        </p:nvSpPr>
        <p:spPr>
          <a:xfrm>
            <a:off x="6309360" y="2697480"/>
            <a:ext cx="5394960" cy="2651760"/>
          </a:xfrm>
          <a:prstGeom prst="rect">
            <a:avLst>
              <a:gd name="adj" fmla="val 2069"/>
            </a:avLst>
          </a:prstGeom>
          <a:solidFill>
            <a:srgbClr val="EFF3FB"/>
          </a:solidFill>
          <a:ln w="12700">
            <a:solidFill>
              <a:srgbClr val="D9E0EC"/>
            </a:solidFill>
            <a:prstDash val="solid"/>
          </a:ln>
        </p:spPr>
      </p:sp>
      <p:sp>
        <p:nvSpPr>
          <p:cNvPr id="17" name="Text 15"/>
          <p:cNvSpPr/>
          <p:nvPr/>
        </p:nvSpPr>
        <p:spPr>
          <a:xfrm>
            <a:off x="6537960" y="2697480"/>
            <a:ext cx="4937760" cy="2651760"/>
          </a:xfrm>
          <a:prstGeom prst="rect">
            <a:avLst/>
          </a:prstGeom>
          <a:noFill/>
          <a:ln/>
        </p:spPr>
        <p:txBody>
          <a:bodyPr wrap="square" rtlCol="0" anchor="ctr"/>
          <a:lstStyle/>
          <a:p>
            <a:pPr algn="l" indent="0" marL="0">
              <a:buNone/>
            </a:pPr>
            <a:r>
              <a:rPr lang="en-US" sz="1400" dirty="0">
                <a:solidFill>
                  <a:srgbClr val="1F3864"/>
                </a:solidFill>
                <a:latin typeface="맑은 고딕" pitchFamily="34" charset="0"/>
                <a:ea typeface="맑은 고딕" pitchFamily="34" charset="-122"/>
                <a:cs typeface="맑은 고딕" pitchFamily="34" charset="-120"/>
              </a:rPr>
              <a:t>현재는 LUT나 BRAM 총량만 놓고 보면 FPGA 용량 안에</a:t>
            </a:r>
            <a:endParaRPr lang="en-US" sz="1400" dirty="0"/>
          </a:p>
          <a:p>
            <a:pPr algn="l" indent="0" marL="0">
              <a:buNone/>
            </a:pPr>
            <a:r>
              <a:rPr lang="en-US" sz="1400" dirty="0">
                <a:solidFill>
                  <a:srgbClr val="1F3864"/>
                </a:solidFill>
                <a:latin typeface="맑은 고딕" pitchFamily="34" charset="0"/>
                <a:ea typeface="맑은 고딕" pitchFamily="34" charset="-122"/>
                <a:cs typeface="맑은 고딕" pitchFamily="34" charset="-120"/>
              </a:rPr>
              <a:t>들어가지만, 특정 위치에 지나치게 많은 LUT와 배선이</a:t>
            </a:r>
            <a:endParaRPr lang="en-US" sz="1400" dirty="0"/>
          </a:p>
          <a:p>
            <a:pPr algn="l" indent="0" marL="0">
              <a:buNone/>
            </a:pPr>
            <a:r>
              <a:rPr lang="en-US" sz="1400" dirty="0">
                <a:solidFill>
                  <a:srgbClr val="1F3864"/>
                </a:solidFill>
                <a:latin typeface="맑은 고딕" pitchFamily="34" charset="0"/>
                <a:ea typeface="맑은 고딕" pitchFamily="34" charset="-122"/>
                <a:cs typeface="맑은 고딕" pitchFamily="34" charset="-120"/>
              </a:rPr>
              <a:t>몰려 배선 경로를 찾지 못하고 있습니다.</a:t>
            </a:r>
            <a:endParaRPr lang="en-US" sz="1400" dirty="0"/>
          </a:p>
          <a:p>
            <a:pPr algn="l" indent="0" marL="0">
              <a:buNone/>
            </a:pPr>
            <a:endParaRPr lang="en-US" sz="1400" dirty="0"/>
          </a:p>
          <a:p>
            <a:pPr algn="l" indent="0" marL="0">
              <a:buNone/>
            </a:pPr>
            <a:r>
              <a:rPr lang="en-US" sz="1400" dirty="0">
                <a:solidFill>
                  <a:srgbClr val="1F3864"/>
                </a:solidFill>
                <a:latin typeface="맑은 고딕" pitchFamily="34" charset="0"/>
                <a:ea typeface="맑은 고딕" pitchFamily="34" charset="-122"/>
                <a:cs typeface="맑은 고딕" pitchFamily="34" charset="-120"/>
              </a:rPr>
              <a:t>즉 전체 자원량과 실제 routability는 별개의 문제입니다.</a:t>
            </a:r>
            <a:endParaRPr lang="en-US" sz="1400" dirty="0"/>
          </a:p>
        </p:txBody>
      </p:sp>
      <p:sp>
        <p:nvSpPr>
          <p:cNvPr id="18" name="Text 16"/>
          <p:cNvSpPr/>
          <p:nvPr/>
        </p:nvSpPr>
        <p:spPr>
          <a:xfrm>
            <a:off x="457200" y="6547104"/>
            <a:ext cx="9875520" cy="256032"/>
          </a:xfrm>
          <a:prstGeom prst="rect">
            <a:avLst/>
          </a:prstGeom>
          <a:noFill/>
          <a:ln/>
        </p:spPr>
        <p:txBody>
          <a:bodyPr wrap="square" rtlCol="0" anchor="ctr"/>
          <a:lstStyle/>
          <a:p>
            <a:pPr indent="0" marL="0">
              <a:buNone/>
            </a:pPr>
            <a:r>
              <a:rPr lang="en-US" sz="900" i="1" dirty="0">
                <a:solidFill>
                  <a:srgbClr val="5B6472"/>
                </a:solidFill>
                <a:latin typeface="맑은 고딕" pitchFamily="34" charset="0"/>
                <a:ea typeface="맑은 고딕" pitchFamily="34" charset="-122"/>
                <a:cs typeface="맑은 고딕" pitchFamily="34" charset="-120"/>
              </a:rPr>
              <a:t>출처: Vivado 2022.2 Implementation Report (route_design)</a:t>
            </a:r>
            <a:endParaRPr lang="en-US" sz="900" dirty="0"/>
          </a:p>
        </p:txBody>
      </p:sp>
      <p:sp>
        <p:nvSpPr>
          <p:cNvPr id="19" name="Text 17"/>
          <p:cNvSpPr/>
          <p:nvPr/>
        </p:nvSpPr>
        <p:spPr>
          <a:xfrm>
            <a:off x="11064240" y="6547104"/>
            <a:ext cx="685800" cy="256032"/>
          </a:xfrm>
          <a:prstGeom prst="rect">
            <a:avLst/>
          </a:prstGeom>
          <a:noFill/>
          <a:ln/>
        </p:spPr>
        <p:txBody>
          <a:bodyPr wrap="square"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11 / 19</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472C4"/>
          </a:solidFill>
          <a:ln/>
        </p:spPr>
      </p:sp>
      <p:sp>
        <p:nvSpPr>
          <p:cNvPr id="3" name="Text 1"/>
          <p:cNvSpPr/>
          <p:nvPr/>
        </p:nvSpPr>
        <p:spPr>
          <a:xfrm>
            <a:off x="457200" y="182880"/>
            <a:ext cx="9875520" cy="566928"/>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전체 자원 사용량 분석</a:t>
            </a:r>
            <a:endParaRPr lang="en-US" sz="2600" dirty="0"/>
          </a:p>
        </p:txBody>
      </p:sp>
      <p:sp>
        <p:nvSpPr>
          <p:cNvPr id="4" name="Text 2"/>
          <p:cNvSpPr/>
          <p:nvPr/>
        </p:nvSpPr>
        <p:spPr>
          <a:xfrm>
            <a:off x="10698480" y="73152"/>
            <a:ext cx="1234440" cy="731520"/>
          </a:xfrm>
          <a:prstGeom prst="rect">
            <a:avLst/>
          </a:prstGeom>
          <a:noFill/>
          <a:ln/>
        </p:spPr>
        <p:txBody>
          <a:bodyPr wrap="square" rtlCol="0" anchor="ctr"/>
          <a:lstStyle/>
          <a:p>
            <a:pPr algn="r" indent="0" marL="0">
              <a:buNone/>
            </a:pPr>
            <a:r>
              <a:rPr lang="en-US" sz="3000" b="1" dirty="0">
                <a:solidFill>
                  <a:srgbClr val="9BB3E8"/>
                </a:solidFill>
                <a:latin typeface="Calibri" pitchFamily="34" charset="0"/>
                <a:ea typeface="Calibri" pitchFamily="34" charset="-122"/>
                <a:cs typeface="Calibri" pitchFamily="34" charset="-120"/>
              </a:rPr>
              <a:t>12</a:t>
            </a:r>
            <a:endParaRPr lang="en-US" sz="3000" dirty="0"/>
          </a:p>
        </p:txBody>
      </p:sp>
      <p:sp>
        <p:nvSpPr>
          <p:cNvPr id="5" name="Shape 3"/>
          <p:cNvSpPr/>
          <p:nvPr/>
        </p:nvSpPr>
        <p:spPr>
          <a:xfrm>
            <a:off x="457200" y="1097280"/>
            <a:ext cx="82296" cy="310896"/>
          </a:xfrm>
          <a:prstGeom prst="rect">
            <a:avLst/>
          </a:prstGeom>
          <a:solidFill>
            <a:srgbClr val="4472C4"/>
          </a:solidFill>
          <a:ln/>
        </p:spPr>
      </p:sp>
      <p:sp>
        <p:nvSpPr>
          <p:cNvPr id="6" name="Text 4"/>
          <p:cNvSpPr/>
          <p:nvPr/>
        </p:nvSpPr>
        <p:spPr>
          <a:xfrm>
            <a:off x="621792" y="1069848"/>
            <a:ext cx="605332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전체 설계 자원 사용량</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481328"/>
          <a:ext cx="6217920" cy="914400"/>
        </p:xfrm>
        <a:graphic>
          <a:graphicData uri="http://schemas.openxmlformats.org/drawingml/2006/table">
            <a:tbl>
              <a:tblPr/>
              <a:tblGrid>
                <a:gridCol w="2011680"/>
                <a:gridCol w="1554480"/>
                <a:gridCol w="1463040"/>
                <a:gridCol w="1188720"/>
              </a:tblGrid>
              <a:tr h="306324">
                <a:tc>
                  <a:txBody>
                    <a:bodyPr/>
                    <a:lstStyle/>
                    <a:p>
                      <a:pPr algn="ctr" indent="0" marL="0">
                        <a:buNone/>
                      </a:pPr>
                      <a:r>
                        <a:rPr lang="en-US" sz="1100" b="1" dirty="0">
                          <a:solidFill>
                            <a:srgbClr val="FFFFFF"/>
                          </a:solidFill>
                        </a:rPr>
                        <a:t>자원</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1100" b="1" dirty="0">
                          <a:solidFill>
                            <a:srgbClr val="FFFFFF"/>
                          </a:solidFill>
                        </a:rPr>
                        <a:t>사용량</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1100" b="1" dirty="0">
                          <a:solidFill>
                            <a:srgbClr val="FFFFFF"/>
                          </a:solidFill>
                        </a:rPr>
                        <a:t>가용량</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1100" b="1" dirty="0">
                          <a:solidFill>
                            <a:srgbClr val="FFFFFF"/>
                          </a:solidFill>
                        </a:rPr>
                        <a:t>사용률</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r>
              <a:tr h="306324">
                <a:tc>
                  <a:txBody>
                    <a:bodyPr/>
                    <a:lstStyle/>
                    <a:p>
                      <a:pPr algn="l" indent="0" marL="0">
                        <a:buNone/>
                      </a:pPr>
                      <a:r>
                        <a:rPr lang="en-US" sz="1100" dirty="0">
                          <a:solidFill>
                            <a:srgbClr val="1F2A37"/>
                          </a:solidFill>
                        </a:rPr>
                        <a:t>LUT</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rPr>
                        <a:t>96,356</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rPr>
                        <a:t>117,120</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rPr>
                        <a:t>약 82.3%</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306324">
                <a:tc>
                  <a:txBody>
                    <a:bodyPr/>
                    <a:lstStyle/>
                    <a:p>
                      <a:pPr algn="l" indent="0" marL="0">
                        <a:buNone/>
                      </a:pPr>
                      <a:r>
                        <a:rPr lang="en-US" sz="1100" dirty="0">
                          <a:solidFill>
                            <a:srgbClr val="1F2A37"/>
                          </a:solidFill>
                        </a:rPr>
                        <a:t>Logic LUT</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1F2A37"/>
                          </a:solidFill>
                        </a:rPr>
                        <a:t>76,413</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1F2A37"/>
                          </a:solidFill>
                        </a:rPr>
                        <a:t>-</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1F2A37"/>
                          </a:solidFill>
                        </a:rPr>
                        <a:t>-</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306324">
                <a:tc>
                  <a:txBody>
                    <a:bodyPr/>
                    <a:lstStyle/>
                    <a:p>
                      <a:pPr algn="l" indent="0" marL="0">
                        <a:buNone/>
                      </a:pPr>
                      <a:r>
                        <a:rPr lang="en-US" sz="1100" dirty="0">
                          <a:solidFill>
                            <a:srgbClr val="1F2A37"/>
                          </a:solidFill>
                        </a:rPr>
                        <a:t>LUTRAM</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rPr>
                        <a:t>18,948</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rPr>
                        <a:t>-</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rPr>
                        <a:t>-</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306324">
                <a:tc>
                  <a:txBody>
                    <a:bodyPr/>
                    <a:lstStyle/>
                    <a:p>
                      <a:pPr algn="l" indent="0" marL="0">
                        <a:buNone/>
                      </a:pPr>
                      <a:r>
                        <a:rPr lang="en-US" sz="1100" dirty="0">
                          <a:solidFill>
                            <a:srgbClr val="1F2A37"/>
                          </a:solidFill>
                        </a:rPr>
                        <a:t>FF</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1F2A37"/>
                          </a:solidFill>
                        </a:rPr>
                        <a:t>156,345</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1F2A37"/>
                          </a:solidFill>
                        </a:rPr>
                        <a:t>234,240</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1F2A37"/>
                          </a:solidFill>
                        </a:rPr>
                        <a:t>약 66.7%</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306324">
                <a:tc>
                  <a:txBody>
                    <a:bodyPr/>
                    <a:lstStyle/>
                    <a:p>
                      <a:pPr algn="l" indent="0" marL="0">
                        <a:buNone/>
                      </a:pPr>
                      <a:r>
                        <a:rPr lang="en-US" sz="1100" dirty="0">
                          <a:solidFill>
                            <a:srgbClr val="1F2A37"/>
                          </a:solidFill>
                        </a:rPr>
                        <a:t>DSP</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rPr>
                        <a:t>728</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rPr>
                        <a:t>1,248</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rPr>
                        <a:t>약 58.3%</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306324">
                <a:tc>
                  <a:txBody>
                    <a:bodyPr/>
                    <a:lstStyle/>
                    <a:p>
                      <a:pPr algn="l" indent="0" marL="0">
                        <a:buNone/>
                      </a:pPr>
                      <a:r>
                        <a:rPr lang="en-US" sz="1100" dirty="0">
                          <a:solidFill>
                            <a:srgbClr val="1F2A37"/>
                          </a:solidFill>
                        </a:rPr>
                        <a:t>RAMB18</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1F2A37"/>
                          </a:solidFill>
                        </a:rPr>
                        <a:t>79</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1F2A37"/>
                          </a:solidFill>
                        </a:rPr>
                        <a:t>-</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1F2A37"/>
                          </a:solidFill>
                        </a:rPr>
                        <a:t>-</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306324">
                <a:tc>
                  <a:txBody>
                    <a:bodyPr/>
                    <a:lstStyle/>
                    <a:p>
                      <a:pPr algn="l" indent="0" marL="0">
                        <a:buNone/>
                      </a:pPr>
                      <a:r>
                        <a:rPr lang="en-US" sz="1100" dirty="0">
                          <a:solidFill>
                            <a:srgbClr val="1F2A37"/>
                          </a:solidFill>
                        </a:rPr>
                        <a:t>RAMB36</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rPr>
                        <a:t>12</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rPr>
                        <a:t>-</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rPr>
                        <a:t>-</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306324">
                <a:tc>
                  <a:txBody>
                    <a:bodyPr/>
                    <a:lstStyle/>
                    <a:p>
                      <a:pPr algn="l" indent="0" marL="0">
                        <a:buNone/>
                      </a:pPr>
                      <a:r>
                        <a:rPr lang="en-US" sz="1100" dirty="0">
                          <a:solidFill>
                            <a:srgbClr val="1F2A37"/>
                          </a:solidFill>
                        </a:rPr>
                        <a:t>BRAM18 환산</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1F2A37"/>
                          </a:solidFill>
                        </a:rPr>
                        <a:t>103</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1F2A37"/>
                          </a:solidFill>
                        </a:rPr>
                        <a:t>288</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1F2A37"/>
                          </a:solidFill>
                        </a:rPr>
                        <a:t>약 35.8%</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306324">
                <a:tc>
                  <a:txBody>
                    <a:bodyPr/>
                    <a:lstStyle/>
                    <a:p>
                      <a:pPr algn="l" indent="0" marL="0">
                        <a:buNone/>
                      </a:pPr>
                      <a:r>
                        <a:rPr lang="en-US" sz="1100" dirty="0">
                          <a:solidFill>
                            <a:srgbClr val="1F2A37"/>
                          </a:solidFill>
                        </a:rPr>
                        <a:t>URAM</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rPr>
                        <a:t>20</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rPr>
                        <a:t>64</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rPr>
                        <a:t>약 31.3%</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bl>
          </a:graphicData>
        </a:graphic>
      </p:graphicFrame>
      <p:sp>
        <p:nvSpPr>
          <p:cNvPr id="8" name="Shape 5"/>
          <p:cNvSpPr/>
          <p:nvPr/>
        </p:nvSpPr>
        <p:spPr>
          <a:xfrm>
            <a:off x="6949440" y="1097280"/>
            <a:ext cx="82296" cy="310896"/>
          </a:xfrm>
          <a:prstGeom prst="rect">
            <a:avLst/>
          </a:prstGeom>
          <a:solidFill>
            <a:srgbClr val="2F5597"/>
          </a:solidFill>
          <a:ln/>
        </p:spPr>
      </p:sp>
      <p:sp>
        <p:nvSpPr>
          <p:cNvPr id="9" name="Text 6"/>
          <p:cNvSpPr/>
          <p:nvPr/>
        </p:nvSpPr>
        <p:spPr>
          <a:xfrm>
            <a:off x="7114032" y="1069848"/>
            <a:ext cx="459028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핵심 판단</a:t>
            </a:r>
            <a:endParaRPr lang="en-US" sz="1600" dirty="0"/>
          </a:p>
        </p:txBody>
      </p:sp>
      <p:sp>
        <p:nvSpPr>
          <p:cNvPr id="10" name="Text 7"/>
          <p:cNvSpPr/>
          <p:nvPr/>
        </p:nvSpPr>
        <p:spPr>
          <a:xfrm>
            <a:off x="6995160" y="1481328"/>
            <a:ext cx="4663440" cy="2377440"/>
          </a:xfrm>
          <a:prstGeom prst="rect">
            <a:avLst/>
          </a:prstGeom>
          <a:noFill/>
          <a:ln/>
        </p:spPr>
        <p:txBody>
          <a:bodyPr wrap="square" rtlCol="0" anchor="t"/>
          <a:lstStyle/>
          <a:p>
            <a:pPr marL="177800" indent="-177800">
              <a:lnSpc>
                <a:spcPct val="108000"/>
              </a:lnSpc>
              <a:spcAft>
                <a:spcPts val="9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DSP 부족 아님</a:t>
            </a:r>
            <a:endParaRPr lang="en-US" sz="1300" dirty="0"/>
          </a:p>
          <a:p>
            <a:pPr marL="177800" indent="-177800">
              <a:lnSpc>
                <a:spcPct val="108000"/>
              </a:lnSpc>
              <a:spcAft>
                <a:spcPts val="9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BRAM 부족 아님</a:t>
            </a:r>
            <a:endParaRPr lang="en-US" sz="1300" dirty="0"/>
          </a:p>
          <a:p>
            <a:pPr marL="177800" indent="-177800">
              <a:lnSpc>
                <a:spcPct val="108000"/>
              </a:lnSpc>
              <a:spcAft>
                <a:spcPts val="9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URAM 부족 아님</a:t>
            </a:r>
            <a:endParaRPr lang="en-US" sz="1300" dirty="0"/>
          </a:p>
          <a:p>
            <a:pPr marL="177800" indent="-177800">
              <a:lnSpc>
                <a:spcPct val="108000"/>
              </a:lnSpc>
              <a:spcAft>
                <a:spcPts val="9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LUT 사용률이 높고 LUTRAM / 초광폭 데이터 경로가 집중</a:t>
            </a:r>
            <a:endParaRPr lang="en-US" sz="1300" dirty="0"/>
          </a:p>
          <a:p>
            <a:pPr marL="177800" indent="-177800">
              <a:lnSpc>
                <a:spcPct val="108000"/>
              </a:lnSpc>
              <a:spcAft>
                <a:spcPts val="9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물리적 배치 및 routing congestion이 주원인</a:t>
            </a:r>
            <a:endParaRPr lang="en-US" sz="1300" dirty="0"/>
          </a:p>
        </p:txBody>
      </p:sp>
      <p:sp>
        <p:nvSpPr>
          <p:cNvPr id="11" name="Shape 8"/>
          <p:cNvSpPr/>
          <p:nvPr/>
        </p:nvSpPr>
        <p:spPr>
          <a:xfrm>
            <a:off x="6949440" y="4160520"/>
            <a:ext cx="4754880" cy="2057400"/>
          </a:xfrm>
          <a:prstGeom prst="rect">
            <a:avLst>
              <a:gd name="adj" fmla="val 2667"/>
            </a:avLst>
          </a:prstGeom>
          <a:solidFill>
            <a:srgbClr val="EFF3FB"/>
          </a:solidFill>
          <a:ln w="12700">
            <a:solidFill>
              <a:srgbClr val="D9E0EC"/>
            </a:solidFill>
            <a:prstDash val="solid"/>
          </a:ln>
        </p:spPr>
      </p:sp>
      <p:sp>
        <p:nvSpPr>
          <p:cNvPr id="12" name="Text 9"/>
          <p:cNvSpPr/>
          <p:nvPr/>
        </p:nvSpPr>
        <p:spPr>
          <a:xfrm>
            <a:off x="7178040" y="4160520"/>
            <a:ext cx="4297680" cy="2057400"/>
          </a:xfrm>
          <a:prstGeom prst="rect">
            <a:avLst/>
          </a:prstGeom>
          <a:noFill/>
          <a:ln/>
        </p:spPr>
        <p:txBody>
          <a:bodyPr wrap="square" rtlCol="0" anchor="ctr"/>
          <a:lstStyle/>
          <a:p>
            <a:pPr algn="l" indent="0" marL="0">
              <a:buNone/>
            </a:pPr>
            <a:r>
              <a:rPr lang="en-US" sz="1300" dirty="0">
                <a:solidFill>
                  <a:srgbClr val="1F3864"/>
                </a:solidFill>
                <a:latin typeface="맑은 고딕" pitchFamily="34" charset="0"/>
                <a:ea typeface="맑은 고딕" pitchFamily="34" charset="-122"/>
                <a:cs typeface="맑은 고딕" pitchFamily="34" charset="-120"/>
              </a:rPr>
              <a:t>BRAM 약 36%, URAM 약 31%, DSP 약 58%로,</a:t>
            </a:r>
            <a:endParaRPr lang="en-US" sz="1300" dirty="0"/>
          </a:p>
          <a:p>
            <a:pPr algn="l" indent="0" marL="0">
              <a:buNone/>
            </a:pPr>
            <a:r>
              <a:rPr lang="en-US" sz="1300" dirty="0">
                <a:solidFill>
                  <a:srgbClr val="1F3864"/>
                </a:solidFill>
                <a:latin typeface="맑은 고딕" pitchFamily="34" charset="0"/>
                <a:ea typeface="맑은 고딕" pitchFamily="34" charset="-122"/>
                <a:cs typeface="맑은 고딕" pitchFamily="34" charset="-120"/>
              </a:rPr>
              <a:t>이 자원들의 용량 초과가 직접 원인은 아닙니다.</a:t>
            </a:r>
            <a:endParaRPr lang="en-US" sz="1300" dirty="0"/>
          </a:p>
          <a:p>
            <a:pPr algn="l" indent="0" marL="0">
              <a:buNone/>
            </a:pPr>
            <a:r>
              <a:rPr lang="en-US" sz="1300" dirty="0">
                <a:solidFill>
                  <a:srgbClr val="1F3864"/>
                </a:solidFill>
                <a:latin typeface="맑은 고딕" pitchFamily="34" charset="0"/>
                <a:ea typeface="맑은 고딕" pitchFamily="34" charset="-122"/>
                <a:cs typeface="맑은 고딕" pitchFamily="34" charset="-120"/>
              </a:rPr>
              <a:t>LUT 사용률은 82%로 높으며, LUTRAM과 초광폭</a:t>
            </a:r>
            <a:endParaRPr lang="en-US" sz="1300" dirty="0"/>
          </a:p>
          <a:p>
            <a:pPr algn="l" indent="0" marL="0">
              <a:buNone/>
            </a:pPr>
            <a:r>
              <a:rPr lang="en-US" sz="1300" dirty="0">
                <a:solidFill>
                  <a:srgbClr val="1F3864"/>
                </a:solidFill>
                <a:latin typeface="맑은 고딕" pitchFamily="34" charset="0"/>
                <a:ea typeface="맑은 고딕" pitchFamily="34" charset="-122"/>
                <a:cs typeface="맑은 고딕" pitchFamily="34" charset="-120"/>
              </a:rPr>
              <a:t>배선까지 겹쳐 라우팅 난도가 크게 증가했습니다.</a:t>
            </a:r>
            <a:endParaRPr lang="en-US" sz="1300" dirty="0"/>
          </a:p>
        </p:txBody>
      </p:sp>
      <p:sp>
        <p:nvSpPr>
          <p:cNvPr id="13" name="Text 10"/>
          <p:cNvSpPr/>
          <p:nvPr/>
        </p:nvSpPr>
        <p:spPr>
          <a:xfrm>
            <a:off x="457200" y="6547104"/>
            <a:ext cx="9875520" cy="256032"/>
          </a:xfrm>
          <a:prstGeom prst="rect">
            <a:avLst/>
          </a:prstGeom>
          <a:noFill/>
          <a:ln/>
        </p:spPr>
        <p:txBody>
          <a:bodyPr wrap="square" rtlCol="0" anchor="ctr"/>
          <a:lstStyle/>
          <a:p>
            <a:pPr indent="0" marL="0">
              <a:buNone/>
            </a:pPr>
            <a:r>
              <a:rPr lang="en-US" sz="900" i="1" dirty="0">
                <a:solidFill>
                  <a:srgbClr val="5B6472"/>
                </a:solidFill>
                <a:latin typeface="맑은 고딕" pitchFamily="34" charset="0"/>
                <a:ea typeface="맑은 고딕" pitchFamily="34" charset="-122"/>
                <a:cs typeface="맑은 고딕" pitchFamily="34" charset="-120"/>
              </a:rPr>
              <a:t>출처: Vivado 2022.2 Utilization Report</a:t>
            </a:r>
            <a:endParaRPr lang="en-US" sz="900" dirty="0"/>
          </a:p>
        </p:txBody>
      </p:sp>
      <p:sp>
        <p:nvSpPr>
          <p:cNvPr id="14" name="Text 11"/>
          <p:cNvSpPr/>
          <p:nvPr/>
        </p:nvSpPr>
        <p:spPr>
          <a:xfrm>
            <a:off x="11064240" y="6547104"/>
            <a:ext cx="685800" cy="256032"/>
          </a:xfrm>
          <a:prstGeom prst="rect">
            <a:avLst/>
          </a:prstGeom>
          <a:noFill/>
          <a:ln/>
        </p:spPr>
        <p:txBody>
          <a:bodyPr wrap="square"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12 / 19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472C4"/>
          </a:solidFill>
          <a:ln/>
        </p:spPr>
      </p:sp>
      <p:sp>
        <p:nvSpPr>
          <p:cNvPr id="3" name="Text 1"/>
          <p:cNvSpPr/>
          <p:nvPr/>
        </p:nvSpPr>
        <p:spPr>
          <a:xfrm>
            <a:off x="457200" y="182880"/>
            <a:ext cx="9875520" cy="566928"/>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IP별 자원 병목 분석</a:t>
            </a:r>
            <a:endParaRPr lang="en-US" sz="2600" dirty="0"/>
          </a:p>
        </p:txBody>
      </p:sp>
      <p:sp>
        <p:nvSpPr>
          <p:cNvPr id="4" name="Text 2"/>
          <p:cNvSpPr/>
          <p:nvPr/>
        </p:nvSpPr>
        <p:spPr>
          <a:xfrm>
            <a:off x="10698480" y="73152"/>
            <a:ext cx="1234440" cy="731520"/>
          </a:xfrm>
          <a:prstGeom prst="rect">
            <a:avLst/>
          </a:prstGeom>
          <a:noFill/>
          <a:ln/>
        </p:spPr>
        <p:txBody>
          <a:bodyPr wrap="square" rtlCol="0" anchor="ctr"/>
          <a:lstStyle/>
          <a:p>
            <a:pPr algn="r" indent="0" marL="0">
              <a:buNone/>
            </a:pPr>
            <a:r>
              <a:rPr lang="en-US" sz="3000" b="1" dirty="0">
                <a:solidFill>
                  <a:srgbClr val="9BB3E8"/>
                </a:solidFill>
                <a:latin typeface="Calibri" pitchFamily="34" charset="0"/>
                <a:ea typeface="Calibri" pitchFamily="34" charset="-122"/>
                <a:cs typeface="Calibri" pitchFamily="34" charset="-120"/>
              </a:rPr>
              <a:t>13</a:t>
            </a:r>
            <a:endParaRPr lang="en-US" sz="3000" dirty="0"/>
          </a:p>
        </p:txBody>
      </p:sp>
      <p:sp>
        <p:nvSpPr>
          <p:cNvPr id="5" name="Shape 3"/>
          <p:cNvSpPr/>
          <p:nvPr/>
        </p:nvSpPr>
        <p:spPr>
          <a:xfrm>
            <a:off x="457200" y="1097280"/>
            <a:ext cx="82296" cy="310896"/>
          </a:xfrm>
          <a:prstGeom prst="rect">
            <a:avLst/>
          </a:prstGeom>
          <a:solidFill>
            <a:srgbClr val="4472C4"/>
          </a:solidFill>
          <a:ln/>
        </p:spPr>
      </p:sp>
      <p:sp>
        <p:nvSpPr>
          <p:cNvPr id="6" name="Text 4"/>
          <p:cNvSpPr/>
          <p:nvPr/>
        </p:nvSpPr>
        <p:spPr>
          <a:xfrm>
            <a:off x="621792" y="1069848"/>
            <a:ext cx="1108252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IP별 자원 사용량</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481328"/>
          <a:ext cx="5989320" cy="914400"/>
        </p:xfrm>
        <a:graphic>
          <a:graphicData uri="http://schemas.openxmlformats.org/drawingml/2006/table">
            <a:tbl>
              <a:tblPr/>
              <a:tblGrid>
                <a:gridCol w="1417320"/>
                <a:gridCol w="658368"/>
                <a:gridCol w="868680"/>
                <a:gridCol w="777240"/>
                <a:gridCol w="502920"/>
                <a:gridCol w="777240"/>
                <a:gridCol w="685800"/>
                <a:gridCol w="594360"/>
                <a:gridCol w="594360"/>
              </a:tblGrid>
              <a:tr h="310896">
                <a:tc>
                  <a:txBody>
                    <a:bodyPr/>
                    <a:lstStyle/>
                    <a:p>
                      <a:pPr algn="ctr" indent="0" marL="0">
                        <a:buNone/>
                      </a:pPr>
                      <a:r>
                        <a:rPr lang="en-US" sz="930" b="1" dirty="0">
                          <a:solidFill>
                            <a:srgbClr val="FFFFFF"/>
                          </a:solidFill>
                        </a:rPr>
                        <a:t>IP</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930" b="1" dirty="0">
                          <a:solidFill>
                            <a:srgbClr val="FFFFFF"/>
                          </a:solidFill>
                        </a:rPr>
                        <a:t>LUT</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930" b="1" dirty="0">
                          <a:solidFill>
                            <a:srgbClr val="FFFFFF"/>
                          </a:solidFill>
                        </a:rPr>
                        <a:t>Logic LUT</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930" b="1" dirty="0">
                          <a:solidFill>
                            <a:srgbClr val="FFFFFF"/>
                          </a:solidFill>
                        </a:rPr>
                        <a:t>LUTRAM</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930" b="1" dirty="0">
                          <a:solidFill>
                            <a:srgbClr val="FFFFFF"/>
                          </a:solidFill>
                        </a:rPr>
                        <a:t>SRL</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930" b="1" dirty="0">
                          <a:solidFill>
                            <a:srgbClr val="FFFFFF"/>
                          </a:solidFill>
                        </a:rPr>
                        <a:t>FF</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930" b="1" dirty="0">
                          <a:solidFill>
                            <a:srgbClr val="FFFFFF"/>
                          </a:solidFill>
                        </a:rPr>
                        <a:t>RAMB18</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930" b="1" dirty="0">
                          <a:solidFill>
                            <a:srgbClr val="FFFFFF"/>
                          </a:solidFill>
                        </a:rPr>
                        <a:t>URAM</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930" b="1" dirty="0">
                          <a:solidFill>
                            <a:srgbClr val="FFFFFF"/>
                          </a:solidFill>
                        </a:rPr>
                        <a:t>DSP</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r>
              <a:tr h="310896">
                <a:tc>
                  <a:txBody>
                    <a:bodyPr/>
                    <a:lstStyle/>
                    <a:p>
                      <a:pPr algn="l" indent="0" marL="0">
                        <a:buNone/>
                      </a:pPr>
                      <a:r>
                        <a:rPr lang="en-US" sz="930" dirty="0">
                          <a:solidFill>
                            <a:srgbClr val="1F2A37"/>
                          </a:solidFill>
                        </a:rPr>
                        <a:t>Conv3×3</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30,515</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18,978</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11,120</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417</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25,333</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73</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0</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272</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310896">
                <a:tc>
                  <a:txBody>
                    <a:bodyPr/>
                    <a:lstStyle/>
                    <a:p>
                      <a:pPr algn="l" indent="0" marL="0">
                        <a:buNone/>
                      </a:pPr>
                      <a:r>
                        <a:rPr lang="en-US" sz="930" dirty="0">
                          <a:solidFill>
                            <a:srgbClr val="1F2A37"/>
                          </a:solidFill>
                        </a:rPr>
                        <a:t>Conv1×1 cv2</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13,022</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8,878</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4,096</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48</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22,618</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1</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0</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256</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310896">
                <a:tc>
                  <a:txBody>
                    <a:bodyPr/>
                    <a:lstStyle/>
                    <a:p>
                      <a:pPr algn="l" indent="0" marL="0">
                        <a:buNone/>
                      </a:pPr>
                      <a:r>
                        <a:rPr lang="en-US" sz="930" dirty="0">
                          <a:solidFill>
                            <a:srgbClr val="1F2A37"/>
                          </a:solidFill>
                        </a:rPr>
                        <a:t>BN+SiLU 128</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10,526</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10,399</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0</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127</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18,207</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0</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0</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25</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310896">
                <a:tc>
                  <a:txBody>
                    <a:bodyPr/>
                    <a:lstStyle/>
                    <a:p>
                      <a:pPr algn="l" indent="0" marL="0">
                        <a:buNone/>
                      </a:pPr>
                      <a:r>
                        <a:rPr lang="en-US" sz="930" dirty="0">
                          <a:solidFill>
                            <a:srgbClr val="1F2A37"/>
                          </a:solidFill>
                        </a:rPr>
                        <a:t>Conv1×1 cv1</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8,404</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6,308</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2,048</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48</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17,478</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1</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0</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128</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310896">
                <a:tc>
                  <a:txBody>
                    <a:bodyPr/>
                    <a:lstStyle/>
                    <a:p>
                      <a:pPr algn="l" indent="0" marL="0">
                        <a:buNone/>
                      </a:pPr>
                      <a:r>
                        <a:rPr lang="en-US" sz="930" dirty="0">
                          <a:solidFill>
                            <a:srgbClr val="1F2A37"/>
                          </a:solidFill>
                        </a:rPr>
                        <a:t>Concat</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7,669</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7,624</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0</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45</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18,268</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0</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12</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30" dirty="0">
                          <a:solidFill>
                            <a:srgbClr val="1F2A37"/>
                          </a:solidFill>
                        </a:rPr>
                        <a:t>8</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310896">
                <a:tc>
                  <a:txBody>
                    <a:bodyPr/>
                    <a:lstStyle/>
                    <a:p>
                      <a:pPr algn="l" indent="0" marL="0">
                        <a:buNone/>
                      </a:pPr>
                      <a:r>
                        <a:rPr lang="en-US" sz="930" dirty="0">
                          <a:solidFill>
                            <a:srgbClr val="1F2A37"/>
                          </a:solidFill>
                        </a:rPr>
                        <a:t>BN+SiLU 64</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6,967</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6,859</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0</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108</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10,445</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0</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0</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30" dirty="0">
                          <a:solidFill>
                            <a:srgbClr val="1F2A37"/>
                          </a:solidFill>
                        </a:rPr>
                        <a:t>25</a:t>
                      </a:r>
                      <a:endParaRPr lang="en-US" sz="93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bl>
          </a:graphicData>
        </a:graphic>
      </p:graphicFrame>
      <p:sp>
        <p:nvSpPr>
          <p:cNvPr id="8" name="Shape 5"/>
          <p:cNvSpPr/>
          <p:nvPr/>
        </p:nvSpPr>
        <p:spPr>
          <a:xfrm>
            <a:off x="6720840" y="1097280"/>
            <a:ext cx="82296" cy="310896"/>
          </a:xfrm>
          <a:prstGeom prst="rect">
            <a:avLst/>
          </a:prstGeom>
          <a:solidFill>
            <a:srgbClr val="2F5597"/>
          </a:solidFill>
          <a:ln/>
        </p:spPr>
      </p:sp>
      <p:sp>
        <p:nvSpPr>
          <p:cNvPr id="9" name="Text 6"/>
          <p:cNvSpPr/>
          <p:nvPr/>
        </p:nvSpPr>
        <p:spPr>
          <a:xfrm>
            <a:off x="6885432" y="1069848"/>
            <a:ext cx="481888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IP별 LUT 사용량</a:t>
            </a:r>
            <a:endParaRPr lang="en-US" sz="1600" dirty="0"/>
          </a:p>
        </p:txBody>
      </p:sp>
      <p:graphicFrame>
        <p:nvGraphicFramePr>
          <p:cNvPr id="10" name="Chart 0" descr=""/>
          <p:cNvGraphicFramePr/>
          <p:nvPr/>
        </p:nvGraphicFramePr>
        <p:xfrm>
          <a:off x="6720840" y="1481328"/>
          <a:ext cx="4983480" cy="2788920"/>
        </p:xfrm>
        <a:graphic xmlns:a="http://schemas.openxmlformats.org/drawingml/2006/main">
          <a:graphicData uri="http://schemas.openxmlformats.org/drawingml/2006/chart">
            <c:chart xmlns:c="http://schemas.openxmlformats.org/drawingml/2006/chart" r:id="rId1"/>
          </a:graphicData>
        </a:graphic>
      </p:graphicFrame>
      <p:sp>
        <p:nvSpPr>
          <p:cNvPr id="11" name="Text 7"/>
          <p:cNvSpPr/>
          <p:nvPr/>
        </p:nvSpPr>
        <p:spPr>
          <a:xfrm>
            <a:off x="6720840" y="4297680"/>
            <a:ext cx="4983480" cy="1920240"/>
          </a:xfrm>
          <a:prstGeom prst="rect">
            <a:avLst/>
          </a:prstGeom>
          <a:noFill/>
          <a:ln/>
        </p:spPr>
        <p:txBody>
          <a:bodyPr wrap="square" rtlCol="0" anchor="t"/>
          <a:lstStyle/>
          <a:p>
            <a:pPr marL="177800" indent="-177800">
              <a:lnSpc>
                <a:spcPct val="108000"/>
              </a:lnSpc>
              <a:spcAft>
                <a:spcPts val="7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Conv3×3이 가장 큰 단일 병목 (전체 LUT의 약 31.7%)</a:t>
            </a:r>
            <a:endParaRPr lang="en-US" sz="1150" dirty="0"/>
          </a:p>
          <a:p>
            <a:pPr marL="177800" indent="-177800">
              <a:lnSpc>
                <a:spcPct val="108000"/>
              </a:lnSpc>
              <a:spcAft>
                <a:spcPts val="7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전체 LUTRAM의 약 58.7%가 Conv3×3에 집중</a:t>
            </a:r>
            <a:endParaRPr lang="en-US" sz="1150" dirty="0"/>
          </a:p>
          <a:p>
            <a:pPr marL="177800" indent="-177800">
              <a:lnSpc>
                <a:spcPct val="108000"/>
              </a:lnSpc>
              <a:spcAft>
                <a:spcPts val="7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Conv1×1 cv2도 4,096 LUTRAM 및 DSP 256 사용</a:t>
            </a:r>
            <a:endParaRPr lang="en-US" sz="1150" dirty="0"/>
          </a:p>
          <a:p>
            <a:pPr marL="177800" indent="-177800">
              <a:lnSpc>
                <a:spcPct val="108000"/>
              </a:lnSpc>
              <a:spcAft>
                <a:spcPts val="7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따라서 Clock만 변경해서는 라우팅 혼잡이 사라지지 않음</a:t>
            </a:r>
            <a:endParaRPr lang="en-US" sz="1150" dirty="0"/>
          </a:p>
        </p:txBody>
      </p:sp>
      <p:sp>
        <p:nvSpPr>
          <p:cNvPr id="12" name="Text 8"/>
          <p:cNvSpPr/>
          <p:nvPr/>
        </p:nvSpPr>
        <p:spPr>
          <a:xfrm>
            <a:off x="457200" y="6547104"/>
            <a:ext cx="9875520" cy="256032"/>
          </a:xfrm>
          <a:prstGeom prst="rect">
            <a:avLst/>
          </a:prstGeom>
          <a:noFill/>
          <a:ln/>
        </p:spPr>
        <p:txBody>
          <a:bodyPr wrap="square" rtlCol="0" anchor="ctr"/>
          <a:lstStyle/>
          <a:p>
            <a:pPr indent="0" marL="0">
              <a:buNone/>
            </a:pPr>
            <a:r>
              <a:rPr lang="en-US" sz="900" i="1" dirty="0">
                <a:solidFill>
                  <a:srgbClr val="5B6472"/>
                </a:solidFill>
                <a:latin typeface="맑은 고딕" pitchFamily="34" charset="0"/>
                <a:ea typeface="맑은 고딕" pitchFamily="34" charset="-122"/>
                <a:cs typeface="맑은 고딕" pitchFamily="34" charset="-120"/>
              </a:rPr>
              <a:t>출처: Vivado 2022.2 Utilization Report (IP별 Post-Synthesis)</a:t>
            </a:r>
            <a:endParaRPr lang="en-US" sz="900" dirty="0"/>
          </a:p>
        </p:txBody>
      </p:sp>
      <p:sp>
        <p:nvSpPr>
          <p:cNvPr id="13" name="Text 9"/>
          <p:cNvSpPr/>
          <p:nvPr/>
        </p:nvSpPr>
        <p:spPr>
          <a:xfrm>
            <a:off x="11064240" y="6547104"/>
            <a:ext cx="685800" cy="256032"/>
          </a:xfrm>
          <a:prstGeom prst="rect">
            <a:avLst/>
          </a:prstGeom>
          <a:noFill/>
          <a:ln/>
        </p:spPr>
        <p:txBody>
          <a:bodyPr wrap="square"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13 / 19</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472C4"/>
          </a:solidFill>
          <a:ln/>
        </p:spPr>
      </p:sp>
      <p:sp>
        <p:nvSpPr>
          <p:cNvPr id="3" name="Text 1"/>
          <p:cNvSpPr/>
          <p:nvPr/>
        </p:nvSpPr>
        <p:spPr>
          <a:xfrm>
            <a:off x="457200" y="182880"/>
            <a:ext cx="9875520" cy="566928"/>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Conv3×3 병목 원인과 개선 실험</a:t>
            </a:r>
            <a:endParaRPr lang="en-US" sz="2600" dirty="0"/>
          </a:p>
        </p:txBody>
      </p:sp>
      <p:sp>
        <p:nvSpPr>
          <p:cNvPr id="4" name="Text 2"/>
          <p:cNvSpPr/>
          <p:nvPr/>
        </p:nvSpPr>
        <p:spPr>
          <a:xfrm>
            <a:off x="10698480" y="73152"/>
            <a:ext cx="1234440" cy="731520"/>
          </a:xfrm>
          <a:prstGeom prst="rect">
            <a:avLst/>
          </a:prstGeom>
          <a:noFill/>
          <a:ln/>
        </p:spPr>
        <p:txBody>
          <a:bodyPr wrap="square" rtlCol="0" anchor="ctr"/>
          <a:lstStyle/>
          <a:p>
            <a:pPr algn="r" indent="0" marL="0">
              <a:buNone/>
            </a:pPr>
            <a:r>
              <a:rPr lang="en-US" sz="3000" b="1" dirty="0">
                <a:solidFill>
                  <a:srgbClr val="9BB3E8"/>
                </a:solidFill>
                <a:latin typeface="Calibri" pitchFamily="34" charset="0"/>
                <a:ea typeface="Calibri" pitchFamily="34" charset="-122"/>
                <a:cs typeface="Calibri" pitchFamily="34" charset="-120"/>
              </a:rPr>
              <a:t>14</a:t>
            </a:r>
            <a:endParaRPr lang="en-US" sz="3000" dirty="0"/>
          </a:p>
        </p:txBody>
      </p:sp>
      <p:sp>
        <p:nvSpPr>
          <p:cNvPr id="5" name="Shape 3"/>
          <p:cNvSpPr/>
          <p:nvPr/>
        </p:nvSpPr>
        <p:spPr>
          <a:xfrm>
            <a:off x="457200" y="1097280"/>
            <a:ext cx="82296" cy="310896"/>
          </a:xfrm>
          <a:prstGeom prst="rect">
            <a:avLst/>
          </a:prstGeom>
          <a:solidFill>
            <a:srgbClr val="4472C4"/>
          </a:solidFill>
          <a:ln/>
        </p:spPr>
      </p:sp>
      <p:sp>
        <p:nvSpPr>
          <p:cNvPr id="6" name="Text 4"/>
          <p:cNvSpPr/>
          <p:nvPr/>
        </p:nvSpPr>
        <p:spPr>
          <a:xfrm>
            <a:off x="621792" y="1069848"/>
            <a:ext cx="523036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기존 Conv3×3 구조</a:t>
            </a:r>
            <a:endParaRPr lang="en-US" sz="1600" dirty="0"/>
          </a:p>
        </p:txBody>
      </p:sp>
      <p:sp>
        <p:nvSpPr>
          <p:cNvPr id="7" name="Text 5"/>
          <p:cNvSpPr/>
          <p:nvPr/>
        </p:nvSpPr>
        <p:spPr>
          <a:xfrm>
            <a:off x="502920" y="1481328"/>
            <a:ext cx="5349240" cy="1920240"/>
          </a:xfrm>
          <a:prstGeom prst="rect">
            <a:avLst/>
          </a:prstGeom>
          <a:noFill/>
          <a:ln/>
        </p:spPr>
        <p:txBody>
          <a:bodyPr wrap="square" rtlCol="0" anchor="t"/>
          <a:lstStyle/>
          <a:p>
            <a:pPr marL="177800" indent="-177800">
              <a:lnSpc>
                <a:spcPct val="108000"/>
              </a:lnSpc>
              <a:spcAft>
                <a:spcPts val="7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IC_UF = 16 (입력 채널 16개 병렬 처리)</a:t>
            </a:r>
            <a:endParaRPr lang="en-US" sz="1250" dirty="0"/>
          </a:p>
          <a:p>
            <a:pPr marL="177800" indent="-177800">
              <a:lnSpc>
                <a:spcPct val="108000"/>
              </a:lnSpc>
              <a:spcAft>
                <a:spcPts val="7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3×3 kernel 중첩 loop 완전 UNROLL</a:t>
            </a:r>
            <a:endParaRPr lang="en-US" sz="1250" dirty="0"/>
          </a:p>
          <a:p>
            <a:pPr marL="177800" indent="-177800">
              <a:lnSpc>
                <a:spcPct val="108000"/>
              </a:lnSpc>
              <a:spcAft>
                <a:spcPts val="7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최대 16×3×3 = 144개 MAC 경로 동시 생성</a:t>
            </a:r>
            <a:endParaRPr lang="en-US" sz="1250" dirty="0"/>
          </a:p>
          <a:p>
            <a:pPr marL="177800" indent="-177800">
              <a:lnSpc>
                <a:spcPct val="108000"/>
              </a:lnSpc>
              <a:spcAft>
                <a:spcPts val="7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Weight memory 다중 partition</a:t>
            </a:r>
            <a:endParaRPr lang="en-US" sz="1250" dirty="0"/>
          </a:p>
          <a:p>
            <a:pPr marL="177800" indent="-177800">
              <a:lnSpc>
                <a:spcPct val="108000"/>
              </a:lnSpc>
              <a:spcAft>
                <a:spcPts val="700"/>
              </a:spcAft>
              <a:buSzPct val="100000"/>
              <a:buChar char="▪"/>
            </a:pPr>
            <a:r>
              <a:rPr lang="en-US" sz="1250" dirty="0">
                <a:solidFill>
                  <a:srgbClr val="1F2A37"/>
                </a:solidFill>
                <a:latin typeface="맑은 고딕" pitchFamily="34" charset="0"/>
                <a:ea typeface="맑은 고딕" pitchFamily="34" charset="-122"/>
                <a:cs typeface="맑은 고딕" pitchFamily="34" charset="-120"/>
              </a:rPr>
              <a:t>CS_MAIN 실제 Final II = 3</a:t>
            </a:r>
            <a:endParaRPr lang="en-US" sz="1250" dirty="0"/>
          </a:p>
        </p:txBody>
      </p:sp>
      <p:sp>
        <p:nvSpPr>
          <p:cNvPr id="8" name="Shape 6"/>
          <p:cNvSpPr/>
          <p:nvPr/>
        </p:nvSpPr>
        <p:spPr>
          <a:xfrm>
            <a:off x="457200" y="3566160"/>
            <a:ext cx="82296" cy="310896"/>
          </a:xfrm>
          <a:prstGeom prst="rect">
            <a:avLst/>
          </a:prstGeom>
          <a:solidFill>
            <a:srgbClr val="2F5597"/>
          </a:solidFill>
          <a:ln/>
        </p:spPr>
      </p:sp>
      <p:sp>
        <p:nvSpPr>
          <p:cNvPr id="9" name="Text 7"/>
          <p:cNvSpPr/>
          <p:nvPr/>
        </p:nvSpPr>
        <p:spPr>
          <a:xfrm>
            <a:off x="621792" y="3538728"/>
            <a:ext cx="523036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IC_UF=8 Route-fix 실험</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3950208"/>
          <a:ext cx="5394960" cy="914400"/>
        </p:xfrm>
        <a:graphic>
          <a:graphicData uri="http://schemas.openxmlformats.org/drawingml/2006/table">
            <a:tbl>
              <a:tblPr/>
              <a:tblGrid>
                <a:gridCol w="1234440"/>
                <a:gridCol w="1508760"/>
                <a:gridCol w="1417320"/>
                <a:gridCol w="1234440"/>
              </a:tblGrid>
              <a:tr h="265176">
                <a:tc>
                  <a:txBody>
                    <a:bodyPr/>
                    <a:lstStyle/>
                    <a:p>
                      <a:pPr algn="ctr" indent="0" marL="0">
                        <a:buNone/>
                      </a:pPr>
                      <a:r>
                        <a:rPr lang="en-US" sz="980" b="1" dirty="0">
                          <a:solidFill>
                            <a:srgbClr val="FFFFFF"/>
                          </a:solidFill>
                        </a:rPr>
                        <a:t>항목</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980" b="1" dirty="0">
                          <a:solidFill>
                            <a:srgbClr val="FFFFFF"/>
                          </a:solidFill>
                        </a:rPr>
                        <a:t>기존 IC_UF=16</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980" b="1" dirty="0">
                          <a:solidFill>
                            <a:srgbClr val="FFFFFF"/>
                          </a:solidFill>
                        </a:rPr>
                        <a:t>IC_UF=8 실험</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980" b="1" dirty="0">
                          <a:solidFill>
                            <a:srgbClr val="FFFFFF"/>
                          </a:solidFill>
                        </a:rPr>
                        <a:t>변화</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r>
              <a:tr h="265176">
                <a:tc>
                  <a:txBody>
                    <a:bodyPr/>
                    <a:lstStyle/>
                    <a:p>
                      <a:pPr algn="l" indent="0" marL="0">
                        <a:buNone/>
                      </a:pPr>
                      <a:r>
                        <a:rPr lang="en-US" sz="980" dirty="0">
                          <a:solidFill>
                            <a:srgbClr val="1F2A37"/>
                          </a:solidFill>
                        </a:rPr>
                        <a:t>LUT</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1F2A37"/>
                          </a:solidFill>
                        </a:rPr>
                        <a:t>37,886</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1F2A37"/>
                          </a:solidFill>
                        </a:rPr>
                        <a:t>30,450</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1F2A37"/>
                          </a:solidFill>
                        </a:rPr>
                        <a:t>7,436 감소</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265176">
                <a:tc>
                  <a:txBody>
                    <a:bodyPr/>
                    <a:lstStyle/>
                    <a:p>
                      <a:pPr algn="l" indent="0" marL="0">
                        <a:buNone/>
                      </a:pPr>
                      <a:r>
                        <a:rPr lang="en-US" sz="980" dirty="0">
                          <a:solidFill>
                            <a:srgbClr val="1F2A37"/>
                          </a:solidFill>
                        </a:rPr>
                        <a:t>BRAM18</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80" dirty="0">
                          <a:solidFill>
                            <a:srgbClr val="1F2A37"/>
                          </a:solidFill>
                        </a:rPr>
                        <a:t>72</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80" dirty="0">
                          <a:solidFill>
                            <a:srgbClr val="1F2A37"/>
                          </a:solidFill>
                        </a:rPr>
                        <a:t>36</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80" dirty="0">
                          <a:solidFill>
                            <a:srgbClr val="1F2A37"/>
                          </a:solidFill>
                        </a:rPr>
                        <a:t>50% 감소</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265176">
                <a:tc>
                  <a:txBody>
                    <a:bodyPr/>
                    <a:lstStyle/>
                    <a:p>
                      <a:pPr algn="l" indent="0" marL="0">
                        <a:buNone/>
                      </a:pPr>
                      <a:r>
                        <a:rPr lang="en-US" sz="980" dirty="0">
                          <a:solidFill>
                            <a:srgbClr val="1F2A37"/>
                          </a:solidFill>
                        </a:rPr>
                        <a:t>FF</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1F2A37"/>
                          </a:solidFill>
                        </a:rPr>
                        <a:t>42,256</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1F2A37"/>
                          </a:solidFill>
                        </a:rPr>
                        <a:t>43,379</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1F2A37"/>
                          </a:solidFill>
                        </a:rPr>
                        <a:t>소폭 증가</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265176">
                <a:tc>
                  <a:txBody>
                    <a:bodyPr/>
                    <a:lstStyle/>
                    <a:p>
                      <a:pPr algn="l" indent="0" marL="0">
                        <a:buNone/>
                      </a:pPr>
                      <a:r>
                        <a:rPr lang="en-US" sz="980" dirty="0">
                          <a:solidFill>
                            <a:srgbClr val="1F2A37"/>
                          </a:solidFill>
                        </a:rPr>
                        <a:t>DSP</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80" dirty="0">
                          <a:solidFill>
                            <a:srgbClr val="1F2A37"/>
                          </a:solidFill>
                        </a:rPr>
                        <a:t>335</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80" dirty="0">
                          <a:solidFill>
                            <a:srgbClr val="1F2A37"/>
                          </a:solidFill>
                        </a:rPr>
                        <a:t>519</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80" dirty="0">
                          <a:solidFill>
                            <a:srgbClr val="1F2A37"/>
                          </a:solidFill>
                        </a:rPr>
                        <a:t>증가</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265176">
                <a:tc>
                  <a:txBody>
                    <a:bodyPr/>
                    <a:lstStyle/>
                    <a:p>
                      <a:pPr algn="l" indent="0" marL="0">
                        <a:buNone/>
                      </a:pPr>
                      <a:r>
                        <a:rPr lang="en-US" sz="980" dirty="0">
                          <a:solidFill>
                            <a:srgbClr val="1F2A37"/>
                          </a:solidFill>
                        </a:rPr>
                        <a:t>Latency</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1F2A37"/>
                          </a:solidFill>
                        </a:rPr>
                        <a:t>약 12.288 ms</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1F2A37"/>
                          </a:solidFill>
                        </a:rPr>
                        <a:t>약 24.576 ms</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1F2A37"/>
                          </a:solidFill>
                        </a:rPr>
                        <a:t>약 2배</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265176">
                <a:tc>
                  <a:txBody>
                    <a:bodyPr/>
                    <a:lstStyle/>
                    <a:p>
                      <a:pPr algn="l" indent="0" marL="0">
                        <a:buNone/>
                      </a:pPr>
                      <a:r>
                        <a:rPr lang="en-US" sz="980" dirty="0">
                          <a:solidFill>
                            <a:srgbClr val="1F2A37"/>
                          </a:solidFill>
                        </a:rPr>
                        <a:t>Final II</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80" dirty="0">
                          <a:solidFill>
                            <a:srgbClr val="1F2A37"/>
                          </a:solidFill>
                        </a:rPr>
                        <a:t>3</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80" dirty="0">
                          <a:solidFill>
                            <a:srgbClr val="1F2A37"/>
                          </a:solidFill>
                        </a:rPr>
                        <a:t>3</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980" dirty="0">
                          <a:solidFill>
                            <a:srgbClr val="1F2A37"/>
                          </a:solidFill>
                        </a:rPr>
                        <a:t>동일</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265176">
                <a:tc>
                  <a:txBody>
                    <a:bodyPr/>
                    <a:lstStyle/>
                    <a:p>
                      <a:pPr algn="l" indent="0" marL="0">
                        <a:buNone/>
                      </a:pPr>
                      <a:r>
                        <a:rPr lang="en-US" sz="980" dirty="0">
                          <a:solidFill>
                            <a:srgbClr val="1F2A37"/>
                          </a:solidFill>
                        </a:rPr>
                        <a:t>CSim</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1F2A37"/>
                          </a:solidFill>
                        </a:rPr>
                        <a:t>PASS</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1F2A37"/>
                          </a:solidFill>
                        </a:rPr>
                        <a:t>PASS</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1F2A37"/>
                          </a:solidFill>
                        </a:rPr>
                        <a:t>기능 유지</a:t>
                      </a:r>
                      <a:endParaRPr lang="en-US" sz="98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bl>
          </a:graphicData>
        </a:graphic>
      </p:graphicFrame>
      <p:sp>
        <p:nvSpPr>
          <p:cNvPr id="11" name="Shape 8"/>
          <p:cNvSpPr/>
          <p:nvPr/>
        </p:nvSpPr>
        <p:spPr>
          <a:xfrm>
            <a:off x="6263640" y="1097280"/>
            <a:ext cx="82296" cy="310896"/>
          </a:xfrm>
          <a:prstGeom prst="rect">
            <a:avLst/>
          </a:prstGeom>
          <a:solidFill>
            <a:srgbClr val="2F5597"/>
          </a:solidFill>
          <a:ln/>
        </p:spPr>
      </p:sp>
      <p:sp>
        <p:nvSpPr>
          <p:cNvPr id="12" name="Text 9"/>
          <p:cNvSpPr/>
          <p:nvPr/>
        </p:nvSpPr>
        <p:spPr>
          <a:xfrm>
            <a:off x="6428232" y="1069848"/>
            <a:ext cx="527608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해석</a:t>
            </a:r>
            <a:endParaRPr lang="en-US" sz="1600" dirty="0"/>
          </a:p>
        </p:txBody>
      </p:sp>
      <p:sp>
        <p:nvSpPr>
          <p:cNvPr id="13" name="Text 10"/>
          <p:cNvSpPr/>
          <p:nvPr/>
        </p:nvSpPr>
        <p:spPr>
          <a:xfrm>
            <a:off x="6309360" y="1481328"/>
            <a:ext cx="5394960" cy="2103120"/>
          </a:xfrm>
          <a:prstGeom prst="rect">
            <a:avLst/>
          </a:prstGeom>
          <a:noFill/>
          <a:ln/>
        </p:spPr>
        <p:txBody>
          <a:bodyPr wrap="square" rtlCol="0" anchor="t"/>
          <a:lstStyle/>
          <a:p>
            <a:pPr marL="177800" indent="-177800">
              <a:lnSpc>
                <a:spcPct val="108000"/>
              </a:lnSpc>
              <a:spcAft>
                <a:spcPts val="10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병렬도를 낮추면 LUT/BRAM 및 라우팅 부담 감소</a:t>
            </a:r>
            <a:endParaRPr lang="en-US" sz="1300" dirty="0"/>
          </a:p>
          <a:p>
            <a:pPr marL="177800" indent="-177800">
              <a:lnSpc>
                <a:spcPct val="108000"/>
              </a:lnSpc>
              <a:spcAft>
                <a:spcPts val="10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단순 부분합 구조 때문에 DSP가 증가</a:t>
            </a:r>
            <a:endParaRPr lang="en-US" sz="1300" dirty="0"/>
          </a:p>
          <a:p>
            <a:pPr marL="177800" indent="-177800">
              <a:lnSpc>
                <a:spcPct val="108000"/>
              </a:lnSpc>
              <a:spcAft>
                <a:spcPts val="10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성능과 Routability 사이의 trade-off 발생</a:t>
            </a:r>
            <a:endParaRPr lang="en-US" sz="1300" dirty="0"/>
          </a:p>
          <a:p>
            <a:pPr marL="177800" indent="-177800">
              <a:lnSpc>
                <a:spcPct val="108000"/>
              </a:lnSpc>
              <a:spcAft>
                <a:spcPts val="1000"/>
              </a:spcAft>
              <a:buSzPct val="100000"/>
              <a:buChar char="▪"/>
            </a:pPr>
            <a:r>
              <a:rPr lang="en-US" sz="1300" dirty="0">
                <a:solidFill>
                  <a:srgbClr val="1F2A37"/>
                </a:solidFill>
                <a:latin typeface="맑은 고딕" pitchFamily="34" charset="0"/>
                <a:ea typeface="맑은 고딕" pitchFamily="34" charset="-122"/>
                <a:cs typeface="맑은 고딕" pitchFamily="34" charset="-120"/>
              </a:rPr>
              <a:t>최종 구조로 확정되지 않은 실험 후보</a:t>
            </a:r>
            <a:endParaRPr lang="en-US" sz="1300" dirty="0"/>
          </a:p>
        </p:txBody>
      </p:sp>
      <p:sp>
        <p:nvSpPr>
          <p:cNvPr id="14" name="Shape 11"/>
          <p:cNvSpPr/>
          <p:nvPr/>
        </p:nvSpPr>
        <p:spPr>
          <a:xfrm>
            <a:off x="6263640" y="3749040"/>
            <a:ext cx="5440680" cy="2286000"/>
          </a:xfrm>
          <a:prstGeom prst="rect">
            <a:avLst>
              <a:gd name="adj" fmla="val 2400"/>
            </a:avLst>
          </a:prstGeom>
          <a:solidFill>
            <a:srgbClr val="EFF3FB"/>
          </a:solidFill>
          <a:ln w="12700">
            <a:solidFill>
              <a:srgbClr val="D9E0EC"/>
            </a:solidFill>
            <a:prstDash val="solid"/>
          </a:ln>
        </p:spPr>
      </p:sp>
      <p:sp>
        <p:nvSpPr>
          <p:cNvPr id="15" name="Text 12"/>
          <p:cNvSpPr/>
          <p:nvPr/>
        </p:nvSpPr>
        <p:spPr>
          <a:xfrm>
            <a:off x="6492240" y="3749040"/>
            <a:ext cx="4983480" cy="2286000"/>
          </a:xfrm>
          <a:prstGeom prst="rect">
            <a:avLst/>
          </a:prstGeom>
          <a:noFill/>
          <a:ln/>
        </p:spPr>
        <p:txBody>
          <a:bodyPr wrap="square" rtlCol="0" anchor="ctr"/>
          <a:lstStyle/>
          <a:p>
            <a:pPr algn="l" indent="0" marL="0">
              <a:buNone/>
            </a:pPr>
            <a:r>
              <a:rPr lang="en-US" sz="1300" dirty="0">
                <a:solidFill>
                  <a:srgbClr val="1F3864"/>
                </a:solidFill>
                <a:latin typeface="맑은 고딕" pitchFamily="34" charset="0"/>
                <a:ea typeface="맑은 고딕" pitchFamily="34" charset="-122"/>
                <a:cs typeface="맑은 고딕" pitchFamily="34" charset="-120"/>
              </a:rPr>
              <a:t>병렬도를 16에서 8로 낮추자 LUT와 BRAM은 감소했지만,</a:t>
            </a:r>
            <a:endParaRPr lang="en-US" sz="1300" dirty="0"/>
          </a:p>
          <a:p>
            <a:pPr algn="l" indent="0" marL="0">
              <a:buNone/>
            </a:pPr>
            <a:r>
              <a:rPr lang="en-US" sz="1300" dirty="0">
                <a:solidFill>
                  <a:srgbClr val="1F3864"/>
                </a:solidFill>
                <a:latin typeface="맑은 고딕" pitchFamily="34" charset="0"/>
                <a:ea typeface="맑은 고딕" pitchFamily="34" charset="-122"/>
                <a:cs typeface="맑은 고딕" pitchFamily="34" charset="-120"/>
              </a:rPr>
              <a:t>8개의 부분합을 한 번에 DSP로 더하도록 구성하면서</a:t>
            </a:r>
            <a:endParaRPr lang="en-US" sz="1300" dirty="0"/>
          </a:p>
          <a:p>
            <a:pPr algn="l" indent="0" marL="0">
              <a:buNone/>
            </a:pPr>
            <a:r>
              <a:rPr lang="en-US" sz="1300" dirty="0">
                <a:solidFill>
                  <a:srgbClr val="1F3864"/>
                </a:solidFill>
                <a:latin typeface="맑은 고딕" pitchFamily="34" charset="0"/>
                <a:ea typeface="맑은 고딕" pitchFamily="34" charset="-122"/>
                <a:cs typeface="맑은 고딕" pitchFamily="34" charset="-120"/>
              </a:rPr>
              <a:t>DSP가 증가했고 지연시간도 두 배가 됐습니다. 기능은</a:t>
            </a:r>
            <a:endParaRPr lang="en-US" sz="1300" dirty="0"/>
          </a:p>
          <a:p>
            <a:pPr algn="l" indent="0" marL="0">
              <a:buNone/>
            </a:pPr>
            <a:r>
              <a:rPr lang="en-US" sz="1300" dirty="0">
                <a:solidFill>
                  <a:srgbClr val="1F3864"/>
                </a:solidFill>
                <a:latin typeface="맑은 고딕" pitchFamily="34" charset="0"/>
                <a:ea typeface="맑은 고딕" pitchFamily="34" charset="-122"/>
                <a:cs typeface="맑은 고딕" pitchFamily="34" charset="-120"/>
              </a:rPr>
              <a:t>통과했지만, 이 구조는 추가적인 adder tree와 누산 구조</a:t>
            </a:r>
            <a:endParaRPr lang="en-US" sz="1300" dirty="0"/>
          </a:p>
          <a:p>
            <a:pPr algn="l" indent="0" marL="0">
              <a:buNone/>
            </a:pPr>
            <a:r>
              <a:rPr lang="en-US" sz="1300" dirty="0">
                <a:solidFill>
                  <a:srgbClr val="1F3864"/>
                </a:solidFill>
                <a:latin typeface="맑은 고딕" pitchFamily="34" charset="0"/>
                <a:ea typeface="맑은 고딕" pitchFamily="34" charset="-122"/>
                <a:cs typeface="맑은 고딕" pitchFamily="34" charset="-120"/>
              </a:rPr>
              <a:t>개선이 필요합니다.</a:t>
            </a:r>
            <a:endParaRPr lang="en-US" sz="1300" dirty="0"/>
          </a:p>
        </p:txBody>
      </p:sp>
      <p:sp>
        <p:nvSpPr>
          <p:cNvPr id="16" name="Text 13"/>
          <p:cNvSpPr/>
          <p:nvPr/>
        </p:nvSpPr>
        <p:spPr>
          <a:xfrm>
            <a:off x="457200" y="6547104"/>
            <a:ext cx="9875520" cy="256032"/>
          </a:xfrm>
          <a:prstGeom prst="rect">
            <a:avLst/>
          </a:prstGeom>
          <a:noFill/>
          <a:ln/>
        </p:spPr>
        <p:txBody>
          <a:bodyPr wrap="square" rtlCol="0" anchor="ctr"/>
          <a:lstStyle/>
          <a:p>
            <a:pPr indent="0" marL="0">
              <a:buNone/>
            </a:pPr>
            <a:r>
              <a:rPr lang="en-US" sz="900" i="1" dirty="0">
                <a:solidFill>
                  <a:srgbClr val="5B6472"/>
                </a:solidFill>
                <a:latin typeface="맑은 고딕" pitchFamily="34" charset="0"/>
                <a:ea typeface="맑은 고딕" pitchFamily="34" charset="-122"/>
                <a:cs typeface="맑은 고딕" pitchFamily="34" charset="-120"/>
              </a:rPr>
              <a:t>출처: Vitis HLS 2022.2 Synthesis Report (IC_UF 병렬도 비교 실험)</a:t>
            </a:r>
            <a:endParaRPr lang="en-US" sz="900" dirty="0"/>
          </a:p>
        </p:txBody>
      </p:sp>
      <p:sp>
        <p:nvSpPr>
          <p:cNvPr id="17" name="Text 14"/>
          <p:cNvSpPr/>
          <p:nvPr/>
        </p:nvSpPr>
        <p:spPr>
          <a:xfrm>
            <a:off x="11064240" y="6547104"/>
            <a:ext cx="685800" cy="256032"/>
          </a:xfrm>
          <a:prstGeom prst="rect">
            <a:avLst/>
          </a:prstGeom>
          <a:noFill/>
          <a:ln/>
        </p:spPr>
        <p:txBody>
          <a:bodyPr wrap="square"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14 / 19</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472C4"/>
          </a:solidFill>
          <a:ln/>
        </p:spPr>
      </p:sp>
      <p:sp>
        <p:nvSpPr>
          <p:cNvPr id="3" name="Text 1"/>
          <p:cNvSpPr/>
          <p:nvPr/>
        </p:nvSpPr>
        <p:spPr>
          <a:xfrm>
            <a:off x="457200" y="182880"/>
            <a:ext cx="9875520" cy="566928"/>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Clock / Reset 구조 개선</a:t>
            </a:r>
            <a:endParaRPr lang="en-US" sz="2600" dirty="0"/>
          </a:p>
        </p:txBody>
      </p:sp>
      <p:sp>
        <p:nvSpPr>
          <p:cNvPr id="4" name="Text 2"/>
          <p:cNvSpPr/>
          <p:nvPr/>
        </p:nvSpPr>
        <p:spPr>
          <a:xfrm>
            <a:off x="10698480" y="73152"/>
            <a:ext cx="1234440" cy="731520"/>
          </a:xfrm>
          <a:prstGeom prst="rect">
            <a:avLst/>
          </a:prstGeom>
          <a:noFill/>
          <a:ln/>
        </p:spPr>
        <p:txBody>
          <a:bodyPr wrap="square" rtlCol="0" anchor="ctr"/>
          <a:lstStyle/>
          <a:p>
            <a:pPr algn="r" indent="0" marL="0">
              <a:buNone/>
            </a:pPr>
            <a:r>
              <a:rPr lang="en-US" sz="3000" b="1" dirty="0">
                <a:solidFill>
                  <a:srgbClr val="9BB3E8"/>
                </a:solidFill>
                <a:latin typeface="Calibri" pitchFamily="34" charset="0"/>
                <a:ea typeface="Calibri" pitchFamily="34" charset="-122"/>
                <a:cs typeface="Calibri" pitchFamily="34" charset="-120"/>
              </a:rPr>
              <a:t>15</a:t>
            </a:r>
            <a:endParaRPr lang="en-US" sz="3000" dirty="0"/>
          </a:p>
        </p:txBody>
      </p:sp>
      <p:sp>
        <p:nvSpPr>
          <p:cNvPr id="5" name="Shape 3"/>
          <p:cNvSpPr/>
          <p:nvPr/>
        </p:nvSpPr>
        <p:spPr>
          <a:xfrm>
            <a:off x="457200" y="1097280"/>
            <a:ext cx="82296" cy="310896"/>
          </a:xfrm>
          <a:prstGeom prst="rect">
            <a:avLst/>
          </a:prstGeom>
          <a:solidFill>
            <a:srgbClr val="4472C4"/>
          </a:solidFill>
          <a:ln/>
        </p:spPr>
      </p:sp>
      <p:sp>
        <p:nvSpPr>
          <p:cNvPr id="6" name="Text 4"/>
          <p:cNvSpPr/>
          <p:nvPr/>
        </p:nvSpPr>
        <p:spPr>
          <a:xfrm>
            <a:off x="621792" y="1069848"/>
            <a:ext cx="568756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교수님 피드백 반영</a:t>
            </a:r>
            <a:endParaRPr lang="en-US" sz="1600" dirty="0"/>
          </a:p>
        </p:txBody>
      </p:sp>
      <p:sp>
        <p:nvSpPr>
          <p:cNvPr id="7" name="Shape 5"/>
          <p:cNvSpPr/>
          <p:nvPr/>
        </p:nvSpPr>
        <p:spPr>
          <a:xfrm>
            <a:off x="548640" y="1508760"/>
            <a:ext cx="2377440" cy="457200"/>
          </a:xfrm>
          <a:prstGeom prst="roundRect">
            <a:avLst>
              <a:gd name="adj" fmla="val 12000"/>
            </a:avLst>
          </a:prstGeom>
          <a:solidFill>
            <a:srgbClr val="5B6472"/>
          </a:solidFill>
          <a:ln w="15875">
            <a:solidFill>
              <a:srgbClr val="5B6472"/>
            </a:solidFill>
            <a:prstDash val="solid"/>
          </a:ln>
        </p:spPr>
      </p:sp>
      <p:sp>
        <p:nvSpPr>
          <p:cNvPr id="8" name="Text 6"/>
          <p:cNvSpPr/>
          <p:nvPr/>
        </p:nvSpPr>
        <p:spPr>
          <a:xfrm>
            <a:off x="576072" y="1536192"/>
            <a:ext cx="2322576" cy="402336"/>
          </a:xfrm>
          <a:prstGeom prst="rect">
            <a:avLst/>
          </a:prstGeom>
          <a:noFill/>
          <a:ln/>
        </p:spPr>
        <p:txBody>
          <a:bodyPr wrap="square" rtlCol="0" anchor="ctr"/>
          <a:lstStyle/>
          <a:p>
            <a:pPr algn="ctr" indent="0" marL="0">
              <a:lnSpc>
                <a:spcPct val="100000"/>
              </a:lnSpc>
              <a:buNone/>
            </a:pPr>
            <a:r>
              <a:rPr lang="en-US" sz="1050" b="1" dirty="0">
                <a:solidFill>
                  <a:srgbClr val="FFFFFF"/>
                </a:solidFill>
                <a:latin typeface="맑은 고딕" pitchFamily="34" charset="0"/>
                <a:ea typeface="맑은 고딕" pitchFamily="34" charset="-122"/>
                <a:cs typeface="맑은 고딕" pitchFamily="34" charset="-120"/>
              </a:rPr>
              <a:t>Zynq PS</a:t>
            </a:r>
            <a:endParaRPr lang="en-US" sz="1050" dirty="0"/>
          </a:p>
          <a:p>
            <a:pPr algn="ctr" indent="0" marL="0">
              <a:lnSpc>
                <a:spcPct val="100000"/>
              </a:lnSpc>
              <a:buNone/>
            </a:pPr>
            <a:r>
              <a:rPr lang="en-US" sz="1050" b="1" dirty="0">
                <a:solidFill>
                  <a:srgbClr val="FFFFFF"/>
                </a:solidFill>
                <a:latin typeface="맑은 고딕" pitchFamily="34" charset="0"/>
                <a:ea typeface="맑은 고딕" pitchFamily="34" charset="-122"/>
                <a:cs typeface="맑은 고딕" pitchFamily="34" charset="-120"/>
              </a:rPr>
              <a:t>pl_clk0 = 100 MHz</a:t>
            </a:r>
            <a:endParaRPr lang="en-US" sz="1050" dirty="0"/>
          </a:p>
        </p:txBody>
      </p:sp>
      <p:sp>
        <p:nvSpPr>
          <p:cNvPr id="9" name="Shape 7"/>
          <p:cNvSpPr/>
          <p:nvPr/>
        </p:nvSpPr>
        <p:spPr>
          <a:xfrm>
            <a:off x="1737360" y="1965960"/>
            <a:ext cx="914" cy="274320"/>
          </a:xfrm>
          <a:prstGeom prst="line">
            <a:avLst/>
          </a:prstGeom>
          <a:noFill/>
          <a:ln w="19050">
            <a:solidFill>
              <a:srgbClr val="8C93A3"/>
            </a:solidFill>
            <a:prstDash val="solid"/>
            <a:tailEnd type="triangle"/>
          </a:ln>
        </p:spPr>
      </p:sp>
      <p:sp>
        <p:nvSpPr>
          <p:cNvPr id="10" name="Shape 8"/>
          <p:cNvSpPr/>
          <p:nvPr/>
        </p:nvSpPr>
        <p:spPr>
          <a:xfrm>
            <a:off x="548640" y="2240280"/>
            <a:ext cx="2377440" cy="457200"/>
          </a:xfrm>
          <a:prstGeom prst="roundRect">
            <a:avLst>
              <a:gd name="adj" fmla="val 12000"/>
            </a:avLst>
          </a:prstGeom>
          <a:solidFill>
            <a:srgbClr val="2F5597"/>
          </a:solidFill>
          <a:ln w="15875">
            <a:solidFill>
              <a:srgbClr val="2F5597"/>
            </a:solidFill>
            <a:prstDash val="solid"/>
          </a:ln>
        </p:spPr>
      </p:sp>
      <p:sp>
        <p:nvSpPr>
          <p:cNvPr id="11" name="Text 9"/>
          <p:cNvSpPr/>
          <p:nvPr/>
        </p:nvSpPr>
        <p:spPr>
          <a:xfrm>
            <a:off x="576072" y="2267712"/>
            <a:ext cx="2322576" cy="402336"/>
          </a:xfrm>
          <a:prstGeom prst="rect">
            <a:avLst/>
          </a:prstGeom>
          <a:noFill/>
          <a:ln/>
        </p:spPr>
        <p:txBody>
          <a:bodyPr wrap="square" rtlCol="0" anchor="ctr"/>
          <a:lstStyle/>
          <a:p>
            <a:pPr algn="ctr" indent="0" marL="0">
              <a:lnSpc>
                <a:spcPct val="100000"/>
              </a:lnSpc>
              <a:buNone/>
            </a:pPr>
            <a:r>
              <a:rPr lang="en-US" sz="1150" b="1" dirty="0">
                <a:solidFill>
                  <a:srgbClr val="FFFFFF"/>
                </a:solidFill>
                <a:latin typeface="맑은 고딕" pitchFamily="34" charset="0"/>
                <a:ea typeface="맑은 고딕" pitchFamily="34" charset="-122"/>
                <a:cs typeface="맑은 고딕" pitchFamily="34" charset="-120"/>
              </a:rPr>
              <a:t>Clock Wizard</a:t>
            </a:r>
            <a:endParaRPr lang="en-US" sz="1150" dirty="0"/>
          </a:p>
        </p:txBody>
      </p:sp>
      <p:sp>
        <p:nvSpPr>
          <p:cNvPr id="12" name="Shape 10"/>
          <p:cNvSpPr/>
          <p:nvPr/>
        </p:nvSpPr>
        <p:spPr>
          <a:xfrm flipH="1">
            <a:off x="1051560" y="2697480"/>
            <a:ext cx="685800" cy="320040"/>
          </a:xfrm>
          <a:prstGeom prst="line">
            <a:avLst/>
          </a:prstGeom>
          <a:noFill/>
          <a:ln w="19050">
            <a:solidFill>
              <a:srgbClr val="8C93A3"/>
            </a:solidFill>
            <a:prstDash val="solid"/>
            <a:tailEnd type="triangle"/>
          </a:ln>
        </p:spPr>
      </p:sp>
      <p:sp>
        <p:nvSpPr>
          <p:cNvPr id="13" name="Shape 11"/>
          <p:cNvSpPr/>
          <p:nvPr/>
        </p:nvSpPr>
        <p:spPr>
          <a:xfrm>
            <a:off x="1737360" y="2697480"/>
            <a:ext cx="685800" cy="320040"/>
          </a:xfrm>
          <a:prstGeom prst="line">
            <a:avLst/>
          </a:prstGeom>
          <a:noFill/>
          <a:ln w="19050">
            <a:solidFill>
              <a:srgbClr val="8C93A3"/>
            </a:solidFill>
            <a:prstDash val="solid"/>
            <a:tailEnd type="triangle"/>
          </a:ln>
        </p:spPr>
      </p:sp>
      <p:sp>
        <p:nvSpPr>
          <p:cNvPr id="14" name="Shape 12"/>
          <p:cNvSpPr/>
          <p:nvPr/>
        </p:nvSpPr>
        <p:spPr>
          <a:xfrm>
            <a:off x="320040" y="3017520"/>
            <a:ext cx="1463040" cy="420624"/>
          </a:xfrm>
          <a:prstGeom prst="roundRect">
            <a:avLst>
              <a:gd name="adj" fmla="val 13043"/>
            </a:avLst>
          </a:prstGeom>
          <a:solidFill>
            <a:srgbClr val="44546A"/>
          </a:solidFill>
          <a:ln w="15875">
            <a:solidFill>
              <a:srgbClr val="44546A"/>
            </a:solidFill>
            <a:prstDash val="solid"/>
          </a:ln>
        </p:spPr>
      </p:sp>
      <p:sp>
        <p:nvSpPr>
          <p:cNvPr id="15" name="Text 13"/>
          <p:cNvSpPr/>
          <p:nvPr/>
        </p:nvSpPr>
        <p:spPr>
          <a:xfrm>
            <a:off x="347472" y="3044952"/>
            <a:ext cx="1408176" cy="365760"/>
          </a:xfrm>
          <a:prstGeom prst="rect">
            <a:avLst/>
          </a:prstGeom>
          <a:noFill/>
          <a:ln/>
        </p:spPr>
        <p:txBody>
          <a:bodyPr wrap="square" rtlCol="0" anchor="ctr"/>
          <a:lstStyle/>
          <a:p>
            <a:pPr algn="ctr" indent="0" marL="0">
              <a:lnSpc>
                <a:spcPct val="100000"/>
              </a:lnSpc>
              <a:buNone/>
            </a:pPr>
            <a:r>
              <a:rPr lang="en-US" sz="1050" b="1" dirty="0">
                <a:solidFill>
                  <a:srgbClr val="FFFFFF"/>
                </a:solidFill>
                <a:latin typeface="맑은 고딕" pitchFamily="34" charset="0"/>
                <a:ea typeface="맑은 고딕" pitchFamily="34" charset="-122"/>
                <a:cs typeface="맑은 고딕" pitchFamily="34" charset="-120"/>
              </a:rPr>
              <a:t>150 MHz</a:t>
            </a:r>
            <a:endParaRPr lang="en-US" sz="1050" dirty="0"/>
          </a:p>
        </p:txBody>
      </p:sp>
      <p:sp>
        <p:nvSpPr>
          <p:cNvPr id="16" name="Shape 14"/>
          <p:cNvSpPr/>
          <p:nvPr/>
        </p:nvSpPr>
        <p:spPr>
          <a:xfrm>
            <a:off x="1965960" y="3017520"/>
            <a:ext cx="1463040" cy="420624"/>
          </a:xfrm>
          <a:prstGeom prst="roundRect">
            <a:avLst>
              <a:gd name="adj" fmla="val 13043"/>
            </a:avLst>
          </a:prstGeom>
          <a:solidFill>
            <a:srgbClr val="44546A"/>
          </a:solidFill>
          <a:ln w="15875">
            <a:solidFill>
              <a:srgbClr val="44546A"/>
            </a:solidFill>
            <a:prstDash val="solid"/>
          </a:ln>
        </p:spPr>
      </p:sp>
      <p:sp>
        <p:nvSpPr>
          <p:cNvPr id="17" name="Text 15"/>
          <p:cNvSpPr/>
          <p:nvPr/>
        </p:nvSpPr>
        <p:spPr>
          <a:xfrm>
            <a:off x="1993392" y="3044952"/>
            <a:ext cx="1408176" cy="365760"/>
          </a:xfrm>
          <a:prstGeom prst="rect">
            <a:avLst/>
          </a:prstGeom>
          <a:noFill/>
          <a:ln/>
        </p:spPr>
        <p:txBody>
          <a:bodyPr wrap="square" rtlCol="0" anchor="ctr"/>
          <a:lstStyle/>
          <a:p>
            <a:pPr algn="ctr" indent="0" marL="0">
              <a:lnSpc>
                <a:spcPct val="100000"/>
              </a:lnSpc>
              <a:buNone/>
            </a:pPr>
            <a:r>
              <a:rPr lang="en-US" sz="1050" b="1" dirty="0">
                <a:solidFill>
                  <a:srgbClr val="FFFFFF"/>
                </a:solidFill>
                <a:latin typeface="맑은 고딕" pitchFamily="34" charset="0"/>
                <a:ea typeface="맑은 고딕" pitchFamily="34" charset="-122"/>
                <a:cs typeface="맑은 고딕" pitchFamily="34" charset="-120"/>
              </a:rPr>
              <a:t>300 MHz</a:t>
            </a:r>
            <a:endParaRPr lang="en-US" sz="1050" dirty="0"/>
          </a:p>
        </p:txBody>
      </p:sp>
      <p:sp>
        <p:nvSpPr>
          <p:cNvPr id="18" name="Shape 16"/>
          <p:cNvSpPr/>
          <p:nvPr/>
        </p:nvSpPr>
        <p:spPr>
          <a:xfrm>
            <a:off x="1051560" y="3438144"/>
            <a:ext cx="914" cy="274320"/>
          </a:xfrm>
          <a:prstGeom prst="line">
            <a:avLst/>
          </a:prstGeom>
          <a:noFill/>
          <a:ln w="19050">
            <a:solidFill>
              <a:srgbClr val="8C93A3"/>
            </a:solidFill>
            <a:prstDash val="solid"/>
            <a:tailEnd type="triangle"/>
          </a:ln>
        </p:spPr>
      </p:sp>
      <p:sp>
        <p:nvSpPr>
          <p:cNvPr id="19" name="Shape 17"/>
          <p:cNvSpPr/>
          <p:nvPr/>
        </p:nvSpPr>
        <p:spPr>
          <a:xfrm>
            <a:off x="2697480" y="3438144"/>
            <a:ext cx="914" cy="274320"/>
          </a:xfrm>
          <a:prstGeom prst="line">
            <a:avLst/>
          </a:prstGeom>
          <a:noFill/>
          <a:ln w="19050">
            <a:solidFill>
              <a:srgbClr val="8C93A3"/>
            </a:solidFill>
            <a:prstDash val="solid"/>
            <a:tailEnd type="triangle"/>
          </a:ln>
        </p:spPr>
      </p:sp>
      <p:sp>
        <p:nvSpPr>
          <p:cNvPr id="20" name="Shape 18"/>
          <p:cNvSpPr/>
          <p:nvPr/>
        </p:nvSpPr>
        <p:spPr>
          <a:xfrm>
            <a:off x="320040" y="3712464"/>
            <a:ext cx="1463040" cy="457200"/>
          </a:xfrm>
          <a:prstGeom prst="roundRect">
            <a:avLst>
              <a:gd name="adj" fmla="val 12000"/>
            </a:avLst>
          </a:prstGeom>
          <a:solidFill>
            <a:srgbClr val="ED7D31"/>
          </a:solidFill>
          <a:ln w="15875">
            <a:solidFill>
              <a:srgbClr val="ED7D31"/>
            </a:solidFill>
            <a:prstDash val="solid"/>
          </a:ln>
        </p:spPr>
      </p:sp>
      <p:sp>
        <p:nvSpPr>
          <p:cNvPr id="21" name="Text 19"/>
          <p:cNvSpPr/>
          <p:nvPr/>
        </p:nvSpPr>
        <p:spPr>
          <a:xfrm>
            <a:off x="347472" y="3739896"/>
            <a:ext cx="1408176" cy="402336"/>
          </a:xfrm>
          <a:prstGeom prst="rect">
            <a:avLst/>
          </a:prstGeom>
          <a:noFill/>
          <a:ln/>
        </p:spPr>
        <p:txBody>
          <a:bodyPr wrap="square" rtlCol="0" anchor="ctr"/>
          <a:lstStyle/>
          <a:p>
            <a:pPr algn="ctr" indent="0" marL="0">
              <a:lnSpc>
                <a:spcPct val="100000"/>
              </a:lnSpc>
              <a:buNone/>
            </a:pPr>
            <a:r>
              <a:rPr lang="en-US" sz="900" b="1" dirty="0">
                <a:solidFill>
                  <a:srgbClr val="FFFFFF"/>
                </a:solidFill>
                <a:latin typeface="맑은 고딕" pitchFamily="34" charset="0"/>
                <a:ea typeface="맑은 고딕" pitchFamily="34" charset="-122"/>
                <a:cs typeface="맑은 고딕" pitchFamily="34" charset="-120"/>
              </a:rPr>
              <a:t>Processor System</a:t>
            </a:r>
            <a:endParaRPr lang="en-US" sz="900" dirty="0"/>
          </a:p>
          <a:p>
            <a:pPr algn="ctr" indent="0" marL="0">
              <a:lnSpc>
                <a:spcPct val="100000"/>
              </a:lnSpc>
              <a:buNone/>
            </a:pPr>
            <a:r>
              <a:rPr lang="en-US" sz="900" b="1" dirty="0">
                <a:solidFill>
                  <a:srgbClr val="FFFFFF"/>
                </a:solidFill>
                <a:latin typeface="맑은 고딕" pitchFamily="34" charset="0"/>
                <a:ea typeface="맑은 고딕" pitchFamily="34" charset="-122"/>
                <a:cs typeface="맑은 고딕" pitchFamily="34" charset="-120"/>
              </a:rPr>
              <a:t>Reset 150</a:t>
            </a:r>
            <a:endParaRPr lang="en-US" sz="900" dirty="0"/>
          </a:p>
        </p:txBody>
      </p:sp>
      <p:sp>
        <p:nvSpPr>
          <p:cNvPr id="22" name="Shape 20"/>
          <p:cNvSpPr/>
          <p:nvPr/>
        </p:nvSpPr>
        <p:spPr>
          <a:xfrm>
            <a:off x="1965960" y="3712464"/>
            <a:ext cx="1463040" cy="457200"/>
          </a:xfrm>
          <a:prstGeom prst="roundRect">
            <a:avLst>
              <a:gd name="adj" fmla="val 12000"/>
            </a:avLst>
          </a:prstGeom>
          <a:solidFill>
            <a:srgbClr val="ED7D31"/>
          </a:solidFill>
          <a:ln w="15875">
            <a:solidFill>
              <a:srgbClr val="ED7D31"/>
            </a:solidFill>
            <a:prstDash val="solid"/>
          </a:ln>
        </p:spPr>
      </p:sp>
      <p:sp>
        <p:nvSpPr>
          <p:cNvPr id="23" name="Text 21"/>
          <p:cNvSpPr/>
          <p:nvPr/>
        </p:nvSpPr>
        <p:spPr>
          <a:xfrm>
            <a:off x="1993392" y="3739896"/>
            <a:ext cx="1408176" cy="402336"/>
          </a:xfrm>
          <a:prstGeom prst="rect">
            <a:avLst/>
          </a:prstGeom>
          <a:noFill/>
          <a:ln/>
        </p:spPr>
        <p:txBody>
          <a:bodyPr wrap="square" rtlCol="0" anchor="ctr"/>
          <a:lstStyle/>
          <a:p>
            <a:pPr algn="ctr" indent="0" marL="0">
              <a:lnSpc>
                <a:spcPct val="100000"/>
              </a:lnSpc>
              <a:buNone/>
            </a:pPr>
            <a:r>
              <a:rPr lang="en-US" sz="900" b="1" dirty="0">
                <a:solidFill>
                  <a:srgbClr val="FFFFFF"/>
                </a:solidFill>
                <a:latin typeface="맑은 고딕" pitchFamily="34" charset="0"/>
                <a:ea typeface="맑은 고딕" pitchFamily="34" charset="-122"/>
                <a:cs typeface="맑은 고딕" pitchFamily="34" charset="-120"/>
              </a:rPr>
              <a:t>Processor System</a:t>
            </a:r>
            <a:endParaRPr lang="en-US" sz="900" dirty="0"/>
          </a:p>
          <a:p>
            <a:pPr algn="ctr" indent="0" marL="0">
              <a:lnSpc>
                <a:spcPct val="100000"/>
              </a:lnSpc>
              <a:buNone/>
            </a:pPr>
            <a:r>
              <a:rPr lang="en-US" sz="900" b="1" dirty="0">
                <a:solidFill>
                  <a:srgbClr val="FFFFFF"/>
                </a:solidFill>
                <a:latin typeface="맑은 고딕" pitchFamily="34" charset="0"/>
                <a:ea typeface="맑은 고딕" pitchFamily="34" charset="-122"/>
                <a:cs typeface="맑은 고딕" pitchFamily="34" charset="-120"/>
              </a:rPr>
              <a:t>Reset 300</a:t>
            </a:r>
            <a:endParaRPr lang="en-US" sz="900" dirty="0"/>
          </a:p>
        </p:txBody>
      </p:sp>
      <p:sp>
        <p:nvSpPr>
          <p:cNvPr id="24" name="Text 22"/>
          <p:cNvSpPr/>
          <p:nvPr/>
        </p:nvSpPr>
        <p:spPr>
          <a:xfrm>
            <a:off x="3520440" y="1508760"/>
            <a:ext cx="2880360" cy="2743200"/>
          </a:xfrm>
          <a:prstGeom prst="rect">
            <a:avLst/>
          </a:prstGeom>
          <a:noFill/>
          <a:ln/>
        </p:spPr>
        <p:txBody>
          <a:bodyPr wrap="square" rtlCol="0" anchor="t"/>
          <a:lstStyle/>
          <a:p>
            <a:pPr marL="177800" indent="-177800">
              <a:lnSpc>
                <a:spcPct val="108000"/>
              </a:lnSpc>
              <a:spcAft>
                <a:spcPts val="800"/>
              </a:spcAft>
              <a:buSzPct val="100000"/>
              <a:buChar char="▪"/>
            </a:pPr>
            <a:r>
              <a:rPr lang="en-US" sz="1100" dirty="0">
                <a:solidFill>
                  <a:srgbClr val="1F2A37"/>
                </a:solidFill>
                <a:latin typeface="맑은 고딕" pitchFamily="34" charset="0"/>
                <a:ea typeface="맑은 고딕" pitchFamily="34" charset="-122"/>
                <a:cs typeface="맑은 고딕" pitchFamily="34" charset="-120"/>
              </a:rPr>
              <a:t>PS pl_resetn0 → Clock Wizard resetn (Active Low)</a:t>
            </a:r>
            <a:endParaRPr lang="en-US" sz="1100" dirty="0"/>
          </a:p>
          <a:p>
            <a:pPr marL="177800" indent="-177800">
              <a:lnSpc>
                <a:spcPct val="108000"/>
              </a:lnSpc>
              <a:spcAft>
                <a:spcPts val="800"/>
              </a:spcAft>
              <a:buSzPct val="100000"/>
              <a:buChar char="▪"/>
            </a:pPr>
            <a:r>
              <a:rPr lang="en-US" sz="1100" dirty="0">
                <a:solidFill>
                  <a:srgbClr val="1F2A37"/>
                </a:solidFill>
                <a:latin typeface="맑은 고딕" pitchFamily="34" charset="0"/>
                <a:ea typeface="맑은 고딕" pitchFamily="34" charset="-122"/>
                <a:cs typeface="맑은 고딕" pitchFamily="34" charset="-120"/>
              </a:rPr>
              <a:t>Clock Wizard locked → Reset150 dcm_locked</a:t>
            </a:r>
            <a:endParaRPr lang="en-US" sz="1100" dirty="0"/>
          </a:p>
          <a:p>
            <a:pPr marL="177800" indent="-177800">
              <a:lnSpc>
                <a:spcPct val="108000"/>
              </a:lnSpc>
              <a:spcAft>
                <a:spcPts val="800"/>
              </a:spcAft>
              <a:buSzPct val="100000"/>
              <a:buChar char="▪"/>
            </a:pPr>
            <a:r>
              <a:rPr lang="en-US" sz="1100" dirty="0">
                <a:solidFill>
                  <a:srgbClr val="1F2A37"/>
                </a:solidFill>
                <a:latin typeface="맑은 고딕" pitchFamily="34" charset="0"/>
                <a:ea typeface="맑은 고딕" pitchFamily="34" charset="-122"/>
                <a:cs typeface="맑은 고딕" pitchFamily="34" charset="-120"/>
              </a:rPr>
              <a:t>→ Reset300 dcm_locked</a:t>
            </a:r>
            <a:endParaRPr lang="en-US" sz="1100" dirty="0"/>
          </a:p>
        </p:txBody>
      </p:sp>
      <p:sp>
        <p:nvSpPr>
          <p:cNvPr id="25" name="Shape 23"/>
          <p:cNvSpPr/>
          <p:nvPr/>
        </p:nvSpPr>
        <p:spPr>
          <a:xfrm>
            <a:off x="457200" y="4343400"/>
            <a:ext cx="82296" cy="310896"/>
          </a:xfrm>
          <a:prstGeom prst="rect">
            <a:avLst/>
          </a:prstGeom>
          <a:solidFill>
            <a:srgbClr val="2F5597"/>
          </a:solidFill>
          <a:ln/>
        </p:spPr>
      </p:sp>
      <p:sp>
        <p:nvSpPr>
          <p:cNvPr id="26" name="Text 24"/>
          <p:cNvSpPr/>
          <p:nvPr/>
        </p:nvSpPr>
        <p:spPr>
          <a:xfrm>
            <a:off x="621792" y="4315968"/>
            <a:ext cx="568756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현재 적용 내용</a:t>
            </a:r>
            <a:endParaRPr lang="en-US" sz="1600" dirty="0"/>
          </a:p>
        </p:txBody>
      </p:sp>
      <p:sp>
        <p:nvSpPr>
          <p:cNvPr id="27" name="Text 25"/>
          <p:cNvSpPr/>
          <p:nvPr/>
        </p:nvSpPr>
        <p:spPr>
          <a:xfrm>
            <a:off x="502920" y="4709160"/>
            <a:ext cx="5806440" cy="1737360"/>
          </a:xfrm>
          <a:prstGeom prst="rect">
            <a:avLst/>
          </a:prstGeom>
          <a:noFill/>
          <a:ln/>
        </p:spPr>
        <p:txBody>
          <a:bodyPr wrap="square" rtlCol="0" anchor="t"/>
          <a:lstStyle/>
          <a:p>
            <a:pPr marL="177800" indent="-177800">
              <a:lnSpc>
                <a:spcPct val="108000"/>
              </a:lnSpc>
              <a:spcAft>
                <a:spcPts val="6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Clock Wizard 입력 100MHz → 출력 150/300MHz · Reset type: ACTIVE_LOW</a:t>
            </a:r>
            <a:endParaRPr lang="en-US" sz="1150" dirty="0"/>
          </a:p>
          <a:p>
            <a:pPr marL="177800" indent="-177800">
              <a:lnSpc>
                <a:spcPct val="108000"/>
              </a:lnSpc>
              <a:spcAft>
                <a:spcPts val="6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두 출력의 Processor System Reset 생성, locked 신호를 dcm_locked에 연결</a:t>
            </a:r>
            <a:endParaRPr lang="en-US" sz="1150" dirty="0"/>
          </a:p>
          <a:p>
            <a:pPr marL="177800" indent="-177800">
              <a:lnSpc>
                <a:spcPct val="108000"/>
              </a:lnSpc>
              <a:spcAft>
                <a:spcPts val="6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Platform Setup 오류 확인 후 Implementation 재실행 중</a:t>
            </a:r>
            <a:endParaRPr lang="en-US" sz="1150" dirty="0"/>
          </a:p>
        </p:txBody>
      </p:sp>
      <p:sp>
        <p:nvSpPr>
          <p:cNvPr id="28" name="Shape 26"/>
          <p:cNvSpPr/>
          <p:nvPr/>
        </p:nvSpPr>
        <p:spPr>
          <a:xfrm>
            <a:off x="6537960" y="1097280"/>
            <a:ext cx="82296" cy="310896"/>
          </a:xfrm>
          <a:prstGeom prst="rect">
            <a:avLst/>
          </a:prstGeom>
          <a:solidFill>
            <a:srgbClr val="2F5597"/>
          </a:solidFill>
          <a:ln/>
        </p:spPr>
      </p:sp>
      <p:sp>
        <p:nvSpPr>
          <p:cNvPr id="29" name="Text 27"/>
          <p:cNvSpPr/>
          <p:nvPr/>
        </p:nvSpPr>
        <p:spPr>
          <a:xfrm>
            <a:off x="6702552" y="1069848"/>
            <a:ext cx="500176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주의사항</a:t>
            </a:r>
            <a:endParaRPr lang="en-US" sz="1600" dirty="0"/>
          </a:p>
        </p:txBody>
      </p:sp>
      <p:sp>
        <p:nvSpPr>
          <p:cNvPr id="30" name="Shape 28"/>
          <p:cNvSpPr/>
          <p:nvPr/>
        </p:nvSpPr>
        <p:spPr>
          <a:xfrm>
            <a:off x="6583680" y="1481328"/>
            <a:ext cx="5120640" cy="2743200"/>
          </a:xfrm>
          <a:prstGeom prst="rect">
            <a:avLst>
              <a:gd name="adj" fmla="val 2000"/>
            </a:avLst>
          </a:prstGeom>
          <a:solidFill>
            <a:srgbClr val="FCEFEF"/>
          </a:solidFill>
          <a:ln w="12700">
            <a:solidFill>
              <a:srgbClr val="E9C3C3"/>
            </a:solidFill>
            <a:prstDash val="solid"/>
          </a:ln>
        </p:spPr>
      </p:sp>
      <p:sp>
        <p:nvSpPr>
          <p:cNvPr id="31" name="Text 29"/>
          <p:cNvSpPr/>
          <p:nvPr/>
        </p:nvSpPr>
        <p:spPr>
          <a:xfrm>
            <a:off x="6812280" y="1481328"/>
            <a:ext cx="4663440" cy="2743200"/>
          </a:xfrm>
          <a:prstGeom prst="rect">
            <a:avLst/>
          </a:prstGeom>
          <a:noFill/>
          <a:ln/>
        </p:spPr>
        <p:txBody>
          <a:bodyPr wrap="square" rtlCol="0" anchor="ctr"/>
          <a:lstStyle/>
          <a:p>
            <a:pPr algn="l" indent="0" marL="0">
              <a:buNone/>
            </a:pPr>
            <a:r>
              <a:rPr lang="en-US" sz="1200" dirty="0">
                <a:solidFill>
                  <a:srgbClr val="C00000"/>
                </a:solidFill>
                <a:latin typeface="맑은 고딕" pitchFamily="34" charset="0"/>
                <a:ea typeface="맑은 고딕" pitchFamily="34" charset="-122"/>
                <a:cs typeface="맑은 고딕" pitchFamily="34" charset="-120"/>
              </a:rPr>
              <a:t>300 MHz를 현재 HLS IP에 바로 연결하지 않음</a:t>
            </a:r>
            <a:endParaRPr lang="en-US" sz="1200" dirty="0"/>
          </a:p>
          <a:p>
            <a:pPr algn="l" indent="0" marL="0">
              <a:buNone/>
            </a:pPr>
            <a:endParaRPr lang="en-US" sz="1200" dirty="0"/>
          </a:p>
          <a:p>
            <a:pPr algn="l" indent="0" marL="0">
              <a:buNone/>
            </a:pPr>
            <a:r>
              <a:rPr lang="en-US" sz="1200" dirty="0">
                <a:solidFill>
                  <a:srgbClr val="C00000"/>
                </a:solidFill>
                <a:latin typeface="맑은 고딕" pitchFamily="34" charset="0"/>
                <a:ea typeface="맑은 고딕" pitchFamily="34" charset="-122"/>
                <a:cs typeface="맑은 고딕" pitchFamily="34" charset="-120"/>
              </a:rPr>
              <a:t>다중 Clock Domain 사이에는 AXI Clock Converter</a:t>
            </a:r>
            <a:endParaRPr lang="en-US" sz="1200" dirty="0"/>
          </a:p>
          <a:p>
            <a:pPr algn="l" indent="0" marL="0">
              <a:buNone/>
            </a:pPr>
            <a:r>
              <a:rPr lang="en-US" sz="1200" dirty="0">
                <a:solidFill>
                  <a:srgbClr val="C00000"/>
                </a:solidFill>
                <a:latin typeface="맑은 고딕" pitchFamily="34" charset="0"/>
                <a:ea typeface="맑은 고딕" pitchFamily="34" charset="-122"/>
                <a:cs typeface="맑은 고딕" pitchFamily="34" charset="-120"/>
              </a:rPr>
              <a:t>또는 multi-clock SmartConnect 필요</a:t>
            </a:r>
            <a:endParaRPr lang="en-US" sz="1200" dirty="0"/>
          </a:p>
          <a:p>
            <a:pPr algn="l" indent="0" marL="0">
              <a:buNone/>
            </a:pPr>
            <a:endParaRPr lang="en-US" sz="1200" dirty="0"/>
          </a:p>
          <a:p>
            <a:pPr algn="l" indent="0" marL="0">
              <a:buNone/>
            </a:pPr>
            <a:r>
              <a:rPr lang="en-US" sz="1200" dirty="0">
                <a:solidFill>
                  <a:srgbClr val="C00000"/>
                </a:solidFill>
                <a:latin typeface="맑은 고딕" pitchFamily="34" charset="0"/>
                <a:ea typeface="맑은 고딕" pitchFamily="34" charset="-122"/>
                <a:cs typeface="맑은 고딕" pitchFamily="34" charset="-120"/>
              </a:rPr>
              <a:t>기존 HLS IP의 예상 Fmax와 Timing 검증 필요</a:t>
            </a:r>
            <a:endParaRPr lang="en-US" sz="1200" dirty="0"/>
          </a:p>
          <a:p>
            <a:pPr algn="l" indent="0" marL="0">
              <a:buNone/>
            </a:pPr>
            <a:endParaRPr lang="en-US" sz="1200" dirty="0"/>
          </a:p>
          <a:p>
            <a:pPr algn="l" indent="0" marL="0">
              <a:buNone/>
            </a:pPr>
            <a:r>
              <a:rPr lang="en-US" sz="1200" dirty="0">
                <a:solidFill>
                  <a:srgbClr val="C00000"/>
                </a:solidFill>
                <a:latin typeface="맑은 고딕" pitchFamily="34" charset="0"/>
                <a:ea typeface="맑은 고딕" pitchFamily="34" charset="-122"/>
                <a:cs typeface="맑은 고딕" pitchFamily="34" charset="-120"/>
              </a:rPr>
              <a:t>Clock 구조는 Platform 안정화에 필요하지만</a:t>
            </a:r>
            <a:endParaRPr lang="en-US" sz="1200" dirty="0"/>
          </a:p>
          <a:p>
            <a:pPr algn="l" indent="0" marL="0">
              <a:buNone/>
            </a:pPr>
            <a:r>
              <a:rPr lang="en-US" sz="1200" dirty="0">
                <a:solidFill>
                  <a:srgbClr val="C00000"/>
                </a:solidFill>
                <a:latin typeface="맑은 고딕" pitchFamily="34" charset="0"/>
                <a:ea typeface="맑은 고딕" pitchFamily="34" charset="-122"/>
                <a:cs typeface="맑은 고딕" pitchFamily="34" charset="-120"/>
              </a:rPr>
              <a:t>Routing congestion의 단독 해결책은 아님</a:t>
            </a:r>
            <a:endParaRPr lang="en-US" sz="1200" dirty="0"/>
          </a:p>
        </p:txBody>
      </p:sp>
      <p:sp>
        <p:nvSpPr>
          <p:cNvPr id="32" name="Text 30"/>
          <p:cNvSpPr/>
          <p:nvPr/>
        </p:nvSpPr>
        <p:spPr>
          <a:xfrm>
            <a:off x="457200" y="6547104"/>
            <a:ext cx="9875520" cy="256032"/>
          </a:xfrm>
          <a:prstGeom prst="rect">
            <a:avLst/>
          </a:prstGeom>
          <a:noFill/>
          <a:ln/>
        </p:spPr>
        <p:txBody>
          <a:bodyPr wrap="square" rtlCol="0" anchor="ctr"/>
          <a:lstStyle/>
          <a:p>
            <a:pPr indent="0" marL="0">
              <a:buNone/>
            </a:pPr>
            <a:r>
              <a:rPr lang="en-US" sz="900" i="1" dirty="0">
                <a:solidFill>
                  <a:srgbClr val="5B6472"/>
                </a:solidFill>
                <a:latin typeface="맑은 고딕" pitchFamily="34" charset="0"/>
                <a:ea typeface="맑은 고딕" pitchFamily="34" charset="-122"/>
                <a:cs typeface="맑은 고딕" pitchFamily="34" charset="-120"/>
              </a:rPr>
              <a:t>출처: Vivado 2022.2 Clocking Wizard / Processor System Reset 설정</a:t>
            </a:r>
            <a:endParaRPr lang="en-US" sz="900" dirty="0"/>
          </a:p>
        </p:txBody>
      </p:sp>
      <p:sp>
        <p:nvSpPr>
          <p:cNvPr id="33" name="Text 31"/>
          <p:cNvSpPr/>
          <p:nvPr/>
        </p:nvSpPr>
        <p:spPr>
          <a:xfrm>
            <a:off x="11064240" y="6547104"/>
            <a:ext cx="685800" cy="256032"/>
          </a:xfrm>
          <a:prstGeom prst="rect">
            <a:avLst/>
          </a:prstGeom>
          <a:noFill/>
          <a:ln/>
        </p:spPr>
        <p:txBody>
          <a:bodyPr wrap="square"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15 / 19</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472C4"/>
          </a:solidFill>
          <a:ln/>
        </p:spPr>
      </p:sp>
      <p:sp>
        <p:nvSpPr>
          <p:cNvPr id="3" name="Text 1"/>
          <p:cNvSpPr/>
          <p:nvPr/>
        </p:nvSpPr>
        <p:spPr>
          <a:xfrm>
            <a:off x="457200" y="182880"/>
            <a:ext cx="9875520" cy="566928"/>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현재 진행 상태</a:t>
            </a:r>
            <a:endParaRPr lang="en-US" sz="2600" dirty="0"/>
          </a:p>
        </p:txBody>
      </p:sp>
      <p:sp>
        <p:nvSpPr>
          <p:cNvPr id="4" name="Text 2"/>
          <p:cNvSpPr/>
          <p:nvPr/>
        </p:nvSpPr>
        <p:spPr>
          <a:xfrm>
            <a:off x="10698480" y="73152"/>
            <a:ext cx="1234440" cy="731520"/>
          </a:xfrm>
          <a:prstGeom prst="rect">
            <a:avLst/>
          </a:prstGeom>
          <a:noFill/>
          <a:ln/>
        </p:spPr>
        <p:txBody>
          <a:bodyPr wrap="square" rtlCol="0" anchor="ctr"/>
          <a:lstStyle/>
          <a:p>
            <a:pPr algn="r" indent="0" marL="0">
              <a:buNone/>
            </a:pPr>
            <a:r>
              <a:rPr lang="en-US" sz="3000" b="1" dirty="0">
                <a:solidFill>
                  <a:srgbClr val="9BB3E8"/>
                </a:solidFill>
                <a:latin typeface="Calibri" pitchFamily="34" charset="0"/>
                <a:ea typeface="Calibri" pitchFamily="34" charset="-122"/>
                <a:cs typeface="Calibri" pitchFamily="34" charset="-120"/>
              </a:rPr>
              <a:t>16</a:t>
            </a:r>
            <a:endParaRPr lang="en-US" sz="3000" dirty="0"/>
          </a:p>
        </p:txBody>
      </p:sp>
      <p:sp>
        <p:nvSpPr>
          <p:cNvPr id="5" name="Shape 3"/>
          <p:cNvSpPr/>
          <p:nvPr/>
        </p:nvSpPr>
        <p:spPr>
          <a:xfrm>
            <a:off x="457200" y="1097280"/>
            <a:ext cx="82296" cy="310896"/>
          </a:xfrm>
          <a:prstGeom prst="rect">
            <a:avLst/>
          </a:prstGeom>
          <a:solidFill>
            <a:srgbClr val="4472C4"/>
          </a:solidFill>
          <a:ln/>
        </p:spPr>
      </p:sp>
      <p:sp>
        <p:nvSpPr>
          <p:cNvPr id="6" name="Text 4"/>
          <p:cNvSpPr/>
          <p:nvPr/>
        </p:nvSpPr>
        <p:spPr>
          <a:xfrm>
            <a:off x="621792" y="1069848"/>
            <a:ext cx="623620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2026.08.__ 기준 진행 현황</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481328"/>
          <a:ext cx="6400800" cy="914400"/>
        </p:xfrm>
        <a:graphic>
          <a:graphicData uri="http://schemas.openxmlformats.org/drawingml/2006/table">
            <a:tbl>
              <a:tblPr/>
              <a:tblGrid>
                <a:gridCol w="4206240"/>
                <a:gridCol w="2194560"/>
              </a:tblGrid>
              <a:tr h="290779">
                <a:tc>
                  <a:txBody>
                    <a:bodyPr/>
                    <a:lstStyle/>
                    <a:p>
                      <a:pPr algn="ctr" indent="0" marL="0">
                        <a:buNone/>
                      </a:pPr>
                      <a:r>
                        <a:rPr lang="en-US" sz="1100" b="1" dirty="0">
                          <a:solidFill>
                            <a:srgbClr val="FFFFFF"/>
                          </a:solidFill>
                        </a:rPr>
                        <a:t>항목</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c>
                  <a:txBody>
                    <a:bodyPr/>
                    <a:lstStyle/>
                    <a:p>
                      <a:pPr algn="ctr" indent="0" marL="0">
                        <a:buNone/>
                      </a:pPr>
                      <a:r>
                        <a:rPr lang="en-US" sz="1100" b="1" dirty="0">
                          <a:solidFill>
                            <a:srgbClr val="FFFFFF"/>
                          </a:solidFill>
                        </a:rPr>
                        <a:t>상태</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2F5597"/>
                    </a:solidFill>
                  </a:tcPr>
                </a:tc>
              </a:tr>
              <a:tr h="290779">
                <a:tc>
                  <a:txBody>
                    <a:bodyPr/>
                    <a:lstStyle/>
                    <a:p>
                      <a:pPr algn="l" indent="0" marL="0">
                        <a:buNone/>
                      </a:pPr>
                      <a:r>
                        <a:rPr lang="en-US" sz="1100" dirty="0">
                          <a:solidFill>
                            <a:srgbClr val="1F2A37"/>
                          </a:solidFill>
                        </a:rPr>
                        <a:t>개별 HLS 기능 검증</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완료</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290779">
                <a:tc>
                  <a:txBody>
                    <a:bodyPr/>
                    <a:lstStyle/>
                    <a:p>
                      <a:pPr algn="l" indent="0" marL="0">
                        <a:buNone/>
                      </a:pPr>
                      <a:r>
                        <a:rPr lang="en-US" sz="1100" dirty="0">
                          <a:solidFill>
                            <a:srgbClr val="1F2A37"/>
                          </a:solidFill>
                        </a:rPr>
                        <a:t>IP Export 및 Catalog 등록</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00" b="1" dirty="0">
                          <a:solidFill>
                            <a:srgbClr val="2E7D32"/>
                          </a:solidFill>
                        </a:rPr>
                        <a:t>완료</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290779">
                <a:tc>
                  <a:txBody>
                    <a:bodyPr/>
                    <a:lstStyle/>
                    <a:p>
                      <a:pPr algn="l" indent="0" marL="0">
                        <a:buNone/>
                      </a:pPr>
                      <a:r>
                        <a:rPr lang="en-US" sz="1100" dirty="0">
                          <a:solidFill>
                            <a:srgbClr val="1F2A37"/>
                          </a:solidFill>
                        </a:rPr>
                        <a:t>전체 Block Design 구성</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완료</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290779">
                <a:tc>
                  <a:txBody>
                    <a:bodyPr/>
                    <a:lstStyle/>
                    <a:p>
                      <a:pPr algn="l" indent="0" marL="0">
                        <a:buNone/>
                      </a:pPr>
                      <a:r>
                        <a:rPr lang="en-US" sz="1100" dirty="0">
                          <a:solidFill>
                            <a:srgbClr val="1F2A37"/>
                          </a:solidFill>
                        </a:rPr>
                        <a:t>AXI 조합루프 제거</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00" b="1" dirty="0">
                          <a:solidFill>
                            <a:srgbClr val="2E7D32"/>
                          </a:solidFill>
                        </a:rPr>
                        <a:t>완료</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290779">
                <a:tc>
                  <a:txBody>
                    <a:bodyPr/>
                    <a:lstStyle/>
                    <a:p>
                      <a:pPr algn="l" indent="0" marL="0">
                        <a:buNone/>
                      </a:pPr>
                      <a:r>
                        <a:rPr lang="en-US" sz="1100" dirty="0">
                          <a:solidFill>
                            <a:srgbClr val="1F2A37"/>
                          </a:solidFill>
                        </a:rPr>
                        <a:t>Synthesis</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완료</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290779">
                <a:tc>
                  <a:txBody>
                    <a:bodyPr/>
                    <a:lstStyle/>
                    <a:p>
                      <a:pPr algn="l" indent="0" marL="0">
                        <a:buNone/>
                      </a:pPr>
                      <a:r>
                        <a:rPr lang="en-US" sz="1100" dirty="0">
                          <a:solidFill>
                            <a:srgbClr val="1F2A37"/>
                          </a:solidFill>
                        </a:rPr>
                        <a:t>Black Box 검사</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00" b="1" dirty="0">
                          <a:solidFill>
                            <a:srgbClr val="1F2A37"/>
                          </a:solidFill>
                        </a:rPr>
                        <a:t>0</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290779">
                <a:tc>
                  <a:txBody>
                    <a:bodyPr/>
                    <a:lstStyle/>
                    <a:p>
                      <a:pPr algn="l" indent="0" marL="0">
                        <a:buNone/>
                      </a:pPr>
                      <a:r>
                        <a:rPr lang="en-US" sz="1100" dirty="0">
                          <a:solidFill>
                            <a:srgbClr val="1F2A37"/>
                          </a:solidFill>
                        </a:rPr>
                        <a:t>Placement</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완료</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290779">
                <a:tc>
                  <a:txBody>
                    <a:bodyPr/>
                    <a:lstStyle/>
                    <a:p>
                      <a:pPr algn="l" indent="0" marL="0">
                        <a:buNone/>
                      </a:pPr>
                      <a:r>
                        <a:rPr lang="en-US" sz="1100" dirty="0">
                          <a:solidFill>
                            <a:srgbClr val="1F2A37"/>
                          </a:solidFill>
                        </a:rPr>
                        <a:t>Routing congestion 분석</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00" b="1" dirty="0">
                          <a:solidFill>
                            <a:srgbClr val="2E7D32"/>
                          </a:solidFill>
                        </a:rPr>
                        <a:t>완료</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290779">
                <a:tc>
                  <a:txBody>
                    <a:bodyPr/>
                    <a:lstStyle/>
                    <a:p>
                      <a:pPr algn="l" indent="0" marL="0">
                        <a:buNone/>
                      </a:pPr>
                      <a:r>
                        <a:rPr lang="en-US" sz="1100" dirty="0">
                          <a:solidFill>
                            <a:srgbClr val="1F2A37"/>
                          </a:solidFill>
                        </a:rPr>
                        <a:t>Clock/Reset 구조 보완</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ED7D31"/>
                          </a:solidFill>
                        </a:rPr>
                        <a:t>진행</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290779">
                <a:tc>
                  <a:txBody>
                    <a:bodyPr/>
                    <a:lstStyle/>
                    <a:p>
                      <a:pPr algn="l" indent="0" marL="0">
                        <a:buNone/>
                      </a:pPr>
                      <a:r>
                        <a:rPr lang="en-US" sz="1100" dirty="0">
                          <a:solidFill>
                            <a:srgbClr val="1F2A37"/>
                          </a:solidFill>
                        </a:rPr>
                        <a:t>Implementation 재실행</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00" b="1" dirty="0">
                          <a:solidFill>
                            <a:srgbClr val="ED7D31"/>
                          </a:solidFill>
                        </a:rPr>
                        <a:t>진행</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r h="290779">
                <a:tc>
                  <a:txBody>
                    <a:bodyPr/>
                    <a:lstStyle/>
                    <a:p>
                      <a:pPr algn="l" indent="0" marL="0">
                        <a:buNone/>
                      </a:pPr>
                      <a:r>
                        <a:rPr lang="en-US" sz="1100" dirty="0">
                          <a:solidFill>
                            <a:srgbClr val="1F2A37"/>
                          </a:solidFill>
                        </a:rPr>
                        <a:t>Bitstream</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8C8C8C"/>
                          </a:solidFill>
                        </a:rPr>
                        <a:t>미완료</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290779">
                <a:tc>
                  <a:txBody>
                    <a:bodyPr/>
                    <a:lstStyle/>
                    <a:p>
                      <a:pPr algn="l" indent="0" marL="0">
                        <a:buNone/>
                      </a:pPr>
                      <a:r>
                        <a:rPr lang="en-US" sz="1100" dirty="0">
                          <a:solidFill>
                            <a:srgbClr val="1F2A37"/>
                          </a:solidFill>
                        </a:rPr>
                        <a:t>Vitis model.6 구동</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c>
                  <a:txBody>
                    <a:bodyPr/>
                    <a:lstStyle/>
                    <a:p>
                      <a:pPr algn="ctr" indent="0" marL="0">
                        <a:buNone/>
                      </a:pPr>
                      <a:r>
                        <a:rPr lang="en-US" sz="1100" b="1" dirty="0">
                          <a:solidFill>
                            <a:srgbClr val="8C8C8C"/>
                          </a:solidFill>
                        </a:rPr>
                        <a:t>미완료</a:t>
                      </a:r>
                      <a:endParaRPr lang="en-US" sz="1100" dirty="0"/>
                    </a:p>
                  </a:txBody>
                  <a:tcPr marL="91440" marR="91440" marT="45720" marB="4572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5F7FB"/>
                    </a:solidFill>
                  </a:tcPr>
                </a:tc>
              </a:tr>
            </a:tbl>
          </a:graphicData>
        </a:graphic>
      </p:graphicFrame>
      <p:sp>
        <p:nvSpPr>
          <p:cNvPr id="8" name="Shape 5"/>
          <p:cNvSpPr/>
          <p:nvPr/>
        </p:nvSpPr>
        <p:spPr>
          <a:xfrm>
            <a:off x="7178040" y="1097280"/>
            <a:ext cx="82296" cy="310896"/>
          </a:xfrm>
          <a:prstGeom prst="rect">
            <a:avLst/>
          </a:prstGeom>
          <a:solidFill>
            <a:srgbClr val="2F5597"/>
          </a:solidFill>
          <a:ln/>
        </p:spPr>
      </p:sp>
      <p:sp>
        <p:nvSpPr>
          <p:cNvPr id="9" name="Text 6"/>
          <p:cNvSpPr/>
          <p:nvPr/>
        </p:nvSpPr>
        <p:spPr>
          <a:xfrm>
            <a:off x="7342632" y="1069848"/>
            <a:ext cx="436168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이번 중간발표 시점의 정확한 상태</a:t>
            </a:r>
            <a:endParaRPr lang="en-US" sz="1600" dirty="0"/>
          </a:p>
        </p:txBody>
      </p:sp>
      <p:sp>
        <p:nvSpPr>
          <p:cNvPr id="10" name="Shape 7"/>
          <p:cNvSpPr/>
          <p:nvPr/>
        </p:nvSpPr>
        <p:spPr>
          <a:xfrm>
            <a:off x="7223760" y="1481328"/>
            <a:ext cx="4480560" cy="2606040"/>
          </a:xfrm>
          <a:prstGeom prst="rect">
            <a:avLst>
              <a:gd name="adj" fmla="val 2105"/>
            </a:avLst>
          </a:prstGeom>
          <a:solidFill>
            <a:srgbClr val="EFF3FB"/>
          </a:solidFill>
          <a:ln w="12700">
            <a:solidFill>
              <a:srgbClr val="D9E0EC"/>
            </a:solidFill>
            <a:prstDash val="solid"/>
          </a:ln>
        </p:spPr>
      </p:sp>
      <p:sp>
        <p:nvSpPr>
          <p:cNvPr id="11" name="Text 8"/>
          <p:cNvSpPr/>
          <p:nvPr/>
        </p:nvSpPr>
        <p:spPr>
          <a:xfrm>
            <a:off x="7452360" y="1481328"/>
            <a:ext cx="4023360" cy="2606040"/>
          </a:xfrm>
          <a:prstGeom prst="rect">
            <a:avLst/>
          </a:prstGeom>
          <a:noFill/>
          <a:ln/>
        </p:spPr>
        <p:txBody>
          <a:bodyPr wrap="square" rtlCol="0" anchor="ctr"/>
          <a:lstStyle/>
          <a:p>
            <a:pPr algn="l" indent="0" marL="0">
              <a:buNone/>
            </a:pPr>
            <a:r>
              <a:rPr lang="en-US" sz="1400" b="1" dirty="0">
                <a:solidFill>
                  <a:srgbClr val="1F3864"/>
                </a:solidFill>
                <a:latin typeface="맑은 고딕" pitchFamily="34" charset="0"/>
                <a:ea typeface="맑은 고딕" pitchFamily="34" charset="-122"/>
                <a:cs typeface="맑은 고딕" pitchFamily="34" charset="-120"/>
              </a:rPr>
              <a:t>전체 시스템은 합성 및 배치 단계까지</a:t>
            </a:r>
            <a:endParaRPr lang="en-US" sz="1400" dirty="0"/>
          </a:p>
          <a:p>
            <a:pPr algn="l" indent="0" marL="0">
              <a:buNone/>
            </a:pPr>
            <a:r>
              <a:rPr lang="en-US" sz="1400" b="1" dirty="0">
                <a:solidFill>
                  <a:srgbClr val="1F3864"/>
                </a:solidFill>
                <a:latin typeface="맑은 고딕" pitchFamily="34" charset="0"/>
                <a:ea typeface="맑은 고딕" pitchFamily="34" charset="-122"/>
                <a:cs typeface="맑은 고딕" pitchFamily="34" charset="-120"/>
              </a:rPr>
              <a:t>도달했으며, 조합루프와 대부분의</a:t>
            </a:r>
            <a:endParaRPr lang="en-US" sz="1400" dirty="0"/>
          </a:p>
          <a:p>
            <a:pPr algn="l" indent="0" marL="0">
              <a:buNone/>
            </a:pPr>
            <a:r>
              <a:rPr lang="en-US" sz="1400" b="1" dirty="0">
                <a:solidFill>
                  <a:srgbClr val="1F3864"/>
                </a:solidFill>
                <a:latin typeface="맑은 고딕" pitchFamily="34" charset="0"/>
                <a:ea typeface="맑은 고딕" pitchFamily="34" charset="-122"/>
                <a:cs typeface="맑은 고딕" pitchFamily="34" charset="-120"/>
              </a:rPr>
              <a:t>라우팅 오류를 제거하였다.</a:t>
            </a:r>
            <a:endParaRPr lang="en-US" sz="1400" dirty="0"/>
          </a:p>
          <a:p>
            <a:pPr algn="l" indent="0" marL="0">
              <a:buNone/>
            </a:pPr>
            <a:endParaRPr lang="en-US" sz="1400" dirty="0"/>
          </a:p>
          <a:p>
            <a:pPr algn="l" indent="0" marL="0">
              <a:buNone/>
            </a:pPr>
            <a:r>
              <a:rPr lang="en-US" sz="1400" b="1" dirty="0">
                <a:solidFill>
                  <a:srgbClr val="1F3864"/>
                </a:solidFill>
                <a:latin typeface="맑은 고딕" pitchFamily="34" charset="0"/>
                <a:ea typeface="맑은 고딕" pitchFamily="34" charset="-122"/>
                <a:cs typeface="맑은 고딕" pitchFamily="34" charset="-120"/>
              </a:rPr>
              <a:t>현재 최종 Routing congestion과</a:t>
            </a:r>
            <a:endParaRPr lang="en-US" sz="1400" dirty="0"/>
          </a:p>
          <a:p>
            <a:pPr algn="l" indent="0" marL="0">
              <a:buNone/>
            </a:pPr>
            <a:r>
              <a:rPr lang="en-US" sz="1400" b="1" dirty="0">
                <a:solidFill>
                  <a:srgbClr val="1F3864"/>
                </a:solidFill>
                <a:latin typeface="맑은 고딕" pitchFamily="34" charset="0"/>
                <a:ea typeface="맑은 고딕" pitchFamily="34" charset="-122"/>
                <a:cs typeface="맑은 고딕" pitchFamily="34" charset="-120"/>
              </a:rPr>
              <a:t>Clock/Reset/Platform 설정을</a:t>
            </a:r>
            <a:endParaRPr lang="en-US" sz="1400" dirty="0"/>
          </a:p>
          <a:p>
            <a:pPr algn="l" indent="0" marL="0">
              <a:buNone/>
            </a:pPr>
            <a:r>
              <a:rPr lang="en-US" sz="1400" b="1" dirty="0">
                <a:solidFill>
                  <a:srgbClr val="1F3864"/>
                </a:solidFill>
                <a:latin typeface="맑은 고딕" pitchFamily="34" charset="0"/>
                <a:ea typeface="맑은 고딕" pitchFamily="34" charset="-122"/>
                <a:cs typeface="맑은 고딕" pitchFamily="34" charset="-120"/>
              </a:rPr>
              <a:t>보완하고 있다.</a:t>
            </a:r>
            <a:endParaRPr lang="en-US" sz="1400" dirty="0"/>
          </a:p>
        </p:txBody>
      </p:sp>
      <p:sp>
        <p:nvSpPr>
          <p:cNvPr id="12" name="Shape 9"/>
          <p:cNvSpPr/>
          <p:nvPr/>
        </p:nvSpPr>
        <p:spPr>
          <a:xfrm>
            <a:off x="7223760" y="4297680"/>
            <a:ext cx="4480560" cy="1737360"/>
          </a:xfrm>
          <a:prstGeom prst="rect">
            <a:avLst>
              <a:gd name="adj" fmla="val 3158"/>
            </a:avLst>
          </a:prstGeom>
          <a:solidFill>
            <a:srgbClr val="F7F9FC"/>
          </a:solidFill>
          <a:ln w="12700">
            <a:solidFill>
              <a:srgbClr val="D9E0EC"/>
            </a:solidFill>
            <a:prstDash val="solid"/>
          </a:ln>
        </p:spPr>
      </p:sp>
      <p:sp>
        <p:nvSpPr>
          <p:cNvPr id="13" name="Text 10"/>
          <p:cNvSpPr/>
          <p:nvPr/>
        </p:nvSpPr>
        <p:spPr>
          <a:xfrm>
            <a:off x="7452360" y="4297680"/>
            <a:ext cx="4023360" cy="1737360"/>
          </a:xfrm>
          <a:prstGeom prst="rect">
            <a:avLst/>
          </a:prstGeom>
          <a:noFill/>
          <a:ln/>
        </p:spPr>
        <p:txBody>
          <a:bodyPr wrap="square" rtlCol="0" anchor="ctr"/>
          <a:lstStyle/>
          <a:p>
            <a:pPr algn="l" indent="0" marL="0">
              <a:buNone/>
            </a:pPr>
            <a:r>
              <a:rPr lang="en-US" sz="1150" dirty="0">
                <a:solidFill>
                  <a:srgbClr val="1F3864"/>
                </a:solidFill>
                <a:latin typeface="맑은 고딕" pitchFamily="34" charset="0"/>
                <a:ea typeface="맑은 고딕" pitchFamily="34" charset="-122"/>
                <a:cs typeface="맑은 고딕" pitchFamily="34" charset="-120"/>
              </a:rPr>
              <a:t>중간발표 시점에는 전체 Bitstream 생성 완료라고</a:t>
            </a:r>
            <a:endParaRPr lang="en-US" sz="1150" dirty="0"/>
          </a:p>
          <a:p>
            <a:pPr algn="l" indent="0" marL="0">
              <a:buNone/>
            </a:pPr>
            <a:r>
              <a:rPr lang="en-US" sz="1150" dirty="0">
                <a:solidFill>
                  <a:srgbClr val="1F3864"/>
                </a:solidFill>
                <a:latin typeface="맑은 고딕" pitchFamily="34" charset="0"/>
                <a:ea typeface="맑은 고딕" pitchFamily="34" charset="-122"/>
                <a:cs typeface="맑은 고딕" pitchFamily="34" charset="-120"/>
              </a:rPr>
              <a:t>보고할 수는 없습니다. 다만 단위 IP 기능 검증, 전체</a:t>
            </a:r>
            <a:endParaRPr lang="en-US" sz="1150" dirty="0"/>
          </a:p>
          <a:p>
            <a:pPr algn="l" indent="0" marL="0">
              <a:buNone/>
            </a:pPr>
            <a:r>
              <a:rPr lang="en-US" sz="1150" dirty="0">
                <a:solidFill>
                  <a:srgbClr val="1F3864"/>
                </a:solidFill>
                <a:latin typeface="맑은 고딕" pitchFamily="34" charset="0"/>
                <a:ea typeface="맑은 고딕" pitchFamily="34" charset="-122"/>
                <a:cs typeface="맑은 고딕" pitchFamily="34" charset="-120"/>
              </a:rPr>
              <a:t>Block Design, 합성, 배치 및 조합루프 제거까지</a:t>
            </a:r>
            <a:endParaRPr lang="en-US" sz="1150" dirty="0"/>
          </a:p>
          <a:p>
            <a:pPr algn="l" indent="0" marL="0">
              <a:buNone/>
            </a:pPr>
            <a:r>
              <a:rPr lang="en-US" sz="1150" dirty="0">
                <a:solidFill>
                  <a:srgbClr val="1F3864"/>
                </a:solidFill>
                <a:latin typeface="맑은 고딕" pitchFamily="34" charset="0"/>
                <a:ea typeface="맑은 고딕" pitchFamily="34" charset="-122"/>
                <a:cs typeface="맑은 고딕" pitchFamily="34" charset="-120"/>
              </a:rPr>
              <a:t>완료했고, 초기 대비 라우팅 오류를 96% 이상</a:t>
            </a:r>
            <a:endParaRPr lang="en-US" sz="1150" dirty="0"/>
          </a:p>
          <a:p>
            <a:pPr algn="l" indent="0" marL="0">
              <a:buNone/>
            </a:pPr>
            <a:r>
              <a:rPr lang="en-US" sz="1150" dirty="0">
                <a:solidFill>
                  <a:srgbClr val="1F3864"/>
                </a:solidFill>
                <a:latin typeface="맑은 고딕" pitchFamily="34" charset="0"/>
                <a:ea typeface="맑은 고딕" pitchFamily="34" charset="-122"/>
                <a:cs typeface="맑은 고딕" pitchFamily="34" charset="-120"/>
              </a:rPr>
              <a:t>줄였습니다.</a:t>
            </a:r>
            <a:endParaRPr lang="en-US" sz="1150" dirty="0"/>
          </a:p>
        </p:txBody>
      </p:sp>
      <p:sp>
        <p:nvSpPr>
          <p:cNvPr id="14" name="Text 11"/>
          <p:cNvSpPr/>
          <p:nvPr/>
        </p:nvSpPr>
        <p:spPr>
          <a:xfrm>
            <a:off x="457200" y="6547104"/>
            <a:ext cx="9875520" cy="256032"/>
          </a:xfrm>
          <a:prstGeom prst="rect">
            <a:avLst/>
          </a:prstGeom>
          <a:noFill/>
          <a:ln/>
        </p:spPr>
        <p:txBody>
          <a:bodyPr wrap="square" rtlCol="0" anchor="ctr"/>
          <a:lstStyle/>
          <a:p>
            <a:pPr indent="0" marL="0">
              <a:buNone/>
            </a:pPr>
            <a:r>
              <a:rPr lang="en-US" sz="900" i="1" dirty="0">
                <a:solidFill>
                  <a:srgbClr val="5B6472"/>
                </a:solidFill>
                <a:latin typeface="맑은 고딕" pitchFamily="34" charset="0"/>
                <a:ea typeface="맑은 고딕" pitchFamily="34" charset="-122"/>
                <a:cs typeface="맑은 고딕" pitchFamily="34" charset="-120"/>
              </a:rPr>
              <a:t>범례: ● 완료/PASS(녹색)  ● 진행 중(주황)  ● 미완료(회색)</a:t>
            </a:r>
            <a:endParaRPr lang="en-US" sz="900" dirty="0"/>
          </a:p>
        </p:txBody>
      </p:sp>
      <p:sp>
        <p:nvSpPr>
          <p:cNvPr id="15" name="Text 12"/>
          <p:cNvSpPr/>
          <p:nvPr/>
        </p:nvSpPr>
        <p:spPr>
          <a:xfrm>
            <a:off x="11064240" y="6547104"/>
            <a:ext cx="685800" cy="256032"/>
          </a:xfrm>
          <a:prstGeom prst="rect">
            <a:avLst/>
          </a:prstGeom>
          <a:noFill/>
          <a:ln/>
        </p:spPr>
        <p:txBody>
          <a:bodyPr wrap="square"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16 / 19</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472C4"/>
          </a:solidFill>
          <a:ln/>
        </p:spPr>
      </p:sp>
      <p:sp>
        <p:nvSpPr>
          <p:cNvPr id="3" name="Text 1"/>
          <p:cNvSpPr/>
          <p:nvPr/>
        </p:nvSpPr>
        <p:spPr>
          <a:xfrm>
            <a:off x="457200" y="182880"/>
            <a:ext cx="9875520" cy="566928"/>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향후 해결 계획</a:t>
            </a:r>
            <a:endParaRPr lang="en-US" sz="2600" dirty="0"/>
          </a:p>
        </p:txBody>
      </p:sp>
      <p:sp>
        <p:nvSpPr>
          <p:cNvPr id="4" name="Text 2"/>
          <p:cNvSpPr/>
          <p:nvPr/>
        </p:nvSpPr>
        <p:spPr>
          <a:xfrm>
            <a:off x="10698480" y="73152"/>
            <a:ext cx="1234440" cy="731520"/>
          </a:xfrm>
          <a:prstGeom prst="rect">
            <a:avLst/>
          </a:prstGeom>
          <a:noFill/>
          <a:ln/>
        </p:spPr>
        <p:txBody>
          <a:bodyPr wrap="square" rtlCol="0" anchor="ctr"/>
          <a:lstStyle/>
          <a:p>
            <a:pPr algn="r" indent="0" marL="0">
              <a:buNone/>
            </a:pPr>
            <a:r>
              <a:rPr lang="en-US" sz="3000" b="1" dirty="0">
                <a:solidFill>
                  <a:srgbClr val="9BB3E8"/>
                </a:solidFill>
                <a:latin typeface="Calibri" pitchFamily="34" charset="0"/>
                <a:ea typeface="Calibri" pitchFamily="34" charset="-122"/>
                <a:cs typeface="Calibri" pitchFamily="34" charset="-120"/>
              </a:rPr>
              <a:t>17</a:t>
            </a:r>
            <a:endParaRPr lang="en-US" sz="3000" dirty="0"/>
          </a:p>
        </p:txBody>
      </p:sp>
      <p:sp>
        <p:nvSpPr>
          <p:cNvPr id="5" name="Shape 3"/>
          <p:cNvSpPr/>
          <p:nvPr/>
        </p:nvSpPr>
        <p:spPr>
          <a:xfrm>
            <a:off x="457200" y="1143000"/>
            <a:ext cx="3630168" cy="777240"/>
          </a:xfrm>
          <a:prstGeom prst="roundRect">
            <a:avLst>
              <a:gd name="adj" fmla="val 7059"/>
            </a:avLst>
          </a:prstGeom>
          <a:solidFill>
            <a:srgbClr val="2F5597"/>
          </a:solidFill>
          <a:ln/>
        </p:spPr>
      </p:sp>
      <p:sp>
        <p:nvSpPr>
          <p:cNvPr id="6" name="Text 4"/>
          <p:cNvSpPr/>
          <p:nvPr/>
        </p:nvSpPr>
        <p:spPr>
          <a:xfrm>
            <a:off x="640080" y="1207008"/>
            <a:ext cx="3264408" cy="310896"/>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1단계</a:t>
            </a:r>
            <a:endParaRPr lang="en-US" sz="1500" dirty="0"/>
          </a:p>
        </p:txBody>
      </p:sp>
      <p:sp>
        <p:nvSpPr>
          <p:cNvPr id="7" name="Text 5"/>
          <p:cNvSpPr/>
          <p:nvPr/>
        </p:nvSpPr>
        <p:spPr>
          <a:xfrm>
            <a:off x="640080" y="1499616"/>
            <a:ext cx="3264408" cy="365760"/>
          </a:xfrm>
          <a:prstGeom prst="rect">
            <a:avLst/>
          </a:prstGeom>
          <a:noFill/>
          <a:ln/>
        </p:spPr>
        <p:txBody>
          <a:bodyPr wrap="square" rtlCol="0" anchor="ctr"/>
          <a:lstStyle/>
          <a:p>
            <a:pPr indent="0" marL="0">
              <a:buNone/>
            </a:pPr>
            <a:r>
              <a:rPr lang="en-US" sz="1200" dirty="0">
                <a:solidFill>
                  <a:srgbClr val="DCE4F7"/>
                </a:solidFill>
                <a:latin typeface="맑은 고딕" pitchFamily="34" charset="0"/>
                <a:ea typeface="맑은 고딕" pitchFamily="34" charset="-122"/>
                <a:cs typeface="맑은 고딕" pitchFamily="34" charset="-120"/>
              </a:rPr>
              <a:t>현재 Implementation 결과 확인</a:t>
            </a:r>
            <a:endParaRPr lang="en-US" sz="1200" dirty="0"/>
          </a:p>
        </p:txBody>
      </p:sp>
      <p:sp>
        <p:nvSpPr>
          <p:cNvPr id="8" name="Shape 6"/>
          <p:cNvSpPr/>
          <p:nvPr/>
        </p:nvSpPr>
        <p:spPr>
          <a:xfrm>
            <a:off x="457200" y="2029968"/>
            <a:ext cx="3630168" cy="4160520"/>
          </a:xfrm>
          <a:prstGeom prst="rect">
            <a:avLst>
              <a:gd name="adj" fmla="val 1259"/>
            </a:avLst>
          </a:prstGeom>
          <a:solidFill>
            <a:srgbClr val="F7F9FC"/>
          </a:solidFill>
          <a:ln w="12700">
            <a:solidFill>
              <a:srgbClr val="D9E0EC"/>
            </a:solidFill>
            <a:prstDash val="solid"/>
          </a:ln>
        </p:spPr>
      </p:sp>
      <p:sp>
        <p:nvSpPr>
          <p:cNvPr id="9" name="Text 7"/>
          <p:cNvSpPr/>
          <p:nvPr/>
        </p:nvSpPr>
        <p:spPr>
          <a:xfrm>
            <a:off x="658368" y="2194560"/>
            <a:ext cx="3264408" cy="3931920"/>
          </a:xfrm>
          <a:prstGeom prst="rect">
            <a:avLst/>
          </a:prstGeom>
          <a:noFill/>
          <a:ln/>
        </p:spPr>
        <p:txBody>
          <a:bodyPr wrap="square" rtlCol="0" anchor="t"/>
          <a:lstStyle/>
          <a:p>
            <a:pPr marL="177800" indent="-177800">
              <a:lnSpc>
                <a:spcPct val="108000"/>
              </a:lnSpc>
              <a:spcAft>
                <a:spcPts val="10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새 Clock/Reset 구조 Validate</a:t>
            </a:r>
            <a:endParaRPr lang="en-US" sz="1150" dirty="0"/>
          </a:p>
          <a:p>
            <a:pPr marL="177800" indent="-177800">
              <a:lnSpc>
                <a:spcPct val="108000"/>
              </a:lnSpc>
              <a:spcAft>
                <a:spcPts val="10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Synthesis Black Box=0 확인</a:t>
            </a:r>
            <a:endParaRPr lang="en-US" sz="1150" dirty="0"/>
          </a:p>
          <a:p>
            <a:pPr marL="177800" indent="-177800">
              <a:lnSpc>
                <a:spcPct val="108000"/>
              </a:lnSpc>
              <a:spcAft>
                <a:spcPts val="10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LUTLP-1=0 재확인</a:t>
            </a:r>
            <a:endParaRPr lang="en-US" sz="1150" dirty="0"/>
          </a:p>
          <a:p>
            <a:pPr marL="177800" indent="-177800">
              <a:lnSpc>
                <a:spcPct val="108000"/>
              </a:lnSpc>
              <a:spcAft>
                <a:spcPts val="10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report_route_status 확인</a:t>
            </a:r>
            <a:endParaRPr lang="en-US" sz="1150" dirty="0"/>
          </a:p>
          <a:p>
            <a:pPr marL="177800" indent="-177800">
              <a:lnSpc>
                <a:spcPct val="108000"/>
              </a:lnSpc>
              <a:spcAft>
                <a:spcPts val="10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Routing error net 및 node overlap 비교</a:t>
            </a:r>
            <a:endParaRPr lang="en-US" sz="1150" dirty="0"/>
          </a:p>
        </p:txBody>
      </p:sp>
      <p:sp>
        <p:nvSpPr>
          <p:cNvPr id="10" name="Shape 8"/>
          <p:cNvSpPr/>
          <p:nvPr/>
        </p:nvSpPr>
        <p:spPr>
          <a:xfrm>
            <a:off x="4105656" y="1527048"/>
            <a:ext cx="164592" cy="914"/>
          </a:xfrm>
          <a:prstGeom prst="line">
            <a:avLst/>
          </a:prstGeom>
          <a:noFill/>
          <a:ln w="19050">
            <a:solidFill>
              <a:srgbClr val="2F5597"/>
            </a:solidFill>
            <a:prstDash val="solid"/>
            <a:tailEnd type="triangle"/>
          </a:ln>
        </p:spPr>
      </p:sp>
      <p:sp>
        <p:nvSpPr>
          <p:cNvPr id="11" name="Shape 9"/>
          <p:cNvSpPr/>
          <p:nvPr/>
        </p:nvSpPr>
        <p:spPr>
          <a:xfrm>
            <a:off x="4288536" y="1143000"/>
            <a:ext cx="3630168" cy="777240"/>
          </a:xfrm>
          <a:prstGeom prst="roundRect">
            <a:avLst>
              <a:gd name="adj" fmla="val 7059"/>
            </a:avLst>
          </a:prstGeom>
          <a:solidFill>
            <a:srgbClr val="2F5597"/>
          </a:solidFill>
          <a:ln/>
        </p:spPr>
      </p:sp>
      <p:sp>
        <p:nvSpPr>
          <p:cNvPr id="12" name="Text 10"/>
          <p:cNvSpPr/>
          <p:nvPr/>
        </p:nvSpPr>
        <p:spPr>
          <a:xfrm>
            <a:off x="4471416" y="1207008"/>
            <a:ext cx="3264408" cy="310896"/>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2단계</a:t>
            </a:r>
            <a:endParaRPr lang="en-US" sz="1500" dirty="0"/>
          </a:p>
        </p:txBody>
      </p:sp>
      <p:sp>
        <p:nvSpPr>
          <p:cNvPr id="13" name="Text 11"/>
          <p:cNvSpPr/>
          <p:nvPr/>
        </p:nvSpPr>
        <p:spPr>
          <a:xfrm>
            <a:off x="4471416" y="1499616"/>
            <a:ext cx="3264408" cy="365760"/>
          </a:xfrm>
          <a:prstGeom prst="rect">
            <a:avLst/>
          </a:prstGeom>
          <a:noFill/>
          <a:ln/>
        </p:spPr>
        <p:txBody>
          <a:bodyPr wrap="square" rtlCol="0" anchor="ctr"/>
          <a:lstStyle/>
          <a:p>
            <a:pPr indent="0" marL="0">
              <a:buNone/>
            </a:pPr>
            <a:r>
              <a:rPr lang="en-US" sz="1200" dirty="0">
                <a:solidFill>
                  <a:srgbClr val="DCE4F7"/>
                </a:solidFill>
                <a:latin typeface="맑은 고딕" pitchFamily="34" charset="0"/>
                <a:ea typeface="맑은 고딕" pitchFamily="34" charset="-122"/>
                <a:cs typeface="맑은 고딕" pitchFamily="34" charset="-120"/>
              </a:rPr>
              <a:t>Routability 개선</a:t>
            </a:r>
            <a:endParaRPr lang="en-US" sz="1200" dirty="0"/>
          </a:p>
        </p:txBody>
      </p:sp>
      <p:sp>
        <p:nvSpPr>
          <p:cNvPr id="14" name="Shape 12"/>
          <p:cNvSpPr/>
          <p:nvPr/>
        </p:nvSpPr>
        <p:spPr>
          <a:xfrm>
            <a:off x="4288536" y="2029968"/>
            <a:ext cx="3630168" cy="4160520"/>
          </a:xfrm>
          <a:prstGeom prst="rect">
            <a:avLst>
              <a:gd name="adj" fmla="val 1259"/>
            </a:avLst>
          </a:prstGeom>
          <a:solidFill>
            <a:srgbClr val="F7F9FC"/>
          </a:solidFill>
          <a:ln w="12700">
            <a:solidFill>
              <a:srgbClr val="D9E0EC"/>
            </a:solidFill>
            <a:prstDash val="solid"/>
          </a:ln>
        </p:spPr>
      </p:sp>
      <p:sp>
        <p:nvSpPr>
          <p:cNvPr id="15" name="Text 13"/>
          <p:cNvSpPr/>
          <p:nvPr/>
        </p:nvSpPr>
        <p:spPr>
          <a:xfrm>
            <a:off x="4489704" y="2194560"/>
            <a:ext cx="3264408" cy="3931920"/>
          </a:xfrm>
          <a:prstGeom prst="rect">
            <a:avLst/>
          </a:prstGeom>
          <a:noFill/>
          <a:ln/>
        </p:spPr>
        <p:txBody>
          <a:bodyPr wrap="square" rtlCol="0" anchor="t"/>
          <a:lstStyle/>
          <a:p>
            <a:pPr marL="177800" indent="-177800">
              <a:lnSpc>
                <a:spcPct val="108000"/>
              </a:lnSpc>
              <a:spcAft>
                <a:spcPts val="10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Conv3×3 병렬도 조정</a:t>
            </a:r>
            <a:endParaRPr lang="en-US" sz="1150" dirty="0"/>
          </a:p>
          <a:p>
            <a:pPr marL="177800" indent="-177800">
              <a:lnSpc>
                <a:spcPct val="108000"/>
              </a:lnSpc>
              <a:spcAft>
                <a:spcPts val="10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Weight memory partition factor 축소</a:t>
            </a:r>
            <a:endParaRPr lang="en-US" sz="1150" dirty="0"/>
          </a:p>
          <a:p>
            <a:pPr marL="177800" indent="-177800">
              <a:lnSpc>
                <a:spcPct val="108000"/>
              </a:lnSpc>
              <a:spcAft>
                <a:spcPts val="10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LUTRAM 일부를 BRAM/URAM으로 이동</a:t>
            </a:r>
            <a:endParaRPr lang="en-US" sz="1150" dirty="0"/>
          </a:p>
          <a:p>
            <a:pPr marL="177800" indent="-177800">
              <a:lnSpc>
                <a:spcPct val="108000"/>
              </a:lnSpc>
              <a:spcAft>
                <a:spcPts val="10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부분합 adder tree 개선</a:t>
            </a:r>
            <a:endParaRPr lang="en-US" sz="1150" dirty="0"/>
          </a:p>
          <a:p>
            <a:pPr marL="177800" indent="-177800">
              <a:lnSpc>
                <a:spcPct val="108000"/>
              </a:lnSpc>
              <a:spcAft>
                <a:spcPts val="10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초광폭 AXIS 경로 register slice 검토</a:t>
            </a:r>
            <a:endParaRPr lang="en-US" sz="1150" dirty="0"/>
          </a:p>
          <a:p>
            <a:pPr marL="177800" indent="-177800">
              <a:lnSpc>
                <a:spcPct val="108000"/>
              </a:lnSpc>
              <a:spcAft>
                <a:spcPts val="10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필요 시 floorplan/Pblock 적용</a:t>
            </a:r>
            <a:endParaRPr lang="en-US" sz="1150" dirty="0"/>
          </a:p>
        </p:txBody>
      </p:sp>
      <p:sp>
        <p:nvSpPr>
          <p:cNvPr id="16" name="Shape 14"/>
          <p:cNvSpPr/>
          <p:nvPr/>
        </p:nvSpPr>
        <p:spPr>
          <a:xfrm>
            <a:off x="7936992" y="1527048"/>
            <a:ext cx="164592" cy="914"/>
          </a:xfrm>
          <a:prstGeom prst="line">
            <a:avLst/>
          </a:prstGeom>
          <a:noFill/>
          <a:ln w="19050">
            <a:solidFill>
              <a:srgbClr val="2F5597"/>
            </a:solidFill>
            <a:prstDash val="solid"/>
            <a:tailEnd type="triangle"/>
          </a:ln>
        </p:spPr>
      </p:sp>
      <p:sp>
        <p:nvSpPr>
          <p:cNvPr id="17" name="Shape 15"/>
          <p:cNvSpPr/>
          <p:nvPr/>
        </p:nvSpPr>
        <p:spPr>
          <a:xfrm>
            <a:off x="8119872" y="1143000"/>
            <a:ext cx="3630168" cy="777240"/>
          </a:xfrm>
          <a:prstGeom prst="roundRect">
            <a:avLst>
              <a:gd name="adj" fmla="val 7059"/>
            </a:avLst>
          </a:prstGeom>
          <a:solidFill>
            <a:srgbClr val="2F5597"/>
          </a:solidFill>
          <a:ln/>
        </p:spPr>
      </p:sp>
      <p:sp>
        <p:nvSpPr>
          <p:cNvPr id="18" name="Text 16"/>
          <p:cNvSpPr/>
          <p:nvPr/>
        </p:nvSpPr>
        <p:spPr>
          <a:xfrm>
            <a:off x="8302752" y="1207008"/>
            <a:ext cx="3264408" cy="310896"/>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3단계</a:t>
            </a:r>
            <a:endParaRPr lang="en-US" sz="1500" dirty="0"/>
          </a:p>
        </p:txBody>
      </p:sp>
      <p:sp>
        <p:nvSpPr>
          <p:cNvPr id="19" name="Text 17"/>
          <p:cNvSpPr/>
          <p:nvPr/>
        </p:nvSpPr>
        <p:spPr>
          <a:xfrm>
            <a:off x="8302752" y="1499616"/>
            <a:ext cx="3264408" cy="365760"/>
          </a:xfrm>
          <a:prstGeom prst="rect">
            <a:avLst/>
          </a:prstGeom>
          <a:noFill/>
          <a:ln/>
        </p:spPr>
        <p:txBody>
          <a:bodyPr wrap="square" rtlCol="0" anchor="ctr"/>
          <a:lstStyle/>
          <a:p>
            <a:pPr indent="0" marL="0">
              <a:buNone/>
            </a:pPr>
            <a:r>
              <a:rPr lang="en-US" sz="1200" dirty="0">
                <a:solidFill>
                  <a:srgbClr val="DCE4F7"/>
                </a:solidFill>
                <a:latin typeface="맑은 고딕" pitchFamily="34" charset="0"/>
                <a:ea typeface="맑은 고딕" pitchFamily="34" charset="-122"/>
                <a:cs typeface="맑은 고딕" pitchFamily="34" charset="-120"/>
              </a:rPr>
              <a:t>Bitstream 및 Vitis</a:t>
            </a:r>
            <a:endParaRPr lang="en-US" sz="1200" dirty="0"/>
          </a:p>
        </p:txBody>
      </p:sp>
      <p:sp>
        <p:nvSpPr>
          <p:cNvPr id="20" name="Shape 18"/>
          <p:cNvSpPr/>
          <p:nvPr/>
        </p:nvSpPr>
        <p:spPr>
          <a:xfrm>
            <a:off x="8119872" y="2029968"/>
            <a:ext cx="3630168" cy="4160520"/>
          </a:xfrm>
          <a:prstGeom prst="rect">
            <a:avLst>
              <a:gd name="adj" fmla="val 1259"/>
            </a:avLst>
          </a:prstGeom>
          <a:solidFill>
            <a:srgbClr val="F7F9FC"/>
          </a:solidFill>
          <a:ln w="12700">
            <a:solidFill>
              <a:srgbClr val="D9E0EC"/>
            </a:solidFill>
            <a:prstDash val="solid"/>
          </a:ln>
        </p:spPr>
      </p:sp>
      <p:sp>
        <p:nvSpPr>
          <p:cNvPr id="21" name="Text 19"/>
          <p:cNvSpPr/>
          <p:nvPr/>
        </p:nvSpPr>
        <p:spPr>
          <a:xfrm>
            <a:off x="8321040" y="2194560"/>
            <a:ext cx="3264408" cy="3931920"/>
          </a:xfrm>
          <a:prstGeom prst="rect">
            <a:avLst/>
          </a:prstGeom>
          <a:noFill/>
          <a:ln/>
        </p:spPr>
        <p:txBody>
          <a:bodyPr wrap="square" rtlCol="0" anchor="t"/>
          <a:lstStyle/>
          <a:p>
            <a:pPr marL="177800" indent="-177800">
              <a:lnSpc>
                <a:spcPct val="108000"/>
              </a:lnSpc>
              <a:spcAft>
                <a:spcPts val="10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Legal routing 및 Timing 통과</a:t>
            </a:r>
            <a:endParaRPr lang="en-US" sz="1150" dirty="0"/>
          </a:p>
          <a:p>
            <a:pPr marL="177800" indent="-177800">
              <a:lnSpc>
                <a:spcPct val="108000"/>
              </a:lnSpc>
              <a:spcAft>
                <a:spcPts val="10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Bitstream 생성</a:t>
            </a:r>
            <a:endParaRPr lang="en-US" sz="1150" dirty="0"/>
          </a:p>
          <a:p>
            <a:pPr marL="177800" indent="-177800">
              <a:lnSpc>
                <a:spcPct val="108000"/>
              </a:lnSpc>
              <a:spcAft>
                <a:spcPts val="10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최신 Bitstream 포함 XSA Export</a:t>
            </a:r>
            <a:endParaRPr lang="en-US" sz="1150" dirty="0"/>
          </a:p>
          <a:p>
            <a:pPr marL="177800" indent="-177800">
              <a:lnSpc>
                <a:spcPct val="108000"/>
              </a:lnSpc>
              <a:spcAft>
                <a:spcPts val="10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Vitis Platform 재생성</a:t>
            </a:r>
            <a:endParaRPr lang="en-US" sz="1150" dirty="0"/>
          </a:p>
          <a:p>
            <a:pPr marL="177800" indent="-177800">
              <a:lnSpc>
                <a:spcPct val="108000"/>
              </a:lnSpc>
              <a:spcAft>
                <a:spcPts val="10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AXI-Lite register access 검증</a:t>
            </a:r>
            <a:endParaRPr lang="en-US" sz="1150" dirty="0"/>
          </a:p>
          <a:p>
            <a:pPr marL="177800" indent="-177800">
              <a:lnSpc>
                <a:spcPct val="108000"/>
              </a:lnSpc>
              <a:spcAft>
                <a:spcPts val="10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DMA 전송 및 IP start/done 검증</a:t>
            </a:r>
            <a:endParaRPr lang="en-US" sz="1150" dirty="0"/>
          </a:p>
          <a:p>
            <a:pPr marL="177800" indent="-177800">
              <a:lnSpc>
                <a:spcPct val="108000"/>
              </a:lnSpc>
              <a:spcAft>
                <a:spcPts val="1000"/>
              </a:spcAft>
              <a:buSzPct val="100000"/>
              <a:buChar char="▪"/>
            </a:pPr>
            <a:r>
              <a:rPr lang="en-US" sz="1150" dirty="0">
                <a:solidFill>
                  <a:srgbClr val="1F2A37"/>
                </a:solidFill>
                <a:latin typeface="맑은 고딕" pitchFamily="34" charset="0"/>
                <a:ea typeface="맑은 고딕" pitchFamily="34" charset="-122"/>
                <a:cs typeface="맑은 고딕" pitchFamily="34" charset="-120"/>
              </a:rPr>
              <a:t>Golden output과 FPGA 출력 비교</a:t>
            </a:r>
            <a:endParaRPr lang="en-US" sz="1150" dirty="0"/>
          </a:p>
        </p:txBody>
      </p:sp>
      <p:sp>
        <p:nvSpPr>
          <p:cNvPr id="22" name="Text 20"/>
          <p:cNvSpPr/>
          <p:nvPr/>
        </p:nvSpPr>
        <p:spPr>
          <a:xfrm>
            <a:off x="457200" y="6547104"/>
            <a:ext cx="9875520" cy="256032"/>
          </a:xfrm>
          <a:prstGeom prst="rect">
            <a:avLst/>
          </a:prstGeom>
          <a:noFill/>
          <a:ln/>
        </p:spPr>
        <p:txBody>
          <a:bodyPr wrap="square" rtlCol="0" anchor="ctr"/>
          <a:lstStyle/>
          <a:p>
            <a:pPr indent="0" marL="0">
              <a:buNone/>
            </a:pPr>
            <a:r>
              <a:rPr lang="en-US" sz="900" i="1" dirty="0">
                <a:solidFill>
                  <a:srgbClr val="5B6472"/>
                </a:solidFill>
                <a:latin typeface="맑은 고딕" pitchFamily="34" charset="0"/>
                <a:ea typeface="맑은 고딕" pitchFamily="34" charset="-122"/>
                <a:cs typeface="맑은 고딕" pitchFamily="34" charset="-120"/>
              </a:rPr>
              <a:t>동일 congestion 재현 시 단순 재시도가 아닌 구조 개선으로 대응</a:t>
            </a:r>
            <a:endParaRPr lang="en-US" sz="900" dirty="0"/>
          </a:p>
        </p:txBody>
      </p:sp>
      <p:sp>
        <p:nvSpPr>
          <p:cNvPr id="23" name="Text 21"/>
          <p:cNvSpPr/>
          <p:nvPr/>
        </p:nvSpPr>
        <p:spPr>
          <a:xfrm>
            <a:off x="11064240" y="6547104"/>
            <a:ext cx="685800" cy="256032"/>
          </a:xfrm>
          <a:prstGeom prst="rect">
            <a:avLst/>
          </a:prstGeom>
          <a:noFill/>
          <a:ln/>
        </p:spPr>
        <p:txBody>
          <a:bodyPr wrap="square"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17 / 19</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472C4"/>
          </a:solidFill>
          <a:ln/>
        </p:spPr>
      </p:sp>
      <p:sp>
        <p:nvSpPr>
          <p:cNvPr id="3" name="Text 1"/>
          <p:cNvSpPr/>
          <p:nvPr/>
        </p:nvSpPr>
        <p:spPr>
          <a:xfrm>
            <a:off x="457200" y="182880"/>
            <a:ext cx="9875520" cy="566928"/>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기대 효과 및 최종 목표</a:t>
            </a:r>
            <a:endParaRPr lang="en-US" sz="2600" dirty="0"/>
          </a:p>
        </p:txBody>
      </p:sp>
      <p:sp>
        <p:nvSpPr>
          <p:cNvPr id="4" name="Text 2"/>
          <p:cNvSpPr/>
          <p:nvPr/>
        </p:nvSpPr>
        <p:spPr>
          <a:xfrm>
            <a:off x="10698480" y="73152"/>
            <a:ext cx="1234440" cy="731520"/>
          </a:xfrm>
          <a:prstGeom prst="rect">
            <a:avLst/>
          </a:prstGeom>
          <a:noFill/>
          <a:ln/>
        </p:spPr>
        <p:txBody>
          <a:bodyPr wrap="square" rtlCol="0" anchor="ctr"/>
          <a:lstStyle/>
          <a:p>
            <a:pPr algn="r" indent="0" marL="0">
              <a:buNone/>
            </a:pPr>
            <a:r>
              <a:rPr lang="en-US" sz="3000" b="1" dirty="0">
                <a:solidFill>
                  <a:srgbClr val="9BB3E8"/>
                </a:solidFill>
                <a:latin typeface="Calibri" pitchFamily="34" charset="0"/>
                <a:ea typeface="Calibri" pitchFamily="34" charset="-122"/>
                <a:cs typeface="Calibri" pitchFamily="34" charset="-120"/>
              </a:rPr>
              <a:t>18</a:t>
            </a:r>
            <a:endParaRPr lang="en-US" sz="3000" dirty="0"/>
          </a:p>
        </p:txBody>
      </p:sp>
      <p:sp>
        <p:nvSpPr>
          <p:cNvPr id="5" name="Shape 3"/>
          <p:cNvSpPr/>
          <p:nvPr/>
        </p:nvSpPr>
        <p:spPr>
          <a:xfrm>
            <a:off x="457200" y="1097280"/>
            <a:ext cx="82296" cy="310896"/>
          </a:xfrm>
          <a:prstGeom prst="rect">
            <a:avLst/>
          </a:prstGeom>
          <a:solidFill>
            <a:srgbClr val="4472C4"/>
          </a:solidFill>
          <a:ln/>
        </p:spPr>
      </p:sp>
      <p:sp>
        <p:nvSpPr>
          <p:cNvPr id="6" name="Text 4"/>
          <p:cNvSpPr/>
          <p:nvPr/>
        </p:nvSpPr>
        <p:spPr>
          <a:xfrm>
            <a:off x="621792" y="1069848"/>
            <a:ext cx="523036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기대 효과</a:t>
            </a:r>
            <a:endParaRPr lang="en-US" sz="1600" dirty="0"/>
          </a:p>
        </p:txBody>
      </p:sp>
      <p:sp>
        <p:nvSpPr>
          <p:cNvPr id="7" name="Text 5"/>
          <p:cNvSpPr/>
          <p:nvPr/>
        </p:nvSpPr>
        <p:spPr>
          <a:xfrm>
            <a:off x="502920" y="1481328"/>
            <a:ext cx="5349240" cy="2468880"/>
          </a:xfrm>
          <a:prstGeom prst="rect">
            <a:avLst/>
          </a:prstGeom>
          <a:noFill/>
          <a:ln/>
        </p:spPr>
        <p:txBody>
          <a:bodyPr wrap="square" rtlCol="0" anchor="t"/>
          <a:lstStyle/>
          <a:p>
            <a:pPr marL="177800" indent="-177800">
              <a:lnSpc>
                <a:spcPct val="108000"/>
              </a:lnSpc>
              <a:spcAft>
                <a:spcPts val="1000"/>
              </a:spcAft>
              <a:buSzPct val="100000"/>
              <a:buChar char="▪"/>
            </a:pPr>
            <a:r>
              <a:rPr lang="en-US" sz="1350" dirty="0">
                <a:solidFill>
                  <a:srgbClr val="1F2A37"/>
                </a:solidFill>
                <a:latin typeface="맑은 고딕" pitchFamily="34" charset="0"/>
                <a:ea typeface="맑은 고딕" pitchFamily="34" charset="-122"/>
                <a:cs typeface="맑은 고딕" pitchFamily="34" charset="-120"/>
              </a:rPr>
              <a:t>YOLOv8n C2f 연산의 FPGA 가속</a:t>
            </a:r>
            <a:endParaRPr lang="en-US" sz="1350" dirty="0"/>
          </a:p>
          <a:p>
            <a:pPr marL="177800" indent="-177800">
              <a:lnSpc>
                <a:spcPct val="108000"/>
              </a:lnSpc>
              <a:spcAft>
                <a:spcPts val="1000"/>
              </a:spcAft>
              <a:buSzPct val="100000"/>
              <a:buChar char="▪"/>
            </a:pPr>
            <a:r>
              <a:rPr lang="en-US" sz="1350" dirty="0">
                <a:solidFill>
                  <a:srgbClr val="1F2A37"/>
                </a:solidFill>
                <a:latin typeface="맑은 고딕" pitchFamily="34" charset="0"/>
                <a:ea typeface="맑은 고딕" pitchFamily="34" charset="-122"/>
                <a:cs typeface="맑은 고딕" pitchFamily="34" charset="-120"/>
              </a:rPr>
              <a:t>INT8 기반 연산량 및 메모리 대역폭 절감</a:t>
            </a:r>
            <a:endParaRPr lang="en-US" sz="1350" dirty="0"/>
          </a:p>
          <a:p>
            <a:pPr marL="177800" indent="-177800">
              <a:lnSpc>
                <a:spcPct val="108000"/>
              </a:lnSpc>
              <a:spcAft>
                <a:spcPts val="1000"/>
              </a:spcAft>
              <a:buSzPct val="100000"/>
              <a:buChar char="▪"/>
            </a:pPr>
            <a:r>
              <a:rPr lang="en-US" sz="1350" dirty="0">
                <a:solidFill>
                  <a:srgbClr val="1F2A37"/>
                </a:solidFill>
                <a:latin typeface="맑은 고딕" pitchFamily="34" charset="0"/>
                <a:ea typeface="맑은 고딕" pitchFamily="34" charset="-122"/>
                <a:cs typeface="맑은 고딕" pitchFamily="34" charset="-120"/>
              </a:rPr>
              <a:t>반복 IP 재사용을 통한 자원 효율 향상</a:t>
            </a:r>
            <a:endParaRPr lang="en-US" sz="1350" dirty="0"/>
          </a:p>
          <a:p>
            <a:pPr marL="177800" indent="-177800">
              <a:lnSpc>
                <a:spcPct val="108000"/>
              </a:lnSpc>
              <a:spcAft>
                <a:spcPts val="1000"/>
              </a:spcAft>
              <a:buSzPct val="100000"/>
              <a:buChar char="▪"/>
            </a:pPr>
            <a:r>
              <a:rPr lang="en-US" sz="1350" dirty="0">
                <a:solidFill>
                  <a:srgbClr val="1F2A37"/>
                </a:solidFill>
                <a:latin typeface="맑은 고딕" pitchFamily="34" charset="0"/>
                <a:ea typeface="맑은 고딕" pitchFamily="34" charset="-122"/>
                <a:cs typeface="맑은 고딕" pitchFamily="34" charset="-120"/>
              </a:rPr>
              <a:t>AXI4-Stream 기반 연산 파이프라인 구성</a:t>
            </a:r>
            <a:endParaRPr lang="en-US" sz="1350" dirty="0"/>
          </a:p>
          <a:p>
            <a:pPr marL="177800" indent="-177800">
              <a:lnSpc>
                <a:spcPct val="108000"/>
              </a:lnSpc>
              <a:spcAft>
                <a:spcPts val="1000"/>
              </a:spcAft>
              <a:buSzPct val="100000"/>
              <a:buChar char="▪"/>
            </a:pPr>
            <a:r>
              <a:rPr lang="en-US" sz="1350" dirty="0">
                <a:solidFill>
                  <a:srgbClr val="1F2A37"/>
                </a:solidFill>
                <a:latin typeface="맑은 고딕" pitchFamily="34" charset="0"/>
                <a:ea typeface="맑은 고딕" pitchFamily="34" charset="-122"/>
                <a:cs typeface="맑은 고딕" pitchFamily="34" charset="-120"/>
              </a:rPr>
              <a:t>PS–PL 협업 구조 확보</a:t>
            </a:r>
            <a:endParaRPr lang="en-US" sz="1350" dirty="0"/>
          </a:p>
        </p:txBody>
      </p:sp>
      <p:sp>
        <p:nvSpPr>
          <p:cNvPr id="8" name="Shape 6"/>
          <p:cNvSpPr/>
          <p:nvPr/>
        </p:nvSpPr>
        <p:spPr>
          <a:xfrm>
            <a:off x="457200" y="4160520"/>
            <a:ext cx="82296" cy="310896"/>
          </a:xfrm>
          <a:prstGeom prst="rect">
            <a:avLst/>
          </a:prstGeom>
          <a:solidFill>
            <a:srgbClr val="2F5597"/>
          </a:solidFill>
          <a:ln/>
        </p:spPr>
      </p:sp>
      <p:sp>
        <p:nvSpPr>
          <p:cNvPr id="9" name="Text 7"/>
          <p:cNvSpPr/>
          <p:nvPr/>
        </p:nvSpPr>
        <p:spPr>
          <a:xfrm>
            <a:off x="621792" y="4133088"/>
            <a:ext cx="523036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목표 성능</a:t>
            </a:r>
            <a:endParaRPr lang="en-US" sz="1600" dirty="0"/>
          </a:p>
        </p:txBody>
      </p:sp>
      <p:sp>
        <p:nvSpPr>
          <p:cNvPr id="10" name="Shape 8"/>
          <p:cNvSpPr/>
          <p:nvPr/>
        </p:nvSpPr>
        <p:spPr>
          <a:xfrm>
            <a:off x="502920" y="4526280"/>
            <a:ext cx="2560320" cy="1371600"/>
          </a:xfrm>
          <a:prstGeom prst="roundRect">
            <a:avLst>
              <a:gd name="adj" fmla="val 5333"/>
            </a:avLst>
          </a:prstGeom>
          <a:solidFill>
            <a:srgbClr val="5B6472"/>
          </a:solidFill>
          <a:ln/>
        </p:spPr>
      </p:sp>
      <p:sp>
        <p:nvSpPr>
          <p:cNvPr id="11" name="Text 9"/>
          <p:cNvSpPr/>
          <p:nvPr/>
        </p:nvSpPr>
        <p:spPr>
          <a:xfrm>
            <a:off x="502920" y="4617720"/>
            <a:ext cx="2560320" cy="365760"/>
          </a:xfrm>
          <a:prstGeom prst="rect">
            <a:avLst/>
          </a:prstGeom>
          <a:noFill/>
          <a:ln/>
        </p:spPr>
        <p:txBody>
          <a:bodyPr wrap="square" rtlCol="0" anchor="ctr"/>
          <a:lstStyle/>
          <a:p>
            <a:pPr algn="ctr" indent="0" marL="0">
              <a:buNone/>
            </a:pPr>
            <a:r>
              <a:rPr lang="en-US" sz="1300" dirty="0">
                <a:solidFill>
                  <a:srgbClr val="DCE4F7"/>
                </a:solidFill>
                <a:latin typeface="맑은 고딕" pitchFamily="34" charset="0"/>
                <a:ea typeface="맑은 고딕" pitchFamily="34" charset="-122"/>
                <a:cs typeface="맑은 고딕" pitchFamily="34" charset="-120"/>
              </a:rPr>
              <a:t>기존 Software</a:t>
            </a:r>
            <a:endParaRPr lang="en-US" sz="1300" dirty="0"/>
          </a:p>
        </p:txBody>
      </p:sp>
      <p:sp>
        <p:nvSpPr>
          <p:cNvPr id="12" name="Text 10"/>
          <p:cNvSpPr/>
          <p:nvPr/>
        </p:nvSpPr>
        <p:spPr>
          <a:xfrm>
            <a:off x="502920" y="4937760"/>
            <a:ext cx="2560320" cy="640080"/>
          </a:xfrm>
          <a:prstGeom prst="rect">
            <a:avLst/>
          </a:prstGeom>
          <a:noFill/>
          <a:ln/>
        </p:spPr>
        <p:txBody>
          <a:bodyPr wrap="square" rtlCol="0" anchor="ctr"/>
          <a:lstStyle/>
          <a:p>
            <a:pPr algn="ctr" indent="0" marL="0">
              <a:buNone/>
            </a:pPr>
            <a:r>
              <a:rPr lang="en-US" sz="2600" b="1" dirty="0">
                <a:solidFill>
                  <a:srgbClr val="FFFFFF"/>
                </a:solidFill>
                <a:latin typeface="맑은 고딕" pitchFamily="34" charset="0"/>
                <a:ea typeface="맑은 고딕" pitchFamily="34" charset="-122"/>
                <a:cs typeface="맑은 고딕" pitchFamily="34" charset="-120"/>
              </a:rPr>
              <a:t>약 6 FPS</a:t>
            </a:r>
            <a:endParaRPr lang="en-US" sz="2600" dirty="0"/>
          </a:p>
        </p:txBody>
      </p:sp>
      <p:sp>
        <p:nvSpPr>
          <p:cNvPr id="13" name="Shape 11"/>
          <p:cNvSpPr/>
          <p:nvPr/>
        </p:nvSpPr>
        <p:spPr>
          <a:xfrm>
            <a:off x="3246120" y="4526280"/>
            <a:ext cx="2560320" cy="1371600"/>
          </a:xfrm>
          <a:prstGeom prst="roundRect">
            <a:avLst>
              <a:gd name="adj" fmla="val 5333"/>
            </a:avLst>
          </a:prstGeom>
          <a:solidFill>
            <a:srgbClr val="2F5597"/>
          </a:solidFill>
          <a:ln/>
        </p:spPr>
      </p:sp>
      <p:sp>
        <p:nvSpPr>
          <p:cNvPr id="14" name="Text 12"/>
          <p:cNvSpPr/>
          <p:nvPr/>
        </p:nvSpPr>
        <p:spPr>
          <a:xfrm>
            <a:off x="3246120" y="4617720"/>
            <a:ext cx="2560320" cy="365760"/>
          </a:xfrm>
          <a:prstGeom prst="rect">
            <a:avLst/>
          </a:prstGeom>
          <a:noFill/>
          <a:ln/>
        </p:spPr>
        <p:txBody>
          <a:bodyPr wrap="square" rtlCol="0" anchor="ctr"/>
          <a:lstStyle/>
          <a:p>
            <a:pPr algn="ctr" indent="0" marL="0">
              <a:buNone/>
            </a:pPr>
            <a:r>
              <a:rPr lang="en-US" sz="1300" dirty="0">
                <a:solidFill>
                  <a:srgbClr val="DCE4F7"/>
                </a:solidFill>
                <a:latin typeface="맑은 고딕" pitchFamily="34" charset="0"/>
                <a:ea typeface="맑은 고딕" pitchFamily="34" charset="-122"/>
                <a:cs typeface="맑은 고딕" pitchFamily="34" charset="-120"/>
              </a:rPr>
              <a:t>목표</a:t>
            </a:r>
            <a:endParaRPr lang="en-US" sz="1300" dirty="0"/>
          </a:p>
        </p:txBody>
      </p:sp>
      <p:sp>
        <p:nvSpPr>
          <p:cNvPr id="15" name="Text 13"/>
          <p:cNvSpPr/>
          <p:nvPr/>
        </p:nvSpPr>
        <p:spPr>
          <a:xfrm>
            <a:off x="3246120" y="4937760"/>
            <a:ext cx="2560320" cy="640080"/>
          </a:xfrm>
          <a:prstGeom prst="rect">
            <a:avLst/>
          </a:prstGeom>
          <a:noFill/>
          <a:ln/>
        </p:spPr>
        <p:txBody>
          <a:bodyPr wrap="square" rtlCol="0" anchor="ctr"/>
          <a:lstStyle/>
          <a:p>
            <a:pPr algn="ctr" indent="0" marL="0">
              <a:buNone/>
            </a:pPr>
            <a:r>
              <a:rPr lang="en-US" sz="2600" b="1" dirty="0">
                <a:solidFill>
                  <a:srgbClr val="FFFFFF"/>
                </a:solidFill>
                <a:latin typeface="맑은 고딕" pitchFamily="34" charset="0"/>
                <a:ea typeface="맑은 고딕" pitchFamily="34" charset="-122"/>
                <a:cs typeface="맑은 고딕" pitchFamily="34" charset="-120"/>
              </a:rPr>
              <a:t>15 FPS 이상</a:t>
            </a:r>
            <a:endParaRPr lang="en-US" sz="2600" dirty="0"/>
          </a:p>
        </p:txBody>
      </p:sp>
      <p:sp>
        <p:nvSpPr>
          <p:cNvPr id="16" name="Text 14"/>
          <p:cNvSpPr/>
          <p:nvPr/>
        </p:nvSpPr>
        <p:spPr>
          <a:xfrm>
            <a:off x="502920" y="5989320"/>
            <a:ext cx="5349240" cy="365760"/>
          </a:xfrm>
          <a:prstGeom prst="rect">
            <a:avLst/>
          </a:prstGeom>
          <a:noFill/>
          <a:ln/>
        </p:spPr>
        <p:txBody>
          <a:bodyPr wrap="square" rtlCol="0" anchor="ctr"/>
          <a:lstStyle/>
          <a:p>
            <a:pPr indent="0" marL="0">
              <a:buNone/>
            </a:pPr>
            <a:r>
              <a:rPr lang="en-US" sz="1050" i="1" dirty="0">
                <a:solidFill>
                  <a:srgbClr val="5B6472"/>
                </a:solidFill>
                <a:latin typeface="맑은 고딕" pitchFamily="34" charset="0"/>
                <a:ea typeface="맑은 고딕" pitchFamily="34" charset="-122"/>
                <a:cs typeface="맑은 고딕" pitchFamily="34" charset="-120"/>
              </a:rPr>
              <a:t>실측 결과를 기준으로 최종 성능 평가 (15 FPS는 목표치이며 아직 실측하지 않음)</a:t>
            </a:r>
            <a:endParaRPr lang="en-US" sz="1050" dirty="0"/>
          </a:p>
        </p:txBody>
      </p:sp>
      <p:sp>
        <p:nvSpPr>
          <p:cNvPr id="17" name="Shape 15"/>
          <p:cNvSpPr/>
          <p:nvPr/>
        </p:nvSpPr>
        <p:spPr>
          <a:xfrm>
            <a:off x="6263640" y="1097280"/>
            <a:ext cx="82296" cy="310896"/>
          </a:xfrm>
          <a:prstGeom prst="rect">
            <a:avLst/>
          </a:prstGeom>
          <a:solidFill>
            <a:srgbClr val="2F5597"/>
          </a:solidFill>
          <a:ln/>
        </p:spPr>
      </p:sp>
      <p:sp>
        <p:nvSpPr>
          <p:cNvPr id="18" name="Text 16"/>
          <p:cNvSpPr/>
          <p:nvPr/>
        </p:nvSpPr>
        <p:spPr>
          <a:xfrm>
            <a:off x="6428232" y="1069848"/>
            <a:ext cx="5276088" cy="365760"/>
          </a:xfrm>
          <a:prstGeom prst="rect">
            <a:avLst/>
          </a:prstGeom>
          <a:noFill/>
          <a:ln/>
        </p:spPr>
        <p:txBody>
          <a:bodyPr wrap="square" rtlCol="0" anchor="ctr"/>
          <a:lstStyle/>
          <a:p>
            <a:pPr indent="0" marL="0">
              <a:buNone/>
            </a:pPr>
            <a:r>
              <a:rPr lang="en-US" sz="1600" b="1" dirty="0">
                <a:solidFill>
                  <a:srgbClr val="1F3864"/>
                </a:solidFill>
                <a:latin typeface="맑은 고딕" pitchFamily="34" charset="0"/>
                <a:ea typeface="맑은 고딕" pitchFamily="34" charset="-122"/>
                <a:cs typeface="맑은 고딕" pitchFamily="34" charset="-120"/>
              </a:rPr>
              <a:t>최종 목표 흐름</a:t>
            </a:r>
            <a:endParaRPr lang="en-US" sz="1600" dirty="0"/>
          </a:p>
        </p:txBody>
      </p:sp>
      <p:sp>
        <p:nvSpPr>
          <p:cNvPr id="19" name="Shape 17"/>
          <p:cNvSpPr/>
          <p:nvPr/>
        </p:nvSpPr>
        <p:spPr>
          <a:xfrm>
            <a:off x="6309360" y="1481328"/>
            <a:ext cx="1243584" cy="502920"/>
          </a:xfrm>
          <a:prstGeom prst="roundRect">
            <a:avLst>
              <a:gd name="adj" fmla="val 10909"/>
            </a:avLst>
          </a:prstGeom>
          <a:solidFill>
            <a:srgbClr val="44546A"/>
          </a:solidFill>
          <a:ln w="15875">
            <a:solidFill>
              <a:srgbClr val="44546A"/>
            </a:solidFill>
            <a:prstDash val="solid"/>
          </a:ln>
        </p:spPr>
      </p:sp>
      <p:sp>
        <p:nvSpPr>
          <p:cNvPr id="20" name="Text 18"/>
          <p:cNvSpPr/>
          <p:nvPr/>
        </p:nvSpPr>
        <p:spPr>
          <a:xfrm>
            <a:off x="6336792" y="1508760"/>
            <a:ext cx="1188720" cy="448056"/>
          </a:xfrm>
          <a:prstGeom prst="rect">
            <a:avLst/>
          </a:prstGeom>
          <a:noFill/>
          <a:ln/>
        </p:spPr>
        <p:txBody>
          <a:bodyPr wrap="square" rtlCol="0" anchor="ctr"/>
          <a:lstStyle/>
          <a:p>
            <a:pPr algn="ctr" indent="0" marL="0">
              <a:lnSpc>
                <a:spcPct val="100000"/>
              </a:lnSpc>
              <a:buNone/>
            </a:pPr>
            <a:r>
              <a:rPr lang="en-US" sz="900" b="1" dirty="0">
                <a:solidFill>
                  <a:srgbClr val="FFFFFF"/>
                </a:solidFill>
                <a:latin typeface="맑은 고딕" pitchFamily="34" charset="0"/>
                <a:ea typeface="맑은 고딕" pitchFamily="34" charset="-122"/>
                <a:cs typeface="맑은 고딕" pitchFamily="34" charset="-120"/>
              </a:rPr>
              <a:t>Legal</a:t>
            </a:r>
            <a:endParaRPr lang="en-US" sz="900" dirty="0"/>
          </a:p>
          <a:p>
            <a:pPr algn="ctr" indent="0" marL="0">
              <a:lnSpc>
                <a:spcPct val="100000"/>
              </a:lnSpc>
              <a:buNone/>
            </a:pPr>
            <a:r>
              <a:rPr lang="en-US" sz="900" b="1" dirty="0">
                <a:solidFill>
                  <a:srgbClr val="FFFFFF"/>
                </a:solidFill>
                <a:latin typeface="맑은 고딕" pitchFamily="34" charset="0"/>
                <a:ea typeface="맑은 고딕" pitchFamily="34" charset="-122"/>
                <a:cs typeface="맑은 고딕" pitchFamily="34" charset="-120"/>
              </a:rPr>
              <a:t>Routing</a:t>
            </a:r>
            <a:endParaRPr lang="en-US" sz="900" dirty="0"/>
          </a:p>
        </p:txBody>
      </p:sp>
      <p:sp>
        <p:nvSpPr>
          <p:cNvPr id="21" name="Shape 19"/>
          <p:cNvSpPr/>
          <p:nvPr/>
        </p:nvSpPr>
        <p:spPr>
          <a:xfrm>
            <a:off x="7552944" y="1732788"/>
            <a:ext cx="91440" cy="914"/>
          </a:xfrm>
          <a:prstGeom prst="line">
            <a:avLst/>
          </a:prstGeom>
          <a:noFill/>
          <a:ln w="19050">
            <a:solidFill>
              <a:srgbClr val="8C93A3"/>
            </a:solidFill>
            <a:prstDash val="solid"/>
            <a:tailEnd type="triangle"/>
          </a:ln>
        </p:spPr>
      </p:sp>
      <p:sp>
        <p:nvSpPr>
          <p:cNvPr id="22" name="Shape 20"/>
          <p:cNvSpPr/>
          <p:nvPr/>
        </p:nvSpPr>
        <p:spPr>
          <a:xfrm>
            <a:off x="7644384" y="1481328"/>
            <a:ext cx="1243584" cy="502920"/>
          </a:xfrm>
          <a:prstGeom prst="roundRect">
            <a:avLst>
              <a:gd name="adj" fmla="val 10909"/>
            </a:avLst>
          </a:prstGeom>
          <a:solidFill>
            <a:srgbClr val="44546A"/>
          </a:solidFill>
          <a:ln w="15875">
            <a:solidFill>
              <a:srgbClr val="44546A"/>
            </a:solidFill>
            <a:prstDash val="solid"/>
          </a:ln>
        </p:spPr>
      </p:sp>
      <p:sp>
        <p:nvSpPr>
          <p:cNvPr id="23" name="Text 21"/>
          <p:cNvSpPr/>
          <p:nvPr/>
        </p:nvSpPr>
        <p:spPr>
          <a:xfrm>
            <a:off x="7671816" y="1508760"/>
            <a:ext cx="1188720" cy="448056"/>
          </a:xfrm>
          <a:prstGeom prst="rect">
            <a:avLst/>
          </a:prstGeom>
          <a:noFill/>
          <a:ln/>
        </p:spPr>
        <p:txBody>
          <a:bodyPr wrap="square" rtlCol="0" anchor="ctr"/>
          <a:lstStyle/>
          <a:p>
            <a:pPr algn="ctr" indent="0" marL="0">
              <a:lnSpc>
                <a:spcPct val="100000"/>
              </a:lnSpc>
              <a:buNone/>
            </a:pPr>
            <a:r>
              <a:rPr lang="en-US" sz="900" b="1" dirty="0">
                <a:solidFill>
                  <a:srgbClr val="FFFFFF"/>
                </a:solidFill>
                <a:latin typeface="맑은 고딕" pitchFamily="34" charset="0"/>
                <a:ea typeface="맑은 고딕" pitchFamily="34" charset="-122"/>
                <a:cs typeface="맑은 고딕" pitchFamily="34" charset="-120"/>
              </a:rPr>
              <a:t>Timing</a:t>
            </a:r>
            <a:endParaRPr lang="en-US" sz="900" dirty="0"/>
          </a:p>
          <a:p>
            <a:pPr algn="ctr" indent="0" marL="0">
              <a:lnSpc>
                <a:spcPct val="100000"/>
              </a:lnSpc>
              <a:buNone/>
            </a:pPr>
            <a:r>
              <a:rPr lang="en-US" sz="900" b="1" dirty="0">
                <a:solidFill>
                  <a:srgbClr val="FFFFFF"/>
                </a:solidFill>
                <a:latin typeface="맑은 고딕" pitchFamily="34" charset="0"/>
                <a:ea typeface="맑은 고딕" pitchFamily="34" charset="-122"/>
                <a:cs typeface="맑은 고딕" pitchFamily="34" charset="-120"/>
              </a:rPr>
              <a:t>Closure</a:t>
            </a:r>
            <a:endParaRPr lang="en-US" sz="900" dirty="0"/>
          </a:p>
        </p:txBody>
      </p:sp>
      <p:sp>
        <p:nvSpPr>
          <p:cNvPr id="24" name="Shape 22"/>
          <p:cNvSpPr/>
          <p:nvPr/>
        </p:nvSpPr>
        <p:spPr>
          <a:xfrm>
            <a:off x="8887968" y="1732788"/>
            <a:ext cx="91440" cy="914"/>
          </a:xfrm>
          <a:prstGeom prst="line">
            <a:avLst/>
          </a:prstGeom>
          <a:noFill/>
          <a:ln w="19050">
            <a:solidFill>
              <a:srgbClr val="8C93A3"/>
            </a:solidFill>
            <a:prstDash val="solid"/>
            <a:tailEnd type="triangle"/>
          </a:ln>
        </p:spPr>
      </p:sp>
      <p:sp>
        <p:nvSpPr>
          <p:cNvPr id="25" name="Shape 23"/>
          <p:cNvSpPr/>
          <p:nvPr/>
        </p:nvSpPr>
        <p:spPr>
          <a:xfrm>
            <a:off x="8979408" y="1481328"/>
            <a:ext cx="1243584" cy="502920"/>
          </a:xfrm>
          <a:prstGeom prst="roundRect">
            <a:avLst>
              <a:gd name="adj" fmla="val 10909"/>
            </a:avLst>
          </a:prstGeom>
          <a:solidFill>
            <a:srgbClr val="44546A"/>
          </a:solidFill>
          <a:ln w="15875">
            <a:solidFill>
              <a:srgbClr val="44546A"/>
            </a:solidFill>
            <a:prstDash val="solid"/>
          </a:ln>
        </p:spPr>
      </p:sp>
      <p:sp>
        <p:nvSpPr>
          <p:cNvPr id="26" name="Text 24"/>
          <p:cNvSpPr/>
          <p:nvPr/>
        </p:nvSpPr>
        <p:spPr>
          <a:xfrm>
            <a:off x="9006840" y="1508760"/>
            <a:ext cx="1188720" cy="448056"/>
          </a:xfrm>
          <a:prstGeom prst="rect">
            <a:avLst/>
          </a:prstGeom>
          <a:noFill/>
          <a:ln/>
        </p:spPr>
        <p:txBody>
          <a:bodyPr wrap="square" rtlCol="0" anchor="ctr"/>
          <a:lstStyle/>
          <a:p>
            <a:pPr algn="ctr" indent="0" marL="0">
              <a:lnSpc>
                <a:spcPct val="100000"/>
              </a:lnSpc>
              <a:buNone/>
            </a:pPr>
            <a:r>
              <a:rPr lang="en-US" sz="900" b="1" dirty="0">
                <a:solidFill>
                  <a:srgbClr val="FFFFFF"/>
                </a:solidFill>
                <a:latin typeface="맑은 고딕" pitchFamily="34" charset="0"/>
                <a:ea typeface="맑은 고딕" pitchFamily="34" charset="-122"/>
                <a:cs typeface="맑은 고딕" pitchFamily="34" charset="-120"/>
              </a:rPr>
              <a:t>Bitstream</a:t>
            </a:r>
            <a:endParaRPr lang="en-US" sz="900" dirty="0"/>
          </a:p>
        </p:txBody>
      </p:sp>
      <p:sp>
        <p:nvSpPr>
          <p:cNvPr id="27" name="Shape 25"/>
          <p:cNvSpPr/>
          <p:nvPr/>
        </p:nvSpPr>
        <p:spPr>
          <a:xfrm>
            <a:off x="10222992" y="1732788"/>
            <a:ext cx="91440" cy="914"/>
          </a:xfrm>
          <a:prstGeom prst="line">
            <a:avLst/>
          </a:prstGeom>
          <a:noFill/>
          <a:ln w="19050">
            <a:solidFill>
              <a:srgbClr val="8C93A3"/>
            </a:solidFill>
            <a:prstDash val="solid"/>
            <a:tailEnd type="triangle"/>
          </a:ln>
        </p:spPr>
      </p:sp>
      <p:sp>
        <p:nvSpPr>
          <p:cNvPr id="28" name="Shape 26"/>
          <p:cNvSpPr/>
          <p:nvPr/>
        </p:nvSpPr>
        <p:spPr>
          <a:xfrm>
            <a:off x="10314432" y="1481328"/>
            <a:ext cx="1243584" cy="502920"/>
          </a:xfrm>
          <a:prstGeom prst="roundRect">
            <a:avLst>
              <a:gd name="adj" fmla="val 10909"/>
            </a:avLst>
          </a:prstGeom>
          <a:solidFill>
            <a:srgbClr val="44546A"/>
          </a:solidFill>
          <a:ln w="15875">
            <a:solidFill>
              <a:srgbClr val="44546A"/>
            </a:solidFill>
            <a:prstDash val="solid"/>
          </a:ln>
        </p:spPr>
      </p:sp>
      <p:sp>
        <p:nvSpPr>
          <p:cNvPr id="29" name="Text 27"/>
          <p:cNvSpPr/>
          <p:nvPr/>
        </p:nvSpPr>
        <p:spPr>
          <a:xfrm>
            <a:off x="10341864" y="1508760"/>
            <a:ext cx="1188720" cy="448056"/>
          </a:xfrm>
          <a:prstGeom prst="rect">
            <a:avLst/>
          </a:prstGeom>
          <a:noFill/>
          <a:ln/>
        </p:spPr>
        <p:txBody>
          <a:bodyPr wrap="square" rtlCol="0" anchor="ctr"/>
          <a:lstStyle/>
          <a:p>
            <a:pPr algn="ctr" indent="0" marL="0">
              <a:lnSpc>
                <a:spcPct val="100000"/>
              </a:lnSpc>
              <a:buNone/>
            </a:pPr>
            <a:r>
              <a:rPr lang="en-US" sz="900" b="1" dirty="0">
                <a:solidFill>
                  <a:srgbClr val="FFFFFF"/>
                </a:solidFill>
                <a:latin typeface="맑은 고딕" pitchFamily="34" charset="0"/>
                <a:ea typeface="맑은 고딕" pitchFamily="34" charset="-122"/>
                <a:cs typeface="맑은 고딕" pitchFamily="34" charset="-120"/>
              </a:rPr>
              <a:t>XSA/HWH</a:t>
            </a:r>
            <a:endParaRPr lang="en-US" sz="900" dirty="0"/>
          </a:p>
          <a:p>
            <a:pPr algn="ctr" indent="0" marL="0">
              <a:lnSpc>
                <a:spcPct val="100000"/>
              </a:lnSpc>
              <a:buNone/>
            </a:pPr>
            <a:r>
              <a:rPr lang="en-US" sz="900" b="1" dirty="0">
                <a:solidFill>
                  <a:srgbClr val="FFFFFF"/>
                </a:solidFill>
                <a:latin typeface="맑은 고딕" pitchFamily="34" charset="0"/>
                <a:ea typeface="맑은 고딕" pitchFamily="34" charset="-122"/>
                <a:cs typeface="맑은 고딕" pitchFamily="34" charset="-120"/>
              </a:rPr>
              <a:t>Export</a:t>
            </a:r>
            <a:endParaRPr lang="en-US" sz="900" dirty="0"/>
          </a:p>
        </p:txBody>
      </p:sp>
      <p:sp>
        <p:nvSpPr>
          <p:cNvPr id="30" name="Shape 28"/>
          <p:cNvSpPr/>
          <p:nvPr/>
        </p:nvSpPr>
        <p:spPr>
          <a:xfrm>
            <a:off x="10936224" y="1984248"/>
            <a:ext cx="914" cy="292608"/>
          </a:xfrm>
          <a:prstGeom prst="line">
            <a:avLst/>
          </a:prstGeom>
          <a:noFill/>
          <a:ln w="19050">
            <a:solidFill>
              <a:srgbClr val="8C93A3"/>
            </a:solidFill>
            <a:prstDash val="solid"/>
            <a:tailEnd type="triangle"/>
          </a:ln>
        </p:spPr>
      </p:sp>
      <p:sp>
        <p:nvSpPr>
          <p:cNvPr id="31" name="Shape 29"/>
          <p:cNvSpPr/>
          <p:nvPr/>
        </p:nvSpPr>
        <p:spPr>
          <a:xfrm>
            <a:off x="10314432" y="2276856"/>
            <a:ext cx="1243584" cy="502920"/>
          </a:xfrm>
          <a:prstGeom prst="roundRect">
            <a:avLst>
              <a:gd name="adj" fmla="val 10909"/>
            </a:avLst>
          </a:prstGeom>
          <a:solidFill>
            <a:srgbClr val="44546A"/>
          </a:solidFill>
          <a:ln w="15875">
            <a:solidFill>
              <a:srgbClr val="44546A"/>
            </a:solidFill>
            <a:prstDash val="solid"/>
          </a:ln>
        </p:spPr>
      </p:sp>
      <p:sp>
        <p:nvSpPr>
          <p:cNvPr id="32" name="Text 30"/>
          <p:cNvSpPr/>
          <p:nvPr/>
        </p:nvSpPr>
        <p:spPr>
          <a:xfrm>
            <a:off x="10341864" y="2304288"/>
            <a:ext cx="1188720" cy="448056"/>
          </a:xfrm>
          <a:prstGeom prst="rect">
            <a:avLst/>
          </a:prstGeom>
          <a:noFill/>
          <a:ln/>
        </p:spPr>
        <p:txBody>
          <a:bodyPr wrap="square" rtlCol="0" anchor="ctr"/>
          <a:lstStyle/>
          <a:p>
            <a:pPr algn="ctr" indent="0" marL="0">
              <a:lnSpc>
                <a:spcPct val="100000"/>
              </a:lnSpc>
              <a:buNone/>
            </a:pPr>
            <a:r>
              <a:rPr lang="en-US" sz="900" b="1" dirty="0">
                <a:solidFill>
                  <a:srgbClr val="FFFFFF"/>
                </a:solidFill>
                <a:latin typeface="맑은 고딕" pitchFamily="34" charset="0"/>
                <a:ea typeface="맑은 고딕" pitchFamily="34" charset="-122"/>
                <a:cs typeface="맑은 고딕" pitchFamily="34" charset="-120"/>
              </a:rPr>
              <a:t>Vitis</a:t>
            </a:r>
            <a:endParaRPr lang="en-US" sz="900" dirty="0"/>
          </a:p>
          <a:p>
            <a:pPr algn="ctr" indent="0" marL="0">
              <a:lnSpc>
                <a:spcPct val="100000"/>
              </a:lnSpc>
              <a:buNone/>
            </a:pPr>
            <a:r>
              <a:rPr lang="en-US" sz="900" b="1" dirty="0">
                <a:solidFill>
                  <a:srgbClr val="FFFFFF"/>
                </a:solidFill>
                <a:latin typeface="맑은 고딕" pitchFamily="34" charset="0"/>
                <a:ea typeface="맑은 고딕" pitchFamily="34" charset="-122"/>
                <a:cs typeface="맑은 고딕" pitchFamily="34" charset="-120"/>
              </a:rPr>
              <a:t>제어</a:t>
            </a:r>
            <a:endParaRPr lang="en-US" sz="900" dirty="0"/>
          </a:p>
        </p:txBody>
      </p:sp>
      <p:sp>
        <p:nvSpPr>
          <p:cNvPr id="33" name="Shape 31"/>
          <p:cNvSpPr/>
          <p:nvPr/>
        </p:nvSpPr>
        <p:spPr>
          <a:xfrm flipH="1">
            <a:off x="10222992" y="2528316"/>
            <a:ext cx="91440" cy="914"/>
          </a:xfrm>
          <a:prstGeom prst="line">
            <a:avLst/>
          </a:prstGeom>
          <a:noFill/>
          <a:ln w="19050">
            <a:solidFill>
              <a:srgbClr val="8C93A3"/>
            </a:solidFill>
            <a:prstDash val="solid"/>
            <a:tailEnd type="triangle"/>
          </a:ln>
        </p:spPr>
      </p:sp>
      <p:sp>
        <p:nvSpPr>
          <p:cNvPr id="34" name="Shape 32"/>
          <p:cNvSpPr/>
          <p:nvPr/>
        </p:nvSpPr>
        <p:spPr>
          <a:xfrm>
            <a:off x="8979408" y="2276856"/>
            <a:ext cx="1243584" cy="502920"/>
          </a:xfrm>
          <a:prstGeom prst="roundRect">
            <a:avLst>
              <a:gd name="adj" fmla="val 10909"/>
            </a:avLst>
          </a:prstGeom>
          <a:solidFill>
            <a:srgbClr val="44546A"/>
          </a:solidFill>
          <a:ln w="15875">
            <a:solidFill>
              <a:srgbClr val="44546A"/>
            </a:solidFill>
            <a:prstDash val="solid"/>
          </a:ln>
        </p:spPr>
      </p:sp>
      <p:sp>
        <p:nvSpPr>
          <p:cNvPr id="35" name="Text 33"/>
          <p:cNvSpPr/>
          <p:nvPr/>
        </p:nvSpPr>
        <p:spPr>
          <a:xfrm>
            <a:off x="9006840" y="2304288"/>
            <a:ext cx="1188720" cy="448056"/>
          </a:xfrm>
          <a:prstGeom prst="rect">
            <a:avLst/>
          </a:prstGeom>
          <a:noFill/>
          <a:ln/>
        </p:spPr>
        <p:txBody>
          <a:bodyPr wrap="square" rtlCol="0" anchor="ctr"/>
          <a:lstStyle/>
          <a:p>
            <a:pPr algn="ctr" indent="0" marL="0">
              <a:lnSpc>
                <a:spcPct val="100000"/>
              </a:lnSpc>
              <a:buNone/>
            </a:pPr>
            <a:r>
              <a:rPr lang="en-US" sz="900" b="1" dirty="0">
                <a:solidFill>
                  <a:srgbClr val="FFFFFF"/>
                </a:solidFill>
                <a:latin typeface="맑은 고딕" pitchFamily="34" charset="0"/>
                <a:ea typeface="맑은 고딕" pitchFamily="34" charset="-122"/>
                <a:cs typeface="맑은 고딕" pitchFamily="34" charset="-120"/>
              </a:rPr>
              <a:t>KV260</a:t>
            </a:r>
            <a:endParaRPr lang="en-US" sz="900" dirty="0"/>
          </a:p>
          <a:p>
            <a:pPr algn="ctr" indent="0" marL="0">
              <a:lnSpc>
                <a:spcPct val="100000"/>
              </a:lnSpc>
              <a:buNone/>
            </a:pPr>
            <a:r>
              <a:rPr lang="en-US" sz="900" b="1" dirty="0">
                <a:solidFill>
                  <a:srgbClr val="FFFFFF"/>
                </a:solidFill>
                <a:latin typeface="맑은 고딕" pitchFamily="34" charset="0"/>
                <a:ea typeface="맑은 고딕" pitchFamily="34" charset="-122"/>
                <a:cs typeface="맑은 고딕" pitchFamily="34" charset="-120"/>
              </a:rPr>
              <a:t>보드 실행</a:t>
            </a:r>
            <a:endParaRPr lang="en-US" sz="900" dirty="0"/>
          </a:p>
        </p:txBody>
      </p:sp>
      <p:sp>
        <p:nvSpPr>
          <p:cNvPr id="36" name="Shape 34"/>
          <p:cNvSpPr/>
          <p:nvPr/>
        </p:nvSpPr>
        <p:spPr>
          <a:xfrm flipH="1">
            <a:off x="8887968" y="2528316"/>
            <a:ext cx="91440" cy="914"/>
          </a:xfrm>
          <a:prstGeom prst="line">
            <a:avLst/>
          </a:prstGeom>
          <a:noFill/>
          <a:ln w="19050">
            <a:solidFill>
              <a:srgbClr val="8C93A3"/>
            </a:solidFill>
            <a:prstDash val="solid"/>
            <a:tailEnd type="triangle"/>
          </a:ln>
        </p:spPr>
      </p:sp>
      <p:sp>
        <p:nvSpPr>
          <p:cNvPr id="37" name="Shape 35"/>
          <p:cNvSpPr/>
          <p:nvPr/>
        </p:nvSpPr>
        <p:spPr>
          <a:xfrm>
            <a:off x="7644384" y="2276856"/>
            <a:ext cx="1243584" cy="502920"/>
          </a:xfrm>
          <a:prstGeom prst="roundRect">
            <a:avLst>
              <a:gd name="adj" fmla="val 10909"/>
            </a:avLst>
          </a:prstGeom>
          <a:solidFill>
            <a:srgbClr val="44546A"/>
          </a:solidFill>
          <a:ln w="15875">
            <a:solidFill>
              <a:srgbClr val="44546A"/>
            </a:solidFill>
            <a:prstDash val="solid"/>
          </a:ln>
        </p:spPr>
      </p:sp>
      <p:sp>
        <p:nvSpPr>
          <p:cNvPr id="38" name="Text 36"/>
          <p:cNvSpPr/>
          <p:nvPr/>
        </p:nvSpPr>
        <p:spPr>
          <a:xfrm>
            <a:off x="7671816" y="2304288"/>
            <a:ext cx="1188720" cy="448056"/>
          </a:xfrm>
          <a:prstGeom prst="rect">
            <a:avLst/>
          </a:prstGeom>
          <a:noFill/>
          <a:ln/>
        </p:spPr>
        <p:txBody>
          <a:bodyPr wrap="square" rtlCol="0" anchor="ctr"/>
          <a:lstStyle/>
          <a:p>
            <a:pPr algn="ctr" indent="0" marL="0">
              <a:lnSpc>
                <a:spcPct val="100000"/>
              </a:lnSpc>
              <a:buNone/>
            </a:pPr>
            <a:r>
              <a:rPr lang="en-US" sz="900" b="1" dirty="0">
                <a:solidFill>
                  <a:srgbClr val="FFFFFF"/>
                </a:solidFill>
                <a:latin typeface="맑은 고딕" pitchFamily="34" charset="0"/>
                <a:ea typeface="맑은 고딕" pitchFamily="34" charset="-122"/>
                <a:cs typeface="맑은 고딕" pitchFamily="34" charset="-120"/>
              </a:rPr>
              <a:t>Golden</a:t>
            </a:r>
            <a:endParaRPr lang="en-US" sz="900" dirty="0"/>
          </a:p>
          <a:p>
            <a:pPr algn="ctr" indent="0" marL="0">
              <a:lnSpc>
                <a:spcPct val="100000"/>
              </a:lnSpc>
              <a:buNone/>
            </a:pPr>
            <a:r>
              <a:rPr lang="en-US" sz="900" b="1" dirty="0">
                <a:solidFill>
                  <a:srgbClr val="FFFFFF"/>
                </a:solidFill>
                <a:latin typeface="맑은 고딕" pitchFamily="34" charset="0"/>
                <a:ea typeface="맑은 고딕" pitchFamily="34" charset="-122"/>
                <a:cs typeface="맑은 고딕" pitchFamily="34" charset="-120"/>
              </a:rPr>
              <a:t>비교</a:t>
            </a:r>
            <a:endParaRPr lang="en-US" sz="900" dirty="0"/>
          </a:p>
        </p:txBody>
      </p:sp>
      <p:sp>
        <p:nvSpPr>
          <p:cNvPr id="39" name="Shape 37"/>
          <p:cNvSpPr/>
          <p:nvPr/>
        </p:nvSpPr>
        <p:spPr>
          <a:xfrm flipH="1">
            <a:off x="7552944" y="2528316"/>
            <a:ext cx="91440" cy="914"/>
          </a:xfrm>
          <a:prstGeom prst="line">
            <a:avLst/>
          </a:prstGeom>
          <a:noFill/>
          <a:ln w="19050">
            <a:solidFill>
              <a:srgbClr val="8C93A3"/>
            </a:solidFill>
            <a:prstDash val="solid"/>
            <a:tailEnd type="triangle"/>
          </a:ln>
        </p:spPr>
      </p:sp>
      <p:sp>
        <p:nvSpPr>
          <p:cNvPr id="40" name="Shape 38"/>
          <p:cNvSpPr/>
          <p:nvPr/>
        </p:nvSpPr>
        <p:spPr>
          <a:xfrm>
            <a:off x="6309360" y="2276856"/>
            <a:ext cx="1243584" cy="502920"/>
          </a:xfrm>
          <a:prstGeom prst="roundRect">
            <a:avLst>
              <a:gd name="adj" fmla="val 10909"/>
            </a:avLst>
          </a:prstGeom>
          <a:solidFill>
            <a:srgbClr val="44546A"/>
          </a:solidFill>
          <a:ln w="15875">
            <a:solidFill>
              <a:srgbClr val="44546A"/>
            </a:solidFill>
            <a:prstDash val="solid"/>
          </a:ln>
        </p:spPr>
      </p:sp>
      <p:sp>
        <p:nvSpPr>
          <p:cNvPr id="41" name="Text 39"/>
          <p:cNvSpPr/>
          <p:nvPr/>
        </p:nvSpPr>
        <p:spPr>
          <a:xfrm>
            <a:off x="6336792" y="2304288"/>
            <a:ext cx="1188720" cy="448056"/>
          </a:xfrm>
          <a:prstGeom prst="rect">
            <a:avLst/>
          </a:prstGeom>
          <a:noFill/>
          <a:ln/>
        </p:spPr>
        <p:txBody>
          <a:bodyPr wrap="square" rtlCol="0" anchor="ctr"/>
          <a:lstStyle/>
          <a:p>
            <a:pPr algn="ctr" indent="0" marL="0">
              <a:lnSpc>
                <a:spcPct val="100000"/>
              </a:lnSpc>
              <a:buNone/>
            </a:pPr>
            <a:r>
              <a:rPr lang="en-US" sz="900" b="1" dirty="0">
                <a:solidFill>
                  <a:srgbClr val="FFFFFF"/>
                </a:solidFill>
                <a:latin typeface="맑은 고딕" pitchFamily="34" charset="0"/>
                <a:ea typeface="맑은 고딕" pitchFamily="34" charset="-122"/>
                <a:cs typeface="맑은 고딕" pitchFamily="34" charset="-120"/>
              </a:rPr>
              <a:t>Latency/</a:t>
            </a:r>
            <a:endParaRPr lang="en-US" sz="900" dirty="0"/>
          </a:p>
          <a:p>
            <a:pPr algn="ctr" indent="0" marL="0">
              <a:lnSpc>
                <a:spcPct val="100000"/>
              </a:lnSpc>
              <a:buNone/>
            </a:pPr>
            <a:r>
              <a:rPr lang="en-US" sz="900" b="1" dirty="0">
                <a:solidFill>
                  <a:srgbClr val="FFFFFF"/>
                </a:solidFill>
                <a:latin typeface="맑은 고딕" pitchFamily="34" charset="0"/>
                <a:ea typeface="맑은 고딕" pitchFamily="34" charset="-122"/>
                <a:cs typeface="맑은 고딕" pitchFamily="34" charset="-120"/>
              </a:rPr>
              <a:t>FPS 실측</a:t>
            </a:r>
            <a:endParaRPr lang="en-US" sz="900" dirty="0"/>
          </a:p>
        </p:txBody>
      </p:sp>
      <p:sp>
        <p:nvSpPr>
          <p:cNvPr id="42" name="Shape 40"/>
          <p:cNvSpPr/>
          <p:nvPr/>
        </p:nvSpPr>
        <p:spPr>
          <a:xfrm>
            <a:off x="6263640" y="4023360"/>
            <a:ext cx="5440680" cy="1874520"/>
          </a:xfrm>
          <a:prstGeom prst="rect">
            <a:avLst>
              <a:gd name="adj" fmla="val 2927"/>
            </a:avLst>
          </a:prstGeom>
          <a:solidFill>
            <a:srgbClr val="EFF3FB"/>
          </a:solidFill>
          <a:ln w="12700">
            <a:solidFill>
              <a:srgbClr val="D9E0EC"/>
            </a:solidFill>
            <a:prstDash val="solid"/>
          </a:ln>
        </p:spPr>
      </p:sp>
      <p:sp>
        <p:nvSpPr>
          <p:cNvPr id="43" name="Text 41"/>
          <p:cNvSpPr/>
          <p:nvPr/>
        </p:nvSpPr>
        <p:spPr>
          <a:xfrm>
            <a:off x="6492240" y="4023360"/>
            <a:ext cx="4983480" cy="1874520"/>
          </a:xfrm>
          <a:prstGeom prst="rect">
            <a:avLst/>
          </a:prstGeom>
          <a:noFill/>
          <a:ln/>
        </p:spPr>
        <p:txBody>
          <a:bodyPr wrap="square" rtlCol="0" anchor="ctr"/>
          <a:lstStyle/>
          <a:p>
            <a:pPr algn="l" indent="0" marL="0">
              <a:buNone/>
            </a:pPr>
            <a:r>
              <a:rPr lang="en-US" sz="1250" dirty="0">
                <a:solidFill>
                  <a:srgbClr val="1F3864"/>
                </a:solidFill>
                <a:latin typeface="맑은 고딕" pitchFamily="34" charset="0"/>
                <a:ea typeface="맑은 고딕" pitchFamily="34" charset="-122"/>
                <a:cs typeface="맑은 고딕" pitchFamily="34" charset="-120"/>
              </a:rPr>
              <a:t>최종적으로 Bitstream 생성 자체뿐 아니라 실제 KV260</a:t>
            </a:r>
            <a:endParaRPr lang="en-US" sz="1250" dirty="0"/>
          </a:p>
          <a:p>
            <a:pPr algn="l" indent="0" marL="0">
              <a:buNone/>
            </a:pPr>
            <a:r>
              <a:rPr lang="en-US" sz="1250" dirty="0">
                <a:solidFill>
                  <a:srgbClr val="1F3864"/>
                </a:solidFill>
                <a:latin typeface="맑은 고딕" pitchFamily="34" charset="0"/>
                <a:ea typeface="맑은 고딕" pitchFamily="34" charset="-122"/>
                <a:cs typeface="맑은 고딕" pitchFamily="34" charset="-120"/>
              </a:rPr>
              <a:t>보드에서 입력과 weight를 전달하고, IP 실행 결과를</a:t>
            </a:r>
            <a:endParaRPr lang="en-US" sz="1250" dirty="0"/>
          </a:p>
          <a:p>
            <a:pPr algn="l" indent="0" marL="0">
              <a:buNone/>
            </a:pPr>
            <a:r>
              <a:rPr lang="en-US" sz="1250" dirty="0">
                <a:solidFill>
                  <a:srgbClr val="1F3864"/>
                </a:solidFill>
                <a:latin typeface="맑은 고딕" pitchFamily="34" charset="0"/>
                <a:ea typeface="맑은 고딕" pitchFamily="34" charset="-122"/>
                <a:cs typeface="맑은 고딕" pitchFamily="34" charset="-120"/>
              </a:rPr>
              <a:t>Golden 데이터와 비교한 뒤 실측 FPS를 평가하는 것을</a:t>
            </a:r>
            <a:endParaRPr lang="en-US" sz="1250" dirty="0"/>
          </a:p>
          <a:p>
            <a:pPr algn="l" indent="0" marL="0">
              <a:buNone/>
            </a:pPr>
            <a:r>
              <a:rPr lang="en-US" sz="1250" dirty="0">
                <a:solidFill>
                  <a:srgbClr val="1F3864"/>
                </a:solidFill>
                <a:latin typeface="맑은 고딕" pitchFamily="34" charset="0"/>
                <a:ea typeface="맑은 고딕" pitchFamily="34" charset="-122"/>
                <a:cs typeface="맑은 고딕" pitchFamily="34" charset="-120"/>
              </a:rPr>
              <a:t>완료 기준으로 삼고 있습니다.</a:t>
            </a:r>
            <a:endParaRPr lang="en-US" sz="1250" dirty="0"/>
          </a:p>
        </p:txBody>
      </p:sp>
      <p:sp>
        <p:nvSpPr>
          <p:cNvPr id="44" name="Text 42"/>
          <p:cNvSpPr/>
          <p:nvPr/>
        </p:nvSpPr>
        <p:spPr>
          <a:xfrm>
            <a:off x="457200" y="6547104"/>
            <a:ext cx="9875520" cy="256032"/>
          </a:xfrm>
          <a:prstGeom prst="rect">
            <a:avLst/>
          </a:prstGeom>
          <a:noFill/>
          <a:ln/>
        </p:spPr>
        <p:txBody>
          <a:bodyPr wrap="square" rtlCol="0" anchor="ctr"/>
          <a:lstStyle/>
          <a:p>
            <a:pPr indent="0" marL="0">
              <a:buNone/>
            </a:pPr>
            <a:r>
              <a:rPr lang="en-US" sz="900" dirty="0">
                <a:solidFill>
                  <a:srgbClr val="C9CFDA"/>
                </a:solidFill>
                <a:latin typeface="맑은 고딕" pitchFamily="34" charset="0"/>
                <a:ea typeface="맑은 고딕" pitchFamily="34" charset="-122"/>
                <a:cs typeface="맑은 고딕" pitchFamily="34" charset="-120"/>
              </a:rPr>
              <a:t>PPE Accelerator · 중간발표</a:t>
            </a:r>
            <a:endParaRPr lang="en-US" sz="900" dirty="0"/>
          </a:p>
        </p:txBody>
      </p:sp>
      <p:sp>
        <p:nvSpPr>
          <p:cNvPr id="45" name="Text 43"/>
          <p:cNvSpPr/>
          <p:nvPr/>
        </p:nvSpPr>
        <p:spPr>
          <a:xfrm>
            <a:off x="11064240" y="6547104"/>
            <a:ext cx="685800" cy="256032"/>
          </a:xfrm>
          <a:prstGeom prst="rect">
            <a:avLst/>
          </a:prstGeom>
          <a:noFill/>
          <a:ln/>
        </p:spPr>
        <p:txBody>
          <a:bodyPr wrap="square"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18 / 19</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472C4"/>
          </a:solidFill>
          <a:ln/>
        </p:spPr>
      </p:sp>
      <p:sp>
        <p:nvSpPr>
          <p:cNvPr id="3" name="Text 1"/>
          <p:cNvSpPr/>
          <p:nvPr/>
        </p:nvSpPr>
        <p:spPr>
          <a:xfrm>
            <a:off x="10698480" y="73152"/>
            <a:ext cx="1234440" cy="731520"/>
          </a:xfrm>
          <a:prstGeom prst="rect">
            <a:avLst/>
          </a:prstGeom>
          <a:noFill/>
          <a:ln/>
        </p:spPr>
        <p:txBody>
          <a:bodyPr wrap="square" rtlCol="0" anchor="ctr"/>
          <a:lstStyle/>
          <a:p>
            <a:pPr algn="r" indent="0" marL="0">
              <a:buNone/>
            </a:pPr>
            <a:r>
              <a:rPr lang="en-US" sz="3000" b="1" dirty="0">
                <a:solidFill>
                  <a:srgbClr val="9BB3E8"/>
                </a:solidFill>
                <a:latin typeface="Calibri" pitchFamily="34" charset="0"/>
                <a:ea typeface="Calibri" pitchFamily="34" charset="-122"/>
                <a:cs typeface="Calibri" pitchFamily="34" charset="-120"/>
              </a:rPr>
              <a:t>19</a:t>
            </a:r>
            <a:endParaRPr lang="en-US" sz="3000" dirty="0"/>
          </a:p>
        </p:txBody>
      </p:sp>
      <p:sp>
        <p:nvSpPr>
          <p:cNvPr id="4" name="Text 2"/>
          <p:cNvSpPr/>
          <p:nvPr/>
        </p:nvSpPr>
        <p:spPr>
          <a:xfrm>
            <a:off x="457200" y="182880"/>
            <a:ext cx="9875520" cy="566928"/>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결론</a:t>
            </a:r>
            <a:endParaRPr lang="en-US" sz="2600" dirty="0"/>
          </a:p>
        </p:txBody>
      </p:sp>
      <p:sp>
        <p:nvSpPr>
          <p:cNvPr id="5" name="Shape 3"/>
          <p:cNvSpPr/>
          <p:nvPr/>
        </p:nvSpPr>
        <p:spPr>
          <a:xfrm>
            <a:off x="502920" y="1234440"/>
            <a:ext cx="82296" cy="310896"/>
          </a:xfrm>
          <a:prstGeom prst="rect">
            <a:avLst/>
          </a:prstGeom>
          <a:solidFill>
            <a:srgbClr val="4472C4"/>
          </a:solidFill>
          <a:ln/>
        </p:spPr>
      </p:sp>
      <p:sp>
        <p:nvSpPr>
          <p:cNvPr id="6" name="Text 4"/>
          <p:cNvSpPr/>
          <p:nvPr/>
        </p:nvSpPr>
        <p:spPr>
          <a:xfrm>
            <a:off x="667512" y="1207008"/>
            <a:ext cx="6601968" cy="365760"/>
          </a:xfrm>
          <a:prstGeom prst="rect">
            <a:avLst/>
          </a:prstGeom>
          <a:noFill/>
          <a:ln/>
        </p:spPr>
        <p:txBody>
          <a:bodyPr wrap="square"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중간 결과 요약</a:t>
            </a:r>
            <a:endParaRPr lang="en-US" sz="1600" dirty="0"/>
          </a:p>
        </p:txBody>
      </p:sp>
      <p:sp>
        <p:nvSpPr>
          <p:cNvPr id="7" name="Shape 5"/>
          <p:cNvSpPr/>
          <p:nvPr/>
        </p:nvSpPr>
        <p:spPr>
          <a:xfrm>
            <a:off x="502920" y="1664208"/>
            <a:ext cx="292608" cy="292608"/>
          </a:xfrm>
          <a:prstGeom prst="ellipse">
            <a:avLst/>
          </a:prstGeom>
          <a:solidFill>
            <a:srgbClr val="4472C4"/>
          </a:solidFill>
          <a:ln/>
        </p:spPr>
      </p:sp>
      <p:sp>
        <p:nvSpPr>
          <p:cNvPr id="8" name="Text 6"/>
          <p:cNvSpPr/>
          <p:nvPr/>
        </p:nvSpPr>
        <p:spPr>
          <a:xfrm>
            <a:off x="502920" y="1664208"/>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914400" y="1645920"/>
            <a:ext cx="6400800" cy="402336"/>
          </a:xfrm>
          <a:prstGeom prst="rect">
            <a:avLst/>
          </a:prstGeom>
          <a:noFill/>
          <a:ln/>
        </p:spPr>
        <p:txBody>
          <a:bodyPr wrap="square" rtlCol="0" anchor="ctr"/>
          <a:lstStyle/>
          <a:p>
            <a:pPr indent="0" marL="0">
              <a:buNone/>
            </a:pPr>
            <a:r>
              <a:rPr lang="en-US" sz="1250" dirty="0">
                <a:solidFill>
                  <a:srgbClr val="E4E9F5"/>
                </a:solidFill>
                <a:latin typeface="맑은 고딕" pitchFamily="34" charset="0"/>
                <a:ea typeface="맑은 고딕" pitchFamily="34" charset="-122"/>
                <a:cs typeface="맑은 고딕" pitchFamily="34" charset="-120"/>
              </a:rPr>
              <a:t>YOLOv8n model.6 C2f용 HLS IP 구성 및 단위 기능 검증</a:t>
            </a:r>
            <a:endParaRPr lang="en-US" sz="1250" dirty="0"/>
          </a:p>
        </p:txBody>
      </p:sp>
      <p:sp>
        <p:nvSpPr>
          <p:cNvPr id="10" name="Shape 8"/>
          <p:cNvSpPr/>
          <p:nvPr/>
        </p:nvSpPr>
        <p:spPr>
          <a:xfrm>
            <a:off x="502920" y="2148840"/>
            <a:ext cx="292608" cy="292608"/>
          </a:xfrm>
          <a:prstGeom prst="ellipse">
            <a:avLst/>
          </a:prstGeom>
          <a:solidFill>
            <a:srgbClr val="4472C4"/>
          </a:solidFill>
          <a:ln/>
        </p:spPr>
      </p:sp>
      <p:sp>
        <p:nvSpPr>
          <p:cNvPr id="11" name="Text 9"/>
          <p:cNvSpPr/>
          <p:nvPr/>
        </p:nvSpPr>
        <p:spPr>
          <a:xfrm>
            <a:off x="502920" y="214884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914400" y="2130552"/>
            <a:ext cx="6400800" cy="402336"/>
          </a:xfrm>
          <a:prstGeom prst="rect">
            <a:avLst/>
          </a:prstGeom>
          <a:noFill/>
          <a:ln/>
        </p:spPr>
        <p:txBody>
          <a:bodyPr wrap="square" rtlCol="0" anchor="ctr"/>
          <a:lstStyle/>
          <a:p>
            <a:pPr indent="0" marL="0">
              <a:buNone/>
            </a:pPr>
            <a:r>
              <a:rPr lang="en-US" sz="1250" dirty="0">
                <a:solidFill>
                  <a:srgbClr val="E4E9F5"/>
                </a:solidFill>
                <a:latin typeface="맑은 고딕" pitchFamily="34" charset="0"/>
                <a:ea typeface="맑은 고딕" pitchFamily="34" charset="-122"/>
                <a:cs typeface="맑은 고딕" pitchFamily="34" charset="-120"/>
              </a:rPr>
              <a:t>전체 Vivado Block Design 통합</a:t>
            </a:r>
            <a:endParaRPr lang="en-US" sz="1250" dirty="0"/>
          </a:p>
        </p:txBody>
      </p:sp>
      <p:sp>
        <p:nvSpPr>
          <p:cNvPr id="13" name="Shape 11"/>
          <p:cNvSpPr/>
          <p:nvPr/>
        </p:nvSpPr>
        <p:spPr>
          <a:xfrm>
            <a:off x="502920" y="2633472"/>
            <a:ext cx="292608" cy="292608"/>
          </a:xfrm>
          <a:prstGeom prst="ellipse">
            <a:avLst/>
          </a:prstGeom>
          <a:solidFill>
            <a:srgbClr val="4472C4"/>
          </a:solidFill>
          <a:ln/>
        </p:spPr>
      </p:sp>
      <p:sp>
        <p:nvSpPr>
          <p:cNvPr id="14" name="Text 12"/>
          <p:cNvSpPr/>
          <p:nvPr/>
        </p:nvSpPr>
        <p:spPr>
          <a:xfrm>
            <a:off x="502920" y="2633472"/>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914400" y="2615184"/>
            <a:ext cx="6400800" cy="402336"/>
          </a:xfrm>
          <a:prstGeom prst="rect">
            <a:avLst/>
          </a:prstGeom>
          <a:noFill/>
          <a:ln/>
        </p:spPr>
        <p:txBody>
          <a:bodyPr wrap="square" rtlCol="0" anchor="ctr"/>
          <a:lstStyle/>
          <a:p>
            <a:pPr indent="0" marL="0">
              <a:buNone/>
            </a:pPr>
            <a:r>
              <a:rPr lang="en-US" sz="1250" dirty="0">
                <a:solidFill>
                  <a:srgbClr val="E4E9F5"/>
                </a:solidFill>
                <a:latin typeface="맑은 고딕" pitchFamily="34" charset="0"/>
                <a:ea typeface="맑은 고딕" pitchFamily="34" charset="-122"/>
                <a:cs typeface="맑은 고딕" pitchFamily="34" charset="-120"/>
              </a:rPr>
              <a:t>Synthesis 및 Placement 성공</a:t>
            </a:r>
            <a:endParaRPr lang="en-US" sz="1250" dirty="0"/>
          </a:p>
        </p:txBody>
      </p:sp>
      <p:sp>
        <p:nvSpPr>
          <p:cNvPr id="16" name="Shape 14"/>
          <p:cNvSpPr/>
          <p:nvPr/>
        </p:nvSpPr>
        <p:spPr>
          <a:xfrm>
            <a:off x="502920" y="3118104"/>
            <a:ext cx="292608" cy="292608"/>
          </a:xfrm>
          <a:prstGeom prst="ellipse">
            <a:avLst/>
          </a:prstGeom>
          <a:solidFill>
            <a:srgbClr val="4472C4"/>
          </a:solidFill>
          <a:ln/>
        </p:spPr>
      </p:sp>
      <p:sp>
        <p:nvSpPr>
          <p:cNvPr id="17" name="Text 15"/>
          <p:cNvSpPr/>
          <p:nvPr/>
        </p:nvSpPr>
        <p:spPr>
          <a:xfrm>
            <a:off x="502920" y="3118104"/>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914400" y="3099816"/>
            <a:ext cx="6400800" cy="402336"/>
          </a:xfrm>
          <a:prstGeom prst="rect">
            <a:avLst/>
          </a:prstGeom>
          <a:noFill/>
          <a:ln/>
        </p:spPr>
        <p:txBody>
          <a:bodyPr wrap="square" rtlCol="0" anchor="ctr"/>
          <a:lstStyle/>
          <a:p>
            <a:pPr indent="0" marL="0">
              <a:buNone/>
            </a:pPr>
            <a:r>
              <a:rPr lang="en-US" sz="1250" dirty="0">
                <a:solidFill>
                  <a:srgbClr val="E4E9F5"/>
                </a:solidFill>
                <a:latin typeface="맑은 고딕" pitchFamily="34" charset="0"/>
                <a:ea typeface="맑은 고딕" pitchFamily="34" charset="-122"/>
                <a:cs typeface="맑은 고딕" pitchFamily="34" charset="-120"/>
              </a:rPr>
              <a:t>AXI4-Stream 조합루프 구조적 제거</a:t>
            </a:r>
            <a:endParaRPr lang="en-US" sz="1250" dirty="0"/>
          </a:p>
        </p:txBody>
      </p:sp>
      <p:sp>
        <p:nvSpPr>
          <p:cNvPr id="19" name="Shape 17"/>
          <p:cNvSpPr/>
          <p:nvPr/>
        </p:nvSpPr>
        <p:spPr>
          <a:xfrm>
            <a:off x="502920" y="3602736"/>
            <a:ext cx="292608" cy="292608"/>
          </a:xfrm>
          <a:prstGeom prst="ellipse">
            <a:avLst/>
          </a:prstGeom>
          <a:solidFill>
            <a:srgbClr val="4472C4"/>
          </a:solidFill>
          <a:ln/>
        </p:spPr>
      </p:sp>
      <p:sp>
        <p:nvSpPr>
          <p:cNvPr id="20" name="Text 18"/>
          <p:cNvSpPr/>
          <p:nvPr/>
        </p:nvSpPr>
        <p:spPr>
          <a:xfrm>
            <a:off x="502920" y="3602736"/>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1" name="Text 19"/>
          <p:cNvSpPr/>
          <p:nvPr/>
        </p:nvSpPr>
        <p:spPr>
          <a:xfrm>
            <a:off x="914400" y="3584448"/>
            <a:ext cx="6400800" cy="402336"/>
          </a:xfrm>
          <a:prstGeom prst="rect">
            <a:avLst/>
          </a:prstGeom>
          <a:noFill/>
          <a:ln/>
        </p:spPr>
        <p:txBody>
          <a:bodyPr wrap="square" rtlCol="0" anchor="ctr"/>
          <a:lstStyle/>
          <a:p>
            <a:pPr indent="0" marL="0">
              <a:buNone/>
            </a:pPr>
            <a:r>
              <a:rPr lang="en-US" sz="1250" dirty="0">
                <a:solidFill>
                  <a:srgbClr val="E4E9F5"/>
                </a:solidFill>
                <a:latin typeface="맑은 고딕" pitchFamily="34" charset="0"/>
                <a:ea typeface="맑은 고딕" pitchFamily="34" charset="-122"/>
                <a:cs typeface="맑은 고딕" pitchFamily="34" charset="-120"/>
              </a:rPr>
              <a:t>Routing 오류 96% 이상 감소</a:t>
            </a:r>
            <a:endParaRPr lang="en-US" sz="1250" dirty="0"/>
          </a:p>
        </p:txBody>
      </p:sp>
      <p:sp>
        <p:nvSpPr>
          <p:cNvPr id="22" name="Shape 20"/>
          <p:cNvSpPr/>
          <p:nvPr/>
        </p:nvSpPr>
        <p:spPr>
          <a:xfrm>
            <a:off x="502920" y="4087368"/>
            <a:ext cx="292608" cy="292608"/>
          </a:xfrm>
          <a:prstGeom prst="ellipse">
            <a:avLst/>
          </a:prstGeom>
          <a:solidFill>
            <a:srgbClr val="4472C4"/>
          </a:solidFill>
          <a:ln/>
        </p:spPr>
      </p:sp>
      <p:sp>
        <p:nvSpPr>
          <p:cNvPr id="23" name="Text 21"/>
          <p:cNvSpPr/>
          <p:nvPr/>
        </p:nvSpPr>
        <p:spPr>
          <a:xfrm>
            <a:off x="502920" y="4087368"/>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4" name="Text 22"/>
          <p:cNvSpPr/>
          <p:nvPr/>
        </p:nvSpPr>
        <p:spPr>
          <a:xfrm>
            <a:off x="914400" y="4069080"/>
            <a:ext cx="6400800" cy="402336"/>
          </a:xfrm>
          <a:prstGeom prst="rect">
            <a:avLst/>
          </a:prstGeom>
          <a:noFill/>
          <a:ln/>
        </p:spPr>
        <p:txBody>
          <a:bodyPr wrap="square" rtlCol="0" anchor="ctr"/>
          <a:lstStyle/>
          <a:p>
            <a:pPr indent="0" marL="0">
              <a:buNone/>
            </a:pPr>
            <a:r>
              <a:rPr lang="en-US" sz="1250" dirty="0">
                <a:solidFill>
                  <a:srgbClr val="E4E9F5"/>
                </a:solidFill>
                <a:latin typeface="맑은 고딕" pitchFamily="34" charset="0"/>
                <a:ea typeface="맑은 고딕" pitchFamily="34" charset="-122"/>
                <a:cs typeface="맑은 고딕" pitchFamily="34" charset="-120"/>
              </a:rPr>
              <a:t>현재 Conv3×3 중심의 Routing congestion 확인</a:t>
            </a:r>
            <a:endParaRPr lang="en-US" sz="1250" dirty="0"/>
          </a:p>
        </p:txBody>
      </p:sp>
      <p:sp>
        <p:nvSpPr>
          <p:cNvPr id="25" name="Shape 23"/>
          <p:cNvSpPr/>
          <p:nvPr/>
        </p:nvSpPr>
        <p:spPr>
          <a:xfrm>
            <a:off x="502920" y="4572000"/>
            <a:ext cx="292608" cy="292608"/>
          </a:xfrm>
          <a:prstGeom prst="ellipse">
            <a:avLst/>
          </a:prstGeom>
          <a:solidFill>
            <a:srgbClr val="4472C4"/>
          </a:solidFill>
          <a:ln/>
        </p:spPr>
      </p:sp>
      <p:sp>
        <p:nvSpPr>
          <p:cNvPr id="26" name="Text 24"/>
          <p:cNvSpPr/>
          <p:nvPr/>
        </p:nvSpPr>
        <p:spPr>
          <a:xfrm>
            <a:off x="502920" y="457200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7" name="Text 25"/>
          <p:cNvSpPr/>
          <p:nvPr/>
        </p:nvSpPr>
        <p:spPr>
          <a:xfrm>
            <a:off x="914400" y="4553712"/>
            <a:ext cx="6400800" cy="402336"/>
          </a:xfrm>
          <a:prstGeom prst="rect">
            <a:avLst/>
          </a:prstGeom>
          <a:noFill/>
          <a:ln/>
        </p:spPr>
        <p:txBody>
          <a:bodyPr wrap="square" rtlCol="0" anchor="ctr"/>
          <a:lstStyle/>
          <a:p>
            <a:pPr indent="0" marL="0">
              <a:buNone/>
            </a:pPr>
            <a:r>
              <a:rPr lang="en-US" sz="1250" dirty="0">
                <a:solidFill>
                  <a:srgbClr val="E4E9F5"/>
                </a:solidFill>
                <a:latin typeface="맑은 고딕" pitchFamily="34" charset="0"/>
                <a:ea typeface="맑은 고딕" pitchFamily="34" charset="-122"/>
                <a:cs typeface="맑은 고딕" pitchFamily="34" charset="-120"/>
              </a:rPr>
              <a:t>Clock Wizard 150/300 MHz 및 Active-Low Reset 구조 적용 중</a:t>
            </a:r>
            <a:endParaRPr lang="en-US" sz="1250" dirty="0"/>
          </a:p>
        </p:txBody>
      </p:sp>
      <p:sp>
        <p:nvSpPr>
          <p:cNvPr id="28" name="Shape 26"/>
          <p:cNvSpPr/>
          <p:nvPr/>
        </p:nvSpPr>
        <p:spPr>
          <a:xfrm>
            <a:off x="502920" y="5056632"/>
            <a:ext cx="292608" cy="292608"/>
          </a:xfrm>
          <a:prstGeom prst="ellipse">
            <a:avLst/>
          </a:prstGeom>
          <a:solidFill>
            <a:srgbClr val="4472C4"/>
          </a:solidFill>
          <a:ln/>
        </p:spPr>
      </p:sp>
      <p:sp>
        <p:nvSpPr>
          <p:cNvPr id="29" name="Text 27"/>
          <p:cNvSpPr/>
          <p:nvPr/>
        </p:nvSpPr>
        <p:spPr>
          <a:xfrm>
            <a:off x="502920" y="5056632"/>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0" name="Text 28"/>
          <p:cNvSpPr/>
          <p:nvPr/>
        </p:nvSpPr>
        <p:spPr>
          <a:xfrm>
            <a:off x="914400" y="5038344"/>
            <a:ext cx="6400800" cy="402336"/>
          </a:xfrm>
          <a:prstGeom prst="rect">
            <a:avLst/>
          </a:prstGeom>
          <a:noFill/>
          <a:ln/>
        </p:spPr>
        <p:txBody>
          <a:bodyPr wrap="square" rtlCol="0" anchor="ctr"/>
          <a:lstStyle/>
          <a:p>
            <a:pPr indent="0" marL="0">
              <a:buNone/>
            </a:pPr>
            <a:r>
              <a:rPr lang="en-US" sz="1250" dirty="0">
                <a:solidFill>
                  <a:srgbClr val="E4E9F5"/>
                </a:solidFill>
                <a:latin typeface="맑은 고딕" pitchFamily="34" charset="0"/>
                <a:ea typeface="맑은 고딕" pitchFamily="34" charset="-122"/>
                <a:cs typeface="맑은 고딕" pitchFamily="34" charset="-120"/>
              </a:rPr>
              <a:t>Bitstream과 Vitis 보드 실행은 다음 단계</a:t>
            </a:r>
            <a:endParaRPr lang="en-US" sz="1250" dirty="0"/>
          </a:p>
        </p:txBody>
      </p:sp>
      <p:sp>
        <p:nvSpPr>
          <p:cNvPr id="31" name="Shape 29"/>
          <p:cNvSpPr/>
          <p:nvPr/>
        </p:nvSpPr>
        <p:spPr>
          <a:xfrm>
            <a:off x="7589520" y="1234440"/>
            <a:ext cx="4114800" cy="4480560"/>
          </a:xfrm>
          <a:prstGeom prst="roundRect">
            <a:avLst>
              <a:gd name="adj" fmla="val 1778"/>
            </a:avLst>
          </a:prstGeom>
          <a:solidFill>
            <a:srgbClr val="27345C"/>
          </a:solidFill>
          <a:ln w="12700">
            <a:solidFill>
              <a:srgbClr val="3E5488"/>
            </a:solidFill>
            <a:prstDash val="solid"/>
          </a:ln>
        </p:spPr>
      </p:sp>
      <p:sp>
        <p:nvSpPr>
          <p:cNvPr id="32" name="Text 30"/>
          <p:cNvSpPr/>
          <p:nvPr/>
        </p:nvSpPr>
        <p:spPr>
          <a:xfrm>
            <a:off x="7863840" y="1463040"/>
            <a:ext cx="3566160" cy="320040"/>
          </a:xfrm>
          <a:prstGeom prst="rect">
            <a:avLst/>
          </a:prstGeom>
          <a:noFill/>
          <a:ln/>
        </p:spPr>
        <p:txBody>
          <a:bodyPr wrap="square" rtlCol="0" anchor="ctr"/>
          <a:lstStyle/>
          <a:p>
            <a:pPr indent="0" marL="0">
              <a:buNone/>
            </a:pPr>
            <a:r>
              <a:rPr lang="en-US" sz="1300" b="1" dirty="0">
                <a:solidFill>
                  <a:srgbClr val="9BB3E8"/>
                </a:solidFill>
                <a:latin typeface="맑은 고딕" pitchFamily="34" charset="0"/>
                <a:ea typeface="맑은 고딕" pitchFamily="34" charset="-122"/>
                <a:cs typeface="맑은 고딕" pitchFamily="34" charset="-120"/>
              </a:rPr>
              <a:t>마지막 강조 문구</a:t>
            </a:r>
            <a:endParaRPr lang="en-US" sz="1300" dirty="0"/>
          </a:p>
        </p:txBody>
      </p:sp>
      <p:sp>
        <p:nvSpPr>
          <p:cNvPr id="33" name="Text 31"/>
          <p:cNvSpPr/>
          <p:nvPr/>
        </p:nvSpPr>
        <p:spPr>
          <a:xfrm>
            <a:off x="7863840" y="1874520"/>
            <a:ext cx="3566160" cy="1737360"/>
          </a:xfrm>
          <a:prstGeom prst="rect">
            <a:avLst/>
          </a:prstGeom>
          <a:noFill/>
          <a:ln/>
        </p:spPr>
        <p:txBody>
          <a:bodyPr wrap="square" rtlCol="0" anchor="ctr"/>
          <a:lstStyle/>
          <a:p>
            <a:pPr indent="0" marL="0">
              <a:lnSpc>
                <a:spcPct val="130000"/>
              </a:lnSpc>
              <a:buNone/>
            </a:pPr>
            <a:r>
              <a:rPr lang="en-US" sz="1600" b="1" dirty="0">
                <a:solidFill>
                  <a:srgbClr val="FFFFFF"/>
                </a:solidFill>
                <a:latin typeface="맑은 고딕" pitchFamily="34" charset="0"/>
                <a:ea typeface="맑은 고딕" pitchFamily="34" charset="-122"/>
                <a:cs typeface="맑은 고딕" pitchFamily="34" charset="-120"/>
              </a:rPr>
              <a:t>기능적 통합은 확인했으며,</a:t>
            </a:r>
            <a:endParaRPr lang="en-US" sz="1600" dirty="0"/>
          </a:p>
          <a:p>
            <a:pPr indent="0" marL="0">
              <a:lnSpc>
                <a:spcPct val="130000"/>
              </a:lnSpc>
              <a:buNone/>
            </a:pPr>
            <a:r>
              <a:rPr lang="en-US" sz="1600" b="1" dirty="0">
                <a:solidFill>
                  <a:srgbClr val="FFFFFF"/>
                </a:solidFill>
                <a:latin typeface="맑은 고딕" pitchFamily="34" charset="0"/>
                <a:ea typeface="맑은 고딕" pitchFamily="34" charset="-122"/>
                <a:cs typeface="맑은 고딕" pitchFamily="34" charset="-120"/>
              </a:rPr>
              <a:t>현재는 실제 FPGA 배치·배선</a:t>
            </a:r>
            <a:endParaRPr lang="en-US" sz="1600" dirty="0"/>
          </a:p>
          <a:p>
            <a:pPr indent="0" marL="0">
              <a:lnSpc>
                <a:spcPct val="130000"/>
              </a:lnSpc>
              <a:buNone/>
            </a:pPr>
            <a:r>
              <a:rPr lang="en-US" sz="1600" b="1" dirty="0">
                <a:solidFill>
                  <a:srgbClr val="FFFFFF"/>
                </a:solidFill>
                <a:latin typeface="맑은 고딕" pitchFamily="34" charset="0"/>
                <a:ea typeface="맑은 고딕" pitchFamily="34" charset="-122"/>
                <a:cs typeface="맑은 고딕" pitchFamily="34" charset="-120"/>
              </a:rPr>
              <a:t>가능성을 확보하는 물리 구현</a:t>
            </a:r>
            <a:endParaRPr lang="en-US" sz="1600" dirty="0"/>
          </a:p>
          <a:p>
            <a:pPr indent="0" marL="0">
              <a:lnSpc>
                <a:spcPct val="130000"/>
              </a:lnSpc>
              <a:buNone/>
            </a:pPr>
            <a:r>
              <a:rPr lang="en-US" sz="1600" b="1" dirty="0">
                <a:solidFill>
                  <a:srgbClr val="FFFFFF"/>
                </a:solidFill>
                <a:latin typeface="맑은 고딕" pitchFamily="34" charset="0"/>
                <a:ea typeface="맑은 고딕" pitchFamily="34" charset="-122"/>
                <a:cs typeface="맑은 고딕" pitchFamily="34" charset="-120"/>
              </a:rPr>
              <a:t>최적화 단계이다.</a:t>
            </a:r>
            <a:endParaRPr lang="en-US" sz="1600" dirty="0"/>
          </a:p>
        </p:txBody>
      </p:sp>
      <p:sp>
        <p:nvSpPr>
          <p:cNvPr id="34" name="Shape 32"/>
          <p:cNvSpPr/>
          <p:nvPr/>
        </p:nvSpPr>
        <p:spPr>
          <a:xfrm>
            <a:off x="7863840" y="3749040"/>
            <a:ext cx="3566160" cy="0"/>
          </a:xfrm>
          <a:prstGeom prst="line">
            <a:avLst/>
          </a:prstGeom>
          <a:noFill/>
          <a:ln w="12700">
            <a:solidFill>
              <a:srgbClr val="3E5488"/>
            </a:solidFill>
            <a:prstDash val="solid"/>
          </a:ln>
        </p:spPr>
      </p:sp>
      <p:sp>
        <p:nvSpPr>
          <p:cNvPr id="35" name="Text 33"/>
          <p:cNvSpPr/>
          <p:nvPr/>
        </p:nvSpPr>
        <p:spPr>
          <a:xfrm>
            <a:off x="7863840" y="3931920"/>
            <a:ext cx="3566160" cy="1645920"/>
          </a:xfrm>
          <a:prstGeom prst="rect">
            <a:avLst/>
          </a:prstGeom>
          <a:noFill/>
          <a:ln/>
        </p:spPr>
        <p:txBody>
          <a:bodyPr wrap="square" rtlCol="0" anchor="ctr"/>
          <a:lstStyle/>
          <a:p>
            <a:pPr indent="0" marL="0">
              <a:lnSpc>
                <a:spcPct val="125000"/>
              </a:lnSpc>
              <a:buNone/>
            </a:pPr>
            <a:r>
              <a:rPr lang="en-US" sz="1150" i="1" dirty="0">
                <a:solidFill>
                  <a:srgbClr val="C9D6F5"/>
                </a:solidFill>
                <a:latin typeface="맑은 고딕" pitchFamily="34" charset="0"/>
                <a:ea typeface="맑은 고딕" pitchFamily="34" charset="-122"/>
                <a:cs typeface="맑은 고딕" pitchFamily="34" charset="-120"/>
              </a:rPr>
              <a:t>남은 핵심은 Conv3×3 중심의 배선 혼잡을 줄이고 합법적인 Routing을 확보하는 것입니다. 이를 해결한 뒤 Bitstream과 Vitis 보드 실행까지 완성하겠습니다.</a:t>
            </a:r>
            <a:endParaRPr lang="en-US" sz="1150" dirty="0"/>
          </a:p>
        </p:txBody>
      </p:sp>
      <p:sp>
        <p:nvSpPr>
          <p:cNvPr id="36" name="Text 34"/>
          <p:cNvSpPr/>
          <p:nvPr/>
        </p:nvSpPr>
        <p:spPr>
          <a:xfrm>
            <a:off x="11064240" y="6547104"/>
            <a:ext cx="685800" cy="256032"/>
          </a:xfrm>
          <a:prstGeom prst="rect">
            <a:avLst/>
          </a:prstGeom>
          <a:noFill/>
          <a:ln/>
        </p:spPr>
        <p:txBody>
          <a:bodyPr wrap="square" rtlCol="0" anchor="ctr"/>
          <a:lstStyle/>
          <a:p>
            <a:pPr algn="r" indent="0" marL="0">
              <a:buNone/>
            </a:pPr>
            <a:r>
              <a:rPr lang="en-US" sz="1000" dirty="0">
                <a:solidFill>
                  <a:srgbClr val="6B7793"/>
                </a:solidFill>
                <a:latin typeface="Calibri" pitchFamily="34" charset="0"/>
                <a:ea typeface="Calibri" pitchFamily="34" charset="-122"/>
                <a:cs typeface="Calibri" pitchFamily="34" charset="-120"/>
              </a:rPr>
              <a:t>19 / 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2026-08-06T07:02:43Z</dcterms:created>
  <dcterms:modified xsi:type="dcterms:W3CDTF">2026-08-06T07:02:43Z</dcterms:modified>
</cp:coreProperties>
</file>