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8" r:id="rId2"/>
    <p:sldId id="279" r:id="rId3"/>
    <p:sldId id="280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F5C72-00B2-41A8-A7E5-4DA6AE61A6E1}" v="52" dt="2026-08-10T05:21:42.983"/>
    <p1510:client id="{2EBFB4AE-0A2A-4AFD-A9EE-A92268D3D85C}" v="160" dt="2026-08-10T09:13:08.991"/>
    <p1510:client id="{3C30B0C6-B0F6-4A42-B71F-E335E3B5566B}" v="344" dt="2026-08-11T08:12:35.620"/>
    <p1510:client id="{48623BE5-BD53-4F1D-B199-64C60FEBAFE2}" v="694" dt="2026-08-10T07:06:43.790"/>
    <p1510:client id="{96E12B9F-A9C6-4B13-A2A7-356CE5D6F995}" v="129" dt="2026-08-11T05:02:46.974"/>
    <p1510:client id="{976FAA9D-DDC6-4A8F-A621-6C3EFF4B4946}" v="2315" dt="2026-08-11T07:17:34.956"/>
    <p1510:client id="{DCDD2C3C-152D-4C58-A44F-0DD5FCE59530}" v="159" dt="2026-08-10T02:05:41.096"/>
    <p1510:client id="{FBE15653-5827-A265-86D4-2BF8D9AA2764}" v="155" dt="2026-08-11T09:11:31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E1288-EED4-444D-99D3-DD43526BC351}" type="datetimeFigureOut">
              <a:t>2026. 8. 13.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92029-F171-4FE6-AED7-3AF13C61E2E4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8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877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2600" b="1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성능 분석 — 왜 0.8 fps 인가</a:t>
            </a:r>
            <a:endParaRPr lang="en-US" sz="2600">
              <a:solidFill>
                <a:srgbClr val="000000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98168" y="12801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BEA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98168" y="1408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3A3A"/>
                </a:solidFill>
                <a:latin typeface="Arial"/>
                <a:ea typeface="Arial" pitchFamily="34" charset="-122"/>
                <a:cs typeface="Arial"/>
              </a:rPr>
              <a:t>FPGA 가 맡은 몫</a:t>
            </a:r>
            <a:endParaRPr lang="en-US" sz="2000" b="1">
              <a:solidFill>
                <a:srgbClr val="B33A3A"/>
              </a:solidFill>
              <a:latin typeface="Arial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43740" y="1773647"/>
            <a:ext cx="3712028" cy="938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0.055 초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전체의 4 %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38648" y="1970532"/>
            <a:ext cx="914400" cy="402336"/>
          </a:xfrm>
          <a:prstGeom prst="rightArrow">
            <a:avLst/>
          </a:prstGeom>
          <a:solidFill>
            <a:srgbClr val="8A929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35928" y="128016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E7F3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735928" y="1408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CPU 가 맡은 몫</a:t>
            </a:r>
            <a:endParaRPr lang="ko-KR" altLang="en-US" sz="2000" b="1">
              <a:solidFill>
                <a:srgbClr val="3E8E5A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35928" y="1909717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1.21 초</a:t>
            </a:r>
          </a:p>
          <a:p>
            <a:pPr marL="0" indent="0" algn="ctr">
              <a:buNone/>
            </a:pPr>
            <a:r>
              <a:rPr lang="en-US">
                <a:solidFill>
                  <a:srgbClr val="3E8E5A"/>
                </a:solidFill>
                <a:latin typeface="Arial"/>
                <a:ea typeface="Arial" pitchFamily="34" charset="-122"/>
                <a:cs typeface="Arial"/>
              </a:rPr>
              <a:t>전체의 96 %</a:t>
            </a: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1737360" y="3337560"/>
          <a:ext cx="8705088" cy="1691640"/>
        </p:xfrm>
        <a:graphic>
          <a:graphicData uri="http://schemas.openxmlformats.org/drawingml/2006/table">
            <a:tbl>
              <a:tblPr/>
              <a:tblGrid>
                <a:gridCol w="1764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하는 일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걸린 시간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비중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전처리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A3A"/>
                          </a:solidFill>
                        </a:rPr>
                        <a:t>사진 크기 맞추기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3E8E5A"/>
                          </a:solidFill>
                        </a:rPr>
                        <a:t>0.027 초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2 %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앞부분 model.0~5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CPU 가 계산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E8E5A"/>
                          </a:solidFill>
                        </a:rPr>
                        <a:t>0.441 초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35 %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model.6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FPGA 가 계산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E8E5A"/>
                          </a:solidFill>
                        </a:rPr>
                        <a:t>0.055 초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4 %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뒷부분 model.7~22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CPU 가 계산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8A929E"/>
                          </a:solidFill>
                        </a:rPr>
                        <a:t>0.719 초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57 %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합계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사진 한 장당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E8E5A"/>
                          </a:solidFill>
                        </a:rPr>
                        <a:t>1.265 초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0.79 fps</a:t>
                      </a:r>
                      <a:endParaRPr lang="en-US" sz="1100"/>
                    </a:p>
                  </a:txBody>
                  <a:tcPr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9DE29-B819-83C1-3107-751A373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558B0F-C928-3841-650B-A31C9C4B720E}"/>
              </a:ext>
            </a:extLst>
          </p:cNvPr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과제 — 어떻게 해야 빨라지는가</a:t>
            </a:r>
            <a:endParaRPr lang="en-US" sz="2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4AA479-E54F-17D7-E65E-5578BD8AB376}"/>
              </a:ext>
            </a:extLst>
          </p:cNvPr>
          <p:cNvSpPr/>
          <p:nvPr/>
        </p:nvSpPr>
        <p:spPr>
          <a:xfrm>
            <a:off x="2095348" y="1143000"/>
            <a:ext cx="502920" cy="502920"/>
          </a:xfrm>
          <a:prstGeom prst="ellipse">
            <a:avLst/>
          </a:prstGeom>
          <a:solidFill>
            <a:srgbClr val="1F3B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77F866-339F-1993-A29E-80C91CD972EE}"/>
              </a:ext>
            </a:extLst>
          </p:cNvPr>
          <p:cNvSpPr/>
          <p:nvPr/>
        </p:nvSpPr>
        <p:spPr>
          <a:xfrm>
            <a:off x="209534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39812E-CD23-2A43-EB82-0E9239465A4A}"/>
              </a:ext>
            </a:extLst>
          </p:cNvPr>
          <p:cNvSpPr/>
          <p:nvPr/>
        </p:nvSpPr>
        <p:spPr>
          <a:xfrm>
            <a:off x="700888" y="1737723"/>
            <a:ext cx="3291840" cy="3060699"/>
          </a:xfrm>
          <a:prstGeom prst="roundRect">
            <a:avLst>
              <a:gd name="adj" fmla="val 4571"/>
            </a:avLst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F349E9B-3BE0-4406-775C-F4F8AF8CEC10}"/>
              </a:ext>
            </a:extLst>
          </p:cNvPr>
          <p:cNvSpPr/>
          <p:nvPr/>
        </p:nvSpPr>
        <p:spPr>
          <a:xfrm>
            <a:off x="883768" y="1911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지금 구조의 한계</a:t>
            </a:r>
            <a:endParaRPr lang="ko-KR" altLang="en-US" sz="1400" b="1">
              <a:solidFill>
                <a:srgbClr val="1F3B66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1DF82E-0FC8-0971-CCA9-3C535486066B}"/>
              </a:ext>
            </a:extLst>
          </p:cNvPr>
          <p:cNvSpPr/>
          <p:nvPr/>
        </p:nvSpPr>
        <p:spPr>
          <a:xfrm>
            <a:off x="883768" y="2276929"/>
            <a:ext cx="2926080" cy="129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model.6 은 전체의 6.5 % 다.</a:t>
            </a:r>
            <a:endParaRPr lang="en-US" sz="1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아무리 빠르게 만들어도</a:t>
            </a:r>
            <a:endParaRPr lang="en-US" sz="1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전체는 7 % 만 줄어든다.</a:t>
            </a:r>
            <a:endParaRPr lang="en-US" sz="1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en-US" sz="140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실제로는 1.7 % 였다.</a:t>
            </a:r>
            <a:endParaRPr lang="en-US" sz="1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32C925F-8220-60E4-686B-7C6E583BBBC0}"/>
              </a:ext>
            </a:extLst>
          </p:cNvPr>
          <p:cNvSpPr/>
          <p:nvPr/>
        </p:nvSpPr>
        <p:spPr>
          <a:xfrm>
            <a:off x="5844388" y="1143000"/>
            <a:ext cx="502920" cy="502920"/>
          </a:xfrm>
          <a:prstGeom prst="ellipse">
            <a:avLst/>
          </a:prstGeom>
          <a:solidFill>
            <a:srgbClr val="1F3B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F7EB890-C8AE-03D7-9C5B-BA145B4D0CE8}"/>
              </a:ext>
            </a:extLst>
          </p:cNvPr>
          <p:cNvSpPr/>
          <p:nvPr/>
        </p:nvSpPr>
        <p:spPr>
          <a:xfrm>
            <a:off x="584438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B6C6B6-FE81-4106-D2F9-E7DCBC687DB4}"/>
              </a:ext>
            </a:extLst>
          </p:cNvPr>
          <p:cNvSpPr/>
          <p:nvPr/>
        </p:nvSpPr>
        <p:spPr>
          <a:xfrm>
            <a:off x="4449928" y="1728652"/>
            <a:ext cx="3291840" cy="3060699"/>
          </a:xfrm>
          <a:prstGeom prst="roundRect">
            <a:avLst>
              <a:gd name="adj" fmla="val 4571"/>
            </a:avLst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FCB554-A5F1-D79D-4A4C-A2E6A98E47B2}"/>
              </a:ext>
            </a:extLst>
          </p:cNvPr>
          <p:cNvSpPr/>
          <p:nvPr/>
        </p:nvSpPr>
        <p:spPr>
          <a:xfrm>
            <a:off x="4632808" y="1911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err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더 많은 블록을 옮기기</a:t>
            </a:r>
            <a:endParaRPr lang="en-US" sz="1400">
              <a:latin typeface="Arial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5462B41-2FEA-4F03-1DEE-0867CFC685E7}"/>
              </a:ext>
            </a:extLst>
          </p:cNvPr>
          <p:cNvSpPr/>
          <p:nvPr/>
        </p:nvSpPr>
        <p:spPr>
          <a:xfrm>
            <a:off x="4632808" y="2273905"/>
            <a:ext cx="2926080" cy="192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C2f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블록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8개를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합치면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전체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계산의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절반이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된다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구조는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같고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채널만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다르다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다만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한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블록이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URAM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을</a:t>
            </a:r>
            <a:endParaRPr lang="en-US" sz="1400" dirty="0">
              <a:solidFill>
                <a:srgbClr val="2E3B52"/>
              </a:solidFill>
              <a:latin typeface="Arial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94 %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써서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두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개는</a:t>
            </a:r>
            <a:endParaRPr lang="en-US" sz="1400" dirty="0">
              <a:solidFill>
                <a:srgbClr val="2E3B52"/>
              </a:solidFill>
              <a:latin typeface="Arial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넣을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수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없다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br>
              <a:rPr lang="en-US" sz="1400" dirty="0">
                <a:solidFill>
                  <a:srgbClr val="2E3B52"/>
                </a:solidFill>
                <a:latin typeface="Arial"/>
                <a:cs typeface="Arial"/>
              </a:rPr>
            </a:br>
            <a:endParaRPr lang="en-US" sz="1400" dirty="0">
              <a:solidFill>
                <a:srgbClr val="2E3B52"/>
              </a:solidFill>
              <a:latin typeface="Arial"/>
              <a:cs typeface="Arial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11C5AF6-69C5-197E-3FB0-846E322BE95C}"/>
              </a:ext>
            </a:extLst>
          </p:cNvPr>
          <p:cNvSpPr/>
          <p:nvPr/>
        </p:nvSpPr>
        <p:spPr>
          <a:xfrm>
            <a:off x="9593428" y="1143000"/>
            <a:ext cx="502920" cy="502920"/>
          </a:xfrm>
          <a:prstGeom prst="ellipse">
            <a:avLst/>
          </a:prstGeom>
          <a:solidFill>
            <a:srgbClr val="1F3B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9D4D8B-E113-063B-9B15-0C91D40C064A}"/>
              </a:ext>
            </a:extLst>
          </p:cNvPr>
          <p:cNvSpPr/>
          <p:nvPr/>
        </p:nvSpPr>
        <p:spPr>
          <a:xfrm>
            <a:off x="959342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90B3536-31A8-7F41-97C7-94B9D17A3DCA}"/>
              </a:ext>
            </a:extLst>
          </p:cNvPr>
          <p:cNvSpPr/>
          <p:nvPr/>
        </p:nvSpPr>
        <p:spPr>
          <a:xfrm>
            <a:off x="8198968" y="1746795"/>
            <a:ext cx="3291840" cy="3051627"/>
          </a:xfrm>
          <a:prstGeom prst="roundRect">
            <a:avLst>
              <a:gd name="adj" fmla="val 4571"/>
            </a:avLst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8BD5CF-432D-34A4-1CE1-A7A5233B10B8}"/>
              </a:ext>
            </a:extLst>
          </p:cNvPr>
          <p:cNvSpPr/>
          <p:nvPr/>
        </p:nvSpPr>
        <p:spPr>
          <a:xfrm>
            <a:off x="8381848" y="1911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3B66"/>
                </a:solidFill>
                <a:latin typeface="Arial"/>
                <a:ea typeface="Arial" pitchFamily="34" charset="-122"/>
                <a:cs typeface="Arial"/>
              </a:rPr>
              <a:t>중간 결과를 되돌리지 않기</a:t>
            </a:r>
            <a:endParaRPr lang="en-US" sz="1600" err="1">
              <a:latin typeface="Arial"/>
              <a:ea typeface="Calibri"/>
              <a:cs typeface="Arial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DE40409-A5F2-D48E-6853-06BFF455D6F8}"/>
              </a:ext>
            </a:extLst>
          </p:cNvPr>
          <p:cNvSpPr/>
          <p:nvPr/>
        </p:nvSpPr>
        <p:spPr>
          <a:xfrm>
            <a:off x="8381848" y="2276929"/>
            <a:ext cx="2926080" cy="1921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블록마다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CPU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로</a:t>
            </a:r>
            <a:endParaRPr lang="en-US" sz="1400" dirty="0">
              <a:solidFill>
                <a:srgbClr val="2E3B52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15000"/>
              </a:lnSpc>
            </a:pP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보냈다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받으면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한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번에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0.05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초가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든다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8개면 0.4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초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—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아낀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시간을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쓴다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FPGA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안에서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이어야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400" dirty="0" err="1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한다</a:t>
            </a:r>
            <a:r>
              <a:rPr lang="en-US" sz="1400" dirty="0">
                <a:solidFill>
                  <a:srgbClr val="2E3B52"/>
                </a:solidFill>
                <a:latin typeface="Arial"/>
                <a:ea typeface="Arial" pitchFamily="34" charset="-122"/>
                <a:cs typeface="Arial"/>
              </a:rPr>
              <a:t>.</a:t>
            </a: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br>
              <a:rPr lang="en-US" sz="1400" dirty="0">
                <a:latin typeface="Arial"/>
                <a:ea typeface="Arial" pitchFamily="34" charset="-122"/>
                <a:cs typeface="Arial"/>
              </a:rPr>
            </a:br>
            <a:br>
              <a:rPr lang="en-US" sz="1400" dirty="0">
                <a:solidFill>
                  <a:srgbClr val="2E3B52"/>
                </a:solidFill>
                <a:latin typeface="Arial"/>
                <a:cs typeface="Arial"/>
              </a:rPr>
            </a:br>
            <a:endParaRPr lang="en-US" sz="1400" dirty="0">
              <a:solidFill>
                <a:srgbClr val="2E3B52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99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개인적인 이번 </a:t>
            </a:r>
            <a:r>
              <a:rPr lang="ko-KR" altLang="en-US" sz="2600" b="1" dirty="0" err="1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프로잭트에서</a:t>
            </a:r>
            <a:r>
              <a:rPr lang="ko-KR" alt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ko-KR" altLang="en-US" sz="2600" b="1" dirty="0">
                <a:solidFill>
                  <a:srgbClr val="1F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방법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91840" y="173736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918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03320" y="1700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재기 전에 예상 숫자를 먼저 적게 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251460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918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3320" y="2478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숫자가 어긋나면 설명을 붙이지 않고 버린다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329184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2918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255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결과가 잘 나올수록 더 의심한다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406908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918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40325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3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틀린 가설도 기록으로 남긴다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224</Words>
  <Application>Microsoft Macintosh PowerPoint</Application>
  <PresentationFormat>와이드스크린</PresentationFormat>
  <Paragraphs>56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상헌 오</cp:lastModifiedBy>
  <cp:revision>61</cp:revision>
  <dcterms:created xsi:type="dcterms:W3CDTF">2026-08-10T01:47:46Z</dcterms:created>
  <dcterms:modified xsi:type="dcterms:W3CDTF">2026-08-13T02:01:59Z</dcterms:modified>
</cp:coreProperties>
</file>