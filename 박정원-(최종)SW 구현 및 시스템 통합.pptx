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90" r:id="rId2"/>
    <p:sldId id="291" r:id="rId3"/>
    <p:sldId id="282" r:id="rId4"/>
    <p:sldId id="296" r:id="rId5"/>
    <p:sldId id="279" r:id="rId6"/>
    <p:sldId id="293" r:id="rId7"/>
    <p:sldId id="285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9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738" autoAdjust="0"/>
  </p:normalViewPr>
  <p:slideViewPr>
    <p:cSldViewPr snapToGrid="0">
      <p:cViewPr varScale="1">
        <p:scale>
          <a:sx n="68" d="100"/>
          <a:sy n="68" d="100"/>
        </p:scale>
        <p:origin x="96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4E1288-EED4-444D-99D3-DD43526BC351}" type="datetimeFigureOut">
              <a:t>2026-08-13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E92029-F171-4FE6-AED7-3AF13C61E2E4}" type="slidenum"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986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안녕하세요 저는 앞서 설계한 </a:t>
            </a:r>
            <a:r>
              <a:rPr lang="en-US" altLang="ko-KR" dirty="0"/>
              <a:t>FPGA </a:t>
            </a:r>
            <a:r>
              <a:rPr lang="ko-KR" altLang="en-US" dirty="0"/>
              <a:t>가속기를 실제 소프트웨어와 통합하는 부분을 담당한 박정원입니다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발표는 다음과 같은 순서로 진행하겠습니다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E92029-F171-4FE6-AED7-3AF13C61E2E4}" type="slidenum">
              <a:rPr lang="en-US" altLang="ko-KR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865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하드웨어 가속기 설계 이후 실제 시스템에 적용하면서</a:t>
            </a:r>
            <a:r>
              <a:rPr lang="en-US" altLang="ko-KR" dirty="0"/>
              <a:t>, </a:t>
            </a:r>
            <a:r>
              <a:rPr lang="ko-KR" altLang="en-US" dirty="0"/>
              <a:t>소프트웨어 측면에서 개선 가능한 병목을 분석했습니다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이후 여러 소프트웨어 최적화를 적용한 최종 시스템에서 평균 약 </a:t>
            </a:r>
            <a:r>
              <a:rPr lang="en-US" altLang="ko-KR" dirty="0"/>
              <a:t>1.9 FPS</a:t>
            </a:r>
            <a:r>
              <a:rPr lang="ko-KR" altLang="en-US" dirty="0"/>
              <a:t>의 성능을 확인했습니다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E92029-F171-4FE6-AED7-3AF13C61E2E4}" type="slidenum">
              <a:rPr lang="en-US" altLang="ko-KR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9550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전체 구조는 왼쪽의 그림과 같습니다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Webcam </a:t>
            </a:r>
            <a:r>
              <a:rPr lang="ko-KR" altLang="en-US" dirty="0"/>
              <a:t>입력을 </a:t>
            </a:r>
            <a:r>
              <a:rPr lang="en-US" altLang="ko-KR" dirty="0"/>
              <a:t>PS</a:t>
            </a:r>
            <a:r>
              <a:rPr lang="ko-KR" altLang="en-US" dirty="0"/>
              <a:t>에서 처리하고</a:t>
            </a:r>
            <a:r>
              <a:rPr lang="en-US" altLang="ko-KR" dirty="0"/>
              <a:t>, </a:t>
            </a:r>
            <a:r>
              <a:rPr lang="ko-KR" altLang="en-US" dirty="0"/>
              <a:t>필요한 연산을 </a:t>
            </a:r>
            <a:r>
              <a:rPr lang="en-US" altLang="ko-KR" dirty="0"/>
              <a:t>Kernel Driver</a:t>
            </a:r>
            <a:r>
              <a:rPr lang="ko-KR" altLang="en-US" dirty="0"/>
              <a:t>를 통해 </a:t>
            </a:r>
            <a:r>
              <a:rPr lang="en-US" altLang="ko-KR" dirty="0"/>
              <a:t>FPGA</a:t>
            </a:r>
            <a:r>
              <a:rPr lang="ko-KR" altLang="en-US" dirty="0"/>
              <a:t>로 전달하는 방식입니다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PS</a:t>
            </a:r>
            <a:r>
              <a:rPr lang="ko-KR" altLang="en-US" dirty="0"/>
              <a:t>와 </a:t>
            </a:r>
            <a:r>
              <a:rPr lang="en-US" altLang="ko-KR" dirty="0"/>
              <a:t>FPGA </a:t>
            </a:r>
            <a:r>
              <a:rPr lang="ko-KR" altLang="en-US" dirty="0"/>
              <a:t>사이의 데이터 전송은 </a:t>
            </a:r>
            <a:r>
              <a:rPr lang="en-US" altLang="ko-KR" dirty="0"/>
              <a:t>DMA</a:t>
            </a:r>
            <a:r>
              <a:rPr lang="ko-KR" altLang="en-US" dirty="0"/>
              <a:t>를 사용하고</a:t>
            </a:r>
            <a:r>
              <a:rPr lang="en-US" altLang="ko-KR" dirty="0"/>
              <a:t> MM2S</a:t>
            </a:r>
            <a:r>
              <a:rPr lang="ko-KR" altLang="en-US" dirty="0"/>
              <a:t>는 </a:t>
            </a:r>
            <a:r>
              <a:rPr lang="en-US" altLang="ko-KR" dirty="0"/>
              <a:t>FPGA</a:t>
            </a:r>
            <a:r>
              <a:rPr lang="ko-KR" altLang="en-US" dirty="0"/>
              <a:t>로 입력을 보내고 </a:t>
            </a:r>
            <a:r>
              <a:rPr lang="en-US" altLang="ko-KR" dirty="0"/>
              <a:t>S2MM</a:t>
            </a:r>
            <a:r>
              <a:rPr lang="ko-KR" altLang="en-US" dirty="0"/>
              <a:t>은 결과를 다시 받아오는 역할을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오른쪽 아래 화면처럼 실제 </a:t>
            </a:r>
            <a:r>
              <a:rPr lang="en-US" altLang="ko-KR" dirty="0"/>
              <a:t>/dev/model6_dma </a:t>
            </a:r>
            <a:r>
              <a:rPr lang="ko-KR" altLang="en-US" dirty="0"/>
              <a:t>장치와 </a:t>
            </a:r>
            <a:r>
              <a:rPr lang="en-US" altLang="ko-KR" dirty="0"/>
              <a:t>Model6 </a:t>
            </a:r>
            <a:r>
              <a:rPr lang="en-US" altLang="ko-KR" dirty="0" err="1"/>
              <a:t>Fpga</a:t>
            </a:r>
            <a:r>
              <a:rPr lang="en-US" altLang="ko-KR" dirty="0"/>
              <a:t> </a:t>
            </a:r>
            <a:r>
              <a:rPr lang="ko-KR" altLang="en-US" dirty="0"/>
              <a:t>호출을 확인해서 단순 소프트웨어 실행이 아니라 실제 </a:t>
            </a:r>
            <a:r>
              <a:rPr lang="en-US" altLang="ko-KR" dirty="0"/>
              <a:t>FPGA</a:t>
            </a:r>
            <a:r>
              <a:rPr lang="ko-KR" altLang="en-US" dirty="0"/>
              <a:t>와 연동된 것을 확인했습니다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E92029-F171-4FE6-AED7-3AF13C61E2E4}" type="slidenum">
              <a:rPr lang="en-US" altLang="ko-KR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7526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다음으로는 소프트웨어 측에서 확인된 병목과 개선 사항에 대해 말씀드리겠습니다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첫번째로</a:t>
            </a:r>
            <a:r>
              <a:rPr lang="en-US" altLang="ko-KR" dirty="0"/>
              <a:t>, FPGA </a:t>
            </a:r>
            <a:r>
              <a:rPr lang="ko-KR" altLang="en-US" dirty="0"/>
              <a:t>연동 과정에서 </a:t>
            </a:r>
            <a:r>
              <a:rPr lang="en-US" altLang="ko-KR" dirty="0"/>
              <a:t>DMA Timeout </a:t>
            </a:r>
            <a:r>
              <a:rPr lang="ko-KR" altLang="en-US" dirty="0"/>
              <a:t>문제가 발생했습니다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원인은 입력은 </a:t>
            </a:r>
            <a:r>
              <a:rPr lang="en-US" altLang="ko-KR" dirty="0"/>
              <a:t>FPGA</a:t>
            </a:r>
            <a:r>
              <a:rPr lang="ko-KR" altLang="en-US" dirty="0"/>
              <a:t>로 보내고 있었지만</a:t>
            </a:r>
            <a:r>
              <a:rPr lang="en-US" altLang="ko-KR" dirty="0"/>
              <a:t>, FPGA</a:t>
            </a:r>
            <a:r>
              <a:rPr lang="ko-KR" altLang="en-US" dirty="0"/>
              <a:t>의 결과를 받을 </a:t>
            </a:r>
            <a:r>
              <a:rPr lang="en-US" altLang="ko-KR" dirty="0"/>
              <a:t>S2MM</a:t>
            </a:r>
            <a:r>
              <a:rPr lang="ko-KR" altLang="en-US" dirty="0"/>
              <a:t>이 아직 준비되지 않은 상태였기 때문입니다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</a:t>
            </a:r>
            <a:r>
              <a:rPr lang="en-US" altLang="ko-KR" dirty="0"/>
              <a:t>FPGA </a:t>
            </a:r>
            <a:r>
              <a:rPr lang="ko-KR" altLang="en-US" dirty="0"/>
              <a:t>출력이 막히면서 전체 데이터 흐름이 멈추는 문제가 발생했습니다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이를 해결하기 위해 </a:t>
            </a:r>
            <a:r>
              <a:rPr lang="en-US" altLang="ko-KR" dirty="0"/>
              <a:t>S2MM</a:t>
            </a:r>
            <a:r>
              <a:rPr lang="ko-KR" altLang="en-US" dirty="0"/>
              <a:t>을 먼저 준비한 뒤 </a:t>
            </a:r>
            <a:r>
              <a:rPr lang="en-US" altLang="ko-KR" dirty="0"/>
              <a:t>MM2S </a:t>
            </a:r>
            <a:r>
              <a:rPr lang="ko-KR" altLang="en-US" dirty="0"/>
              <a:t>입력 전송을 시작하도록 순서를 변경했습니다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입력을 보내기 전에 출력을 받을 준비를 먼저 하도록 변경해서 </a:t>
            </a:r>
            <a:r>
              <a:rPr lang="en-US" altLang="ko-KR" dirty="0"/>
              <a:t>DMA Timeout</a:t>
            </a:r>
            <a:r>
              <a:rPr lang="ko-KR" altLang="en-US" dirty="0"/>
              <a:t>과 </a:t>
            </a:r>
            <a:r>
              <a:rPr lang="en-US" altLang="ko-KR" dirty="0"/>
              <a:t>Deadlock </a:t>
            </a:r>
            <a:r>
              <a:rPr lang="ko-KR" altLang="en-US" dirty="0"/>
              <a:t>문제를 해결할 수 있었습니다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E92029-F171-4FE6-AED7-3AF13C61E2E4}" type="slidenum">
              <a:rPr lang="en-US" altLang="ko-KR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78605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두번째는 </a:t>
            </a:r>
            <a:r>
              <a:rPr lang="en-US" altLang="ko-KR" dirty="0"/>
              <a:t>CPU–FPGA Frame Pipelining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기존에는 </a:t>
            </a:r>
            <a:r>
              <a:rPr lang="en-US" altLang="ko-KR" dirty="0"/>
              <a:t>FPGA</a:t>
            </a:r>
            <a:r>
              <a:rPr lang="ko-KR" altLang="en-US" dirty="0"/>
              <a:t>가 한 프레임을 처리하는 동안 </a:t>
            </a:r>
            <a:r>
              <a:rPr lang="en-US" altLang="ko-KR" dirty="0"/>
              <a:t>CPU</a:t>
            </a:r>
            <a:r>
              <a:rPr lang="ko-KR" altLang="en-US" dirty="0"/>
              <a:t>가 기다리는 시간이 있었습니다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이를 개선해서</a:t>
            </a:r>
            <a:r>
              <a:rPr lang="en-US" altLang="ko-KR" dirty="0"/>
              <a:t>, FPGA</a:t>
            </a:r>
            <a:r>
              <a:rPr lang="ko-KR" altLang="en-US" dirty="0"/>
              <a:t>가 현재 프레임을 처리하는 동안 </a:t>
            </a:r>
            <a:r>
              <a:rPr lang="en-US" altLang="ko-KR" dirty="0"/>
              <a:t>CPU</a:t>
            </a:r>
            <a:r>
              <a:rPr lang="ko-KR" altLang="en-US" dirty="0"/>
              <a:t>는 다음 프레임을 미리 처리하도록 구성했습니다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이렇게 </a:t>
            </a:r>
            <a:r>
              <a:rPr lang="en-US" altLang="ko-KR" dirty="0"/>
              <a:t>CPU</a:t>
            </a:r>
            <a:r>
              <a:rPr lang="ko-KR" altLang="en-US" dirty="0"/>
              <a:t>와 </a:t>
            </a:r>
            <a:r>
              <a:rPr lang="en-US" altLang="ko-KR" dirty="0"/>
              <a:t>FPGA</a:t>
            </a:r>
            <a:r>
              <a:rPr lang="ko-KR" altLang="en-US" dirty="0"/>
              <a:t>가 동시에 동작하도록 수정해서 불필요한 대기 시간을 줄였습니다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E92029-F171-4FE6-AED7-3AF13C61E2E4}" type="slidenum">
              <a:rPr lang="en-US" altLang="ko-KR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7162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설계한 </a:t>
            </a:r>
            <a:r>
              <a:rPr lang="en-US" altLang="ko-KR" dirty="0"/>
              <a:t>FPGA </a:t>
            </a:r>
            <a:r>
              <a:rPr lang="ko-KR" altLang="en-US" dirty="0"/>
              <a:t>가속기를 실제 </a:t>
            </a:r>
            <a:r>
              <a:rPr lang="en-US" altLang="ko-KR" dirty="0"/>
              <a:t>YOLOv8n</a:t>
            </a:r>
            <a:r>
              <a:rPr lang="ko-KR" altLang="en-US" dirty="0"/>
              <a:t>에 적용한 구조와</a:t>
            </a:r>
            <a:r>
              <a:rPr lang="en-US" altLang="ko-KR" dirty="0"/>
              <a:t>, </a:t>
            </a:r>
            <a:r>
              <a:rPr lang="ko-KR" altLang="en-US" dirty="0"/>
              <a:t>적용 과정에서 개선한 부분에 대해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먼저 </a:t>
            </a:r>
            <a:r>
              <a:rPr lang="en-US" altLang="ko-KR" dirty="0"/>
              <a:t>PS</a:t>
            </a:r>
            <a:r>
              <a:rPr lang="ko-KR" altLang="en-US" dirty="0"/>
              <a:t>에서 </a:t>
            </a:r>
            <a:r>
              <a:rPr lang="en-US" altLang="ko-KR" dirty="0"/>
              <a:t>YOLO Layer 0</a:t>
            </a:r>
            <a:r>
              <a:rPr lang="ko-KR" altLang="en-US" dirty="0"/>
              <a:t>부터 </a:t>
            </a:r>
            <a:r>
              <a:rPr lang="en-US" altLang="ko-KR" dirty="0"/>
              <a:t>5</a:t>
            </a:r>
            <a:r>
              <a:rPr lang="ko-KR" altLang="en-US" dirty="0"/>
              <a:t>까지 처리한 뒤</a:t>
            </a:r>
            <a:r>
              <a:rPr lang="en-US" altLang="ko-KR" dirty="0"/>
              <a:t>, </a:t>
            </a:r>
            <a:r>
              <a:rPr lang="ko-KR" altLang="en-US" dirty="0"/>
              <a:t>생성된 데이터를 </a:t>
            </a:r>
            <a:r>
              <a:rPr lang="en-US" altLang="ko-KR" dirty="0"/>
              <a:t>FPGA</a:t>
            </a:r>
            <a:r>
              <a:rPr lang="ko-KR" altLang="en-US" dirty="0"/>
              <a:t>로 전달해서 </a:t>
            </a:r>
            <a:r>
              <a:rPr lang="en-US" altLang="ko-KR" dirty="0"/>
              <a:t>model.6</a:t>
            </a:r>
            <a:r>
              <a:rPr lang="ko-KR" altLang="en-US" dirty="0"/>
              <a:t>의 </a:t>
            </a:r>
            <a:r>
              <a:rPr lang="en-US" altLang="ko-KR" dirty="0"/>
              <a:t>C2f </a:t>
            </a:r>
            <a:r>
              <a:rPr lang="ko-KR" altLang="en-US" dirty="0"/>
              <a:t>연산을 수행했습니다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FPGA </a:t>
            </a:r>
            <a:r>
              <a:rPr lang="ko-KR" altLang="en-US" dirty="0"/>
              <a:t>자원 문제로 제외한 </a:t>
            </a:r>
            <a:r>
              <a:rPr lang="en-US" altLang="ko-KR" dirty="0"/>
              <a:t>cv2</a:t>
            </a:r>
            <a:r>
              <a:rPr lang="ko-KR" altLang="en-US" dirty="0"/>
              <a:t>와 이후 연산은 다시 </a:t>
            </a:r>
            <a:r>
              <a:rPr lang="en-US" altLang="ko-KR" dirty="0"/>
              <a:t>PS</a:t>
            </a:r>
            <a:r>
              <a:rPr lang="ko-KR" altLang="en-US" dirty="0"/>
              <a:t>에서 처리했습니다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또한 기존에는 </a:t>
            </a:r>
            <a:r>
              <a:rPr lang="en-US" altLang="ko-KR" dirty="0"/>
              <a:t>FPGA </a:t>
            </a:r>
            <a:r>
              <a:rPr lang="ko-KR" altLang="en-US" dirty="0"/>
              <a:t>설계 단계에서 이미 </a:t>
            </a:r>
            <a:r>
              <a:rPr lang="en-US" altLang="ko-KR" dirty="0"/>
              <a:t>Calibration</a:t>
            </a:r>
            <a:r>
              <a:rPr lang="ko-KR" altLang="en-US" dirty="0"/>
              <a:t>이 되어 있었는데 </a:t>
            </a:r>
            <a:r>
              <a:rPr lang="en-US" altLang="ko-KR" dirty="0"/>
              <a:t>SW</a:t>
            </a:r>
            <a:r>
              <a:rPr lang="ko-KR" altLang="en-US" dirty="0"/>
              <a:t>에서 다시 </a:t>
            </a:r>
            <a:r>
              <a:rPr lang="en-US" altLang="ko-KR" dirty="0"/>
              <a:t>Calibration</a:t>
            </a:r>
            <a:r>
              <a:rPr lang="ko-KR" altLang="en-US" dirty="0"/>
              <a:t>을 적용하는 중복 문제가 있었습니다</a:t>
            </a:r>
            <a:r>
              <a:rPr lang="en-US" altLang="ko-KR" dirty="0"/>
              <a:t>. </a:t>
            </a:r>
            <a:r>
              <a:rPr lang="ko-KR" altLang="en-US" dirty="0"/>
              <a:t>교수님 피드백을 반영해 별도의 추가 </a:t>
            </a:r>
            <a:r>
              <a:rPr lang="en-US" altLang="ko-KR" dirty="0"/>
              <a:t>Calibration</a:t>
            </a:r>
            <a:r>
              <a:rPr lang="ko-KR" altLang="en-US" dirty="0"/>
              <a:t>은 제거하고</a:t>
            </a:r>
            <a:r>
              <a:rPr lang="en-US" altLang="ko-KR" dirty="0"/>
              <a:t>, FPGA </a:t>
            </a:r>
            <a:r>
              <a:rPr lang="ko-KR" altLang="en-US" dirty="0"/>
              <a:t>설계 단계에서 </a:t>
            </a:r>
            <a:r>
              <a:rPr lang="ko-KR" altLang="en-US" dirty="0" err="1"/>
              <a:t>정해둔</a:t>
            </a:r>
            <a:r>
              <a:rPr lang="ko-KR" altLang="en-US" dirty="0"/>
              <a:t> 기존 값을 그대로 사용하도록 수정했습니다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E92029-F171-4FE6-AED7-3AF13C61E2E4}" type="slidenum">
              <a:rPr lang="en-US" altLang="ko-KR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20818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마지막으로 실제 </a:t>
            </a:r>
            <a:r>
              <a:rPr lang="en-US" altLang="ko-KR" dirty="0"/>
              <a:t>Webcam</a:t>
            </a:r>
            <a:r>
              <a:rPr lang="ko-KR" altLang="en-US" dirty="0"/>
              <a:t>을 이용해 </a:t>
            </a:r>
            <a:r>
              <a:rPr lang="en-US" altLang="ko-KR" dirty="0"/>
              <a:t>PPE Detection</a:t>
            </a:r>
            <a:r>
              <a:rPr lang="ko-KR" altLang="en-US" dirty="0"/>
              <a:t>이 정상적으로 동작하는 것을 확인했습니다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최종 평균 추론 성능은 약 </a:t>
            </a:r>
            <a:r>
              <a:rPr lang="en-US" altLang="ko-KR" dirty="0"/>
              <a:t>1.93 FPS</a:t>
            </a:r>
            <a:r>
              <a:rPr lang="ko-KR" altLang="en-US" dirty="0"/>
              <a:t>였으며</a:t>
            </a:r>
            <a:r>
              <a:rPr lang="en-US" altLang="ko-KR" dirty="0"/>
              <a:t>, SW </a:t>
            </a:r>
            <a:r>
              <a:rPr lang="ko-KR" altLang="en-US" dirty="0"/>
              <a:t>구현 및 </a:t>
            </a:r>
            <a:r>
              <a:rPr lang="en-US" altLang="ko-KR" dirty="0"/>
              <a:t>, FPGA </a:t>
            </a:r>
            <a:r>
              <a:rPr lang="ko-KR" altLang="en-US" dirty="0"/>
              <a:t>가속기를 포함한 시스템 통합에 성공했습니다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E92029-F171-4FE6-AED7-3AF13C61E2E4}" type="slidenum">
              <a:rPr lang="en-US" altLang="ko-KR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4644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D2704-B189-16D5-051D-66672DC94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A6A735B-A1B4-4016-95A2-B0B747884E33}"/>
              </a:ext>
            </a:extLst>
          </p:cNvPr>
          <p:cNvSpPr/>
          <p:nvPr/>
        </p:nvSpPr>
        <p:spPr>
          <a:xfrm>
            <a:off x="1083817" y="1751735"/>
            <a:ext cx="9817769" cy="4674273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09080851-458F-CFF8-A34F-77B16E456A6F}"/>
              </a:ext>
            </a:extLst>
          </p:cNvPr>
          <p:cNvSpPr/>
          <p:nvPr/>
        </p:nvSpPr>
        <p:spPr>
          <a:xfrm>
            <a:off x="2456745" y="412868"/>
            <a:ext cx="7278509" cy="721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SW </a:t>
            </a:r>
            <a:r>
              <a:rPr lang="ko-KR" altLang="en-US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구현 및 시스템 통합 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C8A30DD-76FD-49C8-B3B6-C01FCB7A8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409" y="2194708"/>
            <a:ext cx="4739951" cy="62213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C85B983-7543-4B49-9059-A3D63CABF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409" y="3004812"/>
            <a:ext cx="4739951" cy="60077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E4E06B9-7419-4C65-B3A7-75EF99F96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409" y="3793927"/>
            <a:ext cx="4739951" cy="141504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4FFB051-D972-4302-9168-93F66537A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410" y="5367655"/>
            <a:ext cx="4739950" cy="6007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3E10EF-0AAE-47E7-8342-C1520AE67F92}"/>
              </a:ext>
            </a:extLst>
          </p:cNvPr>
          <p:cNvSpPr txBox="1"/>
          <p:nvPr/>
        </p:nvSpPr>
        <p:spPr>
          <a:xfrm>
            <a:off x="3844355" y="2311538"/>
            <a:ext cx="4458056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20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SW </a:t>
            </a:r>
            <a:r>
              <a:rPr lang="ko-KR" altLang="en-US" sz="20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통합 및 최적화 개요</a:t>
            </a:r>
            <a:endParaRPr lang="en-US" altLang="ko-KR" sz="2000" b="1" dirty="0">
              <a:solidFill>
                <a:schemeClr val="tx2">
                  <a:lumMod val="50000"/>
                </a:schemeClr>
              </a:solidFill>
              <a:latin typeface="+mn-ea"/>
            </a:endParaRPr>
          </a:p>
          <a:p>
            <a:pPr marL="342900" indent="-342900">
              <a:buAutoNum type="arabicPeriod"/>
            </a:pPr>
            <a:endParaRPr lang="en-US" altLang="ko-KR" sz="3200" b="1" dirty="0">
              <a:solidFill>
                <a:schemeClr val="tx2">
                  <a:lumMod val="50000"/>
                </a:schemeClr>
              </a:solidFill>
              <a:latin typeface="+mn-ea"/>
            </a:endParaRPr>
          </a:p>
          <a:p>
            <a:r>
              <a:rPr lang="en-US" altLang="ko-KR" sz="20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2. </a:t>
            </a:r>
            <a:r>
              <a:rPr lang="ko-KR" altLang="en-US" sz="20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전체 </a:t>
            </a:r>
            <a:r>
              <a:rPr lang="en-US" altLang="ko-KR" sz="20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SW </a:t>
            </a:r>
            <a:r>
              <a:rPr lang="ko-KR" altLang="en-US" sz="20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구조 </a:t>
            </a:r>
            <a:r>
              <a:rPr lang="en-US" altLang="ko-KR" sz="20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/ PS–PL </a:t>
            </a:r>
            <a:r>
              <a:rPr lang="ko-KR" altLang="en-US" sz="20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연동</a:t>
            </a:r>
            <a:endParaRPr lang="en-US" altLang="ko-KR" sz="2000" b="1" dirty="0">
              <a:solidFill>
                <a:schemeClr val="tx2">
                  <a:lumMod val="50000"/>
                </a:schemeClr>
              </a:solidFill>
              <a:latin typeface="+mn-ea"/>
            </a:endParaRPr>
          </a:p>
          <a:p>
            <a:endParaRPr lang="en-US" altLang="ko-KR" sz="3200" b="1" dirty="0">
              <a:solidFill>
                <a:schemeClr val="tx2">
                  <a:lumMod val="50000"/>
                </a:schemeClr>
              </a:solidFill>
              <a:latin typeface="+mn-ea"/>
            </a:endParaRPr>
          </a:p>
          <a:p>
            <a:r>
              <a:rPr lang="en-US" altLang="ko-KR" sz="20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3. </a:t>
            </a:r>
            <a:r>
              <a:rPr lang="ko-KR" altLang="en-US" sz="20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최적화 과정</a:t>
            </a:r>
          </a:p>
          <a:p>
            <a:r>
              <a:rPr lang="en-US" altLang="ko-KR" sz="20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  </a:t>
            </a:r>
            <a:r>
              <a:rPr lang="en-US" altLang="ko-KR" sz="16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3.1 DMA </a:t>
            </a:r>
            <a:r>
              <a:rPr lang="ko-KR" altLang="en-US" sz="16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문제와 해결 과정</a:t>
            </a:r>
            <a:endParaRPr lang="en-US" altLang="ko-KR" sz="1600" b="1" dirty="0">
              <a:solidFill>
                <a:schemeClr val="tx2">
                  <a:lumMod val="50000"/>
                </a:schemeClr>
              </a:solidFill>
              <a:latin typeface="+mn-ea"/>
            </a:endParaRPr>
          </a:p>
          <a:p>
            <a:r>
              <a:rPr lang="en-US" altLang="ko-KR" sz="16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   3.2 YOLO Hybrid Pipeline </a:t>
            </a:r>
            <a:r>
              <a:rPr lang="ko-KR" altLang="en-US" sz="16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구현</a:t>
            </a:r>
            <a:endParaRPr lang="en-US" altLang="ko-KR" sz="1600" b="1" dirty="0">
              <a:solidFill>
                <a:schemeClr val="tx2">
                  <a:lumMod val="50000"/>
                </a:schemeClr>
              </a:solidFill>
              <a:latin typeface="+mn-ea"/>
            </a:endParaRPr>
          </a:p>
          <a:p>
            <a:r>
              <a:rPr lang="en-US" altLang="ko-KR" sz="16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   3.3 CPU–FPGA Frame Pipelining </a:t>
            </a:r>
          </a:p>
          <a:p>
            <a:endParaRPr lang="en-US" altLang="ko-KR" sz="3200" b="1" dirty="0">
              <a:solidFill>
                <a:schemeClr val="tx2">
                  <a:lumMod val="50000"/>
                </a:schemeClr>
              </a:solidFill>
              <a:latin typeface="+mn-ea"/>
            </a:endParaRPr>
          </a:p>
          <a:p>
            <a:r>
              <a:rPr lang="en-US" altLang="ko-KR" sz="20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4. </a:t>
            </a:r>
            <a:r>
              <a:rPr lang="ko-KR" altLang="en-US" sz="20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실제 </a:t>
            </a:r>
            <a:r>
              <a:rPr lang="en-US" altLang="ko-KR" sz="20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Webcam </a:t>
            </a:r>
            <a:r>
              <a:rPr lang="ko-KR" altLang="en-US" sz="20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실행 및 성능 결과</a:t>
            </a:r>
            <a:endParaRPr lang="en-US" altLang="ko-KR" sz="2000" b="1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E33CBB-2422-44E7-8DD4-10184393D4E7}"/>
              </a:ext>
            </a:extLst>
          </p:cNvPr>
          <p:cNvSpPr txBox="1"/>
          <p:nvPr/>
        </p:nvSpPr>
        <p:spPr>
          <a:xfrm>
            <a:off x="5593656" y="1351625"/>
            <a:ext cx="180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&lt;</a:t>
            </a:r>
            <a:r>
              <a:rPr lang="ko-KR" altLang="en-US" sz="2000" b="1" dirty="0"/>
              <a:t>목차</a:t>
            </a:r>
            <a:r>
              <a:rPr lang="en-US" altLang="ko-KR" sz="2000" b="1" dirty="0"/>
              <a:t>&gt;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31640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D2704-B189-16D5-051D-66672DC94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9080851-458F-CFF8-A34F-77B16E456A6F}"/>
              </a:ext>
            </a:extLst>
          </p:cNvPr>
          <p:cNvSpPr/>
          <p:nvPr/>
        </p:nvSpPr>
        <p:spPr>
          <a:xfrm>
            <a:off x="466995" y="86542"/>
            <a:ext cx="11094415" cy="722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1. SW </a:t>
            </a:r>
            <a:r>
              <a:rPr lang="ko-KR" altLang="en-US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통합 및 최적화 개요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AEC1FCF-79B1-4539-83D2-CD1AED1923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61" t="36725" r="3982" b="26316"/>
          <a:stretch/>
        </p:blipFill>
        <p:spPr>
          <a:xfrm>
            <a:off x="928268" y="1114914"/>
            <a:ext cx="10335463" cy="523398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A6A0FE2-10C8-4CA5-8557-3866FD55202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620" t="52845" r="67587" b="42886"/>
          <a:stretch/>
        </p:blipFill>
        <p:spPr>
          <a:xfrm>
            <a:off x="2349304" y="4192172"/>
            <a:ext cx="351693" cy="85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059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D2704-B189-16D5-051D-66672DC94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9080851-458F-CFF8-A34F-77B16E456A6F}"/>
              </a:ext>
            </a:extLst>
          </p:cNvPr>
          <p:cNvSpPr/>
          <p:nvPr/>
        </p:nvSpPr>
        <p:spPr>
          <a:xfrm>
            <a:off x="274491" y="31614"/>
            <a:ext cx="11094415" cy="813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2. </a:t>
            </a:r>
            <a:r>
              <a:rPr lang="ko-KR" altLang="en-US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전체 </a:t>
            </a:r>
            <a:r>
              <a:rPr lang="en-US" altLang="ko-KR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SW </a:t>
            </a:r>
            <a:r>
              <a:rPr lang="ko-KR" altLang="en-US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구조 </a:t>
            </a:r>
            <a:r>
              <a:rPr lang="en-US" altLang="ko-KR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/ PS–PL </a:t>
            </a:r>
            <a:r>
              <a:rPr lang="ko-KR" altLang="en-US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연동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8D63BB6-3CCF-41D3-9242-5339C279D3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977" r="18481" b="-2807"/>
          <a:stretch/>
        </p:blipFill>
        <p:spPr>
          <a:xfrm>
            <a:off x="6434" y="1153758"/>
            <a:ext cx="5815264" cy="56510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1A78A4-4EB4-4F1C-A181-BDE45A5726E8}"/>
              </a:ext>
            </a:extLst>
          </p:cNvPr>
          <p:cNvSpPr txBox="1"/>
          <p:nvPr/>
        </p:nvSpPr>
        <p:spPr>
          <a:xfrm>
            <a:off x="3941545" y="6030560"/>
            <a:ext cx="984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(CV2 </a:t>
            </a:r>
            <a:r>
              <a:rPr lang="ko-KR" altLang="en-US" sz="1400" dirty="0"/>
              <a:t>제외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1DABB89-D408-451B-92C8-DB53AC6A524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493" t="37163" r="14933" b="42529"/>
          <a:stretch/>
        </p:blipFill>
        <p:spPr>
          <a:xfrm>
            <a:off x="5821698" y="4079441"/>
            <a:ext cx="6019285" cy="19511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40F8531-81C0-4B67-91BB-A9B881D06CF0}"/>
              </a:ext>
            </a:extLst>
          </p:cNvPr>
          <p:cNvSpPr txBox="1"/>
          <p:nvPr/>
        </p:nvSpPr>
        <p:spPr>
          <a:xfrm>
            <a:off x="5783340" y="1362305"/>
            <a:ext cx="609600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Software–Hardware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/>
              <a:t>model.6 </a:t>
            </a:r>
            <a:r>
              <a:rPr lang="ko-KR" altLang="en-US" sz="2000" dirty="0"/>
              <a:t>연산 일부를 </a:t>
            </a:r>
            <a:r>
              <a:rPr lang="en-US" altLang="ko-KR" sz="2000" dirty="0"/>
              <a:t>FPGA</a:t>
            </a:r>
            <a:r>
              <a:rPr lang="ko-KR" altLang="en-US" sz="2000" dirty="0"/>
              <a:t>로 </a:t>
            </a:r>
            <a:r>
              <a:rPr lang="en-US" altLang="ko-KR" sz="2000" dirty="0"/>
              <a:t>Offloading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/>
              <a:t>/dev/model6_dma Kernel Driver</a:t>
            </a:r>
            <a:r>
              <a:rPr lang="ko-KR" altLang="en-US" sz="2000" dirty="0"/>
              <a:t>를 통해 </a:t>
            </a:r>
            <a:r>
              <a:rPr lang="en-US" altLang="ko-KR" sz="2000" dirty="0"/>
              <a:t>FPGA </a:t>
            </a:r>
            <a:r>
              <a:rPr lang="ko-KR" altLang="en-US" sz="2000" dirty="0"/>
              <a:t>호출</a:t>
            </a:r>
            <a:endParaRPr lang="en-US" altLang="ko-KR" sz="2000" dirty="0"/>
          </a:p>
          <a:p>
            <a:endParaRPr lang="en-US" altLang="ko-KR" sz="2000" b="1" dirty="0"/>
          </a:p>
          <a:p>
            <a:r>
              <a:rPr lang="en-US" altLang="ko-KR" sz="2400" b="1" dirty="0"/>
              <a:t>PS–PL Data Transfer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/>
              <a:t>MM2S : PS → FPGA </a:t>
            </a:r>
            <a:r>
              <a:rPr lang="ko-KR" altLang="en-US" sz="2000" dirty="0"/>
              <a:t>입력 전송</a:t>
            </a:r>
            <a:endParaRPr lang="en-US" altLang="ko-K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/>
              <a:t>S2MM : FPGA → PS </a:t>
            </a:r>
            <a:r>
              <a:rPr lang="ko-KR" altLang="en-US" sz="2000" dirty="0"/>
              <a:t>출력 수신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ED8CC2-176D-4386-9B40-D37F00937628}"/>
              </a:ext>
            </a:extLst>
          </p:cNvPr>
          <p:cNvSpPr txBox="1"/>
          <p:nvPr/>
        </p:nvSpPr>
        <p:spPr>
          <a:xfrm>
            <a:off x="5783340" y="62009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→ 실제 </a:t>
            </a:r>
            <a:r>
              <a:rPr lang="en-US" altLang="ko-KR" b="1" dirty="0"/>
              <a:t>/dev/model6_dma</a:t>
            </a:r>
            <a:r>
              <a:rPr lang="ko-KR" altLang="en-US" b="1" dirty="0"/>
              <a:t>를 통한 </a:t>
            </a:r>
            <a:r>
              <a:rPr lang="en-US" altLang="ko-KR" b="1" dirty="0"/>
              <a:t>FPGA </a:t>
            </a:r>
            <a:r>
              <a:rPr lang="ko-KR" altLang="en-US" b="1" dirty="0"/>
              <a:t>연결 확인</a:t>
            </a:r>
          </a:p>
        </p:txBody>
      </p:sp>
    </p:spTree>
    <p:extLst>
      <p:ext uri="{BB962C8B-B14F-4D97-AF65-F5344CB8AC3E}">
        <p14:creationId xmlns:p14="http://schemas.microsoft.com/office/powerpoint/2010/main" val="557867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D2704-B189-16D5-051D-66672DC94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9080851-458F-CFF8-A34F-77B16E456A6F}"/>
              </a:ext>
            </a:extLst>
          </p:cNvPr>
          <p:cNvSpPr/>
          <p:nvPr/>
        </p:nvSpPr>
        <p:spPr>
          <a:xfrm>
            <a:off x="466997" y="101700"/>
            <a:ext cx="11094415" cy="680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3B6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3.1 DMA </a:t>
            </a:r>
            <a:r>
              <a:rPr lang="ko-KR" altLang="en-US" sz="2800" b="1" dirty="0">
                <a:solidFill>
                  <a:srgbClr val="1F3B6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문제와 해결 과정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03F5BE8-B0E7-429B-BF5E-D31DF35F5C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737"/>
          <a:stretch/>
        </p:blipFill>
        <p:spPr>
          <a:xfrm>
            <a:off x="870704" y="771828"/>
            <a:ext cx="10287000" cy="598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075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D2704-B189-16D5-051D-66672DC94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9080851-458F-CFF8-A34F-77B16E456A6F}"/>
              </a:ext>
            </a:extLst>
          </p:cNvPr>
          <p:cNvSpPr/>
          <p:nvPr/>
        </p:nvSpPr>
        <p:spPr>
          <a:xfrm>
            <a:off x="466997" y="156356"/>
            <a:ext cx="11094415" cy="417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nn-NO" altLang="ko-KR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3.2 CPU–FPGA Frame Pipelining </a:t>
            </a:r>
            <a:endParaRPr lang="ko-KR" altLang="en-US" sz="2800" b="1" dirty="0">
              <a:solidFill>
                <a:srgbClr val="1F3B66"/>
              </a:solidFill>
              <a:latin typeface="Arial"/>
              <a:ea typeface="맑은 고딕"/>
              <a:cs typeface="Arial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9FF4ECB9-BD06-4F14-B18A-BBADB49A8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00" y="818256"/>
            <a:ext cx="10453799" cy="588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72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D2704-B189-16D5-051D-66672DC94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9080851-458F-CFF8-A34F-77B16E456A6F}"/>
              </a:ext>
            </a:extLst>
          </p:cNvPr>
          <p:cNvSpPr/>
          <p:nvPr/>
        </p:nvSpPr>
        <p:spPr>
          <a:xfrm>
            <a:off x="352926" y="-98223"/>
            <a:ext cx="11094415" cy="974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3.3 YOLOv8n FPGA </a:t>
            </a:r>
            <a:r>
              <a:rPr lang="ko-KR" altLang="en-US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적용 </a:t>
            </a:r>
            <a:r>
              <a:rPr lang="en-US" altLang="ko-KR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/ Calibration </a:t>
            </a:r>
            <a:r>
              <a:rPr lang="ko-KR" altLang="en-US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수정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11B67A5-A1C2-4FD1-A6FA-0B32738C19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77" r="61781"/>
          <a:stretch/>
        </p:blipFill>
        <p:spPr>
          <a:xfrm>
            <a:off x="352926" y="763774"/>
            <a:ext cx="3560380" cy="60461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9322244-3DBD-422E-A92E-C449F42523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101"/>
          <a:stretch/>
        </p:blipFill>
        <p:spPr>
          <a:xfrm>
            <a:off x="5237074" y="880934"/>
            <a:ext cx="5467372" cy="48870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7B87CC1-E047-43CD-8F7D-CD500151E3ED}"/>
              </a:ext>
            </a:extLst>
          </p:cNvPr>
          <p:cNvSpPr txBox="1"/>
          <p:nvPr/>
        </p:nvSpPr>
        <p:spPr>
          <a:xfrm>
            <a:off x="4513202" y="5880814"/>
            <a:ext cx="69151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>
                <a:latin typeface="+mj-ea"/>
                <a:ea typeface="+mj-ea"/>
              </a:rPr>
              <a:t>YOLOv8n model.6 </a:t>
            </a:r>
            <a:r>
              <a:rPr lang="ko-KR" altLang="en-US" sz="2000" b="1" dirty="0">
                <a:latin typeface="+mj-ea"/>
                <a:ea typeface="+mj-ea"/>
              </a:rPr>
              <a:t>연산 일부를 </a:t>
            </a:r>
            <a:r>
              <a:rPr lang="en-US" altLang="ko-KR" sz="2000" b="1" dirty="0">
                <a:latin typeface="+mj-ea"/>
                <a:ea typeface="+mj-ea"/>
              </a:rPr>
              <a:t>FPGA</a:t>
            </a:r>
            <a:r>
              <a:rPr lang="ko-KR" altLang="en-US" sz="2000" b="1" dirty="0">
                <a:latin typeface="+mj-ea"/>
                <a:ea typeface="+mj-ea"/>
              </a:rPr>
              <a:t>로 </a:t>
            </a:r>
            <a:r>
              <a:rPr lang="en-US" altLang="ko-KR" sz="2000" b="1" dirty="0">
                <a:latin typeface="+mj-ea"/>
                <a:ea typeface="+mj-ea"/>
              </a:rPr>
              <a:t>Offloading</a:t>
            </a:r>
            <a:r>
              <a:rPr lang="ko-KR" altLang="en-US" sz="2000" b="1" dirty="0">
                <a:latin typeface="+mj-ea"/>
                <a:ea typeface="+mj-ea"/>
              </a:rPr>
              <a:t>하여 실제 가속기 실행 경로 구성</a:t>
            </a:r>
          </a:p>
        </p:txBody>
      </p:sp>
    </p:spTree>
    <p:extLst>
      <p:ext uri="{BB962C8B-B14F-4D97-AF65-F5344CB8AC3E}">
        <p14:creationId xmlns:p14="http://schemas.microsoft.com/office/powerpoint/2010/main" val="1571431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D2704-B189-16D5-051D-66672DC94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9080851-458F-CFF8-A34F-77B16E456A6F}"/>
              </a:ext>
            </a:extLst>
          </p:cNvPr>
          <p:cNvSpPr/>
          <p:nvPr/>
        </p:nvSpPr>
        <p:spPr>
          <a:xfrm>
            <a:off x="492643" y="32085"/>
            <a:ext cx="11094415" cy="845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4. </a:t>
            </a:r>
            <a:r>
              <a:rPr lang="ko-KR" altLang="en-US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실제 </a:t>
            </a:r>
            <a:r>
              <a:rPr lang="en-US" altLang="ko-KR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Webcam </a:t>
            </a:r>
            <a:r>
              <a:rPr lang="ko-KR" altLang="en-US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실행 및 성능 결과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B7AE29A-474E-42DB-A1FC-DB215DF7D5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250" t="35077" r="50000" b="8721"/>
          <a:stretch/>
        </p:blipFill>
        <p:spPr>
          <a:xfrm>
            <a:off x="476601" y="1193025"/>
            <a:ext cx="4929589" cy="44122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5BF1472-93F9-4FD7-B52E-132CF204D0C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406" t="33227" r="5207" b="13862"/>
          <a:stretch/>
        </p:blipFill>
        <p:spPr>
          <a:xfrm>
            <a:off x="5694947" y="1173027"/>
            <a:ext cx="5924199" cy="43560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48ADDD-2A0A-43E3-A38A-4D143974A05F}"/>
              </a:ext>
            </a:extLst>
          </p:cNvPr>
          <p:cNvSpPr txBox="1"/>
          <p:nvPr/>
        </p:nvSpPr>
        <p:spPr>
          <a:xfrm>
            <a:off x="946484" y="584826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/>
              <a:t>실제 </a:t>
            </a:r>
            <a:r>
              <a:rPr lang="en-US" altLang="ko-KR" sz="2400" b="1" dirty="0"/>
              <a:t>PPE Detection </a:t>
            </a:r>
            <a:r>
              <a:rPr lang="ko-KR" altLang="en-US" sz="2400" b="1" dirty="0"/>
              <a:t>동작 확인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D57E5D-54C3-45DF-922D-3A3D9AE615A0}"/>
              </a:ext>
            </a:extLst>
          </p:cNvPr>
          <p:cNvSpPr txBox="1"/>
          <p:nvPr/>
        </p:nvSpPr>
        <p:spPr>
          <a:xfrm>
            <a:off x="6071937" y="5592145"/>
            <a:ext cx="6096000" cy="9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Webcam </a:t>
            </a:r>
            <a:r>
              <a:rPr lang="ko-KR" altLang="en-US" sz="2000" b="1" dirty="0"/>
              <a:t>기반 </a:t>
            </a:r>
            <a:r>
              <a:rPr lang="en-US" altLang="ko-KR" sz="2000" b="1" dirty="0"/>
              <a:t>End-to-End HW/SW </a:t>
            </a:r>
            <a:r>
              <a:rPr lang="ko-KR" altLang="en-US" sz="2000" b="1" dirty="0"/>
              <a:t>통합 추론 성공</a:t>
            </a:r>
            <a:endParaRPr lang="en-US" altLang="ko-KR" sz="2000" b="1" dirty="0"/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FPGA </a:t>
            </a:r>
            <a:r>
              <a:rPr lang="ko-KR" altLang="en-US" sz="2000" b="1" dirty="0"/>
              <a:t>가속기와 </a:t>
            </a:r>
            <a:r>
              <a:rPr lang="en-US" altLang="ko-KR" sz="2000" b="1" dirty="0"/>
              <a:t>SW Pipeline</a:t>
            </a:r>
            <a:r>
              <a:rPr lang="ko-KR" altLang="en-US" sz="2000" b="1" dirty="0"/>
              <a:t>의 실제 연동 확인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4CA6C1-998E-4401-8A34-A460817E58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89" y="5871526"/>
            <a:ext cx="359695" cy="377985"/>
          </a:xfrm>
          <a:prstGeom prst="rect">
            <a:avLst/>
          </a:prstGeom>
        </p:spPr>
      </p:pic>
      <p:sp>
        <p:nvSpPr>
          <p:cNvPr id="11" name="Shape 1">
            <a:extLst>
              <a:ext uri="{FF2B5EF4-FFF2-40B4-BE49-F238E27FC236}">
                <a16:creationId xmlns:a16="http://schemas.microsoft.com/office/drawing/2014/main" id="{C232175C-3187-4D3F-8105-ED7EF54B53B7}"/>
              </a:ext>
            </a:extLst>
          </p:cNvPr>
          <p:cNvSpPr/>
          <p:nvPr/>
        </p:nvSpPr>
        <p:spPr>
          <a:xfrm>
            <a:off x="3291840" y="1737360"/>
            <a:ext cx="274320" cy="274320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F73D943A-C2FB-4BD6-91C7-1E2E6DB080B6}"/>
              </a:ext>
            </a:extLst>
          </p:cNvPr>
          <p:cNvSpPr/>
          <p:nvPr/>
        </p:nvSpPr>
        <p:spPr>
          <a:xfrm>
            <a:off x="329184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DB0A173A-69CA-462C-A836-067E94DC7427}"/>
              </a:ext>
            </a:extLst>
          </p:cNvPr>
          <p:cNvSpPr/>
          <p:nvPr/>
        </p:nvSpPr>
        <p:spPr>
          <a:xfrm>
            <a:off x="5734252" y="5734366"/>
            <a:ext cx="274320" cy="274320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3E3D9210-E99F-485D-AC48-9073E6CAE60A}"/>
              </a:ext>
            </a:extLst>
          </p:cNvPr>
          <p:cNvSpPr/>
          <p:nvPr/>
        </p:nvSpPr>
        <p:spPr>
          <a:xfrm>
            <a:off x="5734252" y="573436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500E101C-68C2-4644-881F-38F9DD526A9F}"/>
              </a:ext>
            </a:extLst>
          </p:cNvPr>
          <p:cNvSpPr/>
          <p:nvPr/>
        </p:nvSpPr>
        <p:spPr>
          <a:xfrm>
            <a:off x="5734252" y="6231636"/>
            <a:ext cx="274320" cy="274320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F193B9B6-1DB4-47CB-9567-B48317954B47}"/>
              </a:ext>
            </a:extLst>
          </p:cNvPr>
          <p:cNvSpPr/>
          <p:nvPr/>
        </p:nvSpPr>
        <p:spPr>
          <a:xfrm>
            <a:off x="5734252" y="62316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56192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1357</TotalTime>
  <Words>588</Words>
  <Application>Microsoft Office PowerPoint</Application>
  <PresentationFormat>와이드스크린</PresentationFormat>
  <Paragraphs>70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SOGANG</cp:lastModifiedBy>
  <cp:revision>99</cp:revision>
  <dcterms:created xsi:type="dcterms:W3CDTF">2026-08-10T01:47:46Z</dcterms:created>
  <dcterms:modified xsi:type="dcterms:W3CDTF">2026-08-13T01:22:20Z</dcterms:modified>
</cp:coreProperties>
</file>