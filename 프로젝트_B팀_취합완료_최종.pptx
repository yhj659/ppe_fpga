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288" r:id="rId4"/>
    <p:sldId id="258" r:id="rId5"/>
    <p:sldId id="287" r:id="rId6"/>
    <p:sldId id="285" r:id="rId7"/>
    <p:sldId id="295" r:id="rId8"/>
    <p:sldId id="266" r:id="rId9"/>
    <p:sldId id="289" r:id="rId10"/>
    <p:sldId id="262" r:id="rId11"/>
    <p:sldId id="269" r:id="rId12"/>
    <p:sldId id="267" r:id="rId13"/>
    <p:sldId id="271" r:id="rId14"/>
    <p:sldId id="278" r:id="rId15"/>
    <p:sldId id="290" r:id="rId16"/>
    <p:sldId id="280" r:id="rId17"/>
    <p:sldId id="281" r:id="rId18"/>
    <p:sldId id="282" r:id="rId19"/>
    <p:sldId id="283" r:id="rId20"/>
    <p:sldId id="284" r:id="rId21"/>
    <p:sldId id="291" r:id="rId22"/>
    <p:sldId id="272" r:id="rId23"/>
    <p:sldId id="270" r:id="rId24"/>
    <p:sldId id="275" r:id="rId25"/>
    <p:sldId id="273" r:id="rId26"/>
    <p:sldId id="264" r:id="rId27"/>
    <p:sldId id="274" r:id="rId28"/>
    <p:sldId id="265" r:id="rId29"/>
    <p:sldId id="292" r:id="rId30"/>
    <p:sldId id="306" r:id="rId31"/>
    <p:sldId id="307" r:id="rId32"/>
    <p:sldId id="308" r:id="rId33"/>
    <p:sldId id="259" r:id="rId34"/>
    <p:sldId id="260" r:id="rId35"/>
    <p:sldId id="261" r:id="rId36"/>
    <p:sldId id="293" r:id="rId37"/>
    <p:sldId id="296" r:id="rId38"/>
    <p:sldId id="297" r:id="rId39"/>
    <p:sldId id="298" r:id="rId40"/>
    <p:sldId id="299" r:id="rId41"/>
    <p:sldId id="300" r:id="rId42"/>
    <p:sldId id="301" r:id="rId43"/>
    <p:sldId id="302" r:id="rId44"/>
    <p:sldId id="303" r:id="rId45"/>
    <p:sldId id="304" r:id="rId46"/>
    <p:sldId id="305" r:id="rId47"/>
    <p:sldId id="294" r:id="rId48"/>
    <p:sldId id="309" r:id="rId49"/>
    <p:sldId id="310" r:id="rId50"/>
    <p:sldId id="311" r:id="rId5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30B0C6-B0F6-4A42-B71F-E335E3B5566B}" v="344" dt="2026-08-11T08:12:35.620"/>
    <p1510:client id="{96E12B9F-A9C6-4B13-A2A7-356CE5D6F995}" v="129" dt="2026-08-11T05:02:46.974"/>
    <p1510:client id="{976FAA9D-DDC6-4A8F-A621-6C3EFF4B4946}" v="2315" dt="2026-08-11T07:17:34.956"/>
    <p1510:client id="{FBE15653-5827-A265-86D4-2BF8D9AA2764}" v="2322" dt="2026-08-13T02:39:48.1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04E1288-EED4-444D-99D3-DD43526BC351}" type="datetimeFigureOut">
              <a:t>2026-08-12</a:t>
            </a:fld>
            <a:endParaRPr lang="ko-KR" altLang="en-US"/>
          </a:p>
        </p:txBody>
      </p:sp>
      <p:sp>
        <p:nvSpPr>
          <p:cNvPr id="4" name="슬라이드 이미지 개체 틀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8E92029-F171-4FE6-AED7-3AF13C61E2E4}" type="slidenum">
              <a:t>‹#›</a:t>
            </a:fld>
            <a:endParaRPr lang="ko-KR" altLang="en-US"/>
          </a:p>
        </p:txBody>
      </p:sp>
    </p:spTree>
    <p:extLst>
      <p:ext uri="{BB962C8B-B14F-4D97-AF65-F5344CB8AC3E}">
        <p14:creationId xmlns:p14="http://schemas.microsoft.com/office/powerpoint/2010/main" val="416398626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6A3CD-69D3-F900-9728-6605918867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DFCB2-7C5A-9140-F807-091D4A47D5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AECD18-B807-4EF7-73D6-08801DF0CB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7A8E9B-95A8-70FE-7C2A-81A22AD67CD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6922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latin typeface="Calibri"/>
                <a:ea typeface="맑은 고딕"/>
                <a:cs typeface="Calibri"/>
              </a:rPr>
              <a:t>가장</a:t>
            </a:r>
            <a:r>
              <a:rPr lang="ko-KR" altLang="en-US">
                <a:latin typeface="맑은 고딕"/>
                <a:ea typeface="맑은 고딕"/>
                <a:cs typeface="Calibri"/>
              </a:rPr>
              <a:t> 대표적인 LAYER라서 구현 목표를 정했습니다.</a:t>
            </a:r>
            <a:endParaRPr lang="en-US" altLang="ko-KR">
              <a:latin typeface="Calibri"/>
              <a:ea typeface="Calibri"/>
              <a:cs typeface="Calibri"/>
            </a:endParaRPr>
          </a:p>
        </p:txBody>
      </p:sp>
      <p:sp>
        <p:nvSpPr>
          <p:cNvPr id="4" name="슬라이드 번호 개체 틀 3"/>
          <p:cNvSpPr>
            <a:spLocks noGrp="1"/>
          </p:cNvSpPr>
          <p:nvPr>
            <p:ph type="sldNum" sz="quarter" idx="5"/>
          </p:nvPr>
        </p:nvSpPr>
        <p:spPr/>
        <p:txBody>
          <a:bodyPr/>
          <a:lstStyle/>
          <a:p>
            <a:fld id="{08E92029-F171-4FE6-AED7-3AF13C61E2E4}" type="slidenum">
              <a:rPr lang="en-US" altLang="ko-KR"/>
              <a:t>4</a:t>
            </a:fld>
            <a:endParaRPr lang="ko-KR" altLang="en-US"/>
          </a:p>
        </p:txBody>
      </p:sp>
    </p:spTree>
    <p:extLst>
      <p:ext uri="{BB962C8B-B14F-4D97-AF65-F5344CB8AC3E}">
        <p14:creationId xmlns:p14="http://schemas.microsoft.com/office/powerpoint/2010/main" val="22274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latin typeface="Calibri"/>
                <a:ea typeface="맑은 고딕"/>
                <a:cs typeface="Calibri"/>
              </a:rPr>
              <a:t>하드웨어는 병렬성이 CPU보다 뛰어나고 할 수 있고 </a:t>
            </a:r>
            <a:endParaRPr lang="en-US" altLang="ko-KR">
              <a:latin typeface="Calibri"/>
              <a:ea typeface="Calibri"/>
              <a:cs typeface="Calibri"/>
            </a:endParaRPr>
          </a:p>
          <a:p>
            <a:r>
              <a:rPr lang="ko-KR" altLang="en-US">
                <a:latin typeface="Calibri"/>
                <a:ea typeface="맑은 고딕"/>
                <a:cs typeface="Calibri"/>
              </a:rPr>
              <a:t>CPU는 매 연산마다 명령어를 일고 해석하기에 오버헤드가 있지만 하드웨어는 정해진 역할이 있어서 전력도 적게 들죠</a:t>
            </a:r>
            <a:endParaRPr lang="en-US" altLang="ko-KR">
              <a:latin typeface="Calibri"/>
              <a:ea typeface="Calibri"/>
              <a:cs typeface="Calibri"/>
            </a:endParaRPr>
          </a:p>
          <a:p>
            <a:r>
              <a:rPr lang="ko-KR" altLang="en-US">
                <a:latin typeface="Calibri"/>
                <a:ea typeface="맑은 고딕"/>
                <a:cs typeface="Calibri"/>
              </a:rPr>
              <a:t>동작시간이 CPU에 비해서 고정적이라 신뢰도가 높은 구간에서도 유용하구요</a:t>
            </a:r>
            <a:endParaRPr lang="en-US" altLang="ko-KR">
              <a:latin typeface="Calibri"/>
              <a:ea typeface="Calibri"/>
              <a:cs typeface="Calibri"/>
            </a:endParaRPr>
          </a:p>
          <a:p>
            <a:r>
              <a:rPr lang="ko-KR" altLang="en-US">
                <a:latin typeface="Calibri"/>
                <a:ea typeface="맑은 고딕"/>
                <a:cs typeface="Calibri"/>
              </a:rPr>
              <a:t>CPU랑 별개로 작동하기에 다른작업을 동시에 ​</a:t>
            </a:r>
            <a:br>
              <a:rPr lang="ko-KR" altLang="en-US">
                <a:latin typeface="Calibri"/>
                <a:ea typeface="맑은 고딕"/>
                <a:cs typeface="Calibri"/>
              </a:rPr>
            </a:br>
            <a:endParaRPr lang="en-US" altLang="ko-KR">
              <a:latin typeface="Calibri"/>
              <a:ea typeface="Calibri"/>
              <a:cs typeface="Calibri"/>
            </a:endParaRPr>
          </a:p>
        </p:txBody>
      </p:sp>
      <p:sp>
        <p:nvSpPr>
          <p:cNvPr id="4" name="슬라이드 번호 개체 틀 3"/>
          <p:cNvSpPr>
            <a:spLocks noGrp="1"/>
          </p:cNvSpPr>
          <p:nvPr>
            <p:ph type="sldNum" sz="quarter" idx="5"/>
          </p:nvPr>
        </p:nvSpPr>
        <p:spPr/>
        <p:txBody>
          <a:bodyPr/>
          <a:lstStyle/>
          <a:p>
            <a:fld id="{08E92029-F171-4FE6-AED7-3AF13C61E2E4}" type="slidenum">
              <a:rPr lang="en-US" altLang="ko-KR"/>
              <a:t>7</a:t>
            </a:fld>
            <a:endParaRPr lang="ko-KR" altLang="en-US"/>
          </a:p>
        </p:txBody>
      </p:sp>
    </p:spTree>
    <p:extLst>
      <p:ext uri="{BB962C8B-B14F-4D97-AF65-F5344CB8AC3E}">
        <p14:creationId xmlns:p14="http://schemas.microsoft.com/office/powerpoint/2010/main" val="1513037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가속기 성능을 속도에만 치중하는 경향이 있는데 타이밍, 자원사용량, 전체 시스템를 좋게 나오는 것을 목표로 두고 시작했습니다.</a:t>
            </a:r>
          </a:p>
          <a:p>
            <a:r>
              <a:rPr lang="ko-KR"/>
              <a:t>LUT와 Flip-Flop이 묶여 </a:t>
            </a:r>
            <a:r>
              <a:rPr lang="ko-KR" b="1"/>
              <a:t>CLB</a:t>
            </a:r>
          </a:p>
          <a:p>
            <a:r>
              <a:rPr lang="ko-KR" altLang="en-US" b="1">
                <a:ea typeface="맑은 고딕"/>
              </a:rPr>
              <a:t>LUT: </a:t>
            </a:r>
            <a:r>
              <a:rPr lang="ko-KR"/>
              <a:t>논리 연산</a:t>
            </a:r>
          </a:p>
          <a:p>
            <a:r>
              <a:rPr lang="en-US" altLang="ko-KR">
                <a:ea typeface="맑은 고딕"/>
              </a:rPr>
              <a:t>BRAM: </a:t>
            </a:r>
            <a:r>
              <a:rPr lang="en-US" err="1"/>
              <a:t>중간</a:t>
            </a:r>
            <a:r>
              <a:rPr lang="en-US"/>
              <a:t> </a:t>
            </a:r>
            <a:r>
              <a:rPr lang="en-US" err="1"/>
              <a:t>크기</a:t>
            </a:r>
            <a:r>
              <a:rPr lang="en-US"/>
              <a:t> </a:t>
            </a:r>
            <a:r>
              <a:rPr lang="en-US" err="1"/>
              <a:t>메모리</a:t>
            </a:r>
            <a:endParaRPr lang="en-US" err="1">
              <a:ea typeface="맑은 고딕"/>
            </a:endParaRPr>
          </a:p>
          <a:p>
            <a:r>
              <a:rPr lang="en-US" altLang="ko-KR">
                <a:ea typeface="맑은 고딕"/>
              </a:rPr>
              <a:t>URAM: </a:t>
            </a:r>
            <a:r>
              <a:rPr lang="en-US" err="1"/>
              <a:t>대용량</a:t>
            </a:r>
            <a:r>
              <a:rPr lang="en-US"/>
              <a:t> </a:t>
            </a:r>
            <a:r>
              <a:rPr lang="en-US" err="1"/>
              <a:t>메모리</a:t>
            </a:r>
            <a:endParaRPr lang="en-US" err="1">
              <a:ea typeface="맑은 고딕"/>
            </a:endParaRPr>
          </a:p>
          <a:p>
            <a:r>
              <a:rPr lang="en-US">
                <a:ea typeface="맑은 고딕"/>
              </a:rPr>
              <a:t>DSP: </a:t>
            </a:r>
            <a:r>
              <a:rPr lang="ko-KR" altLang="en-US">
                <a:ea typeface="맑은 고딕"/>
              </a:rPr>
              <a:t>수학</a:t>
            </a:r>
            <a:r>
              <a:rPr lang="en-US">
                <a:ea typeface="맑은 고딕"/>
              </a:rPr>
              <a:t> </a:t>
            </a:r>
            <a:r>
              <a:rPr lang="ko-KR" altLang="en-US">
                <a:ea typeface="맑은 고딕"/>
              </a:rPr>
              <a:t>연산</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E0C98-3690-CFEA-65DC-2538AD0BA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4219C-A9A2-8056-FEFB-CC03505B6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1F27D1-CC9F-1954-584D-E58829D20B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B0710A-64C6-2AA0-B13B-43B927618E51}"/>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625577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입력 feature map을 두 부분으로 나누어 일부는 복잡한 residual block을 거치고, 일부는 단순 경로를 거친 뒤 다시 합칩니다.</a:t>
            </a:r>
          </a:p>
          <a:p>
            <a:r>
              <a:rPr lang="ko-KR" b="1">
                <a:ea typeface="맑은 고딕"/>
              </a:rPr>
              <a:t>계산량을</a:t>
            </a:r>
            <a:r>
              <a:rPr lang="en-US" altLang="ko-KR" b="1">
                <a:ea typeface="맑은 고딕"/>
              </a:rPr>
              <a:t> </a:t>
            </a:r>
            <a:r>
              <a:rPr lang="ko-KR" b="1">
                <a:ea typeface="맑은 고딕"/>
              </a:rPr>
              <a:t>줄이고</a:t>
            </a:r>
            <a:r>
              <a:rPr lang="en-US" altLang="ko-KR" b="1">
                <a:ea typeface="맑은 고딕"/>
              </a:rPr>
              <a:t> </a:t>
            </a:r>
            <a:r>
              <a:rPr lang="ko-KR" b="1">
                <a:ea typeface="맑은 고딕"/>
              </a:rPr>
              <a:t>메모리</a:t>
            </a:r>
            <a:r>
              <a:rPr lang="en-US" altLang="ko-KR" b="1">
                <a:ea typeface="맑은 고딕"/>
              </a:rPr>
              <a:t> </a:t>
            </a:r>
            <a:r>
              <a:rPr lang="ko-KR" b="1">
                <a:ea typeface="맑은 고딕"/>
              </a:rPr>
              <a:t>사용을</a:t>
            </a:r>
            <a:r>
              <a:rPr lang="en-US" altLang="ko-KR" b="1">
                <a:ea typeface="맑은 고딕"/>
              </a:rPr>
              <a:t> </a:t>
            </a:r>
            <a:r>
              <a:rPr lang="ko-KR" b="1">
                <a:ea typeface="맑은 고딕"/>
              </a:rPr>
              <a:t>최적화</a:t>
            </a:r>
            <a:r>
              <a:rPr lang="ko-KR">
                <a:ea typeface="맑은 고딕"/>
              </a:rPr>
              <a:t>하면서도</a:t>
            </a:r>
            <a:r>
              <a:rPr lang="en-US" altLang="ko-KR">
                <a:ea typeface="맑은 고딕"/>
              </a:rPr>
              <a:t> </a:t>
            </a:r>
            <a:r>
              <a:rPr lang="en-US" altLang="ko-KR" b="1">
                <a:ea typeface="맑은 고딕"/>
              </a:rPr>
              <a:t>gradient </a:t>
            </a:r>
            <a:r>
              <a:rPr lang="ko-KR" b="1">
                <a:ea typeface="맑은 고딕"/>
              </a:rPr>
              <a:t>흐름을</a:t>
            </a:r>
            <a:r>
              <a:rPr lang="en-US" altLang="ko-KR" b="1">
                <a:ea typeface="맑은 고딕"/>
              </a:rPr>
              <a:t> </a:t>
            </a:r>
            <a:r>
              <a:rPr lang="ko-KR" b="1">
                <a:ea typeface="맑은 고딕"/>
              </a:rPr>
              <a:t>안정화 채널 전달에있어서 비선형성 있다</a:t>
            </a:r>
            <a:endParaRPr lang="ko-KR">
              <a:ea typeface="맑은 고딕"/>
            </a:endParaRPr>
          </a:p>
          <a:p>
            <a:endParaRPr lang="ko-KR" altLang="en-US">
              <a:ea typeface="맑은 고딕"/>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맑은 고딕"/>
              </a:rPr>
              <a:t>CPU</a:t>
            </a:r>
            <a:r>
              <a:rPr lang="ko-KR" altLang="en-US">
                <a:ea typeface="맑은 고딕"/>
              </a:rPr>
              <a:t>가</a:t>
            </a:r>
            <a:r>
              <a:rPr lang="en-US">
                <a:ea typeface="맑은 고딕"/>
              </a:rPr>
              <a:t> </a:t>
            </a:r>
            <a:r>
              <a:rPr lang="ko-KR" altLang="en-US">
                <a:ea typeface="맑은 고딕"/>
              </a:rPr>
              <a:t>관여하지</a:t>
            </a:r>
            <a:r>
              <a:rPr lang="en-US">
                <a:ea typeface="맑은 고딕"/>
              </a:rPr>
              <a:t> </a:t>
            </a:r>
            <a:r>
              <a:rPr lang="ko-KR" altLang="en-US">
                <a:ea typeface="맑은 고딕"/>
              </a:rPr>
              <a:t>않고</a:t>
            </a:r>
            <a:r>
              <a:rPr lang="en-US">
                <a:ea typeface="맑은 고딕"/>
              </a:rPr>
              <a:t> </a:t>
            </a:r>
            <a:r>
              <a:rPr lang="en-US" err="1">
                <a:ea typeface="맑은 고딕"/>
              </a:rPr>
              <a:t>DMA가</a:t>
            </a:r>
            <a:r>
              <a:rPr lang="en-US">
                <a:ea typeface="맑은 고딕"/>
              </a:rPr>
              <a:t> </a:t>
            </a:r>
            <a:r>
              <a:rPr lang="en-US" err="1">
                <a:ea typeface="맑은 고딕"/>
              </a:rPr>
              <a:t>전송을</a:t>
            </a:r>
            <a:r>
              <a:rPr lang="en-US">
                <a:ea typeface="맑은 고딕"/>
              </a:rPr>
              <a:t> </a:t>
            </a:r>
            <a:r>
              <a:rPr lang="ko-KR" altLang="en-US">
                <a:ea typeface="맑은 고딕"/>
              </a:rPr>
              <a:t>전담하는</a:t>
            </a:r>
            <a:r>
              <a:rPr lang="en-US">
                <a:ea typeface="맑은 고딕"/>
              </a:rPr>
              <a:t> </a:t>
            </a:r>
            <a:r>
              <a:rPr lang="ko-KR" altLang="en-US">
                <a:ea typeface="맑은 고딕"/>
              </a:rPr>
              <a:t>구조를</a:t>
            </a:r>
            <a:r>
              <a:rPr lang="en-US">
                <a:ea typeface="맑은 고딕"/>
              </a:rPr>
              <a:t> AXI Stream</a:t>
            </a:r>
            <a:endParaRPr lang="ko-KR" altLang="en-US">
              <a:ea typeface="맑은 고딕"/>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라우터는 IP재사용을 하다보면 매번 바뀌는 입출력을 교통정리 필요.</a:t>
            </a:r>
            <a:endParaRPr lang="en-US">
              <a:ea typeface="맑은 고딕"/>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6EEAD-82F9-A53F-65E8-F3C49586B0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63B90-4C2F-72EF-65CF-9119F84F0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1F780-A18B-3F36-7A81-E59C4A5C3B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33E8AA-5531-5F04-0956-63AE3CA0FD9B}"/>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722608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latin typeface="Calibri"/>
                <a:ea typeface="Calibri"/>
                <a:cs typeface="Calibri"/>
              </a:rPr>
              <a:t>이 </a:t>
            </a:r>
            <a:r>
              <a:rPr lang="en-US" altLang="ko-KR" dirty="0" err="1">
                <a:latin typeface="Calibri"/>
                <a:ea typeface="Calibri"/>
                <a:cs typeface="Calibri"/>
              </a:rPr>
              <a:t>방식은</a:t>
            </a:r>
            <a:r>
              <a:rPr lang="en-US" altLang="ko-KR" dirty="0">
                <a:latin typeface="Calibri"/>
                <a:ea typeface="Calibri"/>
                <a:cs typeface="Calibri"/>
              </a:rPr>
              <a:t> </a:t>
            </a:r>
            <a:r>
              <a:rPr lang="en-US" altLang="ko-KR" dirty="0" err="1">
                <a:latin typeface="Calibri"/>
                <a:ea typeface="Calibri"/>
                <a:cs typeface="Calibri"/>
              </a:rPr>
              <a:t>router같은</a:t>
            </a:r>
            <a:r>
              <a:rPr lang="en-US" altLang="ko-KR" dirty="0">
                <a:latin typeface="Calibri"/>
                <a:ea typeface="Calibri"/>
                <a:cs typeface="Calibri"/>
              </a:rPr>
              <a:t> </a:t>
            </a:r>
            <a:r>
              <a:rPr lang="en-US" altLang="ko-KR" dirty="0" err="1">
                <a:latin typeface="Calibri"/>
                <a:ea typeface="Calibri"/>
                <a:cs typeface="Calibri"/>
              </a:rPr>
              <a:t>경우는</a:t>
            </a:r>
            <a:r>
              <a:rPr lang="en-US" altLang="ko-KR" dirty="0">
                <a:latin typeface="Calibri"/>
                <a:ea typeface="Calibri"/>
                <a:cs typeface="Calibri"/>
              </a:rPr>
              <a:t> </a:t>
            </a:r>
            <a:r>
              <a:rPr lang="en-US" altLang="ko-KR" dirty="0" err="1">
                <a:latin typeface="Calibri"/>
                <a:ea typeface="Calibri"/>
                <a:cs typeface="Calibri"/>
              </a:rPr>
              <a:t>ip입출력</a:t>
            </a:r>
            <a:r>
              <a:rPr lang="en-US" altLang="ko-KR" dirty="0">
                <a:latin typeface="Calibri"/>
                <a:ea typeface="Calibri"/>
                <a:cs typeface="Calibri"/>
              </a:rPr>
              <a:t> </a:t>
            </a:r>
            <a:r>
              <a:rPr lang="en-US" altLang="ko-KR" dirty="0" err="1">
                <a:latin typeface="Calibri"/>
                <a:ea typeface="Calibri"/>
                <a:cs typeface="Calibri"/>
              </a:rPr>
              <a:t>포트를</a:t>
            </a:r>
            <a:r>
              <a:rPr lang="en-US" altLang="ko-KR" dirty="0">
                <a:latin typeface="Calibri"/>
                <a:ea typeface="Calibri"/>
                <a:cs typeface="Calibri"/>
              </a:rPr>
              <a:t> </a:t>
            </a:r>
            <a:r>
              <a:rPr lang="en-US" altLang="ko-KR" dirty="0" err="1">
                <a:latin typeface="Calibri"/>
                <a:ea typeface="Calibri"/>
                <a:cs typeface="Calibri"/>
              </a:rPr>
              <a:t>관리했지만</a:t>
            </a:r>
            <a:r>
              <a:rPr lang="en-US" altLang="ko-KR" dirty="0">
                <a:latin typeface="Calibri"/>
                <a:ea typeface="Calibri"/>
                <a:cs typeface="Calibri"/>
              </a:rPr>
              <a:t> </a:t>
            </a:r>
            <a:r>
              <a:rPr lang="en-US" altLang="ko-KR" dirty="0" err="1">
                <a:latin typeface="Calibri"/>
                <a:ea typeface="Calibri"/>
                <a:cs typeface="Calibri"/>
              </a:rPr>
              <a:t>ip내부에서</a:t>
            </a:r>
            <a:r>
              <a:rPr lang="en-US" altLang="ko-KR" dirty="0">
                <a:latin typeface="Calibri"/>
                <a:ea typeface="Calibri"/>
                <a:cs typeface="Calibri"/>
              </a:rPr>
              <a:t> </a:t>
            </a:r>
            <a:r>
              <a:rPr lang="en-US" altLang="ko-KR" dirty="0" err="1">
                <a:latin typeface="Calibri"/>
                <a:ea typeface="Calibri"/>
                <a:cs typeface="Calibri"/>
              </a:rPr>
              <a:t>가중치나</a:t>
            </a:r>
            <a:r>
              <a:rPr lang="en-US" altLang="ko-KR" dirty="0">
                <a:latin typeface="Calibri"/>
                <a:ea typeface="Calibri"/>
                <a:cs typeface="Calibri"/>
              </a:rPr>
              <a:t> </a:t>
            </a:r>
            <a:r>
              <a:rPr lang="en-US" altLang="ko-KR" dirty="0" err="1">
                <a:latin typeface="Calibri"/>
                <a:ea typeface="Calibri"/>
                <a:cs typeface="Calibri"/>
              </a:rPr>
              <a:t>스케일</a:t>
            </a:r>
            <a:r>
              <a:rPr lang="en-US" altLang="ko-KR" dirty="0">
                <a:latin typeface="Calibri"/>
                <a:ea typeface="Calibri"/>
                <a:cs typeface="Calibri"/>
              </a:rPr>
              <a:t> 값 </a:t>
            </a:r>
            <a:r>
              <a:rPr lang="en-US" altLang="ko-KR" dirty="0" err="1">
                <a:latin typeface="Calibri"/>
                <a:ea typeface="Calibri"/>
                <a:cs typeface="Calibri"/>
              </a:rPr>
              <a:t>같은걸</a:t>
            </a:r>
            <a:r>
              <a:rPr lang="en-US" altLang="ko-KR" dirty="0">
                <a:latin typeface="Calibri"/>
                <a:ea typeface="Calibri"/>
                <a:cs typeface="Calibri"/>
              </a:rPr>
              <a:t> </a:t>
            </a:r>
            <a:r>
              <a:rPr lang="en-US" altLang="ko-KR" dirty="0" err="1">
                <a:latin typeface="Calibri"/>
                <a:ea typeface="Calibri"/>
                <a:cs typeface="Calibri"/>
              </a:rPr>
              <a:t>언제</a:t>
            </a:r>
            <a:r>
              <a:rPr lang="en-US" altLang="ko-KR" dirty="0">
                <a:latin typeface="Calibri"/>
                <a:ea typeface="Calibri"/>
                <a:cs typeface="Calibri"/>
              </a:rPr>
              <a:t> </a:t>
            </a:r>
            <a:r>
              <a:rPr lang="en-US" altLang="ko-KR" dirty="0" err="1">
                <a:latin typeface="Calibri"/>
                <a:ea typeface="Calibri"/>
                <a:cs typeface="Calibri"/>
              </a:rPr>
              <a:t>쓸지도</a:t>
            </a:r>
            <a:r>
              <a:rPr lang="en-US" altLang="ko-KR" dirty="0">
                <a:latin typeface="Calibri"/>
                <a:ea typeface="Calibri"/>
                <a:cs typeface="Calibri"/>
              </a:rPr>
              <a:t> </a:t>
            </a:r>
            <a:r>
              <a:rPr lang="en-US" altLang="ko-KR" dirty="0" err="1">
                <a:latin typeface="Calibri"/>
                <a:ea typeface="Calibri"/>
                <a:cs typeface="Calibri"/>
              </a:rPr>
              <a:t>스스로</a:t>
            </a:r>
            <a:r>
              <a:rPr lang="en-US" altLang="ko-KR" dirty="0">
                <a:latin typeface="Calibri"/>
                <a:ea typeface="Calibri"/>
                <a:cs typeface="Calibri"/>
              </a:rPr>
              <a:t> </a:t>
            </a:r>
            <a:r>
              <a:rPr lang="en-US" altLang="ko-KR" dirty="0" err="1">
                <a:latin typeface="Calibri"/>
                <a:ea typeface="Calibri"/>
                <a:cs typeface="Calibri"/>
              </a:rPr>
              <a:t>결정해야해서</a:t>
            </a:r>
            <a:r>
              <a:rPr lang="en-US" altLang="ko-KR" dirty="0">
                <a:latin typeface="Calibri"/>
                <a:ea typeface="Calibri"/>
                <a:cs typeface="Calibri"/>
              </a:rPr>
              <a:t> </a:t>
            </a:r>
            <a:r>
              <a:rPr lang="en-US" altLang="ko-KR" dirty="0" err="1">
                <a:latin typeface="Calibri"/>
                <a:ea typeface="Calibri"/>
                <a:cs typeface="Calibri"/>
              </a:rPr>
              <a:t>넣었습니다</a:t>
            </a:r>
            <a:r>
              <a:rPr lang="en-US" altLang="ko-KR" dirty="0">
                <a:latin typeface="Calibri"/>
                <a:ea typeface="Calibri"/>
                <a:cs typeface="Calibri"/>
              </a:rPr>
              <a:t>. Ps </a:t>
            </a:r>
            <a:r>
              <a:rPr lang="en-US" altLang="ko-KR" dirty="0" err="1">
                <a:latin typeface="Calibri"/>
                <a:ea typeface="Calibri"/>
                <a:cs typeface="Calibri"/>
              </a:rPr>
              <a:t>없이도</a:t>
            </a:r>
            <a:r>
              <a:rPr lang="en-US" altLang="ko-KR" dirty="0">
                <a:latin typeface="Calibri"/>
                <a:ea typeface="Calibri"/>
                <a:cs typeface="Calibri"/>
              </a:rPr>
              <a:t> </a:t>
            </a:r>
            <a:r>
              <a:rPr lang="en-US" altLang="ko-KR" dirty="0" err="1">
                <a:latin typeface="Calibri"/>
                <a:ea typeface="Calibri"/>
                <a:cs typeface="Calibri"/>
              </a:rPr>
              <a:t>스트림</a:t>
            </a:r>
            <a:r>
              <a:rPr lang="en-US" altLang="ko-KR" dirty="0">
                <a:latin typeface="Calibri"/>
                <a:ea typeface="Calibri"/>
                <a:cs typeface="Calibri"/>
              </a:rPr>
              <a:t> </a:t>
            </a:r>
            <a:r>
              <a:rPr lang="en-US" altLang="ko-KR" dirty="0" err="1">
                <a:latin typeface="Calibri"/>
                <a:ea typeface="Calibri"/>
                <a:cs typeface="Calibri"/>
              </a:rPr>
              <a:t>도착</a:t>
            </a:r>
            <a:r>
              <a:rPr lang="en-US" altLang="ko-KR" dirty="0">
                <a:latin typeface="Calibri"/>
                <a:ea typeface="Calibri"/>
                <a:cs typeface="Calibri"/>
              </a:rPr>
              <a:t> 시 </a:t>
            </a:r>
            <a:r>
              <a:rPr lang="en-US" altLang="ko-KR" dirty="0" err="1">
                <a:latin typeface="Calibri"/>
                <a:ea typeface="Calibri"/>
                <a:cs typeface="Calibri"/>
              </a:rPr>
              <a:t>자동</a:t>
            </a:r>
            <a:r>
              <a:rPr lang="en-US" altLang="ko-KR" dirty="0">
                <a:latin typeface="Calibri"/>
                <a:ea typeface="Calibri"/>
                <a:cs typeface="Calibri"/>
              </a:rPr>
              <a:t> </a:t>
            </a:r>
            <a:r>
              <a:rPr lang="en-US" altLang="ko-KR" dirty="0" err="1">
                <a:latin typeface="Calibri"/>
                <a:ea typeface="Calibri"/>
                <a:cs typeface="Calibri"/>
              </a:rPr>
              <a:t>재시작해야하기도</a:t>
            </a:r>
            <a:r>
              <a:rPr lang="en-US" altLang="ko-KR" dirty="0">
                <a:latin typeface="Calibri"/>
                <a:ea typeface="Calibri"/>
                <a:cs typeface="Calibri"/>
              </a:rPr>
              <a:t> </a:t>
            </a:r>
            <a:r>
              <a:rPr lang="en-US" altLang="ko-KR" dirty="0" err="1">
                <a:latin typeface="Calibri"/>
                <a:ea typeface="Calibri"/>
                <a:cs typeface="Calibri"/>
              </a:rPr>
              <a:t>하고</a:t>
            </a:r>
            <a:r>
              <a:rPr lang="en-US" altLang="ko-KR" dirty="0">
                <a:latin typeface="Calibri"/>
                <a:ea typeface="Calibri"/>
                <a:cs typeface="Calibri"/>
              </a:rPr>
              <a:t> </a:t>
            </a:r>
            <a:r>
              <a:rPr lang="en-US" altLang="ko-KR" dirty="0" err="1">
                <a:latin typeface="Calibri"/>
                <a:ea typeface="Calibri"/>
                <a:cs typeface="Calibri"/>
              </a:rPr>
              <a:t>파라</a:t>
            </a:r>
          </a:p>
        </p:txBody>
      </p:sp>
      <p:sp>
        <p:nvSpPr>
          <p:cNvPr id="4" name="슬라이드 번호 개체 틀 3"/>
          <p:cNvSpPr>
            <a:spLocks noGrp="1"/>
          </p:cNvSpPr>
          <p:nvPr>
            <p:ph type="sldNum" sz="quarter" idx="5"/>
          </p:nvPr>
        </p:nvSpPr>
        <p:spPr/>
        <p:txBody>
          <a:bodyPr/>
          <a:lstStyle/>
          <a:p>
            <a:fld id="{08E92029-F171-4FE6-AED7-3AF13C61E2E4}" type="slidenum">
              <a:rPr lang="en-US" altLang="ko-KR"/>
              <a:t>16</a:t>
            </a:fld>
            <a:endParaRPr lang="ko-KR" altLang="en-US"/>
          </a:p>
        </p:txBody>
      </p:sp>
    </p:spTree>
    <p:extLst>
      <p:ext uri="{BB962C8B-B14F-4D97-AF65-F5344CB8AC3E}">
        <p14:creationId xmlns:p14="http://schemas.microsoft.com/office/powerpoint/2010/main" val="1353601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atin typeface="Calibri"/>
                <a:ea typeface="Calibri"/>
                <a:cs typeface="Calibri"/>
              </a:rPr>
              <a:t>C2f</a:t>
            </a:r>
            <a:r>
              <a:rPr lang="ko-KR" altLang="en-US">
                <a:latin typeface="Calibri"/>
                <a:ea typeface="Calibri"/>
                <a:cs typeface="Calibri"/>
              </a:rPr>
              <a:t>는</a:t>
            </a:r>
            <a:r>
              <a:rPr lang="en-US">
                <a:latin typeface="Calibri"/>
                <a:ea typeface="Calibri"/>
                <a:cs typeface="Calibri"/>
              </a:rPr>
              <a:t> </a:t>
            </a:r>
            <a:r>
              <a:rPr lang="ko-KR" altLang="en-US">
                <a:latin typeface="Calibri"/>
                <a:ea typeface="Calibri"/>
                <a:cs typeface="Calibri"/>
              </a:rPr>
              <a:t>큰</a:t>
            </a:r>
            <a:r>
              <a:rPr lang="en-US">
                <a:latin typeface="Calibri"/>
                <a:ea typeface="Calibri"/>
                <a:cs typeface="Calibri"/>
              </a:rPr>
              <a:t> </a:t>
            </a:r>
            <a:r>
              <a:rPr lang="ko-KR" altLang="en-US">
                <a:latin typeface="Calibri"/>
                <a:ea typeface="Calibri"/>
                <a:cs typeface="Calibri"/>
              </a:rPr>
              <a:t>데이터가</a:t>
            </a:r>
            <a:r>
              <a:rPr lang="en-US" altLang="ko-KR">
                <a:latin typeface="Calibri"/>
                <a:ea typeface="Calibri"/>
                <a:cs typeface="Calibri"/>
              </a:rPr>
              <a:t> </a:t>
            </a:r>
            <a:r>
              <a:rPr lang="ko-KR" altLang="en-US">
                <a:latin typeface="Calibri"/>
                <a:ea typeface="Calibri"/>
                <a:cs typeface="Calibri"/>
              </a:rPr>
              <a:t>서로</a:t>
            </a:r>
            <a:r>
              <a:rPr lang="en-US">
                <a:latin typeface="Calibri"/>
                <a:ea typeface="Calibri"/>
                <a:cs typeface="Calibri"/>
              </a:rPr>
              <a:t> </a:t>
            </a:r>
            <a:r>
              <a:rPr lang="ko-KR" altLang="en-US">
                <a:latin typeface="Calibri"/>
                <a:ea typeface="Calibri"/>
                <a:cs typeface="Calibri"/>
              </a:rPr>
              <a:t>다른</a:t>
            </a:r>
            <a:r>
              <a:rPr lang="en-US">
                <a:latin typeface="Calibri"/>
                <a:ea typeface="Calibri"/>
                <a:cs typeface="Calibri"/>
              </a:rPr>
              <a:t> </a:t>
            </a:r>
            <a:r>
              <a:rPr lang="ko-KR" altLang="en-US">
                <a:latin typeface="Calibri"/>
                <a:ea typeface="Calibri"/>
                <a:cs typeface="Calibri"/>
              </a:rPr>
              <a:t>시점에</a:t>
            </a:r>
            <a:r>
              <a:rPr lang="en-US">
                <a:latin typeface="Calibri"/>
                <a:ea typeface="Calibri"/>
                <a:cs typeface="Calibri"/>
              </a:rPr>
              <a:t> </a:t>
            </a:r>
            <a:r>
              <a:rPr lang="ko-KR" altLang="en-US">
                <a:latin typeface="Calibri"/>
                <a:ea typeface="Calibri"/>
                <a:cs typeface="Calibri"/>
              </a:rPr>
              <a:t>도달하는</a:t>
            </a:r>
            <a:r>
              <a:rPr lang="en-US">
                <a:latin typeface="Calibri"/>
                <a:ea typeface="Calibri"/>
                <a:cs typeface="Calibri"/>
              </a:rPr>
              <a:t> </a:t>
            </a:r>
            <a:r>
              <a:rPr lang="ko-KR" altLang="en-US">
                <a:latin typeface="Calibri"/>
                <a:ea typeface="Calibri"/>
                <a:cs typeface="Calibri"/>
              </a:rPr>
              <a:t>값이 존재 하기 떄문에 큰 메모리가 필요합니다. Bottleneck_router, cancat</a:t>
            </a:r>
            <a:endParaRPr lang="en-US">
              <a:latin typeface="Calibri"/>
              <a:ea typeface="Calibri"/>
              <a:cs typeface="Calibri"/>
            </a:endParaRPr>
          </a:p>
        </p:txBody>
      </p:sp>
      <p:sp>
        <p:nvSpPr>
          <p:cNvPr id="4" name="슬라이드 번호 개체 틀 3"/>
          <p:cNvSpPr>
            <a:spLocks noGrp="1"/>
          </p:cNvSpPr>
          <p:nvPr>
            <p:ph type="sldNum" sz="quarter" idx="5"/>
          </p:nvPr>
        </p:nvSpPr>
        <p:spPr/>
        <p:txBody>
          <a:bodyPr/>
          <a:lstStyle/>
          <a:p>
            <a:fld id="{08E92029-F171-4FE6-AED7-3AF13C61E2E4}" type="slidenum">
              <a:rPr lang="en-US" altLang="ko-KR"/>
              <a:t>18</a:t>
            </a:fld>
            <a:endParaRPr lang="ko-KR" altLang="en-US"/>
          </a:p>
        </p:txBody>
      </p:sp>
    </p:spTree>
    <p:extLst>
      <p:ext uri="{BB962C8B-B14F-4D97-AF65-F5344CB8AC3E}">
        <p14:creationId xmlns:p14="http://schemas.microsoft.com/office/powerpoint/2010/main" val="559306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ea typeface="맑은 고딕"/>
              </a:rPr>
              <a:t>IC_UF가 작을 수록 한번에 병렬로 처리하는 개수가 줄어든다 즉 하드웨어 자원은 줄어들지만 latency는 늘어난다.</a:t>
            </a:r>
            <a:endParaRPr lang="ko-KR" err="1">
              <a:ea typeface="맑은 고딕" panose="020B0503020000020004" pitchFamily="34" charset="-127"/>
            </a:endParaRPr>
          </a:p>
          <a:p>
            <a:r>
              <a:rPr lang="ko-KR" altLang="en-US">
                <a:ea typeface="맑은 고딕"/>
              </a:rPr>
              <a:t>이론적으로는</a:t>
            </a:r>
            <a:r>
              <a:rPr lang="en-US" altLang="ko-KR">
                <a:ea typeface="맑은 고딕"/>
              </a:rPr>
              <a:t> 2</a:t>
            </a:r>
            <a:r>
              <a:rPr lang="ko-KR" altLang="en-US">
                <a:ea typeface="맑은 고딕"/>
              </a:rPr>
              <a:t>배</a:t>
            </a:r>
            <a:r>
              <a:rPr lang="en-US" altLang="ko-KR">
                <a:ea typeface="맑은 고딕"/>
              </a:rPr>
              <a:t> </a:t>
            </a:r>
            <a:r>
              <a:rPr lang="ko-KR" altLang="en-US">
                <a:ea typeface="맑은 고딕"/>
              </a:rPr>
              <a:t>느려져야</a:t>
            </a:r>
            <a:r>
              <a:rPr lang="en-US" altLang="ko-KR">
                <a:ea typeface="맑은 고딕"/>
              </a:rPr>
              <a:t> </a:t>
            </a:r>
            <a:r>
              <a:rPr lang="ko-KR" altLang="en-US">
                <a:ea typeface="맑은 고딕"/>
              </a:rPr>
              <a:t>정상</a:t>
            </a:r>
            <a:r>
              <a:rPr lang="en-US" altLang="ko-KR">
                <a:ea typeface="맑은 고딕"/>
              </a:rPr>
              <a:t>. </a:t>
            </a:r>
            <a:r>
              <a:rPr lang="ko-KR" altLang="ko-KR">
                <a:ea typeface="맑은 고딕"/>
              </a:rPr>
              <a:t>하지만</a:t>
            </a:r>
            <a:r>
              <a:rPr lang="en-US" altLang="ko-KR">
                <a:ea typeface="맑은 고딕"/>
              </a:rPr>
              <a:t> </a:t>
            </a:r>
            <a:r>
              <a:rPr lang="en-US"/>
              <a:t>IC_UF=8로 </a:t>
            </a:r>
            <a:r>
              <a:rPr lang="en-US" err="1"/>
              <a:t>바뀌면</a:t>
            </a:r>
            <a:r>
              <a:rPr lang="en-US"/>
              <a:t> </a:t>
            </a:r>
            <a:r>
              <a:rPr lang="en-US" err="1"/>
              <a:t>factor도</a:t>
            </a:r>
            <a:r>
              <a:rPr lang="en-US"/>
              <a:t> 8로 </a:t>
            </a:r>
            <a:r>
              <a:rPr lang="en-US" err="1"/>
              <a:t>바뀌는데</a:t>
            </a:r>
            <a:r>
              <a:rPr lang="en-US"/>
              <a:t>, </a:t>
            </a:r>
            <a:endParaRPr lang="en-US">
              <a:ea typeface="맑은 고딕"/>
            </a:endParaRPr>
          </a:p>
          <a:p>
            <a:r>
              <a:rPr lang="en-US" b="1" err="1"/>
              <a:t>원래</a:t>
            </a:r>
            <a:r>
              <a:rPr lang="en-US" b="1"/>
              <a:t> </a:t>
            </a:r>
            <a:r>
              <a:rPr lang="en-US" b="1" err="1"/>
              <a:t>데이터가</a:t>
            </a:r>
            <a:r>
              <a:rPr lang="en-US" b="1"/>
              <a:t> </a:t>
            </a:r>
            <a:r>
              <a:rPr lang="en-US" b="1" err="1"/>
              <a:t>물리적으로</a:t>
            </a:r>
            <a:r>
              <a:rPr lang="en-US" b="1"/>
              <a:t> </a:t>
            </a:r>
            <a:r>
              <a:rPr lang="en-US" b="1" err="1"/>
              <a:t>배치된</a:t>
            </a:r>
            <a:r>
              <a:rPr lang="en-US" b="1"/>
              <a:t> </a:t>
            </a:r>
            <a:r>
              <a:rPr lang="en-US" b="1" err="1"/>
              <a:t>방식</a:t>
            </a:r>
            <a:r>
              <a:rPr lang="en-US" b="1"/>
              <a:t>(</a:t>
            </a:r>
            <a:r>
              <a:rPr lang="en-US" b="1" err="1"/>
              <a:t>가중치가</a:t>
            </a:r>
            <a:r>
              <a:rPr lang="en-US" b="1"/>
              <a:t> </a:t>
            </a:r>
            <a:r>
              <a:rPr lang="en-US" b="1" err="1"/>
              <a:t>원래</a:t>
            </a:r>
            <a:r>
              <a:rPr lang="en-US" b="1"/>
              <a:t> </a:t>
            </a:r>
            <a:r>
              <a:rPr lang="en-US" b="1" err="1"/>
              <a:t>담겨있던</a:t>
            </a:r>
            <a:r>
              <a:rPr lang="en-US" b="1"/>
              <a:t> </a:t>
            </a:r>
            <a:r>
              <a:rPr lang="en-US" b="1" err="1"/>
              <a:t>순서</a:t>
            </a:r>
            <a:r>
              <a:rPr lang="en-US" b="1"/>
              <a:t>)과, 이 </a:t>
            </a:r>
            <a:r>
              <a:rPr lang="en-US" b="1" err="1"/>
              <a:t>새로운</a:t>
            </a:r>
            <a:r>
              <a:rPr lang="en-US" b="1"/>
              <a:t> 8개 </a:t>
            </a:r>
            <a:r>
              <a:rPr lang="en-US" b="1" err="1"/>
              <a:t>쪼갬</a:t>
            </a:r>
            <a:r>
              <a:rPr lang="en-US" b="1"/>
              <a:t> </a:t>
            </a:r>
            <a:r>
              <a:rPr lang="en-US" b="1" err="1"/>
              <a:t>방식이</a:t>
            </a:r>
            <a:r>
              <a:rPr lang="en-US" b="1"/>
              <a:t> </a:t>
            </a:r>
            <a:r>
              <a:rPr lang="en-US" b="1" err="1"/>
              <a:t>서로</a:t>
            </a:r>
            <a:r>
              <a:rPr lang="en-US" b="1"/>
              <a:t> 안 </a:t>
            </a:r>
            <a:r>
              <a:rPr lang="en-US" b="1" err="1"/>
              <a:t>맞아떨어지면</a:t>
            </a:r>
            <a:endParaRPr lang="en-US" err="1">
              <a:ea typeface="맑은 고딕"/>
            </a:endParaRPr>
          </a:p>
        </p:txBody>
      </p:sp>
      <p:sp>
        <p:nvSpPr>
          <p:cNvPr id="4" name="슬라이드 번호 개체 틀 3"/>
          <p:cNvSpPr>
            <a:spLocks noGrp="1"/>
          </p:cNvSpPr>
          <p:nvPr>
            <p:ph type="sldNum" sz="quarter" idx="5"/>
          </p:nvPr>
        </p:nvSpPr>
        <p:spPr/>
        <p:txBody>
          <a:bodyPr/>
          <a:lstStyle/>
          <a:p>
            <a:fld id="{08E92029-F171-4FE6-AED7-3AF13C61E2E4}" type="slidenum">
              <a:rPr lang="en-US" altLang="ko-KR"/>
              <a:t>20</a:t>
            </a:fld>
            <a:endParaRPr lang="ko-KR" altLang="en-US"/>
          </a:p>
        </p:txBody>
      </p:sp>
    </p:spTree>
    <p:extLst>
      <p:ext uri="{BB962C8B-B14F-4D97-AF65-F5344CB8AC3E}">
        <p14:creationId xmlns:p14="http://schemas.microsoft.com/office/powerpoint/2010/main" val="414257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11C4F-7D3A-0C5A-DE40-647B58AA0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D435A-C614-9A5C-B3D6-46C92F8B73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AD069-A667-881F-9265-9066A59568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1B3BD7-73EB-228F-7954-4ADC2A507F06}"/>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584249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16A8A-337F-1297-07D7-619A5112E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D91F7-260B-10C3-ED92-59E31C61AD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61FFE8-BFC9-A54E-1E00-13AACF82ED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0DAD67-94D2-8E12-F06B-9CAA4D263BB2}"/>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8120136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13C25-D9A8-F385-3860-0B3C80F6E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C3DA9-350D-5FAE-3E8D-E717E55D06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F39DC9-C651-AEE1-CA44-B2EE047578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641D47-C020-11AA-BC4D-E2879E453FE1}"/>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236319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A797F-A0BB-D2D2-C1C5-603B46434C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8983C-D7B8-FF0D-F1A3-8C45B9E5A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E06235-ACFA-619F-3ECC-1123D4FA29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8F84EE-36E8-D44F-18C1-5A0986D47C93}"/>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0451611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a:ea typeface="맑은 고딕"/>
              </a:rPr>
              <a:t>LUT</a:t>
            </a:r>
            <a:r>
              <a:rPr lang="ko-KR" altLang="en-US">
                <a:ea typeface="맑은 고딕"/>
              </a:rPr>
              <a:t>와 </a:t>
            </a:r>
            <a:r>
              <a:rPr lang="en-US" altLang="ko-KR">
                <a:ea typeface="맑은 고딕"/>
              </a:rPr>
              <a:t>Flip-Flop</a:t>
            </a:r>
            <a:r>
              <a:rPr lang="ko-KR" altLang="en-US">
                <a:ea typeface="맑은 고딕"/>
              </a:rPr>
              <a:t>이 묶여 </a:t>
            </a:r>
            <a:r>
              <a:rPr lang="en-US" altLang="ko-KR" b="1">
                <a:ea typeface="맑은 고딕"/>
              </a:rPr>
              <a:t>CLB</a:t>
            </a:r>
            <a:endParaRPr lang="en-US">
              <a:ea typeface="맑은 고딕"/>
            </a:endParaRPr>
          </a:p>
          <a:p>
            <a:r>
              <a:rPr lang="en-US" altLang="ko-KR" b="1">
                <a:ea typeface="맑은 고딕"/>
              </a:rPr>
              <a:t>Clb안에는 4종류의 </a:t>
            </a:r>
            <a:r>
              <a:rPr lang="en-US" altLang="ko-KR" b="1" err="1">
                <a:ea typeface="맑은 고딕"/>
              </a:rPr>
              <a:t>controlset만</a:t>
            </a:r>
            <a:r>
              <a:rPr lang="en-US" altLang="ko-KR" b="1">
                <a:ea typeface="맑은 고딕"/>
              </a:rPr>
              <a:t> </a:t>
            </a:r>
            <a:r>
              <a:rPr lang="en-US" altLang="ko-KR" b="1" err="1">
                <a:ea typeface="맑은 고딕"/>
              </a:rPr>
              <a:t>담을</a:t>
            </a:r>
            <a:r>
              <a:rPr lang="en-US" altLang="ko-KR" b="1">
                <a:ea typeface="맑은 고딕"/>
              </a:rPr>
              <a:t> 수 </a:t>
            </a:r>
            <a:r>
              <a:rPr lang="en-US" altLang="ko-KR" b="1" err="1">
                <a:ea typeface="맑은 고딕"/>
              </a:rPr>
              <a:t>있다</a:t>
            </a:r>
            <a:r>
              <a:rPr lang="en-US" altLang="ko-KR" b="1">
                <a:ea typeface="맑은 고딕"/>
              </a:rPr>
              <a:t>. </a:t>
            </a:r>
          </a:p>
          <a:p>
            <a:r>
              <a:rPr lang="en-US" altLang="ko-KR" b="1" err="1">
                <a:ea typeface="맑은 고딕"/>
              </a:rPr>
              <a:t>Controlset</a:t>
            </a:r>
            <a:r>
              <a:rPr lang="en-US" altLang="ko-KR" b="1">
                <a:ea typeface="맑은 고딕"/>
              </a:rPr>
              <a:t> </a:t>
            </a:r>
            <a:r>
              <a:rPr lang="en-US" err="1"/>
              <a:t>클럭</a:t>
            </a:r>
            <a:r>
              <a:rPr lang="en-US"/>
              <a:t>, </a:t>
            </a:r>
            <a:r>
              <a:rPr lang="en-US" err="1"/>
              <a:t>리셋</a:t>
            </a:r>
            <a:r>
              <a:rPr lang="en-US"/>
              <a:t>, </a:t>
            </a:r>
            <a:r>
              <a:rPr lang="en-US" err="1"/>
              <a:t>인에이블</a:t>
            </a:r>
            <a:r>
              <a:rPr lang="en-US"/>
              <a:t> </a:t>
            </a:r>
            <a:r>
              <a:rPr lang="en-US" err="1"/>
              <a:t>조합</a:t>
            </a:r>
            <a:r>
              <a:rPr lang="en-US"/>
              <a:t> </a:t>
            </a:r>
            <a:endParaRPr lang="en-US" altLang="ko-KR" b="1">
              <a:ea typeface="맑은 고딕"/>
            </a:endParaRPr>
          </a:p>
          <a:p>
            <a:r>
              <a:rPr lang="en-US"/>
              <a:t>self-counting</a:t>
            </a:r>
            <a:r>
              <a:rPr lang="en-US" altLang="ko-KR">
                <a:ea typeface="맑은 고딕"/>
              </a:rPr>
              <a:t> </a:t>
            </a:r>
            <a:r>
              <a:rPr lang="ko-KR" altLang="en-US">
                <a:ea typeface="맑은 고딕"/>
              </a:rPr>
              <a:t>때문에</a:t>
            </a:r>
            <a:r>
              <a:rPr lang="en-US"/>
              <a:t> IP</a:t>
            </a:r>
            <a:r>
              <a:rPr lang="ko-KR" altLang="en-US">
                <a:ea typeface="맑은 고딕"/>
              </a:rPr>
              <a:t>마다</a:t>
            </a:r>
            <a:r>
              <a:rPr lang="en-US" altLang="ko-KR">
                <a:ea typeface="맑은 고딕"/>
              </a:rPr>
              <a:t> </a:t>
            </a:r>
            <a:r>
              <a:rPr lang="ko-KR" altLang="en-US">
                <a:ea typeface="맑은 고딕"/>
              </a:rPr>
              <a:t>조금씩</a:t>
            </a:r>
            <a:r>
              <a:rPr lang="en-US" altLang="ko-KR">
                <a:ea typeface="맑은 고딕"/>
              </a:rPr>
              <a:t> </a:t>
            </a:r>
            <a:r>
              <a:rPr lang="ko-KR" altLang="en-US">
                <a:ea typeface="맑은 고딕"/>
              </a:rPr>
              <a:t>다른</a:t>
            </a:r>
            <a:r>
              <a:rPr lang="en-US" altLang="ko-KR">
                <a:ea typeface="맑은 고딕"/>
              </a:rPr>
              <a:t> </a:t>
            </a:r>
            <a:r>
              <a:rPr lang="ko-KR" altLang="en-US">
                <a:ea typeface="맑은 고딕"/>
              </a:rPr>
              <a:t>리셋</a:t>
            </a:r>
            <a:r>
              <a:rPr lang="en-US"/>
              <a:t>/</a:t>
            </a:r>
            <a:r>
              <a:rPr lang="ko-KR" altLang="en-US">
                <a:ea typeface="맑은 고딕"/>
              </a:rPr>
              <a:t>인에이블</a:t>
            </a:r>
            <a:r>
              <a:rPr lang="en-US" altLang="ko-KR">
                <a:ea typeface="맑은 고딕"/>
              </a:rPr>
              <a:t> </a:t>
            </a:r>
            <a:r>
              <a:rPr lang="ko-KR" altLang="en-US">
                <a:ea typeface="맑은 고딕"/>
              </a:rPr>
              <a:t>방식이</a:t>
            </a:r>
            <a:r>
              <a:rPr lang="en-US" altLang="ko-KR">
                <a:ea typeface="맑은 고딕"/>
              </a:rPr>
              <a:t> </a:t>
            </a:r>
            <a:r>
              <a:rPr lang="ko-KR" altLang="en-US">
                <a:ea typeface="맑은 고딕"/>
              </a:rPr>
              <a:t>생긴</a:t>
            </a:r>
            <a:r>
              <a:rPr lang="en-US" altLang="ko-KR">
                <a:ea typeface="맑은 고딕"/>
              </a:rPr>
              <a:t> </a:t>
            </a:r>
            <a:r>
              <a:rPr lang="ko-KR" altLang="en-US">
                <a:ea typeface="맑은 고딕"/>
              </a:rPr>
              <a:t>것</a:t>
            </a:r>
            <a:endParaRPr lang="en-US">
              <a:ea typeface="맑은 고딕"/>
            </a:endParaRPr>
          </a:p>
          <a:p>
            <a:r>
              <a:rPr lang="ko-KR">
                <a:ea typeface="맑은 고딕"/>
              </a:rPr>
              <a:t>Configurable Logic Block</a:t>
            </a:r>
            <a:r>
              <a:rPr lang="en-US" altLang="ko-KR">
                <a:ea typeface="맑은 고딕"/>
              </a:rPr>
              <a:t>= </a:t>
            </a:r>
            <a:r>
              <a:rPr lang="en-US" altLang="ko-KR" err="1">
                <a:ea typeface="맑은 고딕"/>
              </a:rPr>
              <a:t>lut</a:t>
            </a:r>
            <a:r>
              <a:rPr lang="en-US" altLang="ko-KR">
                <a:ea typeface="맑은 고딕"/>
              </a:rPr>
              <a:t>, Mux, ff. clk/rest/enable </a:t>
            </a:r>
            <a:endParaRPr lang="ko-KR" altLang="en-US">
              <a:ea typeface="맑은 고딕"/>
            </a:endParaRPr>
          </a:p>
          <a:p>
            <a:r>
              <a:rPr lang="en-US" altLang="ko-KR">
                <a:ea typeface="맑은 고딕"/>
              </a:rPr>
              <a:t>Control set = </a:t>
            </a:r>
            <a:r>
              <a:rPr lang="en-US"/>
              <a:t>2,518 </a:t>
            </a:r>
            <a:endParaRPr lang="en-US" altLang="ko-KR">
              <a:ea typeface="맑은 고딕"/>
            </a:endParaRPr>
          </a:p>
          <a:p>
            <a:endParaRPr lang="en-US">
              <a:ea typeface="맑은 고딕"/>
            </a:endParaRP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4C62E-625A-DA85-EE64-60F6F7D89D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9427E6-E289-9982-B867-00CE4CDA7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D2DCE2-C203-4313-27A0-DA66E49715D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925FEA7-4462-D1A7-C32B-101EAFC4E9FA}"/>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8487691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이 프로젝트는 저를 포함한 다섯 명의 팀원이 공동으로 수행했으며 GitHub main의 전체 코드를 제가 혼자 개발한 것은 아닙니다. 제 담당은 조원들이 만든 HLS IP를 이해하고 model.6 C2f 블록으로 Vivado에 통합하는 일이었습니다. 처음에는 Codex에 프로젝트 규칙과 환경을 설정하고, 모델 구조와 설계 Flow 이미지를 보여 주어 코드의 shape와 데이터 흐름을 함께 확인했습니다. 이후 실제 GitHub와 로컬 파일, component.xml, Vivado와 Vitis 로그를 읽혀 AXI, DMA, Clock, Reset 연결과 병목 원인을 분석했습니다. 제가 Vivado 퍼센트, XSCT, KV260 SSH 터미널에서 명령을 실행하고 결과를 다시 전달하면 Codex가 다음 수정과 검증 절차를 제안하는 반복 방식으로 진행했습니다. 최종적으로 Bitstream과 KV260의 웹캠 장치 및 Overlay 로딩까지 직접 확인했습니다.</a:t>
            </a:r>
          </a:p>
        </p:txBody>
      </p:sp>
      <p:sp>
        <p:nvSpPr>
          <p:cNvPr id="4" name="Slide Number Placeholder 3"/>
          <p:cNvSpPr>
            <a:spLocks noGrp="1"/>
          </p:cNvSpPr>
          <p:nvPr>
            <p:ph type="sldNum" sz="quarter" idx="5"/>
          </p:nvPr>
        </p:nvSpPr>
        <p:spPr/>
        <p:txBody>
          <a:bodyPr anchor="ctr"/>
          <a:lstStyle/>
          <a:p>
            <a:pPr algn="ctr">
              <a:defRPr/>
            </a:pPr>
            <a:endParaRPr lang="ko-KR"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Vivado Block Design에서는 ARM CPU가 있는 PS와 FPGA 로직인 PL을 연결했습니다. 웹캠 영상 전체가 FPGA로 바로 들어가는 구조는 아닙니다. CPU가 YOLO model.0부터 5까지 계산한 후 128×40×40 특징맵을 DDR에 두고, AXI DMA가 이를 FPGA로 전송합니다. FPGA 내부의 HLS IP들은 AXI-Stream으로 연결되어 model.6를 처리하고, 256×40×40 결과를 DMA로 CPU에 돌려줍니다. AXI-Lite는 연산 시작과 스케일 설정을 담당합니다.</a:t>
            </a:r>
          </a:p>
        </p:txBody>
      </p:sp>
      <p:sp>
        <p:nvSpPr>
          <p:cNvPr id="4" name="Slide Number Placeholder 3"/>
          <p:cNvSpPr>
            <a:spLocks noGrp="1"/>
          </p:cNvSpPr>
          <p:nvPr>
            <p:ph type="sldNum" sz="quarter" idx="5"/>
          </p:nvPr>
        </p:nvSpPr>
        <p:spPr/>
        <p:txBody>
          <a:bodyPr anchor="ctr"/>
          <a:lstStyle/>
          <a:p>
            <a:pPr algn="ctr">
              <a:defRPr/>
            </a:pPr>
            <a:endParaRPr lang="ko-KR"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가장 어려웠던 점은 단위 IP의 simulation 성공이 전체 FPGA 성공을 보장하지 않았다는 것입니다. 전체 통합에서는 최대 6만6천590개의 node overlap과 congestion level 6이 발생했습니다. 조합 handshake를 끊고 병렬도와 LUTRAM 집중을 분석했으며, cv2를 CPU로 이동해 하드웨어 경계를 다시 정했습니다. C Simulation에서는 보이지 않던 Stream 교착은 DATAFLOW와 FIFO로 해결했고, BRAM byte와 word 주소 차이는 입력을 0으로 만든 실험으로 4c 규칙을 찾아냈습니다. DMA 길이와 HWC 배열까지 수정했지만 제 개인 보드에서는 MMIO 전체 실행이 남았습니다. 그래서 성공과 미완료 범위를 분리해 기록했습니다.</a:t>
            </a:r>
          </a:p>
        </p:txBody>
      </p:sp>
      <p:sp>
        <p:nvSpPr>
          <p:cNvPr id="4" name="Slide Number Placeholder 3"/>
          <p:cNvSpPr>
            <a:spLocks noGrp="1"/>
          </p:cNvSpPr>
          <p:nvPr>
            <p:ph type="sldNum" sz="quarter" idx="5"/>
          </p:nvPr>
        </p:nvSpPr>
        <p:spPr/>
        <p:txBody>
          <a:bodyPr anchor="ctr"/>
          <a:lstStyle/>
          <a:p>
            <a:pPr algn="ctr">
              <a:defRPr/>
            </a:pPr>
            <a:endParaRPr lang="ko-KR"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이 화면은 실제 개발 로그에서 가져온 기록입니다. Vivado에서는 최종 라우팅 WNS가 플러스 0.220나노초였고 DRC 오류 0, 비트스트림 생성 완료를 확인했습니다. 다음으로 Vitis 2022.2에서 하드웨어 플랫폼과 BSP를 구성하고 dma_loopback_v2 ELF를 빌드했습니다. Vitis 내부 XSCT가 FPGA 비트스트림과 XSA를 로드하고, FSBL과 ELF를 Cortex-A53에 다운로드했습니다. 다만 최종 UART DMA PASS 문자열은 보관 로그에 없기 때문에 성공으로 과장하지 않았습니다.</a:t>
            </a:r>
          </a:p>
        </p:txBody>
      </p:sp>
      <p:sp>
        <p:nvSpPr>
          <p:cNvPr id="4" name="Slide Number Placeholder 3"/>
          <p:cNvSpPr>
            <a:spLocks noGrp="1"/>
          </p:cNvSpPr>
          <p:nvPr>
            <p:ph type="sldNum" sz="quarter" idx="5"/>
          </p:nvPr>
        </p:nvSpPr>
        <p:spPr/>
        <p:txBody>
          <a:bodyPr anchor="ctr"/>
          <a:lstStyle/>
          <a:p>
            <a:pPr algn="ctr">
              <a:defRPr/>
            </a:pPr>
            <a:endParaRPr lang="ko-KR"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제가 현재 기록으로 직접 확인한 범위는 올바른 KV260에 SSH로 접속하고 Logitech C270 웹캠과 video0, video1 장치를 확인한 것, 그리고 PYNQ에서 model.6 Bitstream을 다운로드해 LOADED True와 IP 목록을 확인한 것까지입니다. DMA MMIO 읽기에서는 커널이 대기 상태가 되어 재시작했으므로 제 개인 실시간 PPE 탐지가 완료됐다고 발표하지 않습니다. 오른쪽의 탐지 화면은 조원이 성공시킨 팀 공동 결과를 넣을 수 있지만 반드시 팀 결과라고 표기해야 합니다. 이후 제가 같은 실행을 직접 재현하면 개인 검증 완료로 갱신할 수 있습니다.</a:t>
            </a:r>
          </a:p>
        </p:txBody>
      </p:sp>
      <p:sp>
        <p:nvSpPr>
          <p:cNvPr id="4" name="Slide Number Placeholder 3"/>
          <p:cNvSpPr>
            <a:spLocks noGrp="1"/>
          </p:cNvSpPr>
          <p:nvPr>
            <p:ph type="sldNum" sz="quarter" idx="5"/>
          </p:nvPr>
        </p:nvSpPr>
        <p:spPr/>
        <p:txBody>
          <a:bodyPr anchor="ctr"/>
          <a:lstStyle/>
          <a:p>
            <a:pPr algn="ctr">
              <a:defRPr/>
            </a:pPr>
            <a:endParaRPr lang="ko-KR"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제 개인 성과는 model.6 HLS IP와 Block Design 통합, 100메가헤르츠 Timing 만족, DRC 오류 0, Bitstream과 XSA 생성, KV260 Overlay 로딩까지입니다. 팀 전체 저장소와 실시간 PPE 파이프라인은 다섯 명의 공동 결과이며 개인 기여와 구분해 설명합니다. Codex는 단순 답변기가 아니라 설계 이미지, GitHub와 로컬 소스, component XML, 로그와 리포트를 함께 분석하는 협업 도구로 사용했습니다. 그러나 모든 제안은 제가 실제 터미널에서 실행하고 결과를 다시 확인했습니다. 다음 단계는 DMA 단독 Loopback, Golden 특징맵 비교, 웹캠 전체 파이프라인 직접 재현과 FPS 측정입니다.</a:t>
            </a:r>
          </a:p>
        </p:txBody>
      </p:sp>
      <p:sp>
        <p:nvSpPr>
          <p:cNvPr id="4" name="Slide Number Placeholder 3"/>
          <p:cNvSpPr>
            <a:spLocks noGrp="1"/>
          </p:cNvSpPr>
          <p:nvPr>
            <p:ph type="sldNum" sz="quarter" idx="5"/>
          </p:nvPr>
        </p:nvSpPr>
        <p:spPr/>
        <p:txBody>
          <a:bodyPr anchor="ctr"/>
          <a:lstStyle/>
          <a:p>
            <a:pPr algn="ctr">
              <a:defRPr/>
            </a:pPr>
            <a:endParaRPr lang="ko-KR"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33DBA-0A8A-A064-67F7-207E5B7A35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0AF16-AD52-DCB8-1A9D-2B39EF9F09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25F4E-E3D0-2306-B00B-F3F3364265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56CF93-26AC-2614-C90D-E25832A823B3}"/>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3673161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안녕하세요 저는 앞서 설계한 </a:t>
            </a:r>
            <a:r>
              <a:rPr lang="en-US" altLang="ko-KR" dirty="0"/>
              <a:t>FPGA </a:t>
            </a:r>
            <a:r>
              <a:rPr lang="ko-KR" altLang="en-US" dirty="0"/>
              <a:t>가속기를 실제 소프트웨어와 통합하는 부분을 담당한 박정원입니다</a:t>
            </a:r>
            <a:r>
              <a:rPr lang="en-US" altLang="ko-KR" dirty="0"/>
              <a:t>.</a:t>
            </a:r>
          </a:p>
          <a:p>
            <a:endParaRPr lang="en-US" altLang="ko-KR" dirty="0"/>
          </a:p>
          <a:p>
            <a:r>
              <a:rPr lang="ko-KR" altLang="en-US" dirty="0"/>
              <a:t>발표는 다음과 같은 순서로 진행하겠습니다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08E92029-F171-4FE6-AED7-3AF13C61E2E4}" type="slidenum">
              <a:rPr lang="en-US" altLang="ko-KR" smtClean="0"/>
              <a:t>31</a:t>
            </a:fld>
            <a:endParaRPr lang="ko-KR" altLang="en-US"/>
          </a:p>
        </p:txBody>
      </p:sp>
    </p:spTree>
    <p:extLst>
      <p:ext uri="{BB962C8B-B14F-4D97-AF65-F5344CB8AC3E}">
        <p14:creationId xmlns:p14="http://schemas.microsoft.com/office/powerpoint/2010/main" val="12048657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하드웨어 가속기 설계 이후 실제 시스템에 적용하면서</a:t>
            </a:r>
            <a:r>
              <a:rPr lang="en-US" altLang="ko-KR" dirty="0"/>
              <a:t>, </a:t>
            </a:r>
            <a:r>
              <a:rPr lang="ko-KR" altLang="en-US" dirty="0"/>
              <a:t>소프트웨어 측면에서 개선 가능한 병목을 분석했습니다</a:t>
            </a:r>
            <a:r>
              <a:rPr lang="en-US" altLang="ko-KR" dirty="0"/>
              <a:t>. </a:t>
            </a:r>
          </a:p>
          <a:p>
            <a:r>
              <a:rPr lang="ko-KR" altLang="en-US" dirty="0"/>
              <a:t>이후 여러 소프트웨어 최적화를 적용한 최종 시스템에서 평균 약 </a:t>
            </a:r>
            <a:r>
              <a:rPr lang="en-US" altLang="ko-KR" dirty="0"/>
              <a:t>1.9 FPS</a:t>
            </a:r>
            <a:r>
              <a:rPr lang="ko-KR" altLang="en-US" dirty="0"/>
              <a:t>의 성능을 확인했습니다</a:t>
            </a:r>
          </a:p>
        </p:txBody>
      </p:sp>
      <p:sp>
        <p:nvSpPr>
          <p:cNvPr id="4" name="슬라이드 번호 개체 틀 3"/>
          <p:cNvSpPr>
            <a:spLocks noGrp="1"/>
          </p:cNvSpPr>
          <p:nvPr>
            <p:ph type="sldNum" sz="quarter" idx="5"/>
          </p:nvPr>
        </p:nvSpPr>
        <p:spPr/>
        <p:txBody>
          <a:bodyPr/>
          <a:lstStyle/>
          <a:p>
            <a:fld id="{08E92029-F171-4FE6-AED7-3AF13C61E2E4}" type="slidenum">
              <a:rPr lang="en-US" altLang="ko-KR" smtClean="0"/>
              <a:t>32</a:t>
            </a:fld>
            <a:endParaRPr lang="ko-KR" altLang="en-US"/>
          </a:p>
        </p:txBody>
      </p:sp>
    </p:spTree>
    <p:extLst>
      <p:ext uri="{BB962C8B-B14F-4D97-AF65-F5344CB8AC3E}">
        <p14:creationId xmlns:p14="http://schemas.microsoft.com/office/powerpoint/2010/main" val="25195507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전체 구조는 왼쪽의 그림과 같습니다</a:t>
            </a:r>
            <a:r>
              <a:rPr lang="en-US" altLang="ko-KR" dirty="0"/>
              <a:t>.</a:t>
            </a:r>
          </a:p>
          <a:p>
            <a:r>
              <a:rPr lang="en-US" altLang="ko-KR" dirty="0"/>
              <a:t>Webcam </a:t>
            </a:r>
            <a:r>
              <a:rPr lang="ko-KR" altLang="en-US" dirty="0"/>
              <a:t>입력을 </a:t>
            </a:r>
            <a:r>
              <a:rPr lang="en-US" altLang="ko-KR" dirty="0"/>
              <a:t>PS</a:t>
            </a:r>
            <a:r>
              <a:rPr lang="ko-KR" altLang="en-US" dirty="0"/>
              <a:t>에서 처리하고</a:t>
            </a:r>
            <a:r>
              <a:rPr lang="en-US" altLang="ko-KR" dirty="0"/>
              <a:t>, </a:t>
            </a:r>
            <a:r>
              <a:rPr lang="ko-KR" altLang="en-US" dirty="0"/>
              <a:t>필요한 연산을 </a:t>
            </a:r>
            <a:r>
              <a:rPr lang="en-US" altLang="ko-KR" dirty="0"/>
              <a:t>Kernel Driver</a:t>
            </a:r>
            <a:r>
              <a:rPr lang="ko-KR" altLang="en-US" dirty="0"/>
              <a:t>를 통해 </a:t>
            </a:r>
            <a:r>
              <a:rPr lang="en-US" altLang="ko-KR" dirty="0"/>
              <a:t>FPGA</a:t>
            </a:r>
            <a:r>
              <a:rPr lang="ko-KR" altLang="en-US" dirty="0"/>
              <a:t>로 전달하는 방식입니다</a:t>
            </a:r>
            <a:r>
              <a:rPr lang="en-US" altLang="ko-KR" dirty="0"/>
              <a:t>.</a:t>
            </a:r>
          </a:p>
          <a:p>
            <a:r>
              <a:rPr lang="en-US" altLang="ko-KR" dirty="0"/>
              <a:t>PS</a:t>
            </a:r>
            <a:r>
              <a:rPr lang="ko-KR" altLang="en-US" dirty="0"/>
              <a:t>와 </a:t>
            </a:r>
            <a:r>
              <a:rPr lang="en-US" altLang="ko-KR" dirty="0"/>
              <a:t>FPGA </a:t>
            </a:r>
            <a:r>
              <a:rPr lang="ko-KR" altLang="en-US" dirty="0"/>
              <a:t>사이의 데이터 전송은 </a:t>
            </a:r>
            <a:r>
              <a:rPr lang="en-US" altLang="ko-KR" dirty="0"/>
              <a:t>DMA</a:t>
            </a:r>
            <a:r>
              <a:rPr lang="ko-KR" altLang="en-US" dirty="0"/>
              <a:t>를 사용하고</a:t>
            </a:r>
            <a:r>
              <a:rPr lang="en-US" altLang="ko-KR" dirty="0"/>
              <a:t> MM2S</a:t>
            </a:r>
            <a:r>
              <a:rPr lang="ko-KR" altLang="en-US" dirty="0"/>
              <a:t>는 </a:t>
            </a:r>
            <a:r>
              <a:rPr lang="en-US" altLang="ko-KR" dirty="0"/>
              <a:t>FPGA</a:t>
            </a:r>
            <a:r>
              <a:rPr lang="ko-KR" altLang="en-US" dirty="0"/>
              <a:t>로 입력을 보내고 </a:t>
            </a:r>
            <a:r>
              <a:rPr lang="en-US" altLang="ko-KR" dirty="0"/>
              <a:t>S2MM</a:t>
            </a:r>
            <a:r>
              <a:rPr lang="ko-KR" altLang="en-US" dirty="0"/>
              <a:t>은 결과를 다시 받아오는 역할을 합니다</a:t>
            </a:r>
            <a:r>
              <a:rPr lang="en-US" altLang="ko-KR" dirty="0"/>
              <a:t>.</a:t>
            </a:r>
          </a:p>
          <a:p>
            <a:r>
              <a:rPr lang="ko-KR" altLang="en-US" dirty="0"/>
              <a:t>오른쪽 아래 화면처럼 실제 </a:t>
            </a:r>
            <a:r>
              <a:rPr lang="en-US" altLang="ko-KR" dirty="0"/>
              <a:t>/dev/model6_dma </a:t>
            </a:r>
            <a:r>
              <a:rPr lang="ko-KR" altLang="en-US" dirty="0"/>
              <a:t>장치와 </a:t>
            </a:r>
            <a:r>
              <a:rPr lang="en-US" altLang="ko-KR" dirty="0"/>
              <a:t>Model6 </a:t>
            </a:r>
            <a:r>
              <a:rPr lang="en-US" altLang="ko-KR" dirty="0" err="1"/>
              <a:t>Fpga</a:t>
            </a:r>
            <a:r>
              <a:rPr lang="en-US" altLang="ko-KR" dirty="0"/>
              <a:t> </a:t>
            </a:r>
            <a:r>
              <a:rPr lang="ko-KR" altLang="en-US" dirty="0"/>
              <a:t>호출을 확인해서 단순 소프트웨어 실행이 아니라 실제 </a:t>
            </a:r>
            <a:r>
              <a:rPr lang="en-US" altLang="ko-KR" dirty="0"/>
              <a:t>FPGA</a:t>
            </a:r>
            <a:r>
              <a:rPr lang="ko-KR" altLang="en-US" dirty="0"/>
              <a:t>와 연동된 것을 확인했습니다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08E92029-F171-4FE6-AED7-3AF13C61E2E4}" type="slidenum">
              <a:rPr lang="en-US" altLang="ko-KR" smtClean="0"/>
              <a:t>33</a:t>
            </a:fld>
            <a:endParaRPr lang="ko-KR" altLang="en-US"/>
          </a:p>
        </p:txBody>
      </p:sp>
    </p:spTree>
    <p:extLst>
      <p:ext uri="{BB962C8B-B14F-4D97-AF65-F5344CB8AC3E}">
        <p14:creationId xmlns:p14="http://schemas.microsoft.com/office/powerpoint/2010/main" val="17375266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다음으로는 소프트웨어 측에서 확인된 병목과 개선 사항에 대해 말씀드리겠습니다</a:t>
            </a:r>
            <a:r>
              <a:rPr lang="en-US" altLang="ko-KR" dirty="0"/>
              <a:t>.</a:t>
            </a:r>
          </a:p>
          <a:p>
            <a:r>
              <a:rPr lang="ko-KR" altLang="en-US" dirty="0"/>
              <a:t>첫번째로</a:t>
            </a:r>
            <a:r>
              <a:rPr lang="en-US" altLang="ko-KR" dirty="0"/>
              <a:t>, FPGA </a:t>
            </a:r>
            <a:r>
              <a:rPr lang="ko-KR" altLang="en-US" dirty="0"/>
              <a:t>연동 과정에서 </a:t>
            </a:r>
            <a:r>
              <a:rPr lang="en-US" altLang="ko-KR" dirty="0"/>
              <a:t>DMA Timeout </a:t>
            </a:r>
            <a:r>
              <a:rPr lang="ko-KR" altLang="en-US" dirty="0"/>
              <a:t>문제가 발생했습니다</a:t>
            </a:r>
            <a:r>
              <a:rPr lang="en-US" altLang="ko-KR" dirty="0"/>
              <a:t>.</a:t>
            </a:r>
          </a:p>
          <a:p>
            <a:r>
              <a:rPr lang="ko-KR" altLang="en-US" dirty="0"/>
              <a:t>원인은 입력은 </a:t>
            </a:r>
            <a:r>
              <a:rPr lang="en-US" altLang="ko-KR" dirty="0"/>
              <a:t>FPGA</a:t>
            </a:r>
            <a:r>
              <a:rPr lang="ko-KR" altLang="en-US" dirty="0"/>
              <a:t>로 보내고 있었지만</a:t>
            </a:r>
            <a:r>
              <a:rPr lang="en-US" altLang="ko-KR" dirty="0"/>
              <a:t>, FPGA</a:t>
            </a:r>
            <a:r>
              <a:rPr lang="ko-KR" altLang="en-US" dirty="0"/>
              <a:t>의 결과를 받을 </a:t>
            </a:r>
            <a:r>
              <a:rPr lang="en-US" altLang="ko-KR" dirty="0"/>
              <a:t>S2MM</a:t>
            </a:r>
            <a:r>
              <a:rPr lang="ko-KR" altLang="en-US" dirty="0"/>
              <a:t>이 아직 준비되지 않은 상태였기 때문입니다</a:t>
            </a:r>
            <a:r>
              <a:rPr lang="en-US" altLang="ko-KR" dirty="0"/>
              <a:t>.</a:t>
            </a:r>
          </a:p>
          <a:p>
            <a:r>
              <a:rPr lang="ko-KR" altLang="en-US" dirty="0"/>
              <a:t>그래서 </a:t>
            </a:r>
            <a:r>
              <a:rPr lang="en-US" altLang="ko-KR" dirty="0"/>
              <a:t>FPGA </a:t>
            </a:r>
            <a:r>
              <a:rPr lang="ko-KR" altLang="en-US" dirty="0"/>
              <a:t>출력이 막히면서 전체 데이터 흐름이 멈추는 문제가 발생했습니다</a:t>
            </a:r>
            <a:r>
              <a:rPr lang="en-US" altLang="ko-KR" dirty="0"/>
              <a:t>.</a:t>
            </a:r>
          </a:p>
          <a:p>
            <a:r>
              <a:rPr lang="ko-KR" altLang="en-US" dirty="0"/>
              <a:t>이를 해결하기 위해 </a:t>
            </a:r>
            <a:r>
              <a:rPr lang="en-US" altLang="ko-KR" dirty="0"/>
              <a:t>S2MM</a:t>
            </a:r>
            <a:r>
              <a:rPr lang="ko-KR" altLang="en-US" dirty="0"/>
              <a:t>을 먼저 준비한 뒤 </a:t>
            </a:r>
            <a:r>
              <a:rPr lang="en-US" altLang="ko-KR" dirty="0"/>
              <a:t>MM2S </a:t>
            </a:r>
            <a:r>
              <a:rPr lang="ko-KR" altLang="en-US" dirty="0"/>
              <a:t>입력 전송을 시작하도록 순서를 변경했습니다</a:t>
            </a:r>
            <a:r>
              <a:rPr lang="en-US" altLang="ko-KR" dirty="0"/>
              <a:t>. </a:t>
            </a:r>
          </a:p>
          <a:p>
            <a:r>
              <a:rPr lang="ko-KR" altLang="en-US" dirty="0"/>
              <a:t>즉</a:t>
            </a:r>
            <a:r>
              <a:rPr lang="en-US" altLang="ko-KR" dirty="0"/>
              <a:t>, </a:t>
            </a:r>
            <a:r>
              <a:rPr lang="ko-KR" altLang="en-US" dirty="0"/>
              <a:t>입력을 보내기 전에 출력을 받을 준비를 먼저 하도록 변경해서 </a:t>
            </a:r>
            <a:r>
              <a:rPr lang="en-US" altLang="ko-KR" dirty="0"/>
              <a:t>DMA Timeout</a:t>
            </a:r>
            <a:r>
              <a:rPr lang="ko-KR" altLang="en-US" dirty="0"/>
              <a:t>과 </a:t>
            </a:r>
            <a:r>
              <a:rPr lang="en-US" altLang="ko-KR" dirty="0"/>
              <a:t>Deadlock </a:t>
            </a:r>
            <a:r>
              <a:rPr lang="ko-KR" altLang="en-US" dirty="0"/>
              <a:t>문제를 해결할 수 있었습니다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08E92029-F171-4FE6-AED7-3AF13C61E2E4}" type="slidenum">
              <a:rPr lang="en-US" altLang="ko-KR" smtClean="0"/>
              <a:t>34</a:t>
            </a:fld>
            <a:endParaRPr lang="ko-KR" altLang="en-US"/>
          </a:p>
        </p:txBody>
      </p:sp>
    </p:spTree>
    <p:extLst>
      <p:ext uri="{BB962C8B-B14F-4D97-AF65-F5344CB8AC3E}">
        <p14:creationId xmlns:p14="http://schemas.microsoft.com/office/powerpoint/2010/main" val="6678605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두번째는 </a:t>
            </a:r>
            <a:r>
              <a:rPr lang="en-US" altLang="ko-KR" dirty="0"/>
              <a:t>CPU–FPGA Frame Pipelining</a:t>
            </a:r>
            <a:r>
              <a:rPr lang="ko-KR" altLang="en-US" dirty="0"/>
              <a:t>입니다</a:t>
            </a:r>
            <a:r>
              <a:rPr lang="en-US" altLang="ko-KR" dirty="0"/>
              <a:t>. </a:t>
            </a:r>
          </a:p>
          <a:p>
            <a:r>
              <a:rPr lang="ko-KR" altLang="en-US" dirty="0"/>
              <a:t>기존에는 </a:t>
            </a:r>
            <a:r>
              <a:rPr lang="en-US" altLang="ko-KR" dirty="0"/>
              <a:t>FPGA</a:t>
            </a:r>
            <a:r>
              <a:rPr lang="ko-KR" altLang="en-US" dirty="0"/>
              <a:t>가 한 프레임을 처리하는 동안 </a:t>
            </a:r>
            <a:r>
              <a:rPr lang="en-US" altLang="ko-KR" dirty="0"/>
              <a:t>CPU</a:t>
            </a:r>
            <a:r>
              <a:rPr lang="ko-KR" altLang="en-US" dirty="0"/>
              <a:t>가 기다리는 시간이 있었습니다</a:t>
            </a:r>
            <a:r>
              <a:rPr lang="en-US" altLang="ko-KR" dirty="0"/>
              <a:t>. </a:t>
            </a:r>
          </a:p>
          <a:p>
            <a:r>
              <a:rPr lang="ko-KR" altLang="en-US" dirty="0"/>
              <a:t>이를 개선해서</a:t>
            </a:r>
            <a:r>
              <a:rPr lang="en-US" altLang="ko-KR" dirty="0"/>
              <a:t>, FPGA</a:t>
            </a:r>
            <a:r>
              <a:rPr lang="ko-KR" altLang="en-US" dirty="0"/>
              <a:t>가 현재 프레임을 처리하는 동안 </a:t>
            </a:r>
            <a:r>
              <a:rPr lang="en-US" altLang="ko-KR" dirty="0"/>
              <a:t>CPU</a:t>
            </a:r>
            <a:r>
              <a:rPr lang="ko-KR" altLang="en-US" dirty="0"/>
              <a:t>는 다음 프레임을 미리 처리하도록 구성했습니다</a:t>
            </a:r>
            <a:r>
              <a:rPr lang="en-US" altLang="ko-KR" dirty="0"/>
              <a:t>. </a:t>
            </a:r>
          </a:p>
          <a:p>
            <a:r>
              <a:rPr lang="ko-KR" altLang="en-US" dirty="0"/>
              <a:t>이렇게 </a:t>
            </a:r>
            <a:r>
              <a:rPr lang="en-US" altLang="ko-KR" dirty="0"/>
              <a:t>CPU</a:t>
            </a:r>
            <a:r>
              <a:rPr lang="ko-KR" altLang="en-US" dirty="0"/>
              <a:t>와 </a:t>
            </a:r>
            <a:r>
              <a:rPr lang="en-US" altLang="ko-KR" dirty="0"/>
              <a:t>FPGA</a:t>
            </a:r>
            <a:r>
              <a:rPr lang="ko-KR" altLang="en-US" dirty="0"/>
              <a:t>가 동시에 동작하도록 수정해서 불필요한 대기 시간을 줄였습니다</a:t>
            </a:r>
            <a:endParaRPr lang="en-US" altLang="ko-KR" dirty="0"/>
          </a:p>
          <a:p>
            <a:endParaRPr lang="en-US" altLang="ko-KR" dirty="0"/>
          </a:p>
        </p:txBody>
      </p:sp>
      <p:sp>
        <p:nvSpPr>
          <p:cNvPr id="4" name="슬라이드 번호 개체 틀 3"/>
          <p:cNvSpPr>
            <a:spLocks noGrp="1"/>
          </p:cNvSpPr>
          <p:nvPr>
            <p:ph type="sldNum" sz="quarter" idx="5"/>
          </p:nvPr>
        </p:nvSpPr>
        <p:spPr/>
        <p:txBody>
          <a:bodyPr/>
          <a:lstStyle/>
          <a:p>
            <a:fld id="{08E92029-F171-4FE6-AED7-3AF13C61E2E4}" type="slidenum">
              <a:rPr lang="en-US" altLang="ko-KR" smtClean="0"/>
              <a:t>35</a:t>
            </a:fld>
            <a:endParaRPr lang="ko-KR" altLang="en-US"/>
          </a:p>
        </p:txBody>
      </p:sp>
    </p:spTree>
    <p:extLst>
      <p:ext uri="{BB962C8B-B14F-4D97-AF65-F5344CB8AC3E}">
        <p14:creationId xmlns:p14="http://schemas.microsoft.com/office/powerpoint/2010/main" val="20857162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다음은 설계한 </a:t>
            </a:r>
            <a:r>
              <a:rPr lang="en-US" altLang="ko-KR" dirty="0"/>
              <a:t>FPGA </a:t>
            </a:r>
            <a:r>
              <a:rPr lang="ko-KR" altLang="en-US" dirty="0"/>
              <a:t>가속기를 실제 </a:t>
            </a:r>
            <a:r>
              <a:rPr lang="en-US" altLang="ko-KR" dirty="0"/>
              <a:t>YOLOv8n</a:t>
            </a:r>
            <a:r>
              <a:rPr lang="ko-KR" altLang="en-US" dirty="0"/>
              <a:t>에 적용한 구조와</a:t>
            </a:r>
            <a:r>
              <a:rPr lang="en-US" altLang="ko-KR" dirty="0"/>
              <a:t>, </a:t>
            </a:r>
            <a:r>
              <a:rPr lang="ko-KR" altLang="en-US" dirty="0"/>
              <a:t>적용 과정에서 개선한 부분에 대해 </a:t>
            </a:r>
            <a:r>
              <a:rPr lang="ko-KR" altLang="en-US" dirty="0" err="1"/>
              <a:t>설명드리겠습니다</a:t>
            </a:r>
            <a:r>
              <a:rPr lang="en-US" altLang="ko-KR" dirty="0"/>
              <a:t>. </a:t>
            </a:r>
          </a:p>
          <a:p>
            <a:endParaRPr lang="en-US" altLang="ko-KR" dirty="0"/>
          </a:p>
          <a:p>
            <a:r>
              <a:rPr lang="ko-KR" altLang="en-US" dirty="0"/>
              <a:t>먼저 </a:t>
            </a:r>
            <a:r>
              <a:rPr lang="en-US" altLang="ko-KR" dirty="0"/>
              <a:t>PS</a:t>
            </a:r>
            <a:r>
              <a:rPr lang="ko-KR" altLang="en-US" dirty="0"/>
              <a:t>에서 </a:t>
            </a:r>
            <a:r>
              <a:rPr lang="en-US" altLang="ko-KR" dirty="0"/>
              <a:t>YOLO Layer 0</a:t>
            </a:r>
            <a:r>
              <a:rPr lang="ko-KR" altLang="en-US" dirty="0"/>
              <a:t>부터 </a:t>
            </a:r>
            <a:r>
              <a:rPr lang="en-US" altLang="ko-KR" dirty="0"/>
              <a:t>5</a:t>
            </a:r>
            <a:r>
              <a:rPr lang="ko-KR" altLang="en-US" dirty="0"/>
              <a:t>까지 처리한 뒤</a:t>
            </a:r>
            <a:r>
              <a:rPr lang="en-US" altLang="ko-KR" dirty="0"/>
              <a:t>, </a:t>
            </a:r>
            <a:r>
              <a:rPr lang="ko-KR" altLang="en-US" dirty="0"/>
              <a:t>생성된 데이터를 </a:t>
            </a:r>
            <a:r>
              <a:rPr lang="en-US" altLang="ko-KR" dirty="0"/>
              <a:t>FPGA</a:t>
            </a:r>
            <a:r>
              <a:rPr lang="ko-KR" altLang="en-US" dirty="0"/>
              <a:t>로 전달해서 </a:t>
            </a:r>
            <a:r>
              <a:rPr lang="en-US" altLang="ko-KR" dirty="0"/>
              <a:t>model.6</a:t>
            </a:r>
            <a:r>
              <a:rPr lang="ko-KR" altLang="en-US" dirty="0"/>
              <a:t>의 </a:t>
            </a:r>
            <a:r>
              <a:rPr lang="en-US" altLang="ko-KR" dirty="0"/>
              <a:t>C2f </a:t>
            </a:r>
            <a:r>
              <a:rPr lang="ko-KR" altLang="en-US" dirty="0"/>
              <a:t>연산을 수행했습니다</a:t>
            </a:r>
            <a:r>
              <a:rPr lang="en-US" altLang="ko-KR" dirty="0"/>
              <a:t>. </a:t>
            </a:r>
          </a:p>
          <a:p>
            <a:r>
              <a:rPr lang="en-US" altLang="ko-KR" dirty="0"/>
              <a:t>FPGA </a:t>
            </a:r>
            <a:r>
              <a:rPr lang="ko-KR" altLang="en-US" dirty="0"/>
              <a:t>자원 문제로 제외한 </a:t>
            </a:r>
            <a:r>
              <a:rPr lang="en-US" altLang="ko-KR" dirty="0"/>
              <a:t>cv2</a:t>
            </a:r>
            <a:r>
              <a:rPr lang="ko-KR" altLang="en-US" dirty="0"/>
              <a:t>와 이후 연산은 다시 </a:t>
            </a:r>
            <a:r>
              <a:rPr lang="en-US" altLang="ko-KR" dirty="0"/>
              <a:t>PS</a:t>
            </a:r>
            <a:r>
              <a:rPr lang="ko-KR" altLang="en-US" dirty="0"/>
              <a:t>에서 처리했습니다</a:t>
            </a:r>
            <a:r>
              <a:rPr lang="en-US" altLang="ko-KR" dirty="0"/>
              <a:t>. </a:t>
            </a:r>
          </a:p>
          <a:p>
            <a:endParaRPr lang="en-US" altLang="ko-KR" dirty="0"/>
          </a:p>
          <a:p>
            <a:endParaRPr lang="en-US" altLang="ko-KR" dirty="0"/>
          </a:p>
          <a:p>
            <a:r>
              <a:rPr lang="ko-KR" altLang="en-US" dirty="0"/>
              <a:t>또한 기존에는 </a:t>
            </a:r>
            <a:r>
              <a:rPr lang="en-US" altLang="ko-KR" dirty="0"/>
              <a:t>FPGA </a:t>
            </a:r>
            <a:r>
              <a:rPr lang="ko-KR" altLang="en-US" dirty="0"/>
              <a:t>설계 단계에서 이미 </a:t>
            </a:r>
            <a:r>
              <a:rPr lang="en-US" altLang="ko-KR" dirty="0"/>
              <a:t>Calibration</a:t>
            </a:r>
            <a:r>
              <a:rPr lang="ko-KR" altLang="en-US" dirty="0"/>
              <a:t>이 되어 있었는데 </a:t>
            </a:r>
            <a:r>
              <a:rPr lang="en-US" altLang="ko-KR" dirty="0"/>
              <a:t>SW</a:t>
            </a:r>
            <a:r>
              <a:rPr lang="ko-KR" altLang="en-US" dirty="0"/>
              <a:t>에서 다시 </a:t>
            </a:r>
            <a:r>
              <a:rPr lang="en-US" altLang="ko-KR" dirty="0"/>
              <a:t>Calibration</a:t>
            </a:r>
            <a:r>
              <a:rPr lang="ko-KR" altLang="en-US" dirty="0"/>
              <a:t>을 적용하는 중복 문제가 있었습니다</a:t>
            </a:r>
            <a:r>
              <a:rPr lang="en-US" altLang="ko-KR" dirty="0"/>
              <a:t>. </a:t>
            </a:r>
            <a:r>
              <a:rPr lang="ko-KR" altLang="en-US" dirty="0"/>
              <a:t>교수님 피드백을 반영해 별도의 추가 </a:t>
            </a:r>
            <a:r>
              <a:rPr lang="en-US" altLang="ko-KR" dirty="0"/>
              <a:t>Calibration</a:t>
            </a:r>
            <a:r>
              <a:rPr lang="ko-KR" altLang="en-US" dirty="0"/>
              <a:t>은 제거하고</a:t>
            </a:r>
            <a:r>
              <a:rPr lang="en-US" altLang="ko-KR" dirty="0"/>
              <a:t>, FPGA </a:t>
            </a:r>
            <a:r>
              <a:rPr lang="ko-KR" altLang="en-US" dirty="0"/>
              <a:t>설계 단계에서 </a:t>
            </a:r>
            <a:r>
              <a:rPr lang="ko-KR" altLang="en-US" dirty="0" err="1"/>
              <a:t>정해둔</a:t>
            </a:r>
            <a:r>
              <a:rPr lang="ko-KR" altLang="en-US" dirty="0"/>
              <a:t> 기존 값을 그대로 사용하도록 수정했습니다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08E92029-F171-4FE6-AED7-3AF13C61E2E4}" type="slidenum">
              <a:rPr lang="en-US" altLang="ko-KR" smtClean="0"/>
              <a:t>36</a:t>
            </a:fld>
            <a:endParaRPr lang="ko-KR" altLang="en-US"/>
          </a:p>
        </p:txBody>
      </p:sp>
    </p:spTree>
    <p:extLst>
      <p:ext uri="{BB962C8B-B14F-4D97-AF65-F5344CB8AC3E}">
        <p14:creationId xmlns:p14="http://schemas.microsoft.com/office/powerpoint/2010/main" val="12220818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마지막으로 실제 </a:t>
            </a:r>
            <a:r>
              <a:rPr lang="en-US" altLang="ko-KR" dirty="0"/>
              <a:t>Webcam</a:t>
            </a:r>
            <a:r>
              <a:rPr lang="ko-KR" altLang="en-US" dirty="0"/>
              <a:t>을 이용해 </a:t>
            </a:r>
            <a:r>
              <a:rPr lang="en-US" altLang="ko-KR" dirty="0"/>
              <a:t>PPE Detection</a:t>
            </a:r>
            <a:r>
              <a:rPr lang="ko-KR" altLang="en-US" dirty="0"/>
              <a:t>이 정상적으로 동작하는 것을 확인했습니다</a:t>
            </a:r>
            <a:r>
              <a:rPr lang="en-US" altLang="ko-KR" dirty="0"/>
              <a:t>. </a:t>
            </a:r>
          </a:p>
          <a:p>
            <a:r>
              <a:rPr lang="ko-KR" altLang="en-US" dirty="0"/>
              <a:t>최종 평균 추론 성능은 약 </a:t>
            </a:r>
            <a:r>
              <a:rPr lang="en-US" altLang="ko-KR" dirty="0"/>
              <a:t>1.93 FPS</a:t>
            </a:r>
            <a:r>
              <a:rPr lang="ko-KR" altLang="en-US" dirty="0"/>
              <a:t>였으며</a:t>
            </a:r>
            <a:r>
              <a:rPr lang="en-US" altLang="ko-KR" dirty="0"/>
              <a:t>, SW </a:t>
            </a:r>
            <a:r>
              <a:rPr lang="ko-KR" altLang="en-US" dirty="0"/>
              <a:t>구현 및 </a:t>
            </a:r>
            <a:r>
              <a:rPr lang="en-US" altLang="ko-KR" dirty="0"/>
              <a:t>, FPGA </a:t>
            </a:r>
            <a:r>
              <a:rPr lang="ko-KR" altLang="en-US" dirty="0"/>
              <a:t>가속기를 포함한 시스템 통합에 성공했습니다</a:t>
            </a:r>
            <a:r>
              <a:rPr lang="en-US" altLang="ko-KR" dirty="0"/>
              <a:t>.</a:t>
            </a:r>
          </a:p>
          <a:p>
            <a:r>
              <a:rPr lang="ko-KR" altLang="en-US" dirty="0"/>
              <a:t>감사합니다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08E92029-F171-4FE6-AED7-3AF13C61E2E4}" type="slidenum">
              <a:rPr lang="en-US" altLang="ko-KR" smtClean="0"/>
              <a:t>37</a:t>
            </a:fld>
            <a:endParaRPr lang="ko-KR" altLang="en-US"/>
          </a:p>
        </p:txBody>
      </p:sp>
    </p:spTree>
    <p:extLst>
      <p:ext uri="{BB962C8B-B14F-4D97-AF65-F5344CB8AC3E}">
        <p14:creationId xmlns:p14="http://schemas.microsoft.com/office/powerpoint/2010/main" val="10946444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6A3F9-7BFE-0A6E-A2F0-D8710A393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EDF446-62FD-967D-B25D-C128282A9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EA474E-E36B-B6E0-4529-980C1DFC6C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043F51-C187-1014-8D81-CE5EFF061208}"/>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4625431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51560"/>
            <a:ext cx="11094415" cy="822960"/>
          </a:xfrm>
          <a:prstGeom prst="rect">
            <a:avLst/>
          </a:prstGeom>
          <a:noFill/>
          <a:ln/>
        </p:spPr>
        <p:txBody>
          <a:bodyPr wrap="square" lIns="0" tIns="0" rIns="0" bIns="0" rtlCol="0" anchor="ctr"/>
          <a:lstStyle/>
          <a:p>
            <a:pPr marL="0" indent="0" algn="ctr">
              <a:buNone/>
            </a:pPr>
            <a:r>
              <a:rPr lang="en-US" sz="4000" b="1">
                <a:solidFill>
                  <a:srgbClr val="1F3B66"/>
                </a:solidFill>
                <a:latin typeface="Arial" pitchFamily="34" charset="0"/>
                <a:ea typeface="Arial" pitchFamily="34" charset="-122"/>
                <a:cs typeface="Arial" pitchFamily="34" charset="-120"/>
              </a:rPr>
              <a:t>AI HARDWARE ACCELERATOR</a:t>
            </a:r>
            <a:endParaRPr lang="en-US" sz="4000"/>
          </a:p>
        </p:txBody>
      </p:sp>
      <p:sp>
        <p:nvSpPr>
          <p:cNvPr id="3" name="Text 1"/>
          <p:cNvSpPr/>
          <p:nvPr/>
        </p:nvSpPr>
        <p:spPr>
          <a:xfrm>
            <a:off x="548640" y="1874520"/>
            <a:ext cx="11094415" cy="502920"/>
          </a:xfrm>
          <a:prstGeom prst="rect">
            <a:avLst/>
          </a:prstGeom>
          <a:noFill/>
          <a:ln/>
        </p:spPr>
        <p:txBody>
          <a:bodyPr wrap="square" lIns="0" tIns="0" rIns="0" bIns="0" rtlCol="0" anchor="ctr"/>
          <a:lstStyle/>
          <a:p>
            <a:pPr marL="0" indent="0" algn="ctr">
              <a:buNone/>
            </a:pPr>
            <a:r>
              <a:rPr lang="en-US" sz="2000" b="1" i="1">
                <a:solidFill>
                  <a:srgbClr val="C25A1E"/>
                </a:solidFill>
                <a:latin typeface="Arial" pitchFamily="34" charset="0"/>
                <a:ea typeface="Arial" pitchFamily="34" charset="-122"/>
                <a:cs typeface="Arial" pitchFamily="34" charset="-120"/>
              </a:rPr>
              <a:t>Implementing YOLOv8n C2F Block</a:t>
            </a:r>
            <a:endParaRPr lang="en-US" sz="2000"/>
          </a:p>
        </p:txBody>
      </p:sp>
      <p:grpSp>
        <p:nvGrpSpPr>
          <p:cNvPr id="50" name="그룹 49">
            <a:extLst>
              <a:ext uri="{FF2B5EF4-FFF2-40B4-BE49-F238E27FC236}">
                <a16:creationId xmlns:a16="http://schemas.microsoft.com/office/drawing/2014/main" id="{8B5A37C3-39DD-FFFA-5A3F-55F1922F7E52}"/>
              </a:ext>
            </a:extLst>
          </p:cNvPr>
          <p:cNvGrpSpPr/>
          <p:nvPr/>
        </p:nvGrpSpPr>
        <p:grpSpPr>
          <a:xfrm>
            <a:off x="6893118" y="3099598"/>
            <a:ext cx="1444752" cy="1444752"/>
            <a:chOff x="3681832" y="3072384"/>
            <a:chExt cx="1444752" cy="1444752"/>
          </a:xfrm>
        </p:grpSpPr>
        <p:sp>
          <p:nvSpPr>
            <p:cNvPr id="4" name="Shape 2"/>
            <p:cNvSpPr/>
            <p:nvPr/>
          </p:nvSpPr>
          <p:spPr>
            <a:xfrm>
              <a:off x="3809848" y="3200400"/>
              <a:ext cx="1188720" cy="1188720"/>
            </a:xfrm>
            <a:prstGeom prst="roundRect">
              <a:avLst>
                <a:gd name="adj" fmla="val 9231"/>
              </a:avLst>
            </a:prstGeom>
            <a:solidFill>
              <a:srgbClr val="2E3B52"/>
            </a:solidFill>
            <a:ln w="12700">
              <a:solidFill>
                <a:srgbClr val="2E3B52"/>
              </a:solidFill>
              <a:prstDash val="solid"/>
            </a:ln>
          </p:spPr>
        </p:sp>
        <p:sp>
          <p:nvSpPr>
            <p:cNvPr id="5" name="Shape 3"/>
            <p:cNvSpPr/>
            <p:nvPr/>
          </p:nvSpPr>
          <p:spPr>
            <a:xfrm>
              <a:off x="4002380" y="3392932"/>
              <a:ext cx="785512" cy="785513"/>
            </a:xfrm>
            <a:prstGeom prst="rect">
              <a:avLst/>
            </a:prstGeom>
            <a:ln w="19050">
              <a:solidFill>
                <a:srgbClr val="FFFFFF"/>
              </a:solidFill>
              <a:prstDash val="solid"/>
            </a:ln>
          </p:spPr>
        </p:sp>
        <p:sp>
          <p:nvSpPr>
            <p:cNvPr id="6" name="Shape 4"/>
            <p:cNvSpPr/>
            <p:nvPr/>
          </p:nvSpPr>
          <p:spPr>
            <a:xfrm>
              <a:off x="4011016" y="3072384"/>
              <a:ext cx="0" cy="128016"/>
            </a:xfrm>
            <a:prstGeom prst="line">
              <a:avLst/>
            </a:prstGeom>
            <a:noFill/>
            <a:ln w="31750">
              <a:solidFill>
                <a:srgbClr val="2E3B52"/>
              </a:solidFill>
              <a:prstDash val="solid"/>
            </a:ln>
          </p:spPr>
        </p:sp>
        <p:sp>
          <p:nvSpPr>
            <p:cNvPr id="7" name="Shape 5"/>
            <p:cNvSpPr/>
            <p:nvPr/>
          </p:nvSpPr>
          <p:spPr>
            <a:xfrm>
              <a:off x="4207612" y="3072384"/>
              <a:ext cx="0" cy="128016"/>
            </a:xfrm>
            <a:prstGeom prst="line">
              <a:avLst/>
            </a:prstGeom>
            <a:noFill/>
            <a:ln w="31750">
              <a:solidFill>
                <a:srgbClr val="2E3B52"/>
              </a:solidFill>
              <a:prstDash val="solid"/>
            </a:ln>
          </p:spPr>
        </p:sp>
        <p:sp>
          <p:nvSpPr>
            <p:cNvPr id="8" name="Shape 6"/>
            <p:cNvSpPr/>
            <p:nvPr/>
          </p:nvSpPr>
          <p:spPr>
            <a:xfrm>
              <a:off x="4404208" y="3072384"/>
              <a:ext cx="0" cy="128016"/>
            </a:xfrm>
            <a:prstGeom prst="line">
              <a:avLst/>
            </a:prstGeom>
            <a:noFill/>
            <a:ln w="31750">
              <a:solidFill>
                <a:srgbClr val="2E3B52"/>
              </a:solidFill>
              <a:prstDash val="solid"/>
            </a:ln>
          </p:spPr>
        </p:sp>
        <p:sp>
          <p:nvSpPr>
            <p:cNvPr id="9" name="Shape 7"/>
            <p:cNvSpPr/>
            <p:nvPr/>
          </p:nvSpPr>
          <p:spPr>
            <a:xfrm>
              <a:off x="4600804" y="3072384"/>
              <a:ext cx="0" cy="128016"/>
            </a:xfrm>
            <a:prstGeom prst="line">
              <a:avLst/>
            </a:prstGeom>
            <a:noFill/>
            <a:ln w="31750">
              <a:solidFill>
                <a:srgbClr val="2E3B52"/>
              </a:solidFill>
              <a:prstDash val="solid"/>
            </a:ln>
          </p:spPr>
        </p:sp>
        <p:sp>
          <p:nvSpPr>
            <p:cNvPr id="10" name="Shape 8"/>
            <p:cNvSpPr/>
            <p:nvPr/>
          </p:nvSpPr>
          <p:spPr>
            <a:xfrm>
              <a:off x="4797400" y="3072384"/>
              <a:ext cx="0" cy="128016"/>
            </a:xfrm>
            <a:prstGeom prst="line">
              <a:avLst/>
            </a:prstGeom>
            <a:noFill/>
            <a:ln w="31750">
              <a:solidFill>
                <a:srgbClr val="2E3B52"/>
              </a:solidFill>
              <a:prstDash val="solid"/>
            </a:ln>
          </p:spPr>
        </p:sp>
        <p:sp>
          <p:nvSpPr>
            <p:cNvPr id="11" name="Shape 9"/>
            <p:cNvSpPr/>
            <p:nvPr/>
          </p:nvSpPr>
          <p:spPr>
            <a:xfrm>
              <a:off x="4011016" y="4389120"/>
              <a:ext cx="0" cy="128016"/>
            </a:xfrm>
            <a:prstGeom prst="line">
              <a:avLst/>
            </a:prstGeom>
            <a:noFill/>
            <a:ln w="31750">
              <a:solidFill>
                <a:srgbClr val="2E3B52"/>
              </a:solidFill>
              <a:prstDash val="solid"/>
            </a:ln>
          </p:spPr>
        </p:sp>
        <p:sp>
          <p:nvSpPr>
            <p:cNvPr id="12" name="Shape 10"/>
            <p:cNvSpPr/>
            <p:nvPr/>
          </p:nvSpPr>
          <p:spPr>
            <a:xfrm>
              <a:off x="4207612" y="4389120"/>
              <a:ext cx="0" cy="128016"/>
            </a:xfrm>
            <a:prstGeom prst="line">
              <a:avLst/>
            </a:prstGeom>
            <a:noFill/>
            <a:ln w="31750">
              <a:solidFill>
                <a:srgbClr val="2E3B52"/>
              </a:solidFill>
              <a:prstDash val="solid"/>
            </a:ln>
          </p:spPr>
        </p:sp>
        <p:sp>
          <p:nvSpPr>
            <p:cNvPr id="13" name="Shape 11"/>
            <p:cNvSpPr/>
            <p:nvPr/>
          </p:nvSpPr>
          <p:spPr>
            <a:xfrm>
              <a:off x="4404208" y="4389120"/>
              <a:ext cx="0" cy="128016"/>
            </a:xfrm>
            <a:prstGeom prst="line">
              <a:avLst/>
            </a:prstGeom>
            <a:noFill/>
            <a:ln w="31750">
              <a:solidFill>
                <a:srgbClr val="2E3B52"/>
              </a:solidFill>
              <a:prstDash val="solid"/>
            </a:ln>
          </p:spPr>
        </p:sp>
        <p:sp>
          <p:nvSpPr>
            <p:cNvPr id="14" name="Shape 12"/>
            <p:cNvSpPr/>
            <p:nvPr/>
          </p:nvSpPr>
          <p:spPr>
            <a:xfrm>
              <a:off x="4600804" y="4389120"/>
              <a:ext cx="0" cy="128016"/>
            </a:xfrm>
            <a:prstGeom prst="line">
              <a:avLst/>
            </a:prstGeom>
            <a:noFill/>
            <a:ln w="31750">
              <a:solidFill>
                <a:srgbClr val="2E3B52"/>
              </a:solidFill>
              <a:prstDash val="solid"/>
            </a:ln>
          </p:spPr>
        </p:sp>
        <p:sp>
          <p:nvSpPr>
            <p:cNvPr id="15" name="Shape 13"/>
            <p:cNvSpPr/>
            <p:nvPr/>
          </p:nvSpPr>
          <p:spPr>
            <a:xfrm>
              <a:off x="4797400" y="4389120"/>
              <a:ext cx="0" cy="128016"/>
            </a:xfrm>
            <a:prstGeom prst="line">
              <a:avLst/>
            </a:prstGeom>
            <a:noFill/>
            <a:ln w="31750">
              <a:solidFill>
                <a:srgbClr val="2E3B52"/>
              </a:solidFill>
              <a:prstDash val="solid"/>
            </a:ln>
          </p:spPr>
        </p:sp>
        <p:sp>
          <p:nvSpPr>
            <p:cNvPr id="16" name="Shape 14"/>
            <p:cNvSpPr/>
            <p:nvPr/>
          </p:nvSpPr>
          <p:spPr>
            <a:xfrm>
              <a:off x="3681832" y="3401568"/>
              <a:ext cx="128016" cy="0"/>
            </a:xfrm>
            <a:prstGeom prst="line">
              <a:avLst/>
            </a:prstGeom>
            <a:noFill/>
            <a:ln w="31750">
              <a:solidFill>
                <a:srgbClr val="2E3B52"/>
              </a:solidFill>
              <a:prstDash val="solid"/>
            </a:ln>
          </p:spPr>
        </p:sp>
        <p:sp>
          <p:nvSpPr>
            <p:cNvPr id="17" name="Shape 15"/>
            <p:cNvSpPr/>
            <p:nvPr/>
          </p:nvSpPr>
          <p:spPr>
            <a:xfrm>
              <a:off x="3681832" y="3598164"/>
              <a:ext cx="128016" cy="0"/>
            </a:xfrm>
            <a:prstGeom prst="line">
              <a:avLst/>
            </a:prstGeom>
            <a:noFill/>
            <a:ln w="31750">
              <a:solidFill>
                <a:srgbClr val="2E3B52"/>
              </a:solidFill>
              <a:prstDash val="solid"/>
            </a:ln>
          </p:spPr>
        </p:sp>
        <p:sp>
          <p:nvSpPr>
            <p:cNvPr id="18" name="Shape 16"/>
            <p:cNvSpPr/>
            <p:nvPr/>
          </p:nvSpPr>
          <p:spPr>
            <a:xfrm>
              <a:off x="3681832" y="3794760"/>
              <a:ext cx="128016" cy="0"/>
            </a:xfrm>
            <a:prstGeom prst="line">
              <a:avLst/>
            </a:prstGeom>
            <a:noFill/>
            <a:ln w="31750">
              <a:solidFill>
                <a:srgbClr val="2E3B52"/>
              </a:solidFill>
              <a:prstDash val="solid"/>
            </a:ln>
          </p:spPr>
        </p:sp>
        <p:sp>
          <p:nvSpPr>
            <p:cNvPr id="19" name="Shape 17"/>
            <p:cNvSpPr/>
            <p:nvPr/>
          </p:nvSpPr>
          <p:spPr>
            <a:xfrm>
              <a:off x="3681832" y="3991356"/>
              <a:ext cx="128016" cy="0"/>
            </a:xfrm>
            <a:prstGeom prst="line">
              <a:avLst/>
            </a:prstGeom>
            <a:noFill/>
            <a:ln w="31750">
              <a:solidFill>
                <a:srgbClr val="2E3B52"/>
              </a:solidFill>
              <a:prstDash val="solid"/>
            </a:ln>
          </p:spPr>
        </p:sp>
        <p:sp>
          <p:nvSpPr>
            <p:cNvPr id="20" name="Shape 18"/>
            <p:cNvSpPr/>
            <p:nvPr/>
          </p:nvSpPr>
          <p:spPr>
            <a:xfrm>
              <a:off x="3681832" y="4187952"/>
              <a:ext cx="128016" cy="0"/>
            </a:xfrm>
            <a:prstGeom prst="line">
              <a:avLst/>
            </a:prstGeom>
            <a:noFill/>
            <a:ln w="31750">
              <a:solidFill>
                <a:srgbClr val="2E3B52"/>
              </a:solidFill>
              <a:prstDash val="solid"/>
            </a:ln>
          </p:spPr>
        </p:sp>
        <p:sp>
          <p:nvSpPr>
            <p:cNvPr id="21" name="Shape 19"/>
            <p:cNvSpPr/>
            <p:nvPr/>
          </p:nvSpPr>
          <p:spPr>
            <a:xfrm>
              <a:off x="4998568" y="3401568"/>
              <a:ext cx="128016" cy="0"/>
            </a:xfrm>
            <a:prstGeom prst="line">
              <a:avLst/>
            </a:prstGeom>
            <a:noFill/>
            <a:ln w="31750">
              <a:solidFill>
                <a:srgbClr val="2E3B52"/>
              </a:solidFill>
              <a:prstDash val="solid"/>
            </a:ln>
          </p:spPr>
        </p:sp>
        <p:sp>
          <p:nvSpPr>
            <p:cNvPr id="22" name="Shape 20"/>
            <p:cNvSpPr/>
            <p:nvPr/>
          </p:nvSpPr>
          <p:spPr>
            <a:xfrm>
              <a:off x="4998568" y="3598164"/>
              <a:ext cx="128016" cy="0"/>
            </a:xfrm>
            <a:prstGeom prst="line">
              <a:avLst/>
            </a:prstGeom>
            <a:noFill/>
            <a:ln w="31750">
              <a:solidFill>
                <a:srgbClr val="2E3B52"/>
              </a:solidFill>
              <a:prstDash val="solid"/>
            </a:ln>
          </p:spPr>
        </p:sp>
        <p:sp>
          <p:nvSpPr>
            <p:cNvPr id="23" name="Shape 21"/>
            <p:cNvSpPr/>
            <p:nvPr/>
          </p:nvSpPr>
          <p:spPr>
            <a:xfrm>
              <a:off x="4998568" y="3794760"/>
              <a:ext cx="128016" cy="0"/>
            </a:xfrm>
            <a:prstGeom prst="line">
              <a:avLst/>
            </a:prstGeom>
            <a:noFill/>
            <a:ln w="31750">
              <a:solidFill>
                <a:srgbClr val="2E3B52"/>
              </a:solidFill>
              <a:prstDash val="solid"/>
            </a:ln>
          </p:spPr>
        </p:sp>
        <p:sp>
          <p:nvSpPr>
            <p:cNvPr id="24" name="Shape 22"/>
            <p:cNvSpPr/>
            <p:nvPr/>
          </p:nvSpPr>
          <p:spPr>
            <a:xfrm>
              <a:off x="4998568" y="3991356"/>
              <a:ext cx="128016" cy="0"/>
            </a:xfrm>
            <a:prstGeom prst="line">
              <a:avLst/>
            </a:prstGeom>
            <a:noFill/>
            <a:ln w="31750">
              <a:solidFill>
                <a:srgbClr val="2E3B52"/>
              </a:solidFill>
              <a:prstDash val="solid"/>
            </a:ln>
          </p:spPr>
        </p:sp>
        <p:sp>
          <p:nvSpPr>
            <p:cNvPr id="25" name="Shape 23"/>
            <p:cNvSpPr/>
            <p:nvPr/>
          </p:nvSpPr>
          <p:spPr>
            <a:xfrm>
              <a:off x="4998568" y="4187952"/>
              <a:ext cx="128016" cy="0"/>
            </a:xfrm>
            <a:prstGeom prst="line">
              <a:avLst/>
            </a:prstGeom>
            <a:noFill/>
            <a:ln w="31750">
              <a:solidFill>
                <a:srgbClr val="2E3B52"/>
              </a:solidFill>
              <a:prstDash val="solid"/>
            </a:ln>
          </p:spPr>
        </p:sp>
        <p:sp>
          <p:nvSpPr>
            <p:cNvPr id="26" name="Text 24"/>
            <p:cNvSpPr/>
            <p:nvPr/>
          </p:nvSpPr>
          <p:spPr>
            <a:xfrm>
              <a:off x="3809848" y="3200400"/>
              <a:ext cx="1188720" cy="1188720"/>
            </a:xfrm>
            <a:prstGeom prst="rect">
              <a:avLst/>
            </a:prstGeom>
            <a:noFill/>
            <a:ln/>
          </p:spPr>
          <p:txBody>
            <a:bodyPr wrap="square" lIns="0" tIns="0" rIns="0" bIns="0" rtlCol="0" anchor="ctr"/>
            <a:lstStyle/>
            <a:p>
              <a:pPr marL="0" indent="0" algn="ctr">
                <a:buNone/>
              </a:pPr>
              <a:r>
                <a:rPr lang="en-US" sz="2000" b="1">
                  <a:solidFill>
                    <a:srgbClr val="FFFFFF"/>
                  </a:solidFill>
                  <a:latin typeface="Arial"/>
                  <a:cs typeface="Arial"/>
                </a:rPr>
                <a:t>FPGA</a:t>
              </a:r>
            </a:p>
          </p:txBody>
        </p:sp>
      </p:grpSp>
      <p:sp>
        <p:nvSpPr>
          <p:cNvPr id="27" name="Shape 25"/>
          <p:cNvSpPr/>
          <p:nvPr/>
        </p:nvSpPr>
        <p:spPr>
          <a:xfrm>
            <a:off x="5599822" y="3657237"/>
            <a:ext cx="822960" cy="365760"/>
          </a:xfrm>
          <a:prstGeom prst="rightArrow">
            <a:avLst/>
          </a:prstGeom>
          <a:solidFill>
            <a:srgbClr val="AAB2BD"/>
          </a:solidFill>
          <a:ln/>
        </p:spPr>
      </p:sp>
      <p:sp>
        <p:nvSpPr>
          <p:cNvPr id="47" name="Shape 45"/>
          <p:cNvSpPr/>
          <p:nvPr/>
        </p:nvSpPr>
        <p:spPr>
          <a:xfrm>
            <a:off x="2286000" y="5806440"/>
            <a:ext cx="7619695" cy="0"/>
          </a:xfrm>
          <a:prstGeom prst="line">
            <a:avLst/>
          </a:prstGeom>
          <a:noFill/>
          <a:ln w="12700">
            <a:solidFill>
              <a:srgbClr val="C9CDD4"/>
            </a:solidFill>
            <a:prstDash val="solid"/>
          </a:ln>
        </p:spPr>
      </p:sp>
      <p:sp>
        <p:nvSpPr>
          <p:cNvPr id="48" name="Text 46"/>
          <p:cNvSpPr/>
          <p:nvPr/>
        </p:nvSpPr>
        <p:spPr>
          <a:xfrm>
            <a:off x="548640" y="5943600"/>
            <a:ext cx="11094415" cy="365760"/>
          </a:xfrm>
          <a:prstGeom prst="rect">
            <a:avLst/>
          </a:prstGeom>
          <a:noFill/>
          <a:ln/>
        </p:spPr>
        <p:txBody>
          <a:bodyPr wrap="square" lIns="0" tIns="0" rIns="0" bIns="0" rtlCol="0" anchor="ctr"/>
          <a:lstStyle/>
          <a:p>
            <a:pPr algn="ctr"/>
            <a:r>
              <a:rPr lang="ko-KR" altLang="en-US" sz="1500">
                <a:solidFill>
                  <a:srgbClr val="5A6472"/>
                </a:solidFill>
                <a:latin typeface="Arial"/>
                <a:ea typeface="Arial" pitchFamily="34" charset="-122"/>
                <a:cs typeface="Arial"/>
              </a:rPr>
              <a:t>유현준, 김완민, 박정원, 오상헌, 성기호 | 글로벌 반도체 설계 전문가 과정 2기</a:t>
            </a:r>
            <a:endParaRPr lang="ko-KR" altLang="en-US" sz="1500">
              <a:solidFill>
                <a:srgbClr val="5A6472"/>
              </a:solidFill>
              <a:latin typeface="Arial"/>
              <a:cs typeface="Arial"/>
            </a:endParaRPr>
          </a:p>
        </p:txBody>
      </p:sp>
      <p:sp>
        <p:nvSpPr>
          <p:cNvPr id="49" name="Text 47"/>
          <p:cNvSpPr/>
          <p:nvPr/>
        </p:nvSpPr>
        <p:spPr>
          <a:xfrm>
            <a:off x="548640" y="6263640"/>
            <a:ext cx="11094415" cy="320040"/>
          </a:xfrm>
          <a:prstGeom prst="rect">
            <a:avLst/>
          </a:prstGeom>
          <a:noFill/>
          <a:ln/>
        </p:spPr>
        <p:txBody>
          <a:bodyPr wrap="square" lIns="0" tIns="0" rIns="0" bIns="0" rtlCol="0" anchor="ctr"/>
          <a:lstStyle/>
          <a:p>
            <a:pPr marL="0" indent="0" algn="ctr">
              <a:buNone/>
            </a:pPr>
            <a:r>
              <a:rPr lang="en-US" sz="1300">
                <a:solidFill>
                  <a:srgbClr val="5A6472"/>
                </a:solidFill>
                <a:latin typeface="Arial"/>
                <a:cs typeface="Arial"/>
              </a:rPr>
              <a:t>2026.08.13</a:t>
            </a:r>
          </a:p>
        </p:txBody>
      </p:sp>
      <p:grpSp>
        <p:nvGrpSpPr>
          <p:cNvPr id="53" name="그룹 52">
            <a:extLst>
              <a:ext uri="{FF2B5EF4-FFF2-40B4-BE49-F238E27FC236}">
                <a16:creationId xmlns:a16="http://schemas.microsoft.com/office/drawing/2014/main" id="{57DC695A-5644-0063-1602-ED57D064949D}"/>
              </a:ext>
            </a:extLst>
          </p:cNvPr>
          <p:cNvGrpSpPr/>
          <p:nvPr/>
        </p:nvGrpSpPr>
        <p:grpSpPr>
          <a:xfrm>
            <a:off x="3259684" y="2900383"/>
            <a:ext cx="1854126" cy="1843684"/>
            <a:chOff x="2978470" y="2691740"/>
            <a:chExt cx="1854126" cy="1843684"/>
          </a:xfrm>
        </p:grpSpPr>
        <p:grpSp>
          <p:nvGrpSpPr>
            <p:cNvPr id="51" name="그룹 50">
              <a:extLst>
                <a:ext uri="{FF2B5EF4-FFF2-40B4-BE49-F238E27FC236}">
                  <a16:creationId xmlns:a16="http://schemas.microsoft.com/office/drawing/2014/main" id="{941B5EA4-AE2F-A124-19B0-79D106065A1C}"/>
                </a:ext>
              </a:extLst>
            </p:cNvPr>
            <p:cNvGrpSpPr/>
            <p:nvPr/>
          </p:nvGrpSpPr>
          <p:grpSpPr>
            <a:xfrm>
              <a:off x="2978470" y="3054096"/>
              <a:ext cx="1847088" cy="1481328"/>
              <a:chOff x="6498184" y="3054096"/>
              <a:chExt cx="1847088" cy="1481328"/>
            </a:xfrm>
          </p:grpSpPr>
          <p:sp>
            <p:nvSpPr>
              <p:cNvPr id="28" name="Shape 26"/>
              <p:cNvSpPr/>
              <p:nvPr/>
            </p:nvSpPr>
            <p:spPr>
              <a:xfrm flipV="1">
                <a:off x="6626200" y="3182112"/>
                <a:ext cx="795528" cy="155448"/>
              </a:xfrm>
              <a:prstGeom prst="line">
                <a:avLst/>
              </a:prstGeom>
              <a:noFill/>
              <a:ln w="12700">
                <a:solidFill>
                  <a:srgbClr val="2E3B52"/>
                </a:solidFill>
                <a:prstDash val="solid"/>
              </a:ln>
            </p:spPr>
          </p:sp>
          <p:sp>
            <p:nvSpPr>
              <p:cNvPr id="29" name="Shape 27"/>
              <p:cNvSpPr/>
              <p:nvPr/>
            </p:nvSpPr>
            <p:spPr>
              <a:xfrm>
                <a:off x="6626200" y="3337560"/>
                <a:ext cx="795528" cy="457200"/>
              </a:xfrm>
              <a:prstGeom prst="line">
                <a:avLst/>
              </a:prstGeom>
              <a:noFill/>
              <a:ln w="12700">
                <a:solidFill>
                  <a:srgbClr val="2E3B52"/>
                </a:solidFill>
                <a:prstDash val="solid"/>
              </a:ln>
            </p:spPr>
          </p:sp>
          <p:sp>
            <p:nvSpPr>
              <p:cNvPr id="30" name="Shape 28"/>
              <p:cNvSpPr/>
              <p:nvPr/>
            </p:nvSpPr>
            <p:spPr>
              <a:xfrm>
                <a:off x="6626200" y="3337560"/>
                <a:ext cx="795528" cy="1069848"/>
              </a:xfrm>
              <a:prstGeom prst="line">
                <a:avLst/>
              </a:prstGeom>
              <a:noFill/>
              <a:ln w="12700">
                <a:solidFill>
                  <a:srgbClr val="2E3B52"/>
                </a:solidFill>
                <a:prstDash val="solid"/>
              </a:ln>
            </p:spPr>
          </p:sp>
          <p:sp>
            <p:nvSpPr>
              <p:cNvPr id="31" name="Shape 29"/>
              <p:cNvSpPr/>
              <p:nvPr/>
            </p:nvSpPr>
            <p:spPr>
              <a:xfrm flipV="1">
                <a:off x="6626200" y="3182112"/>
                <a:ext cx="795528" cy="1069848"/>
              </a:xfrm>
              <a:prstGeom prst="line">
                <a:avLst/>
              </a:prstGeom>
              <a:noFill/>
              <a:ln w="12700">
                <a:solidFill>
                  <a:srgbClr val="2E3B52"/>
                </a:solidFill>
                <a:prstDash val="solid"/>
              </a:ln>
            </p:spPr>
          </p:sp>
          <p:sp>
            <p:nvSpPr>
              <p:cNvPr id="32" name="Shape 30"/>
              <p:cNvSpPr/>
              <p:nvPr/>
            </p:nvSpPr>
            <p:spPr>
              <a:xfrm flipV="1">
                <a:off x="6626200" y="3794760"/>
                <a:ext cx="795528" cy="457200"/>
              </a:xfrm>
              <a:prstGeom prst="line">
                <a:avLst/>
              </a:prstGeom>
              <a:noFill/>
              <a:ln w="12700">
                <a:solidFill>
                  <a:srgbClr val="2E3B52"/>
                </a:solidFill>
                <a:prstDash val="solid"/>
              </a:ln>
            </p:spPr>
          </p:sp>
          <p:sp>
            <p:nvSpPr>
              <p:cNvPr id="33" name="Shape 31"/>
              <p:cNvSpPr/>
              <p:nvPr/>
            </p:nvSpPr>
            <p:spPr>
              <a:xfrm>
                <a:off x="6626200" y="4251960"/>
                <a:ext cx="795528" cy="155448"/>
              </a:xfrm>
              <a:prstGeom prst="line">
                <a:avLst/>
              </a:prstGeom>
              <a:noFill/>
              <a:ln w="12700">
                <a:solidFill>
                  <a:srgbClr val="2E3B52"/>
                </a:solidFill>
                <a:prstDash val="solid"/>
              </a:ln>
            </p:spPr>
          </p:sp>
          <p:sp>
            <p:nvSpPr>
              <p:cNvPr id="34" name="Shape 32"/>
              <p:cNvSpPr/>
              <p:nvPr/>
            </p:nvSpPr>
            <p:spPr>
              <a:xfrm>
                <a:off x="7421728" y="3182112"/>
                <a:ext cx="795528" cy="155448"/>
              </a:xfrm>
              <a:prstGeom prst="line">
                <a:avLst/>
              </a:prstGeom>
              <a:noFill/>
              <a:ln w="12700">
                <a:solidFill>
                  <a:srgbClr val="2E3B52"/>
                </a:solidFill>
                <a:prstDash val="solid"/>
              </a:ln>
            </p:spPr>
          </p:sp>
          <p:sp>
            <p:nvSpPr>
              <p:cNvPr id="35" name="Shape 33"/>
              <p:cNvSpPr/>
              <p:nvPr/>
            </p:nvSpPr>
            <p:spPr>
              <a:xfrm>
                <a:off x="7421728" y="3182112"/>
                <a:ext cx="795528" cy="1069848"/>
              </a:xfrm>
              <a:prstGeom prst="line">
                <a:avLst/>
              </a:prstGeom>
              <a:noFill/>
              <a:ln w="12700">
                <a:solidFill>
                  <a:srgbClr val="2E3B52"/>
                </a:solidFill>
                <a:prstDash val="solid"/>
              </a:ln>
            </p:spPr>
          </p:sp>
          <p:sp>
            <p:nvSpPr>
              <p:cNvPr id="36" name="Shape 34"/>
              <p:cNvSpPr/>
              <p:nvPr/>
            </p:nvSpPr>
            <p:spPr>
              <a:xfrm flipV="1">
                <a:off x="7421728" y="3337560"/>
                <a:ext cx="795528" cy="457200"/>
              </a:xfrm>
              <a:prstGeom prst="line">
                <a:avLst/>
              </a:prstGeom>
              <a:noFill/>
              <a:ln w="12700">
                <a:solidFill>
                  <a:srgbClr val="2E3B52"/>
                </a:solidFill>
                <a:prstDash val="solid"/>
              </a:ln>
            </p:spPr>
          </p:sp>
          <p:sp>
            <p:nvSpPr>
              <p:cNvPr id="37" name="Shape 35"/>
              <p:cNvSpPr/>
              <p:nvPr/>
            </p:nvSpPr>
            <p:spPr>
              <a:xfrm>
                <a:off x="7421728" y="3794760"/>
                <a:ext cx="795528" cy="457200"/>
              </a:xfrm>
              <a:prstGeom prst="line">
                <a:avLst/>
              </a:prstGeom>
              <a:noFill/>
              <a:ln w="12700">
                <a:solidFill>
                  <a:srgbClr val="2E3B52"/>
                </a:solidFill>
                <a:prstDash val="solid"/>
              </a:ln>
            </p:spPr>
          </p:sp>
          <p:sp>
            <p:nvSpPr>
              <p:cNvPr id="38" name="Shape 36"/>
              <p:cNvSpPr/>
              <p:nvPr/>
            </p:nvSpPr>
            <p:spPr>
              <a:xfrm flipV="1">
                <a:off x="7421728" y="3337560"/>
                <a:ext cx="795528" cy="1069848"/>
              </a:xfrm>
              <a:prstGeom prst="line">
                <a:avLst/>
              </a:prstGeom>
              <a:noFill/>
              <a:ln w="12700">
                <a:solidFill>
                  <a:srgbClr val="2E3B52"/>
                </a:solidFill>
                <a:prstDash val="solid"/>
              </a:ln>
            </p:spPr>
          </p:sp>
          <p:sp>
            <p:nvSpPr>
              <p:cNvPr id="39" name="Shape 37"/>
              <p:cNvSpPr/>
              <p:nvPr/>
            </p:nvSpPr>
            <p:spPr>
              <a:xfrm flipV="1">
                <a:off x="7421728" y="4251960"/>
                <a:ext cx="795528" cy="155448"/>
              </a:xfrm>
              <a:prstGeom prst="line">
                <a:avLst/>
              </a:prstGeom>
              <a:noFill/>
              <a:ln w="12700">
                <a:solidFill>
                  <a:srgbClr val="2E3B52"/>
                </a:solidFill>
                <a:prstDash val="solid"/>
              </a:ln>
            </p:spPr>
          </p:sp>
          <p:sp>
            <p:nvSpPr>
              <p:cNvPr id="40" name="Shape 38"/>
              <p:cNvSpPr/>
              <p:nvPr/>
            </p:nvSpPr>
            <p:spPr>
              <a:xfrm>
                <a:off x="6498184" y="3209544"/>
                <a:ext cx="256032" cy="256032"/>
              </a:xfrm>
              <a:prstGeom prst="ellipse">
                <a:avLst/>
              </a:prstGeom>
              <a:solidFill>
                <a:srgbClr val="FFFFFF"/>
              </a:solidFill>
              <a:ln w="25400">
                <a:solidFill>
                  <a:srgbClr val="2E3B52"/>
                </a:solidFill>
                <a:prstDash val="solid"/>
              </a:ln>
            </p:spPr>
          </p:sp>
          <p:sp>
            <p:nvSpPr>
              <p:cNvPr id="41" name="Shape 39"/>
              <p:cNvSpPr/>
              <p:nvPr/>
            </p:nvSpPr>
            <p:spPr>
              <a:xfrm>
                <a:off x="6498184" y="4123944"/>
                <a:ext cx="256032" cy="256032"/>
              </a:xfrm>
              <a:prstGeom prst="ellipse">
                <a:avLst/>
              </a:prstGeom>
              <a:solidFill>
                <a:srgbClr val="FFFFFF"/>
              </a:solidFill>
              <a:ln w="25400">
                <a:solidFill>
                  <a:srgbClr val="2E3B52"/>
                </a:solidFill>
                <a:prstDash val="solid"/>
              </a:ln>
            </p:spPr>
          </p:sp>
          <p:sp>
            <p:nvSpPr>
              <p:cNvPr id="42" name="Shape 40"/>
              <p:cNvSpPr/>
              <p:nvPr/>
            </p:nvSpPr>
            <p:spPr>
              <a:xfrm>
                <a:off x="7293712" y="3054096"/>
                <a:ext cx="256032" cy="256032"/>
              </a:xfrm>
              <a:prstGeom prst="ellipse">
                <a:avLst/>
              </a:prstGeom>
              <a:solidFill>
                <a:srgbClr val="FFFFFF"/>
              </a:solidFill>
              <a:ln w="25400">
                <a:solidFill>
                  <a:srgbClr val="2E3B52"/>
                </a:solidFill>
                <a:prstDash val="solid"/>
              </a:ln>
            </p:spPr>
          </p:sp>
          <p:sp>
            <p:nvSpPr>
              <p:cNvPr id="43" name="Shape 41"/>
              <p:cNvSpPr/>
              <p:nvPr/>
            </p:nvSpPr>
            <p:spPr>
              <a:xfrm>
                <a:off x="7293712" y="3666744"/>
                <a:ext cx="256032" cy="256032"/>
              </a:xfrm>
              <a:prstGeom prst="ellipse">
                <a:avLst/>
              </a:prstGeom>
              <a:solidFill>
                <a:srgbClr val="FFFFFF"/>
              </a:solidFill>
              <a:ln w="25400">
                <a:solidFill>
                  <a:srgbClr val="2E3B52"/>
                </a:solidFill>
                <a:prstDash val="solid"/>
              </a:ln>
            </p:spPr>
          </p:sp>
          <p:sp>
            <p:nvSpPr>
              <p:cNvPr id="44" name="Shape 42"/>
              <p:cNvSpPr/>
              <p:nvPr/>
            </p:nvSpPr>
            <p:spPr>
              <a:xfrm>
                <a:off x="7293712" y="4279392"/>
                <a:ext cx="256032" cy="256032"/>
              </a:xfrm>
              <a:prstGeom prst="ellipse">
                <a:avLst/>
              </a:prstGeom>
              <a:solidFill>
                <a:srgbClr val="FFFFFF"/>
              </a:solidFill>
              <a:ln w="25400">
                <a:solidFill>
                  <a:srgbClr val="2E3B52"/>
                </a:solidFill>
                <a:prstDash val="solid"/>
              </a:ln>
            </p:spPr>
          </p:sp>
          <p:sp>
            <p:nvSpPr>
              <p:cNvPr id="45" name="Shape 43"/>
              <p:cNvSpPr/>
              <p:nvPr/>
            </p:nvSpPr>
            <p:spPr>
              <a:xfrm>
                <a:off x="8089240" y="3209544"/>
                <a:ext cx="256032" cy="256032"/>
              </a:xfrm>
              <a:prstGeom prst="ellipse">
                <a:avLst/>
              </a:prstGeom>
              <a:solidFill>
                <a:srgbClr val="FFFFFF"/>
              </a:solidFill>
              <a:ln w="25400">
                <a:solidFill>
                  <a:srgbClr val="2E3B52"/>
                </a:solidFill>
                <a:prstDash val="solid"/>
              </a:ln>
            </p:spPr>
          </p:sp>
          <p:sp>
            <p:nvSpPr>
              <p:cNvPr id="46" name="Shape 44"/>
              <p:cNvSpPr/>
              <p:nvPr/>
            </p:nvSpPr>
            <p:spPr>
              <a:xfrm>
                <a:off x="8089240" y="4123944"/>
                <a:ext cx="256032" cy="256032"/>
              </a:xfrm>
              <a:prstGeom prst="ellipse">
                <a:avLst/>
              </a:prstGeom>
              <a:solidFill>
                <a:srgbClr val="FFFFFF"/>
              </a:solidFill>
              <a:ln w="25400">
                <a:solidFill>
                  <a:srgbClr val="2E3B52"/>
                </a:solidFill>
                <a:prstDash val="solid"/>
              </a:ln>
            </p:spPr>
          </p:sp>
        </p:grpSp>
        <p:sp>
          <p:nvSpPr>
            <p:cNvPr id="52" name="TextBox 51">
              <a:extLst>
                <a:ext uri="{FF2B5EF4-FFF2-40B4-BE49-F238E27FC236}">
                  <a16:creationId xmlns:a16="http://schemas.microsoft.com/office/drawing/2014/main" id="{0178B9EE-092A-DFEC-4EC4-3574EA42F4D7}"/>
                </a:ext>
              </a:extLst>
            </p:cNvPr>
            <p:cNvSpPr txBox="1"/>
            <p:nvPr/>
          </p:nvSpPr>
          <p:spPr>
            <a:xfrm>
              <a:off x="2982027" y="2691740"/>
              <a:ext cx="185056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ko-KR" altLang="en-US" b="1" i="1">
                  <a:latin typeface="Arial"/>
                  <a:ea typeface="맑은 고딕"/>
                  <a:cs typeface="Arial"/>
                </a:rPr>
                <a:t>YOLOv8n(C2f)</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66997" y="316775"/>
            <a:ext cx="11094415" cy="822960"/>
          </a:xfrm>
          <a:prstGeom prst="rect">
            <a:avLst/>
          </a:prstGeom>
          <a:noFill/>
          <a:ln/>
        </p:spPr>
        <p:txBody>
          <a:bodyPr wrap="square" lIns="0" tIns="0" rIns="0" bIns="0" rtlCol="0" anchor="ctr"/>
          <a:lstStyle/>
          <a:p>
            <a:pPr algn="ctr"/>
            <a:r>
              <a:rPr lang="en-US" sz="4000" b="1">
                <a:solidFill>
                  <a:srgbClr val="1F3B66"/>
                </a:solidFill>
                <a:latin typeface="Arial"/>
                <a:cs typeface="Arial"/>
              </a:rPr>
              <a:t>Contents</a:t>
            </a:r>
            <a:endParaRPr lang="ko-KR" altLang="en-US" sz="4000" b="1">
              <a:solidFill>
                <a:srgbClr val="1F3B66"/>
              </a:solidFill>
              <a:latin typeface="Arial"/>
              <a:ea typeface="맑은 고딕"/>
              <a:cs typeface="Arial"/>
            </a:endParaRPr>
          </a:p>
        </p:txBody>
      </p:sp>
      <p:sp>
        <p:nvSpPr>
          <p:cNvPr id="54" name="TextBox 53">
            <a:extLst>
              <a:ext uri="{FF2B5EF4-FFF2-40B4-BE49-F238E27FC236}">
                <a16:creationId xmlns:a16="http://schemas.microsoft.com/office/drawing/2014/main" id="{1AAA2F75-8804-EC78-EE24-1C33CE8D96E0}"/>
              </a:ext>
            </a:extLst>
          </p:cNvPr>
          <p:cNvSpPr txBox="1"/>
          <p:nvPr/>
        </p:nvSpPr>
        <p:spPr>
          <a:xfrm>
            <a:off x="2632884" y="1395351"/>
            <a:ext cx="7415248" cy="4893647"/>
          </a:xfrm>
          <a:prstGeom prst="rect">
            <a:avLst/>
          </a:prstGeom>
          <a:noFill/>
          <a:effectLst>
            <a:outerShdw blurRad="63500" dist="38100" dir="270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altLang="ko-KR" sz="2400" dirty="0" err="1">
                <a:latin typeface="Arial"/>
                <a:ea typeface="맑은 고딕"/>
                <a:cs typeface="Arial"/>
              </a:rPr>
              <a:t>프로젝트</a:t>
            </a:r>
            <a:r>
              <a:rPr lang="en-US" altLang="ko-KR" sz="2400" dirty="0">
                <a:latin typeface="Arial"/>
                <a:ea typeface="맑은 고딕"/>
                <a:cs typeface="Arial"/>
              </a:rPr>
              <a:t> </a:t>
            </a:r>
            <a:r>
              <a:rPr lang="en-US" altLang="ko-KR" sz="2400" dirty="0" err="1">
                <a:latin typeface="Arial"/>
                <a:ea typeface="맑은 고딕"/>
                <a:cs typeface="Arial"/>
              </a:rPr>
              <a:t>개요</a:t>
            </a:r>
            <a:endParaRPr lang="en-US" altLang="ko-KR" sz="2400" dirty="0">
              <a:latin typeface="Arial"/>
              <a:ea typeface="맑은 고딕"/>
              <a:cs typeface="Arial"/>
            </a:endParaRPr>
          </a:p>
          <a:p>
            <a:pPr marL="342900" indent="-342900">
              <a:buAutoNum type="arabicPeriod"/>
            </a:pPr>
            <a:endParaRPr lang="en-US" altLang="ko-KR" sz="2400">
              <a:latin typeface="Arial"/>
              <a:ea typeface="맑은 고딕"/>
              <a:cs typeface="Arial"/>
            </a:endParaRPr>
          </a:p>
          <a:p>
            <a:pPr marL="285750" indent="-285750">
              <a:buAutoNum type="arabicPeriod"/>
            </a:pPr>
            <a:r>
              <a:rPr lang="ko-KR" altLang="en-US" sz="2400">
                <a:latin typeface="Arial"/>
                <a:ea typeface="맑은 고딕"/>
                <a:cs typeface="Arial"/>
              </a:rPr>
              <a:t> C2f 하드웨어 구조 설계 </a:t>
            </a:r>
          </a:p>
          <a:p>
            <a:pPr marL="285750" indent="-285750">
              <a:buAutoNum type="arabicPeriod"/>
            </a:pPr>
            <a:endParaRPr lang="ko-KR" altLang="en-US" sz="2400">
              <a:latin typeface="Arial"/>
              <a:ea typeface="맑은 고딕"/>
              <a:cs typeface="Arial"/>
            </a:endParaRPr>
          </a:p>
          <a:p>
            <a:pPr marL="285750" indent="-285750">
              <a:buAutoNum type="arabicPeriod"/>
            </a:pPr>
            <a:r>
              <a:rPr lang="ko-KR" altLang="en-US" sz="2400">
                <a:latin typeface="Arial"/>
                <a:ea typeface="맑은 고딕"/>
                <a:cs typeface="Arial"/>
              </a:rPr>
              <a:t>IP 최적화 기법</a:t>
            </a:r>
          </a:p>
          <a:p>
            <a:pPr marL="285750" indent="-285750">
              <a:buAutoNum type="arabicPeriod"/>
            </a:pPr>
            <a:endParaRPr lang="ko-KR" altLang="en-US" sz="2400">
              <a:latin typeface="Arial"/>
              <a:ea typeface="맑은 고딕"/>
              <a:cs typeface="Arial"/>
            </a:endParaRPr>
          </a:p>
          <a:p>
            <a:pPr marL="285750" indent="-285750">
              <a:buAutoNum type="arabicPeriod"/>
            </a:pPr>
            <a:r>
              <a:rPr lang="ko-KR" altLang="en-US" sz="2400">
                <a:latin typeface="Arial"/>
                <a:ea typeface="맑은 고딕"/>
                <a:cs typeface="Arial"/>
              </a:rPr>
              <a:t>구현 결과 및 검증</a:t>
            </a:r>
          </a:p>
          <a:p>
            <a:pPr marL="285750" indent="-285750">
              <a:buAutoNum type="arabicPeriod"/>
            </a:pPr>
            <a:endParaRPr lang="ko-KR" altLang="en-US" sz="2400">
              <a:latin typeface="Arial"/>
              <a:ea typeface="맑은 고딕"/>
              <a:cs typeface="Arial"/>
            </a:endParaRPr>
          </a:p>
          <a:p>
            <a:pPr marL="285750" indent="-285750">
              <a:buAutoNum type="arabicPeriod"/>
            </a:pPr>
            <a:r>
              <a:rPr lang="ko-KR" sz="2400">
                <a:latin typeface="Arial"/>
                <a:ea typeface="맑은 고딕"/>
                <a:cs typeface="Arial"/>
              </a:rPr>
              <a:t>HW 담당(성기호)</a:t>
            </a:r>
          </a:p>
          <a:p>
            <a:pPr marL="285750" indent="-285750">
              <a:buAutoNum type="arabicPeriod"/>
            </a:pPr>
            <a:endParaRPr lang="ko-KR" sz="2400">
              <a:latin typeface="Arial"/>
              <a:ea typeface="맑은 고딕"/>
              <a:cs typeface="Arial"/>
            </a:endParaRPr>
          </a:p>
          <a:p>
            <a:pPr marL="285750" indent="-285750">
              <a:buAutoNum type="arabicPeriod"/>
            </a:pPr>
            <a:r>
              <a:rPr lang="ko-KR" altLang="en-US" sz="2400">
                <a:latin typeface="Arial"/>
                <a:ea typeface="맑은 고딕"/>
                <a:cs typeface="Arial"/>
              </a:rPr>
              <a:t>소프트웨어 구현 및 시스템 통합(오상헌, 박정원)</a:t>
            </a:r>
          </a:p>
          <a:p>
            <a:pPr marL="285750" indent="-285750">
              <a:buAutoNum type="arabicPeriod"/>
            </a:pPr>
            <a:endParaRPr lang="ko-KR" altLang="en-US" sz="2400">
              <a:latin typeface="Arial"/>
              <a:ea typeface="맑은 고딕"/>
              <a:cs typeface="Arial"/>
            </a:endParaRPr>
          </a:p>
          <a:p>
            <a:pPr marL="285750" indent="-285750">
              <a:buAutoNum type="arabicPeriod"/>
            </a:pPr>
            <a:r>
              <a:rPr lang="ko-KR" sz="2400">
                <a:latin typeface="Arial"/>
                <a:ea typeface="맑은 고딕"/>
                <a:cs typeface="Arial"/>
              </a:rPr>
              <a:t>결과 분석 및 향후 과제</a:t>
            </a:r>
            <a:endParaRPr lang="ko-KR" altLang="en-US" sz="2400">
              <a:latin typeface="Arial"/>
              <a:ea typeface="맑은 고딕"/>
              <a:cs typeface="Arial"/>
            </a:endParaRPr>
          </a:p>
        </p:txBody>
      </p:sp>
    </p:spTree>
    <p:extLst>
      <p:ext uri="{BB962C8B-B14F-4D97-AF65-F5344CB8AC3E}">
        <p14:creationId xmlns:p14="http://schemas.microsoft.com/office/powerpoint/2010/main" val="2301026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5419847-7029-2A14-0197-F7481A7E75B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634954A-9E41-2D15-D1D0-D06EA7405222}"/>
              </a:ext>
            </a:extLst>
          </p:cNvPr>
          <p:cNvSpPr/>
          <p:nvPr/>
        </p:nvSpPr>
        <p:spPr>
          <a:xfrm>
            <a:off x="547208" y="3017196"/>
            <a:ext cx="11094415" cy="822960"/>
          </a:xfrm>
          <a:prstGeom prst="rect">
            <a:avLst/>
          </a:prstGeom>
          <a:noFill/>
          <a:ln/>
        </p:spPr>
        <p:txBody>
          <a:bodyPr wrap="square" lIns="0" tIns="0" rIns="0" bIns="0" rtlCol="0" anchor="ctr"/>
          <a:lstStyle/>
          <a:p>
            <a:pPr marL="742950" indent="-742950" algn="ctr">
              <a:buAutoNum type="arabicPeriod"/>
            </a:pPr>
            <a:r>
              <a:rPr lang="ko-KR" altLang="en-US" sz="5400" b="1">
                <a:solidFill>
                  <a:srgbClr val="1F3B66"/>
                </a:solidFill>
                <a:latin typeface="Arial"/>
                <a:ea typeface="맑은 고딕"/>
                <a:cs typeface="Arial"/>
              </a:rPr>
              <a:t>프로젝트 개요</a:t>
            </a:r>
            <a:endParaRPr lang="en-US" sz="5400" b="1">
              <a:solidFill>
                <a:srgbClr val="1F3B66"/>
              </a:solidFill>
              <a:latin typeface="Arial"/>
              <a:cs typeface="Arial"/>
            </a:endParaRPr>
          </a:p>
        </p:txBody>
      </p:sp>
    </p:spTree>
    <p:extLst>
      <p:ext uri="{BB962C8B-B14F-4D97-AF65-F5344CB8AC3E}">
        <p14:creationId xmlns:p14="http://schemas.microsoft.com/office/powerpoint/2010/main" val="4010587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9E41CBBE-A3A5-133B-F4B5-BD9AE39B9304}"/>
              </a:ext>
            </a:extLst>
          </p:cNvPr>
          <p:cNvSpPr/>
          <p:nvPr/>
        </p:nvSpPr>
        <p:spPr>
          <a:xfrm>
            <a:off x="466997" y="316775"/>
            <a:ext cx="11094415" cy="822960"/>
          </a:xfrm>
          <a:prstGeom prst="rect">
            <a:avLst/>
          </a:prstGeom>
          <a:noFill/>
          <a:ln/>
        </p:spPr>
        <p:txBody>
          <a:bodyPr wrap="square" lIns="0" tIns="0" rIns="0" bIns="0" rtlCol="0" anchor="ctr"/>
          <a:lstStyle/>
          <a:p>
            <a:pPr algn="ctr"/>
            <a:r>
              <a:rPr lang="ko-KR" altLang="en-US" sz="4000" b="1">
                <a:solidFill>
                  <a:srgbClr val="1F3B66"/>
                </a:solidFill>
                <a:latin typeface="Arial"/>
                <a:ea typeface="맑은 고딕"/>
                <a:cs typeface="Arial"/>
              </a:rPr>
              <a:t>Entire Structure</a:t>
            </a:r>
          </a:p>
        </p:txBody>
      </p:sp>
      <p:pic>
        <p:nvPicPr>
          <p:cNvPr id="10" name="그림 9">
            <a:extLst>
              <a:ext uri="{FF2B5EF4-FFF2-40B4-BE49-F238E27FC236}">
                <a16:creationId xmlns:a16="http://schemas.microsoft.com/office/drawing/2014/main" id="{9F3321B9-F14E-9483-7E4D-FE3932A645BE}"/>
              </a:ext>
            </a:extLst>
          </p:cNvPr>
          <p:cNvPicPr>
            <a:picLocks noChangeAspect="1"/>
          </p:cNvPicPr>
          <p:nvPr/>
        </p:nvPicPr>
        <p:blipFill>
          <a:blip r:embed="rId3"/>
          <a:stretch>
            <a:fillRect/>
          </a:stretch>
        </p:blipFill>
        <p:spPr>
          <a:xfrm>
            <a:off x="681013" y="917724"/>
            <a:ext cx="1857375" cy="2219325"/>
          </a:xfrm>
          <a:prstGeom prst="rect">
            <a:avLst/>
          </a:prstGeom>
        </p:spPr>
      </p:pic>
      <p:pic>
        <p:nvPicPr>
          <p:cNvPr id="8" name="그림 7" descr="텍스트, 폰트, 스크린샷, 번호이(가) 표시된 사진&#10;&#10;AI 생성 콘텐츠는 정확하지 않을 수 있습니다.">
            <a:extLst>
              <a:ext uri="{FF2B5EF4-FFF2-40B4-BE49-F238E27FC236}">
                <a16:creationId xmlns:a16="http://schemas.microsoft.com/office/drawing/2014/main" id="{1D328D70-0AA2-36A6-6E82-74DF895FC635}"/>
              </a:ext>
            </a:extLst>
          </p:cNvPr>
          <p:cNvPicPr>
            <a:picLocks noChangeAspect="1"/>
          </p:cNvPicPr>
          <p:nvPr/>
        </p:nvPicPr>
        <p:blipFill>
          <a:blip r:embed="rId4"/>
          <a:stretch>
            <a:fillRect/>
          </a:stretch>
        </p:blipFill>
        <p:spPr>
          <a:xfrm>
            <a:off x="595449" y="3214597"/>
            <a:ext cx="11358880" cy="1902277"/>
          </a:xfrm>
          <a:prstGeom prst="rect">
            <a:avLst/>
          </a:prstGeom>
        </p:spPr>
      </p:pic>
      <p:sp>
        <p:nvSpPr>
          <p:cNvPr id="4" name="사각형: 둥근 모서리 3">
            <a:extLst>
              <a:ext uri="{FF2B5EF4-FFF2-40B4-BE49-F238E27FC236}">
                <a16:creationId xmlns:a16="http://schemas.microsoft.com/office/drawing/2014/main" id="{BE4442AC-10C6-AFAA-574D-163161EC914B}"/>
              </a:ext>
            </a:extLst>
          </p:cNvPr>
          <p:cNvSpPr/>
          <p:nvPr/>
        </p:nvSpPr>
        <p:spPr>
          <a:xfrm>
            <a:off x="677454" y="2737034"/>
            <a:ext cx="9084623" cy="2296721"/>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a:extLst>
              <a:ext uri="{FF2B5EF4-FFF2-40B4-BE49-F238E27FC236}">
                <a16:creationId xmlns:a16="http://schemas.microsoft.com/office/drawing/2014/main" id="{368A885C-A440-64B8-2138-5B6207CE02FC}"/>
              </a:ext>
            </a:extLst>
          </p:cNvPr>
          <p:cNvSpPr txBox="1"/>
          <p:nvPr/>
        </p:nvSpPr>
        <p:spPr>
          <a:xfrm>
            <a:off x="3394364" y="2366097"/>
            <a:ext cx="365166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ko-KR" altLang="en-US" sz="2000" b="1">
                <a:solidFill>
                  <a:srgbClr val="002060"/>
                </a:solidFill>
                <a:ea typeface="맑은 고딕"/>
                <a:cs typeface="Calibri"/>
              </a:rPr>
              <a:t>YOLOv8n</a:t>
            </a:r>
            <a:endParaRPr lang="ko-KR" altLang="en-US" sz="2000" b="1">
              <a:solidFill>
                <a:srgbClr val="002060"/>
              </a:solidFill>
              <a:latin typeface="Arial"/>
              <a:ea typeface="Malgun Gothic"/>
              <a:cs typeface="Arial"/>
            </a:endParaRPr>
          </a:p>
        </p:txBody>
      </p:sp>
      <p:sp>
        <p:nvSpPr>
          <p:cNvPr id="12" name="TextBox 11">
            <a:extLst>
              <a:ext uri="{FF2B5EF4-FFF2-40B4-BE49-F238E27FC236}">
                <a16:creationId xmlns:a16="http://schemas.microsoft.com/office/drawing/2014/main" id="{71558AB4-1A87-B16C-750C-E7131256BFD9}"/>
              </a:ext>
            </a:extLst>
          </p:cNvPr>
          <p:cNvSpPr txBox="1"/>
          <p:nvPr/>
        </p:nvSpPr>
        <p:spPr>
          <a:xfrm>
            <a:off x="3701143" y="2949967"/>
            <a:ext cx="36516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ko-KR" altLang="en-US" b="1">
                <a:solidFill>
                  <a:srgbClr val="002060"/>
                </a:solidFill>
                <a:latin typeface="Arial"/>
                <a:ea typeface="맑은 고딕"/>
                <a:cs typeface="Arial"/>
              </a:rPr>
              <a:t>model.6</a:t>
            </a:r>
          </a:p>
        </p:txBody>
      </p:sp>
      <p:sp>
        <p:nvSpPr>
          <p:cNvPr id="2" name="사각형: 둥근 모서리 1">
            <a:extLst>
              <a:ext uri="{FF2B5EF4-FFF2-40B4-BE49-F238E27FC236}">
                <a16:creationId xmlns:a16="http://schemas.microsoft.com/office/drawing/2014/main" id="{BCF5BB4A-2E8F-BFAA-1FDA-A4672011506D}"/>
              </a:ext>
            </a:extLst>
          </p:cNvPr>
          <p:cNvSpPr/>
          <p:nvPr/>
        </p:nvSpPr>
        <p:spPr>
          <a:xfrm>
            <a:off x="4023109" y="2903721"/>
            <a:ext cx="3083874" cy="1951441"/>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D720A0B7-AA43-73DF-B12E-4C3ECB8FEE19}"/>
              </a:ext>
            </a:extLst>
          </p:cNvPr>
          <p:cNvSpPr txBox="1"/>
          <p:nvPr/>
        </p:nvSpPr>
        <p:spPr>
          <a:xfrm>
            <a:off x="1547812" y="5762624"/>
            <a:ext cx="802481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ko-KR" b="1">
                <a:solidFill>
                  <a:srgbClr val="C00000"/>
                </a:solidFill>
                <a:ea typeface="+mn-lt"/>
                <a:cs typeface="+mn-lt"/>
              </a:rPr>
              <a:t>FPGA </a:t>
            </a:r>
            <a:r>
              <a:rPr lang="en-US" altLang="ko-KR" b="1" err="1">
                <a:solidFill>
                  <a:srgbClr val="C00000"/>
                </a:solidFill>
                <a:ea typeface="+mn-lt"/>
                <a:cs typeface="+mn-lt"/>
              </a:rPr>
              <a:t>자원을</a:t>
            </a:r>
            <a:r>
              <a:rPr lang="en-US" altLang="ko-KR" b="1">
                <a:solidFill>
                  <a:srgbClr val="C00000"/>
                </a:solidFill>
                <a:ea typeface="+mn-lt"/>
                <a:cs typeface="+mn-lt"/>
              </a:rPr>
              <a:t> </a:t>
            </a:r>
            <a:r>
              <a:rPr lang="en-US" altLang="ko-KR" b="1" err="1">
                <a:solidFill>
                  <a:srgbClr val="C00000"/>
                </a:solidFill>
                <a:ea typeface="+mn-lt"/>
                <a:cs typeface="+mn-lt"/>
              </a:rPr>
              <a:t>고려하여</a:t>
            </a:r>
            <a:r>
              <a:rPr lang="en-US" altLang="ko-KR" b="1">
                <a:solidFill>
                  <a:srgbClr val="C00000"/>
                </a:solidFill>
                <a:ea typeface="+mn-lt"/>
                <a:cs typeface="+mn-lt"/>
              </a:rPr>
              <a:t> model.6(C2f) </a:t>
            </a:r>
            <a:r>
              <a:rPr lang="en-US" altLang="ko-KR" b="1" err="1">
                <a:solidFill>
                  <a:srgbClr val="C00000"/>
                </a:solidFill>
                <a:ea typeface="+mn-lt"/>
                <a:cs typeface="+mn-lt"/>
              </a:rPr>
              <a:t>단일</a:t>
            </a:r>
            <a:r>
              <a:rPr lang="en-US" altLang="ko-KR" b="1">
                <a:solidFill>
                  <a:srgbClr val="C00000"/>
                </a:solidFill>
                <a:ea typeface="+mn-lt"/>
                <a:cs typeface="+mn-lt"/>
              </a:rPr>
              <a:t> </a:t>
            </a:r>
            <a:r>
              <a:rPr lang="en-US" altLang="ko-KR" b="1" err="1">
                <a:solidFill>
                  <a:srgbClr val="C00000"/>
                </a:solidFill>
                <a:ea typeface="+mn-lt"/>
                <a:cs typeface="+mn-lt"/>
              </a:rPr>
              <a:t>레이어를</a:t>
            </a:r>
            <a:r>
              <a:rPr lang="en-US" altLang="ko-KR" b="1">
                <a:solidFill>
                  <a:srgbClr val="C00000"/>
                </a:solidFill>
                <a:ea typeface="+mn-lt"/>
                <a:cs typeface="+mn-lt"/>
              </a:rPr>
              <a:t> 설계 목표로 </a:t>
            </a:r>
            <a:r>
              <a:rPr lang="en-US" altLang="ko-KR" b="1" err="1">
                <a:solidFill>
                  <a:srgbClr val="C00000"/>
                </a:solidFill>
                <a:ea typeface="+mn-lt"/>
                <a:cs typeface="+mn-lt"/>
              </a:rPr>
              <a:t>설정</a:t>
            </a:r>
            <a:r>
              <a:rPr lang="en-US" altLang="ko-KR" b="1">
                <a:solidFill>
                  <a:srgbClr val="C00000"/>
                </a:solidFill>
                <a:ea typeface="+mn-lt"/>
                <a:cs typeface="+mn-lt"/>
              </a:rPr>
              <a:t> </a:t>
            </a:r>
          </a:p>
        </p:txBody>
      </p:sp>
      <p:sp>
        <p:nvSpPr>
          <p:cNvPr id="9" name="화살표: 아래쪽 8">
            <a:extLst>
              <a:ext uri="{FF2B5EF4-FFF2-40B4-BE49-F238E27FC236}">
                <a16:creationId xmlns:a16="http://schemas.microsoft.com/office/drawing/2014/main" id="{9521B00F-5B2D-5155-5493-BF26EDDA26C5}"/>
              </a:ext>
            </a:extLst>
          </p:cNvPr>
          <p:cNvSpPr/>
          <p:nvPr/>
        </p:nvSpPr>
        <p:spPr>
          <a:xfrm>
            <a:off x="5274469" y="4952999"/>
            <a:ext cx="547687" cy="678656"/>
          </a:xfrm>
          <a:prstGeom prst="down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408637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98051"/>
            <a:ext cx="11277295" cy="502920"/>
          </a:xfrm>
          <a:prstGeom prst="rect">
            <a:avLst/>
          </a:prstGeom>
          <a:noFill/>
          <a:ln/>
        </p:spPr>
        <p:txBody>
          <a:bodyPr wrap="square" lIns="0" tIns="0" rIns="0" bIns="0" rtlCol="0" anchor="ctr"/>
          <a:lstStyle/>
          <a:p>
            <a:pPr marL="0" indent="0" algn="ctr">
              <a:buNone/>
            </a:pPr>
            <a:r>
              <a:rPr lang="en-US" sz="4000" b="1" err="1">
                <a:solidFill>
                  <a:srgbClr val="1F3B66"/>
                </a:solidFill>
                <a:latin typeface="Arial"/>
                <a:ea typeface="Arial" pitchFamily="34" charset="-122"/>
                <a:cs typeface="Arial"/>
              </a:rPr>
              <a:t>개발</a:t>
            </a:r>
            <a:r>
              <a:rPr lang="en-US" sz="4000" b="1">
                <a:solidFill>
                  <a:srgbClr val="1F3B66"/>
                </a:solidFill>
                <a:latin typeface="Arial"/>
                <a:ea typeface="Arial" pitchFamily="34" charset="-122"/>
                <a:cs typeface="Arial"/>
              </a:rPr>
              <a:t> </a:t>
            </a:r>
            <a:r>
              <a:rPr lang="en-US" sz="4000" b="1" err="1">
                <a:solidFill>
                  <a:srgbClr val="1F3B66"/>
                </a:solidFill>
                <a:latin typeface="Arial"/>
                <a:ea typeface="Arial" pitchFamily="34" charset="-122"/>
                <a:cs typeface="Arial"/>
              </a:rPr>
              <a:t>환경</a:t>
            </a:r>
            <a:r>
              <a:rPr lang="en-US" sz="4000" b="1">
                <a:solidFill>
                  <a:srgbClr val="1F3B66"/>
                </a:solidFill>
                <a:latin typeface="Arial"/>
                <a:ea typeface="Arial" pitchFamily="34" charset="-122"/>
                <a:cs typeface="Arial"/>
              </a:rPr>
              <a:t> / Tool Chain</a:t>
            </a:r>
            <a:endParaRPr lang="en-US" sz="4000">
              <a:latin typeface="Arial"/>
              <a:ea typeface="Calibri"/>
              <a:cs typeface="Arial"/>
            </a:endParaRPr>
          </a:p>
        </p:txBody>
      </p:sp>
      <p:sp>
        <p:nvSpPr>
          <p:cNvPr id="3" name="Shape 3"/>
          <p:cNvSpPr/>
          <p:nvPr/>
        </p:nvSpPr>
        <p:spPr>
          <a:xfrm>
            <a:off x="609600" y="1828800"/>
            <a:ext cx="3383280" cy="2971800"/>
          </a:xfrm>
          <a:prstGeom prst="roundRect">
            <a:avLst>
              <a:gd name="adj" fmla="val 3500"/>
            </a:avLst>
          </a:prstGeom>
          <a:solidFill>
            <a:srgbClr val="EAF0FA"/>
          </a:solidFill>
          <a:ln/>
        </p:spPr>
      </p:sp>
      <p:sp>
        <p:nvSpPr>
          <p:cNvPr id="4" name="Text 4"/>
          <p:cNvSpPr/>
          <p:nvPr/>
        </p:nvSpPr>
        <p:spPr>
          <a:xfrm>
            <a:off x="609600" y="2011680"/>
            <a:ext cx="3383280" cy="365760"/>
          </a:xfrm>
          <a:prstGeom prst="rect">
            <a:avLst/>
          </a:prstGeom>
          <a:noFill/>
          <a:ln/>
        </p:spPr>
        <p:txBody>
          <a:bodyPr wrap="square" lIns="0" tIns="0" rIns="0" bIns="0" rtlCol="0" anchor="ctr"/>
          <a:lstStyle/>
          <a:p>
            <a:pPr marL="0" indent="0" algn="ctr">
              <a:buNone/>
            </a:pPr>
            <a:r>
              <a:rPr lang="en-US" sz="1400" b="1">
                <a:solidFill>
                  <a:srgbClr val="8A929E"/>
                </a:solidFill>
                <a:latin typeface="Arial" pitchFamily="34" charset="0"/>
                <a:ea typeface="Arial" pitchFamily="34" charset="-122"/>
                <a:cs typeface="Arial" pitchFamily="34" charset="-120"/>
              </a:rPr>
              <a:t>모델 준비</a:t>
            </a:r>
            <a:endParaRPr lang="en-US" sz="1400"/>
          </a:p>
        </p:txBody>
      </p:sp>
      <p:sp>
        <p:nvSpPr>
          <p:cNvPr id="5" name="Tool 5"/>
          <p:cNvSpPr/>
          <p:nvPr/>
        </p:nvSpPr>
        <p:spPr>
          <a:xfrm>
            <a:off x="838200" y="2816352"/>
            <a:ext cx="2926080" cy="502920"/>
          </a:xfrm>
          <a:prstGeom prst="roundRect">
            <a:avLst>
              <a:gd name="adj" fmla="val 12000"/>
            </a:avLst>
          </a:prstGeom>
          <a:solidFill>
            <a:srgbClr val="1F3B66"/>
          </a:solidFill>
          <a:ln/>
        </p:spPr>
        <p:txBody>
          <a:bodyPr wrap="square" lIns="45720" tIns="0" rIns="45720" bIns="0" rtlCol="0" anchor="ctr"/>
          <a:lstStyle/>
          <a:p>
            <a:pPr marL="0" indent="0" algn="ctr">
              <a:buNone/>
            </a:pPr>
            <a:r>
              <a:rPr lang="en-US" sz="1300" b="1">
                <a:solidFill>
                  <a:srgbClr val="FFFFFF"/>
                </a:solidFill>
                <a:latin typeface="Arial" pitchFamily="34" charset="0"/>
              </a:rPr>
              <a:t>PyTorch</a:t>
            </a:r>
            <a:endParaRPr lang="en-US" sz="1300"/>
          </a:p>
        </p:txBody>
      </p:sp>
      <p:sp>
        <p:nvSpPr>
          <p:cNvPr id="6" name="Tool 6"/>
          <p:cNvSpPr/>
          <p:nvPr/>
        </p:nvSpPr>
        <p:spPr>
          <a:xfrm>
            <a:off x="838200" y="3493008"/>
            <a:ext cx="2926080" cy="502920"/>
          </a:xfrm>
          <a:prstGeom prst="roundRect">
            <a:avLst>
              <a:gd name="adj" fmla="val 12000"/>
            </a:avLst>
          </a:prstGeom>
          <a:solidFill>
            <a:srgbClr val="1F3B66"/>
          </a:solidFill>
          <a:ln/>
        </p:spPr>
        <p:txBody>
          <a:bodyPr wrap="square" lIns="45720" tIns="0" rIns="45720" bIns="0" rtlCol="0" anchor="ctr"/>
          <a:lstStyle/>
          <a:p>
            <a:pPr marL="0" indent="0" algn="ctr">
              <a:buNone/>
            </a:pPr>
            <a:r>
              <a:rPr lang="en-US" sz="1300" b="1">
                <a:solidFill>
                  <a:srgbClr val="FFFFFF"/>
                </a:solidFill>
                <a:latin typeface="Arial" pitchFamily="34" charset="0"/>
              </a:rPr>
              <a:t>Ultralytics (YOLOv8n)</a:t>
            </a:r>
            <a:endParaRPr lang="en-US" sz="1300"/>
          </a:p>
        </p:txBody>
      </p:sp>
      <p:sp>
        <p:nvSpPr>
          <p:cNvPr id="7" name="Shape 7"/>
          <p:cNvSpPr/>
          <p:nvPr/>
        </p:nvSpPr>
        <p:spPr>
          <a:xfrm>
            <a:off x="4404360" y="1828800"/>
            <a:ext cx="3383280" cy="2971800"/>
          </a:xfrm>
          <a:prstGeom prst="roundRect">
            <a:avLst>
              <a:gd name="adj" fmla="val 3500"/>
            </a:avLst>
          </a:prstGeom>
          <a:solidFill>
            <a:srgbClr val="EAF0FA"/>
          </a:solidFill>
          <a:ln/>
        </p:spPr>
      </p:sp>
      <p:sp>
        <p:nvSpPr>
          <p:cNvPr id="8" name="Text 8"/>
          <p:cNvSpPr/>
          <p:nvPr/>
        </p:nvSpPr>
        <p:spPr>
          <a:xfrm>
            <a:off x="4404360" y="2011680"/>
            <a:ext cx="3383280" cy="365760"/>
          </a:xfrm>
          <a:prstGeom prst="rect">
            <a:avLst/>
          </a:prstGeom>
          <a:noFill/>
          <a:ln/>
        </p:spPr>
        <p:txBody>
          <a:bodyPr wrap="square" lIns="0" tIns="0" rIns="0" bIns="0" rtlCol="0" anchor="ctr"/>
          <a:lstStyle/>
          <a:p>
            <a:pPr marL="0" indent="0" algn="ctr">
              <a:buNone/>
            </a:pPr>
            <a:r>
              <a:rPr lang="en-US" sz="1400" b="1">
                <a:solidFill>
                  <a:srgbClr val="8A929E"/>
                </a:solidFill>
                <a:latin typeface="Arial" pitchFamily="34" charset="0"/>
                <a:ea typeface="Arial" pitchFamily="34" charset="-122"/>
                <a:cs typeface="Arial" pitchFamily="34" charset="-120"/>
              </a:rPr>
              <a:t>하드웨어 설계</a:t>
            </a:r>
            <a:endParaRPr lang="en-US" sz="1400"/>
          </a:p>
        </p:txBody>
      </p:sp>
      <p:sp>
        <p:nvSpPr>
          <p:cNvPr id="9" name="Tool 9"/>
          <p:cNvSpPr/>
          <p:nvPr/>
        </p:nvSpPr>
        <p:spPr>
          <a:xfrm>
            <a:off x="4632960" y="2816352"/>
            <a:ext cx="2926080" cy="502920"/>
          </a:xfrm>
          <a:prstGeom prst="roundRect">
            <a:avLst>
              <a:gd name="adj" fmla="val 12000"/>
            </a:avLst>
          </a:prstGeom>
          <a:solidFill>
            <a:srgbClr val="1F3B66"/>
          </a:solidFill>
          <a:ln/>
        </p:spPr>
        <p:txBody>
          <a:bodyPr wrap="square" lIns="45720" tIns="0" rIns="45720" bIns="0" rtlCol="0" anchor="ctr"/>
          <a:lstStyle/>
          <a:p>
            <a:pPr marL="0" indent="0" algn="ctr">
              <a:buNone/>
            </a:pPr>
            <a:r>
              <a:rPr lang="en-US" sz="1300" b="1">
                <a:solidFill>
                  <a:srgbClr val="FFFFFF"/>
                </a:solidFill>
                <a:latin typeface="Arial" pitchFamily="34" charset="0"/>
              </a:rPr>
              <a:t>Vitis HLS</a:t>
            </a:r>
            <a:endParaRPr lang="en-US" sz="1300"/>
          </a:p>
        </p:txBody>
      </p:sp>
      <p:sp>
        <p:nvSpPr>
          <p:cNvPr id="10" name="Tool 10"/>
          <p:cNvSpPr/>
          <p:nvPr/>
        </p:nvSpPr>
        <p:spPr>
          <a:xfrm>
            <a:off x="4632960" y="3493008"/>
            <a:ext cx="2926080" cy="502920"/>
          </a:xfrm>
          <a:prstGeom prst="roundRect">
            <a:avLst>
              <a:gd name="adj" fmla="val 12000"/>
            </a:avLst>
          </a:prstGeom>
          <a:solidFill>
            <a:srgbClr val="1F3B66"/>
          </a:solidFill>
          <a:ln/>
        </p:spPr>
        <p:txBody>
          <a:bodyPr wrap="square" lIns="45720" tIns="0" rIns="45720" bIns="0" rtlCol="0" anchor="ctr"/>
          <a:lstStyle/>
          <a:p>
            <a:pPr marL="0" indent="0" algn="ctr">
              <a:buNone/>
            </a:pPr>
            <a:r>
              <a:rPr lang="en-US" sz="1300" b="1">
                <a:solidFill>
                  <a:srgbClr val="FFFFFF"/>
                </a:solidFill>
                <a:latin typeface="Arial" pitchFamily="34" charset="0"/>
              </a:rPr>
              <a:t>Vivado</a:t>
            </a:r>
            <a:endParaRPr lang="en-US" sz="1300"/>
          </a:p>
        </p:txBody>
      </p:sp>
      <p:sp>
        <p:nvSpPr>
          <p:cNvPr id="11" name="Shape 11"/>
          <p:cNvSpPr/>
          <p:nvPr/>
        </p:nvSpPr>
        <p:spPr>
          <a:xfrm>
            <a:off x="8199120" y="1828800"/>
            <a:ext cx="3383280" cy="2971800"/>
          </a:xfrm>
          <a:prstGeom prst="roundRect">
            <a:avLst>
              <a:gd name="adj" fmla="val 3500"/>
            </a:avLst>
          </a:prstGeom>
          <a:solidFill>
            <a:srgbClr val="EAF0FA"/>
          </a:solidFill>
          <a:ln/>
        </p:spPr>
      </p:sp>
      <p:sp>
        <p:nvSpPr>
          <p:cNvPr id="12" name="Text 12"/>
          <p:cNvSpPr/>
          <p:nvPr/>
        </p:nvSpPr>
        <p:spPr>
          <a:xfrm>
            <a:off x="8199120" y="2011680"/>
            <a:ext cx="3383280" cy="365760"/>
          </a:xfrm>
          <a:prstGeom prst="rect">
            <a:avLst/>
          </a:prstGeom>
          <a:noFill/>
          <a:ln/>
        </p:spPr>
        <p:txBody>
          <a:bodyPr wrap="square" lIns="0" tIns="0" rIns="0" bIns="0" rtlCol="0" anchor="ctr"/>
          <a:lstStyle/>
          <a:p>
            <a:pPr marL="0" indent="0" algn="ctr">
              <a:buNone/>
            </a:pPr>
            <a:r>
              <a:rPr lang="en-US" sz="1400" b="1">
                <a:solidFill>
                  <a:srgbClr val="8A929E"/>
                </a:solidFill>
                <a:latin typeface="Arial" pitchFamily="34" charset="0"/>
                <a:ea typeface="Arial" pitchFamily="34" charset="-122"/>
                <a:cs typeface="Arial" pitchFamily="34" charset="-120"/>
              </a:rPr>
              <a:t>보드 실행</a:t>
            </a:r>
            <a:endParaRPr lang="en-US" sz="1400"/>
          </a:p>
        </p:txBody>
      </p:sp>
      <p:sp>
        <p:nvSpPr>
          <p:cNvPr id="13" name="Tool 13"/>
          <p:cNvSpPr/>
          <p:nvPr/>
        </p:nvSpPr>
        <p:spPr>
          <a:xfrm>
            <a:off x="8427720" y="2478024"/>
            <a:ext cx="2926080" cy="502920"/>
          </a:xfrm>
          <a:prstGeom prst="roundRect">
            <a:avLst>
              <a:gd name="adj" fmla="val 12000"/>
            </a:avLst>
          </a:prstGeom>
          <a:solidFill>
            <a:srgbClr val="1F3B66"/>
          </a:solidFill>
          <a:ln/>
        </p:spPr>
        <p:txBody>
          <a:bodyPr wrap="square" lIns="45720" tIns="0" rIns="45720" bIns="0" rtlCol="0" anchor="ctr"/>
          <a:lstStyle/>
          <a:p>
            <a:pPr marL="0" indent="0" algn="ctr">
              <a:buNone/>
            </a:pPr>
            <a:r>
              <a:rPr lang="en-US" sz="1300" b="1">
                <a:solidFill>
                  <a:srgbClr val="FFFFFF"/>
                </a:solidFill>
                <a:latin typeface="Arial" pitchFamily="34" charset="0"/>
              </a:rPr>
              <a:t>KV260 (XCK26)</a:t>
            </a:r>
            <a:endParaRPr lang="en-US" sz="1300"/>
          </a:p>
        </p:txBody>
      </p:sp>
      <p:sp>
        <p:nvSpPr>
          <p:cNvPr id="14" name="Tool 14"/>
          <p:cNvSpPr/>
          <p:nvPr/>
        </p:nvSpPr>
        <p:spPr>
          <a:xfrm>
            <a:off x="8427720" y="3154680"/>
            <a:ext cx="2926080" cy="502920"/>
          </a:xfrm>
          <a:prstGeom prst="roundRect">
            <a:avLst>
              <a:gd name="adj" fmla="val 12000"/>
            </a:avLst>
          </a:prstGeom>
          <a:solidFill>
            <a:srgbClr val="1F3B66"/>
          </a:solidFill>
          <a:ln/>
        </p:spPr>
        <p:txBody>
          <a:bodyPr wrap="square" lIns="45720" tIns="0" rIns="45720" bIns="0" rtlCol="0" anchor="ctr"/>
          <a:lstStyle/>
          <a:p>
            <a:pPr marL="0" indent="0" algn="ctr">
              <a:buNone/>
            </a:pPr>
            <a:r>
              <a:rPr lang="en-US" sz="1300" b="1">
                <a:solidFill>
                  <a:srgbClr val="FFFFFF"/>
                </a:solidFill>
                <a:latin typeface="Arial" pitchFamily="34" charset="0"/>
              </a:rPr>
              <a:t>PYNQ</a:t>
            </a:r>
            <a:endParaRPr lang="en-US" sz="1300"/>
          </a:p>
        </p:txBody>
      </p:sp>
      <p:sp>
        <p:nvSpPr>
          <p:cNvPr id="15" name="Tool 15"/>
          <p:cNvSpPr/>
          <p:nvPr/>
        </p:nvSpPr>
        <p:spPr>
          <a:xfrm>
            <a:off x="8427720" y="3831336"/>
            <a:ext cx="2926080" cy="502920"/>
          </a:xfrm>
          <a:prstGeom prst="roundRect">
            <a:avLst>
              <a:gd name="adj" fmla="val 12000"/>
            </a:avLst>
          </a:prstGeom>
          <a:solidFill>
            <a:srgbClr val="1F3B66"/>
          </a:solidFill>
          <a:ln/>
        </p:spPr>
        <p:txBody>
          <a:bodyPr wrap="square" lIns="45720" tIns="0" rIns="45720" bIns="0" rtlCol="0" anchor="ctr"/>
          <a:lstStyle/>
          <a:p>
            <a:pPr marL="0" indent="0" algn="ctr">
              <a:buNone/>
            </a:pPr>
            <a:r>
              <a:rPr lang="en-US" sz="1300" b="1">
                <a:solidFill>
                  <a:srgbClr val="FFFFFF"/>
                </a:solidFill>
                <a:latin typeface="Arial" pitchFamily="34" charset="0"/>
              </a:rPr>
              <a:t>OpenCV</a:t>
            </a:r>
            <a:endParaRPr lang="en-US" sz="1300"/>
          </a:p>
        </p:txBody>
      </p:sp>
      <p:sp>
        <p:nvSpPr>
          <p:cNvPr id="16" name="Arrow 16"/>
          <p:cNvSpPr/>
          <p:nvPr/>
        </p:nvSpPr>
        <p:spPr>
          <a:xfrm>
            <a:off x="4038600" y="3177540"/>
            <a:ext cx="320040" cy="274320"/>
          </a:xfrm>
          <a:prstGeom prst="rightArrow">
            <a:avLst/>
          </a:prstGeom>
          <a:solidFill>
            <a:srgbClr val="A9B4C4"/>
          </a:solidFill>
          <a:ln>
            <a:noFill/>
          </a:ln>
        </p:spPr>
      </p:sp>
      <p:sp>
        <p:nvSpPr>
          <p:cNvPr id="17" name="Arrow 17"/>
          <p:cNvSpPr/>
          <p:nvPr/>
        </p:nvSpPr>
        <p:spPr>
          <a:xfrm>
            <a:off x="7833360" y="3177540"/>
            <a:ext cx="320040" cy="274320"/>
          </a:xfrm>
          <a:prstGeom prst="rightArrow">
            <a:avLst/>
          </a:prstGeom>
          <a:solidFill>
            <a:srgbClr val="A9B4C4"/>
          </a:solidFill>
          <a:ln>
            <a:noFill/>
          </a:ln>
        </p:spPr>
      </p:sp>
      <p:sp>
        <p:nvSpPr>
          <p:cNvPr id="18" name="Cap 18"/>
          <p:cNvSpPr/>
          <p:nvPr/>
        </p:nvSpPr>
        <p:spPr>
          <a:xfrm>
            <a:off x="609600" y="4434840"/>
            <a:ext cx="3383280" cy="320040"/>
          </a:xfrm>
          <a:prstGeom prst="rect">
            <a:avLst/>
          </a:prstGeom>
          <a:noFill/>
          <a:ln/>
        </p:spPr>
        <p:txBody>
          <a:bodyPr wrap="square" lIns="0" tIns="0" rIns="0" bIns="0" rtlCol="0" anchor="ctr"/>
          <a:lstStyle/>
          <a:p>
            <a:pPr marL="0" indent="0" algn="ctr">
              <a:buNone/>
            </a:pPr>
            <a:r>
              <a:rPr lang="en-US" sz="1000">
                <a:solidFill>
                  <a:srgbClr val="8A929E"/>
                </a:solidFill>
                <a:latin typeface="Arial" pitchFamily="34" charset="0"/>
                <a:ea typeface="Arial" pitchFamily="34" charset="-122"/>
                <a:cs typeface="Arial" pitchFamily="34" charset="-120"/>
              </a:rPr>
              <a:t>모델 학습 · 양자화 보정</a:t>
            </a:r>
            <a:endParaRPr lang="en-US" sz="1000"/>
          </a:p>
        </p:txBody>
      </p:sp>
      <p:sp>
        <p:nvSpPr>
          <p:cNvPr id="19" name="Cap 19"/>
          <p:cNvSpPr/>
          <p:nvPr/>
        </p:nvSpPr>
        <p:spPr>
          <a:xfrm>
            <a:off x="4404360" y="4434840"/>
            <a:ext cx="3383280" cy="320040"/>
          </a:xfrm>
          <a:prstGeom prst="rect">
            <a:avLst/>
          </a:prstGeom>
          <a:noFill/>
          <a:ln/>
        </p:spPr>
        <p:txBody>
          <a:bodyPr wrap="square" lIns="0" tIns="0" rIns="0" bIns="0" rtlCol="0" anchor="ctr"/>
          <a:lstStyle/>
          <a:p>
            <a:pPr marL="0" indent="0" algn="ctr">
              <a:buNone/>
            </a:pPr>
            <a:r>
              <a:rPr lang="en-US" sz="1000">
                <a:solidFill>
                  <a:srgbClr val="8A929E"/>
                </a:solidFill>
                <a:latin typeface="Arial" pitchFamily="34" charset="0"/>
                <a:ea typeface="Arial" pitchFamily="34" charset="-122"/>
                <a:cs typeface="Arial" pitchFamily="34" charset="-120"/>
              </a:rPr>
              <a:t>IP 설계 · 합성 · 배선/Bitstream</a:t>
            </a:r>
            <a:endParaRPr lang="en-US" sz="1000"/>
          </a:p>
        </p:txBody>
      </p:sp>
      <p:sp>
        <p:nvSpPr>
          <p:cNvPr id="20" name="Cap 20"/>
          <p:cNvSpPr/>
          <p:nvPr/>
        </p:nvSpPr>
        <p:spPr>
          <a:xfrm>
            <a:off x="8199120" y="4434840"/>
            <a:ext cx="3383280" cy="320040"/>
          </a:xfrm>
          <a:prstGeom prst="rect">
            <a:avLst/>
          </a:prstGeom>
          <a:noFill/>
          <a:ln/>
        </p:spPr>
        <p:txBody>
          <a:bodyPr wrap="square" lIns="0" tIns="0" rIns="0" bIns="0" rtlCol="0" anchor="ctr"/>
          <a:lstStyle/>
          <a:p>
            <a:pPr marL="0" indent="0" algn="ctr">
              <a:buNone/>
            </a:pPr>
            <a:r>
              <a:rPr lang="en-US" sz="1000">
                <a:solidFill>
                  <a:srgbClr val="8A929E"/>
                </a:solidFill>
                <a:latin typeface="Arial" pitchFamily="34" charset="0"/>
                <a:ea typeface="Arial" pitchFamily="34" charset="-122"/>
                <a:cs typeface="Arial" pitchFamily="34" charset="-120"/>
              </a:rPr>
              <a:t>실시간 추론 · 웹캠 시각화</a:t>
            </a:r>
            <a:endParaRPr lang="en-US" sz="1000"/>
          </a:p>
        </p:txBody>
      </p:sp>
    </p:spTree>
    <p:extLst>
      <p:ext uri="{BB962C8B-B14F-4D97-AF65-F5344CB8AC3E}">
        <p14:creationId xmlns:p14="http://schemas.microsoft.com/office/powerpoint/2010/main" val="1889654302"/>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D14FB-6204-770B-178E-8D55486BF59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5D575F3-70C4-C2CF-6BF7-38B0EE867086}"/>
              </a:ext>
            </a:extLst>
          </p:cNvPr>
          <p:cNvSpPr/>
          <p:nvPr/>
        </p:nvSpPr>
        <p:spPr>
          <a:xfrm>
            <a:off x="456837" y="174535"/>
            <a:ext cx="11094415" cy="822960"/>
          </a:xfrm>
          <a:prstGeom prst="rect">
            <a:avLst/>
          </a:prstGeom>
          <a:noFill/>
          <a:ln/>
        </p:spPr>
        <p:txBody>
          <a:bodyPr wrap="square" lIns="0" tIns="0" rIns="0" bIns="0" rtlCol="0" anchor="ctr"/>
          <a:lstStyle/>
          <a:p>
            <a:pPr algn="ctr"/>
            <a:r>
              <a:rPr lang="ko-KR" altLang="en-US" sz="4000" b="1">
                <a:solidFill>
                  <a:srgbClr val="1F3B66"/>
                </a:solidFill>
                <a:latin typeface="Arial"/>
                <a:ea typeface="맑은 고딕"/>
                <a:cs typeface="Arial"/>
              </a:rPr>
              <a:t>SW Model</a:t>
            </a:r>
          </a:p>
          <a:p>
            <a:pPr algn="ctr"/>
            <a:r>
              <a:rPr lang="ko-KR" altLang="en-US" b="1">
                <a:solidFill>
                  <a:srgbClr val="0070C0"/>
                </a:solidFill>
                <a:latin typeface="Arial"/>
                <a:ea typeface="맑은 고딕"/>
                <a:cs typeface="Arial"/>
              </a:rPr>
              <a:t>Construction site safety PPE detection(yolov8n)</a:t>
            </a:r>
          </a:p>
        </p:txBody>
      </p:sp>
      <p:pic>
        <p:nvPicPr>
          <p:cNvPr id="7" name="그림 6">
            <a:extLst>
              <a:ext uri="{FF2B5EF4-FFF2-40B4-BE49-F238E27FC236}">
                <a16:creationId xmlns:a16="http://schemas.microsoft.com/office/drawing/2014/main" id="{B37D9372-4C84-A7BA-3A55-E78B59F2B3C6}"/>
              </a:ext>
            </a:extLst>
          </p:cNvPr>
          <p:cNvPicPr>
            <a:picLocks noChangeAspect="1"/>
          </p:cNvPicPr>
          <p:nvPr/>
        </p:nvPicPr>
        <p:blipFill>
          <a:blip r:embed="rId2"/>
          <a:stretch>
            <a:fillRect/>
          </a:stretch>
        </p:blipFill>
        <p:spPr>
          <a:xfrm>
            <a:off x="2245261" y="1181557"/>
            <a:ext cx="7508240" cy="5012055"/>
          </a:xfrm>
          <a:prstGeom prst="rect">
            <a:avLst/>
          </a:prstGeom>
        </p:spPr>
      </p:pic>
      <p:sp>
        <p:nvSpPr>
          <p:cNvPr id="13" name="TextBox 12">
            <a:extLst>
              <a:ext uri="{FF2B5EF4-FFF2-40B4-BE49-F238E27FC236}">
                <a16:creationId xmlns:a16="http://schemas.microsoft.com/office/drawing/2014/main" id="{85686185-31F6-E4A0-5369-A4352F97560D}"/>
              </a:ext>
            </a:extLst>
          </p:cNvPr>
          <p:cNvSpPr txBox="1"/>
          <p:nvPr/>
        </p:nvSpPr>
        <p:spPr>
          <a:xfrm>
            <a:off x="2236518" y="6452259"/>
            <a:ext cx="772885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1200">
                <a:ea typeface="맑은 고딕"/>
                <a:cs typeface="Calibri"/>
              </a:rPr>
              <a:t>출처: </a:t>
            </a:r>
            <a:r>
              <a:rPr lang="ko-KR" sz="1200">
                <a:ea typeface="+mn-lt"/>
                <a:cs typeface="+mn-lt"/>
              </a:rPr>
              <a:t>https://github.com/snehilsanyal/Construction-Site-Safety-PPE-Detection</a:t>
            </a:r>
            <a:endParaRPr lang="ko-KR" altLang="en-US" sz="1200">
              <a:ea typeface="맑은 고딕"/>
              <a:cs typeface="Calibri"/>
            </a:endParaRPr>
          </a:p>
        </p:txBody>
      </p:sp>
    </p:spTree>
    <p:extLst>
      <p:ext uri="{BB962C8B-B14F-4D97-AF65-F5344CB8AC3E}">
        <p14:creationId xmlns:p14="http://schemas.microsoft.com/office/powerpoint/2010/main" val="3598179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09597"/>
            <a:ext cx="11277295" cy="502920"/>
          </a:xfrm>
          <a:prstGeom prst="rect">
            <a:avLst/>
          </a:prstGeom>
          <a:noFill/>
          <a:ln/>
        </p:spPr>
        <p:txBody>
          <a:bodyPr wrap="square" lIns="0" tIns="0" rIns="0" bIns="0" rtlCol="0" anchor="ctr"/>
          <a:lstStyle/>
          <a:p>
            <a:pPr marL="0" indent="0" algn="ctr">
              <a:buNone/>
            </a:pPr>
            <a:r>
              <a:rPr lang="en-US" sz="2600" b="1">
                <a:solidFill>
                  <a:srgbClr val="1F3B66"/>
                </a:solidFill>
                <a:latin typeface="Arial" pitchFamily="34" charset="0"/>
                <a:ea typeface="Arial" pitchFamily="34" charset="-122"/>
                <a:cs typeface="Arial" pitchFamily="34" charset="-120"/>
              </a:rPr>
              <a:t>프로젝트 동기 — 왜 하드웨어 가속인가</a:t>
            </a:r>
            <a:endParaRPr lang="en-US" sz="2600"/>
          </a:p>
        </p:txBody>
      </p:sp>
      <p:sp>
        <p:nvSpPr>
          <p:cNvPr id="4" name="Shape 4"/>
          <p:cNvSpPr/>
          <p:nvPr/>
        </p:nvSpPr>
        <p:spPr>
          <a:xfrm>
            <a:off x="322580" y="1433286"/>
            <a:ext cx="5638800" cy="2130000"/>
          </a:xfrm>
          <a:prstGeom prst="roundRect">
            <a:avLst>
              <a:gd name="adj" fmla="val 4348"/>
            </a:avLst>
          </a:prstGeom>
          <a:solidFill>
            <a:srgbClr val="EAF0FA"/>
          </a:solidFill>
          <a:ln/>
        </p:spPr>
      </p:sp>
      <p:sp>
        <p:nvSpPr>
          <p:cNvPr id="5" name="Text 5"/>
          <p:cNvSpPr/>
          <p:nvPr/>
        </p:nvSpPr>
        <p:spPr>
          <a:xfrm>
            <a:off x="642620" y="1661886"/>
            <a:ext cx="4998720" cy="41148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① 병렬성</a:t>
            </a:r>
            <a:endParaRPr lang="en-US" sz="1500"/>
          </a:p>
        </p:txBody>
      </p:sp>
      <p:sp>
        <p:nvSpPr>
          <p:cNvPr id="6" name="Text 6"/>
          <p:cNvSpPr/>
          <p:nvPr/>
        </p:nvSpPr>
        <p:spPr>
          <a:xfrm>
            <a:off x="642620" y="2119086"/>
            <a:ext cx="4998720" cy="800100"/>
          </a:xfrm>
          <a:prstGeom prst="rect">
            <a:avLst/>
          </a:prstGeom>
          <a:noFill/>
          <a:ln/>
        </p:spPr>
        <p:txBody>
          <a:bodyPr wrap="square" lIns="0" tIns="0" rIns="0" bIns="0" rtlCol="0" anchor="t"/>
          <a:lstStyle/>
          <a:p>
            <a:pPr marL="0" indent="0" algn="l">
              <a:lnSpc>
                <a:spcPct val="112000"/>
              </a:lnSpc>
              <a:spcAft>
                <a:spcPts val="500"/>
              </a:spcAft>
              <a:buNone/>
            </a:pPr>
            <a:r>
              <a:rPr lang="en-US" sz="1400" err="1">
                <a:solidFill>
                  <a:srgbClr val="2E3B52"/>
                </a:solidFill>
                <a:latin typeface="Arial"/>
                <a:ea typeface="Arial" pitchFamily="34" charset="-122"/>
                <a:cs typeface="Arial"/>
              </a:rPr>
              <a:t>CPU는</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연산을</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하나씩</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순서대로</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처리하지만</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하드웨어는</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여러</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연산을</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동시에</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처리하는</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회로를</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직접</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만들</a:t>
            </a:r>
            <a:r>
              <a:rPr lang="en-US" sz="1400">
                <a:solidFill>
                  <a:srgbClr val="2E3B52"/>
                </a:solidFill>
                <a:latin typeface="Arial"/>
                <a:ea typeface="Arial" pitchFamily="34" charset="-122"/>
                <a:cs typeface="Arial"/>
              </a:rPr>
              <a:t> 수 </a:t>
            </a:r>
            <a:r>
              <a:rPr lang="en-US" sz="1400" err="1">
                <a:solidFill>
                  <a:srgbClr val="2E3B52"/>
                </a:solidFill>
                <a:latin typeface="Arial"/>
                <a:ea typeface="Arial" pitchFamily="34" charset="-122"/>
                <a:cs typeface="Arial"/>
              </a:rPr>
              <a:t>있음</a:t>
            </a:r>
            <a:endParaRPr lang="en-US" sz="1400">
              <a:solidFill>
                <a:srgbClr val="2E3B52"/>
              </a:solidFill>
              <a:latin typeface="Arial"/>
              <a:ea typeface="Arial" pitchFamily="34" charset="-122"/>
              <a:cs typeface="Arial"/>
            </a:endParaRPr>
          </a:p>
        </p:txBody>
      </p:sp>
      <p:sp>
        <p:nvSpPr>
          <p:cNvPr id="7" name="Text 7"/>
          <p:cNvSpPr/>
          <p:nvPr/>
        </p:nvSpPr>
        <p:spPr>
          <a:xfrm>
            <a:off x="642620" y="3151806"/>
            <a:ext cx="4998720" cy="320040"/>
          </a:xfrm>
          <a:prstGeom prst="rect">
            <a:avLst/>
          </a:prstGeom>
          <a:noFill/>
          <a:ln/>
        </p:spPr>
        <p:txBody>
          <a:bodyPr wrap="square" lIns="0" tIns="0" rIns="0" bIns="0" rtlCol="0" anchor="b"/>
          <a:lstStyle/>
          <a:p>
            <a:pPr marL="0" indent="0" algn="l">
              <a:buNone/>
            </a:pPr>
            <a:r>
              <a:rPr lang="en-US" sz="1050">
                <a:solidFill>
                  <a:srgbClr val="8A929E"/>
                </a:solidFill>
                <a:latin typeface="Arial" pitchFamily="34" charset="0"/>
                <a:ea typeface="Arial" pitchFamily="34" charset="-122"/>
                <a:cs typeface="Arial" pitchFamily="34" charset="-120"/>
              </a:rPr>
              <a:t>예: conv3x3의 16채널 동시 처리(IC_UF=16)</a:t>
            </a:r>
            <a:endParaRPr lang="en-US" sz="1050"/>
          </a:p>
        </p:txBody>
      </p:sp>
      <p:sp>
        <p:nvSpPr>
          <p:cNvPr id="8" name="Shape 8"/>
          <p:cNvSpPr/>
          <p:nvPr/>
        </p:nvSpPr>
        <p:spPr>
          <a:xfrm>
            <a:off x="6235700" y="1433286"/>
            <a:ext cx="5638800" cy="2130000"/>
          </a:xfrm>
          <a:prstGeom prst="roundRect">
            <a:avLst>
              <a:gd name="adj" fmla="val 4348"/>
            </a:avLst>
          </a:prstGeom>
          <a:solidFill>
            <a:srgbClr val="EAF0FA"/>
          </a:solidFill>
          <a:ln/>
        </p:spPr>
      </p:sp>
      <p:sp>
        <p:nvSpPr>
          <p:cNvPr id="9" name="Text 9"/>
          <p:cNvSpPr/>
          <p:nvPr/>
        </p:nvSpPr>
        <p:spPr>
          <a:xfrm>
            <a:off x="6555740" y="1661886"/>
            <a:ext cx="4998720" cy="41148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② 전력 효율</a:t>
            </a:r>
            <a:endParaRPr lang="en-US" sz="1500"/>
          </a:p>
        </p:txBody>
      </p:sp>
      <p:sp>
        <p:nvSpPr>
          <p:cNvPr id="10" name="Text 10"/>
          <p:cNvSpPr/>
          <p:nvPr/>
        </p:nvSpPr>
        <p:spPr>
          <a:xfrm>
            <a:off x="6555740" y="2119086"/>
            <a:ext cx="4998720" cy="800100"/>
          </a:xfrm>
          <a:prstGeom prst="rect">
            <a:avLst/>
          </a:prstGeom>
          <a:noFill/>
          <a:ln/>
        </p:spPr>
        <p:txBody>
          <a:bodyPr wrap="square" lIns="0" tIns="0" rIns="0" bIns="0" rtlCol="0" anchor="t"/>
          <a:lstStyle/>
          <a:p>
            <a:pPr marL="0" indent="0" algn="l">
              <a:lnSpc>
                <a:spcPct val="112000"/>
              </a:lnSpc>
              <a:spcAft>
                <a:spcPts val="500"/>
              </a:spcAft>
              <a:buNone/>
            </a:pPr>
            <a:r>
              <a:rPr lang="en-US" sz="1400" err="1">
                <a:solidFill>
                  <a:srgbClr val="2E3B52"/>
                </a:solidFill>
                <a:latin typeface="Arial"/>
                <a:ea typeface="Arial" pitchFamily="34" charset="-122"/>
                <a:cs typeface="Arial"/>
              </a:rPr>
              <a:t>CPU는</a:t>
            </a:r>
            <a:r>
              <a:rPr lang="en-US" sz="1400">
                <a:solidFill>
                  <a:srgbClr val="2E3B52"/>
                </a:solidFill>
                <a:latin typeface="Arial"/>
                <a:ea typeface="Arial" pitchFamily="34" charset="-122"/>
                <a:cs typeface="Arial"/>
              </a:rPr>
              <a:t> 매 </a:t>
            </a:r>
            <a:r>
              <a:rPr lang="en-US" sz="1400" err="1">
                <a:solidFill>
                  <a:srgbClr val="2E3B52"/>
                </a:solidFill>
                <a:latin typeface="Arial"/>
                <a:ea typeface="Arial" pitchFamily="34" charset="-122"/>
                <a:cs typeface="Arial"/>
              </a:rPr>
              <a:t>연산마다</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명령어를</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읽고</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해석하는</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오버헤드가</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있지만</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하드웨어는</a:t>
            </a:r>
            <a:r>
              <a:rPr lang="en-US" sz="1400">
                <a:solidFill>
                  <a:srgbClr val="2E3B52"/>
                </a:solidFill>
                <a:latin typeface="Arial"/>
                <a:ea typeface="Arial" pitchFamily="34" charset="-122"/>
                <a:cs typeface="Arial"/>
              </a:rPr>
              <a:t> 그 </a:t>
            </a:r>
            <a:r>
              <a:rPr lang="en-US" sz="1400" err="1">
                <a:solidFill>
                  <a:srgbClr val="2E3B52"/>
                </a:solidFill>
                <a:latin typeface="Arial"/>
                <a:ea typeface="Arial" pitchFamily="34" charset="-122"/>
                <a:cs typeface="Arial"/>
              </a:rPr>
              <a:t>연산</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전용</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회로만</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존재해</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훨씬</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적은</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전력으로</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동작</a:t>
            </a:r>
            <a:endParaRPr lang="en-US" sz="1400">
              <a:solidFill>
                <a:srgbClr val="2E3B52"/>
              </a:solidFill>
              <a:latin typeface="Arial"/>
              <a:ea typeface="Arial" pitchFamily="34" charset="-122"/>
              <a:cs typeface="Arial"/>
            </a:endParaRPr>
          </a:p>
        </p:txBody>
      </p:sp>
      <p:sp>
        <p:nvSpPr>
          <p:cNvPr id="11" name="Text 11"/>
          <p:cNvSpPr/>
          <p:nvPr/>
        </p:nvSpPr>
        <p:spPr>
          <a:xfrm>
            <a:off x="6555740" y="3151806"/>
            <a:ext cx="4998720" cy="320040"/>
          </a:xfrm>
          <a:prstGeom prst="rect">
            <a:avLst/>
          </a:prstGeom>
          <a:noFill/>
          <a:ln/>
        </p:spPr>
        <p:txBody>
          <a:bodyPr wrap="square" lIns="0" tIns="0" rIns="0" bIns="0" rtlCol="0" anchor="b"/>
          <a:lstStyle/>
          <a:p>
            <a:pPr marL="0" indent="0" algn="l">
              <a:buNone/>
            </a:pPr>
            <a:r>
              <a:rPr lang="en-US" sz="1050">
                <a:solidFill>
                  <a:srgbClr val="8A929E"/>
                </a:solidFill>
                <a:latin typeface="Arial" pitchFamily="34" charset="0"/>
                <a:ea typeface="Arial" pitchFamily="34" charset="-122"/>
                <a:cs typeface="Arial" pitchFamily="34" charset="-120"/>
              </a:rPr>
              <a:t>범용 처리기 대비 연산당 전력 소모 감소</a:t>
            </a:r>
            <a:endParaRPr lang="en-US" sz="1050"/>
          </a:p>
        </p:txBody>
      </p:sp>
      <p:sp>
        <p:nvSpPr>
          <p:cNvPr id="12" name="Shape 12"/>
          <p:cNvSpPr/>
          <p:nvPr/>
        </p:nvSpPr>
        <p:spPr>
          <a:xfrm>
            <a:off x="322580" y="3791886"/>
            <a:ext cx="5638800" cy="2130000"/>
          </a:xfrm>
          <a:prstGeom prst="roundRect">
            <a:avLst>
              <a:gd name="adj" fmla="val 4348"/>
            </a:avLst>
          </a:prstGeom>
          <a:solidFill>
            <a:srgbClr val="EAF0FA"/>
          </a:solidFill>
          <a:ln/>
        </p:spPr>
      </p:sp>
      <p:sp>
        <p:nvSpPr>
          <p:cNvPr id="13" name="Text 13"/>
          <p:cNvSpPr/>
          <p:nvPr/>
        </p:nvSpPr>
        <p:spPr>
          <a:xfrm>
            <a:off x="642620" y="4020486"/>
            <a:ext cx="4998720" cy="41148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③ 결정론적 실행 시간</a:t>
            </a:r>
            <a:endParaRPr lang="en-US" sz="1500"/>
          </a:p>
        </p:txBody>
      </p:sp>
      <p:sp>
        <p:nvSpPr>
          <p:cNvPr id="14" name="Text 14"/>
          <p:cNvSpPr/>
          <p:nvPr/>
        </p:nvSpPr>
        <p:spPr>
          <a:xfrm>
            <a:off x="642620" y="4477686"/>
            <a:ext cx="4998720" cy="800100"/>
          </a:xfrm>
          <a:prstGeom prst="rect">
            <a:avLst/>
          </a:prstGeom>
          <a:noFill/>
          <a:ln/>
        </p:spPr>
        <p:txBody>
          <a:bodyPr wrap="square" lIns="0" tIns="0" rIns="0" bIns="0" rtlCol="0" anchor="t"/>
          <a:lstStyle/>
          <a:p>
            <a:pPr>
              <a:lnSpc>
                <a:spcPct val="112000"/>
              </a:lnSpc>
              <a:spcAft>
                <a:spcPts val="500"/>
              </a:spcAft>
            </a:pPr>
            <a:r>
              <a:rPr lang="en-US" sz="1400" err="1">
                <a:solidFill>
                  <a:srgbClr val="2E3B52"/>
                </a:solidFill>
                <a:latin typeface="Arial"/>
                <a:ea typeface="Arial" pitchFamily="34" charset="-122"/>
                <a:cs typeface="Arial"/>
              </a:rPr>
              <a:t>CPU는</a:t>
            </a:r>
            <a:r>
              <a:rPr lang="en-US" sz="1400">
                <a:solidFill>
                  <a:srgbClr val="2E3B52"/>
                </a:solidFill>
                <a:latin typeface="Arial"/>
                <a:ea typeface="Arial" pitchFamily="34" charset="-122"/>
                <a:cs typeface="Arial"/>
              </a:rPr>
              <a:t> OS</a:t>
            </a:r>
            <a:r>
              <a:rPr lang="ko-KR" altLang="en-US" sz="1400">
                <a:solidFill>
                  <a:srgbClr val="2E3B52"/>
                </a:solidFill>
                <a:latin typeface="Arial"/>
                <a:ea typeface="Arial" pitchFamily="34" charset="-122"/>
                <a:cs typeface="Arial"/>
              </a:rPr>
              <a:t>간섭이나</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캐시메모리 때문에</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매번</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처리</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시간이</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달라질</a:t>
            </a:r>
            <a:r>
              <a:rPr lang="en-US" sz="1400">
                <a:solidFill>
                  <a:srgbClr val="2E3B52"/>
                </a:solidFill>
                <a:latin typeface="Arial"/>
                <a:ea typeface="Arial" pitchFamily="34" charset="-122"/>
                <a:cs typeface="Arial"/>
              </a:rPr>
              <a:t> 수 </a:t>
            </a:r>
            <a:r>
              <a:rPr lang="en-US" sz="1400" err="1">
                <a:solidFill>
                  <a:srgbClr val="2E3B52"/>
                </a:solidFill>
                <a:latin typeface="Arial"/>
                <a:ea typeface="Arial" pitchFamily="34" charset="-122"/>
                <a:cs typeface="Arial"/>
              </a:rPr>
              <a:t>있지만</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하드웨어는</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고정되어</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매번</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같은</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시간이</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걸림</a:t>
            </a:r>
            <a:r>
              <a:rPr lang="en-US" sz="1400">
                <a:solidFill>
                  <a:srgbClr val="2E3B52"/>
                </a:solidFill>
                <a:latin typeface="Arial"/>
                <a:ea typeface="Arial" pitchFamily="34" charset="-122"/>
                <a:cs typeface="Arial"/>
              </a:rPr>
              <a:t>.</a:t>
            </a:r>
            <a:endParaRPr lang="en-US" altLang="ko-KR" sz="1400">
              <a:solidFill>
                <a:srgbClr val="2E3B52"/>
              </a:solidFill>
              <a:latin typeface="Arial"/>
              <a:ea typeface="맑은 고딕"/>
              <a:cs typeface="Arial"/>
            </a:endParaRPr>
          </a:p>
        </p:txBody>
      </p:sp>
      <p:sp>
        <p:nvSpPr>
          <p:cNvPr id="15" name="Text 15"/>
          <p:cNvSpPr/>
          <p:nvPr/>
        </p:nvSpPr>
        <p:spPr>
          <a:xfrm>
            <a:off x="642620" y="5510406"/>
            <a:ext cx="4998720" cy="320040"/>
          </a:xfrm>
          <a:prstGeom prst="rect">
            <a:avLst/>
          </a:prstGeom>
          <a:noFill/>
          <a:ln/>
        </p:spPr>
        <p:txBody>
          <a:bodyPr wrap="square" lIns="0" tIns="0" rIns="0" bIns="0" rtlCol="0" anchor="b"/>
          <a:lstStyle/>
          <a:p>
            <a:r>
              <a:rPr lang="en-US" sz="1050" err="1">
                <a:solidFill>
                  <a:srgbClr val="8A929E"/>
                </a:solidFill>
                <a:latin typeface="Arial"/>
                <a:ea typeface="Arial" pitchFamily="34" charset="-122"/>
                <a:cs typeface="Arial"/>
              </a:rPr>
              <a:t>실시간성이</a:t>
            </a:r>
            <a:r>
              <a:rPr lang="en-US" sz="1050">
                <a:solidFill>
                  <a:srgbClr val="8A929E"/>
                </a:solidFill>
                <a:latin typeface="Arial"/>
                <a:ea typeface="Arial" pitchFamily="34" charset="-122"/>
                <a:cs typeface="Arial"/>
              </a:rPr>
              <a:t> </a:t>
            </a:r>
            <a:r>
              <a:rPr lang="en-US" sz="1050" err="1">
                <a:solidFill>
                  <a:srgbClr val="8A929E"/>
                </a:solidFill>
                <a:latin typeface="Arial"/>
                <a:ea typeface="Arial" pitchFamily="34" charset="-122"/>
                <a:cs typeface="Arial"/>
              </a:rPr>
              <a:t>중요한</a:t>
            </a:r>
            <a:r>
              <a:rPr lang="en-US" sz="1050">
                <a:solidFill>
                  <a:srgbClr val="8A929E"/>
                </a:solidFill>
                <a:latin typeface="Arial"/>
                <a:ea typeface="Arial" pitchFamily="34" charset="-122"/>
                <a:cs typeface="Arial"/>
              </a:rPr>
              <a:t> </a:t>
            </a:r>
            <a:r>
              <a:rPr lang="en-US" sz="1050" err="1">
                <a:solidFill>
                  <a:srgbClr val="8A929E"/>
                </a:solidFill>
                <a:latin typeface="Arial"/>
                <a:ea typeface="Arial" pitchFamily="34" charset="-122"/>
                <a:cs typeface="Arial"/>
              </a:rPr>
              <a:t>응용</a:t>
            </a:r>
            <a:r>
              <a:rPr lang="en-US" sz="1050">
                <a:solidFill>
                  <a:srgbClr val="8A929E"/>
                </a:solidFill>
                <a:latin typeface="Arial"/>
                <a:ea typeface="Arial" pitchFamily="34" charset="-122"/>
                <a:cs typeface="Arial"/>
              </a:rPr>
              <a:t>(</a:t>
            </a:r>
            <a:r>
              <a:rPr lang="en-US" sz="1050" err="1">
                <a:solidFill>
                  <a:srgbClr val="8A929E"/>
                </a:solidFill>
                <a:latin typeface="Arial"/>
                <a:ea typeface="Arial" pitchFamily="34" charset="-122"/>
                <a:cs typeface="Arial"/>
              </a:rPr>
              <a:t>자율주행</a:t>
            </a:r>
            <a:r>
              <a:rPr lang="en-US" sz="1050">
                <a:solidFill>
                  <a:srgbClr val="8A929E"/>
                </a:solidFill>
                <a:latin typeface="Arial"/>
                <a:ea typeface="Arial" pitchFamily="34" charset="-122"/>
                <a:cs typeface="Arial"/>
              </a:rPr>
              <a:t> </a:t>
            </a:r>
            <a:r>
              <a:rPr lang="ko-KR" altLang="en-US" sz="1050">
                <a:solidFill>
                  <a:srgbClr val="8A929E"/>
                </a:solidFill>
                <a:latin typeface="Arial"/>
                <a:ea typeface="Arial" pitchFamily="34" charset="-122"/>
                <a:cs typeface="Arial"/>
              </a:rPr>
              <a:t>브레이크</a:t>
            </a:r>
            <a:r>
              <a:rPr lang="en-US" sz="1050">
                <a:solidFill>
                  <a:srgbClr val="8A929E"/>
                </a:solidFill>
                <a:latin typeface="Arial"/>
                <a:ea typeface="Arial" pitchFamily="34" charset="-122"/>
                <a:cs typeface="Arial"/>
              </a:rPr>
              <a:t>, </a:t>
            </a:r>
            <a:r>
              <a:rPr lang="en-US" sz="1050" err="1">
                <a:solidFill>
                  <a:srgbClr val="8A929E"/>
                </a:solidFill>
                <a:latin typeface="Arial"/>
                <a:ea typeface="Arial" pitchFamily="34" charset="-122"/>
                <a:cs typeface="Arial"/>
              </a:rPr>
              <a:t>안전</a:t>
            </a:r>
            <a:r>
              <a:rPr lang="en-US" sz="1050">
                <a:solidFill>
                  <a:srgbClr val="8A929E"/>
                </a:solidFill>
                <a:latin typeface="Arial"/>
                <a:ea typeface="Arial" pitchFamily="34" charset="-122"/>
                <a:cs typeface="Arial"/>
              </a:rPr>
              <a:t> </a:t>
            </a:r>
            <a:r>
              <a:rPr lang="en-US" sz="1050" err="1">
                <a:solidFill>
                  <a:srgbClr val="8A929E"/>
                </a:solidFill>
                <a:latin typeface="Arial"/>
                <a:ea typeface="Arial" pitchFamily="34" charset="-122"/>
                <a:cs typeface="Arial"/>
              </a:rPr>
              <a:t>감시</a:t>
            </a:r>
            <a:r>
              <a:rPr lang="en-US" sz="1050">
                <a:solidFill>
                  <a:srgbClr val="8A929E"/>
                </a:solidFill>
                <a:latin typeface="Arial"/>
                <a:ea typeface="Arial" pitchFamily="34" charset="-122"/>
                <a:cs typeface="Arial"/>
              </a:rPr>
              <a:t> 등)에 </a:t>
            </a:r>
            <a:r>
              <a:rPr lang="en-US" sz="1050" err="1">
                <a:solidFill>
                  <a:srgbClr val="8A929E"/>
                </a:solidFill>
                <a:latin typeface="Arial"/>
                <a:ea typeface="Arial" pitchFamily="34" charset="-122"/>
                <a:cs typeface="Arial"/>
              </a:rPr>
              <a:t>유리</a:t>
            </a:r>
            <a:endParaRPr lang="en-US" sz="1050" err="1">
              <a:latin typeface="Arial"/>
              <a:cs typeface="Arial"/>
            </a:endParaRPr>
          </a:p>
        </p:txBody>
      </p:sp>
      <p:sp>
        <p:nvSpPr>
          <p:cNvPr id="16" name="Shape 16"/>
          <p:cNvSpPr/>
          <p:nvPr/>
        </p:nvSpPr>
        <p:spPr>
          <a:xfrm>
            <a:off x="6235700" y="3791886"/>
            <a:ext cx="5638800" cy="2130000"/>
          </a:xfrm>
          <a:prstGeom prst="roundRect">
            <a:avLst>
              <a:gd name="adj" fmla="val 4348"/>
            </a:avLst>
          </a:prstGeom>
          <a:solidFill>
            <a:srgbClr val="EAF0FA"/>
          </a:solidFill>
          <a:ln/>
        </p:spPr>
      </p:sp>
      <p:sp>
        <p:nvSpPr>
          <p:cNvPr id="17" name="Text 17"/>
          <p:cNvSpPr/>
          <p:nvPr/>
        </p:nvSpPr>
        <p:spPr>
          <a:xfrm>
            <a:off x="6555740" y="4020486"/>
            <a:ext cx="4998720" cy="41148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④ CPU 자원 분리(Offloading)</a:t>
            </a:r>
            <a:endParaRPr lang="en-US" sz="1500"/>
          </a:p>
        </p:txBody>
      </p:sp>
      <p:sp>
        <p:nvSpPr>
          <p:cNvPr id="18" name="Text 18"/>
          <p:cNvSpPr/>
          <p:nvPr/>
        </p:nvSpPr>
        <p:spPr>
          <a:xfrm>
            <a:off x="6555740" y="4477686"/>
            <a:ext cx="4998720" cy="800100"/>
          </a:xfrm>
          <a:prstGeom prst="rect">
            <a:avLst/>
          </a:prstGeom>
          <a:noFill/>
          <a:ln/>
        </p:spPr>
        <p:txBody>
          <a:bodyPr wrap="square" lIns="0" tIns="0" rIns="0" bIns="0" rtlCol="0" anchor="t"/>
          <a:lstStyle/>
          <a:p>
            <a:pPr marL="0" indent="0" algn="l">
              <a:lnSpc>
                <a:spcPct val="112000"/>
              </a:lnSpc>
              <a:spcAft>
                <a:spcPts val="500"/>
              </a:spcAft>
              <a:buNone/>
            </a:pPr>
            <a:r>
              <a:rPr lang="en-US" sz="1400" err="1">
                <a:solidFill>
                  <a:srgbClr val="2E3B52"/>
                </a:solidFill>
                <a:latin typeface="Arial"/>
                <a:ea typeface="Arial" pitchFamily="34" charset="-122"/>
                <a:cs typeface="Arial"/>
              </a:rPr>
              <a:t>특정</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연산을</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하드웨어로</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떼어내면</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CPU는</a:t>
            </a:r>
            <a:r>
              <a:rPr lang="en-US" sz="1400">
                <a:solidFill>
                  <a:srgbClr val="2E3B52"/>
                </a:solidFill>
                <a:latin typeface="Arial"/>
                <a:ea typeface="Arial" pitchFamily="34" charset="-122"/>
                <a:cs typeface="Arial"/>
              </a:rPr>
              <a:t> 그 </a:t>
            </a:r>
            <a:r>
              <a:rPr lang="en-US" sz="1400" err="1">
                <a:solidFill>
                  <a:srgbClr val="2E3B52"/>
                </a:solidFill>
                <a:latin typeface="Arial"/>
                <a:ea typeface="Arial" pitchFamily="34" charset="-122"/>
                <a:cs typeface="Arial"/>
              </a:rPr>
              <a:t>시간</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동안</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다른</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작업을</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동시에</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처리할</a:t>
            </a:r>
            <a:r>
              <a:rPr lang="en-US" sz="1400">
                <a:solidFill>
                  <a:srgbClr val="2E3B52"/>
                </a:solidFill>
                <a:latin typeface="Arial"/>
                <a:ea typeface="Arial" pitchFamily="34" charset="-122"/>
                <a:cs typeface="Arial"/>
              </a:rPr>
              <a:t> 수 </a:t>
            </a:r>
            <a:r>
              <a:rPr lang="en-US" sz="1400" err="1">
                <a:solidFill>
                  <a:srgbClr val="2E3B52"/>
                </a:solidFill>
                <a:latin typeface="Arial"/>
                <a:ea typeface="Arial" pitchFamily="34" charset="-122"/>
                <a:cs typeface="Arial"/>
              </a:rPr>
              <a:t>있음</a:t>
            </a:r>
            <a:endParaRPr lang="en-US" sz="1400">
              <a:solidFill>
                <a:srgbClr val="2E3B52"/>
              </a:solidFill>
              <a:latin typeface="Arial"/>
              <a:ea typeface="Arial" pitchFamily="34" charset="-122"/>
              <a:cs typeface="Arial"/>
            </a:endParaRPr>
          </a:p>
        </p:txBody>
      </p:sp>
      <p:sp>
        <p:nvSpPr>
          <p:cNvPr id="19" name="Text 19"/>
          <p:cNvSpPr/>
          <p:nvPr/>
        </p:nvSpPr>
        <p:spPr>
          <a:xfrm>
            <a:off x="6555740" y="5510406"/>
            <a:ext cx="4998720" cy="320040"/>
          </a:xfrm>
          <a:prstGeom prst="rect">
            <a:avLst/>
          </a:prstGeom>
          <a:noFill/>
          <a:ln/>
        </p:spPr>
        <p:txBody>
          <a:bodyPr wrap="square" lIns="0" tIns="0" rIns="0" bIns="0" rtlCol="0" anchor="b"/>
          <a:lstStyle/>
          <a:p>
            <a:pPr marL="0" indent="0" algn="l">
              <a:buNone/>
            </a:pPr>
            <a:r>
              <a:rPr lang="en-US" sz="1050">
                <a:solidFill>
                  <a:srgbClr val="8A929E"/>
                </a:solidFill>
                <a:latin typeface="Arial" pitchFamily="34" charset="0"/>
                <a:ea typeface="Arial" pitchFamily="34" charset="-122"/>
                <a:cs typeface="Arial" pitchFamily="34" charset="-120"/>
              </a:rPr>
              <a:t>이번 프로젝트: model.6을 HW로 분리해 PS는 나머지 레이어 처리</a:t>
            </a:r>
            <a:endParaRPr lang="en-US" sz="1050"/>
          </a:p>
        </p:txBody>
      </p:sp>
      <p:sp>
        <p:nvSpPr>
          <p:cNvPr id="20" name="Shape footer"/>
          <p:cNvSpPr/>
          <p:nvPr/>
        </p:nvSpPr>
        <p:spPr>
          <a:xfrm>
            <a:off x="322580" y="6104766"/>
            <a:ext cx="11551920" cy="502920"/>
          </a:xfrm>
          <a:prstGeom prst="roundRect">
            <a:avLst>
              <a:gd name="adj" fmla="val 4348"/>
            </a:avLst>
          </a:prstGeom>
          <a:solidFill>
            <a:srgbClr val="E7F5EC"/>
          </a:solidFill>
          <a:ln/>
        </p:spPr>
      </p:sp>
      <p:sp>
        <p:nvSpPr>
          <p:cNvPr id="21" name="Text footer"/>
          <p:cNvSpPr/>
          <p:nvPr/>
        </p:nvSpPr>
        <p:spPr>
          <a:xfrm>
            <a:off x="596900" y="6104766"/>
            <a:ext cx="11003280" cy="502920"/>
          </a:xfrm>
          <a:prstGeom prst="rect">
            <a:avLst/>
          </a:prstGeom>
          <a:noFill/>
          <a:ln/>
        </p:spPr>
        <p:txBody>
          <a:bodyPr wrap="square" lIns="0" tIns="0" rIns="0" bIns="0" rtlCol="0" anchor="ctr"/>
          <a:lstStyle/>
          <a:p>
            <a:pPr marL="0" indent="0" algn="l">
              <a:buNone/>
            </a:pPr>
            <a:r>
              <a:rPr lang="en-US" sz="1200" b="1">
                <a:solidFill>
                  <a:srgbClr val="1E7B4D"/>
                </a:solidFill>
                <a:latin typeface="Arial" pitchFamily="34" charset="0"/>
                <a:ea typeface="Arial" pitchFamily="34" charset="-122"/>
                <a:cs typeface="Arial" pitchFamily="34" charset="-120"/>
              </a:rPr>
              <a:t>→ 이번 프로젝트: YOLOv8n의 C2f 블록 하나를 실제로 HW화하며, 이 장점들이 실제로 어떻게 나타나는지 직접 검증</a:t>
            </a:r>
            <a:endParaRPr lang="en-US" sz="1200"/>
          </a:p>
        </p:txBody>
      </p:sp>
    </p:spTree>
    <p:extLst>
      <p:ext uri="{BB962C8B-B14F-4D97-AF65-F5344CB8AC3E}">
        <p14:creationId xmlns:p14="http://schemas.microsoft.com/office/powerpoint/2010/main" val="1721263957"/>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7295" cy="788669"/>
          </a:xfrm>
          <a:prstGeom prst="rect">
            <a:avLst/>
          </a:prstGeom>
          <a:noFill/>
          <a:ln/>
        </p:spPr>
        <p:txBody>
          <a:bodyPr wrap="square" lIns="0" tIns="0" rIns="0" bIns="0" rtlCol="0" anchor="ctr"/>
          <a:lstStyle/>
          <a:p>
            <a:pPr algn="ctr"/>
            <a:r>
              <a:rPr lang="en-US" sz="4000" b="1">
                <a:solidFill>
                  <a:srgbClr val="1F3B66"/>
                </a:solidFill>
                <a:latin typeface="Arial"/>
                <a:cs typeface="Arial"/>
              </a:rPr>
              <a:t>Project Objective</a:t>
            </a:r>
          </a:p>
        </p:txBody>
      </p:sp>
      <p:grpSp>
        <p:nvGrpSpPr>
          <p:cNvPr id="31" name="그룹 30">
            <a:extLst>
              <a:ext uri="{FF2B5EF4-FFF2-40B4-BE49-F238E27FC236}">
                <a16:creationId xmlns:a16="http://schemas.microsoft.com/office/drawing/2014/main" id="{4B8E8FEE-B7B7-AB02-86DC-6BB521609CB4}"/>
              </a:ext>
            </a:extLst>
          </p:cNvPr>
          <p:cNvGrpSpPr/>
          <p:nvPr/>
        </p:nvGrpSpPr>
        <p:grpSpPr>
          <a:xfrm>
            <a:off x="930116" y="1897856"/>
            <a:ext cx="4967764" cy="2043589"/>
            <a:chOff x="930116" y="1897856"/>
            <a:chExt cx="4967764" cy="2043589"/>
          </a:xfrm>
        </p:grpSpPr>
        <p:sp>
          <p:nvSpPr>
            <p:cNvPr id="4" name="Shape 2"/>
            <p:cNvSpPr/>
            <p:nvPr/>
          </p:nvSpPr>
          <p:spPr>
            <a:xfrm>
              <a:off x="930116" y="1897856"/>
              <a:ext cx="4967764" cy="2043589"/>
            </a:xfrm>
            <a:prstGeom prst="roundRect">
              <a:avLst>
                <a:gd name="adj" fmla="val 4348"/>
              </a:avLst>
            </a:prstGeom>
            <a:solidFill>
              <a:srgbClr val="EAF0FA"/>
            </a:solidFill>
            <a:ln/>
          </p:spPr>
        </p:sp>
        <p:sp>
          <p:nvSpPr>
            <p:cNvPr id="6" name="Text 4"/>
            <p:cNvSpPr/>
            <p:nvPr/>
          </p:nvSpPr>
          <p:spPr>
            <a:xfrm>
              <a:off x="1158716" y="2581274"/>
              <a:ext cx="4522471" cy="661988"/>
            </a:xfrm>
            <a:prstGeom prst="rect">
              <a:avLst/>
            </a:prstGeom>
            <a:noFill/>
            <a:ln/>
          </p:spPr>
          <p:txBody>
            <a:bodyPr wrap="square" lIns="0" tIns="0" rIns="0" bIns="0" rtlCol="0" anchor="ctr"/>
            <a:lstStyle/>
            <a:p>
              <a:r>
                <a:rPr lang="ko-KR" altLang="en-US" sz="3000" b="1">
                  <a:solidFill>
                    <a:srgbClr val="1F3B66"/>
                  </a:solidFill>
                  <a:latin typeface="Arial"/>
                  <a:ea typeface="Arial" pitchFamily="34" charset="-122"/>
                  <a:cs typeface="Arial"/>
                </a:rPr>
                <a:t>가속기 처리량 </a:t>
              </a:r>
              <a:endParaRPr lang="ko-KR" altLang="en-US" sz="3000" b="1">
                <a:solidFill>
                  <a:srgbClr val="1F3B66"/>
                </a:solidFill>
                <a:latin typeface="Arial"/>
                <a:ea typeface="맑은 고딕" panose="020B0503020000020004" pitchFamily="34" charset="-127"/>
                <a:cs typeface="Arial"/>
              </a:endParaRPr>
            </a:p>
            <a:p>
              <a:r>
                <a:rPr lang="ko-KR" altLang="en-US" sz="3000" b="1">
                  <a:solidFill>
                    <a:srgbClr val="1F3B66"/>
                  </a:solidFill>
                  <a:latin typeface="Arial"/>
                  <a:ea typeface="Arial" pitchFamily="34" charset="-122"/>
                  <a:cs typeface="Arial"/>
                </a:rPr>
                <a:t>GFLOP/s, Latency</a:t>
              </a:r>
              <a:endParaRPr lang="ko-KR" altLang="en-US" sz="3000" b="1">
                <a:solidFill>
                  <a:srgbClr val="1F3B66"/>
                </a:solidFill>
                <a:latin typeface="Arial"/>
                <a:ea typeface="맑은 고딕"/>
                <a:cs typeface="Arial"/>
              </a:endParaRPr>
            </a:p>
          </p:txBody>
        </p:sp>
      </p:grpSp>
      <p:grpSp>
        <p:nvGrpSpPr>
          <p:cNvPr id="33" name="그룹 32">
            <a:extLst>
              <a:ext uri="{FF2B5EF4-FFF2-40B4-BE49-F238E27FC236}">
                <a16:creationId xmlns:a16="http://schemas.microsoft.com/office/drawing/2014/main" id="{910EFC00-C8E4-EC88-6069-1860B79AA793}"/>
              </a:ext>
            </a:extLst>
          </p:cNvPr>
          <p:cNvGrpSpPr/>
          <p:nvPr/>
        </p:nvGrpSpPr>
        <p:grpSpPr>
          <a:xfrm>
            <a:off x="930116" y="4273391"/>
            <a:ext cx="4967764" cy="2043589"/>
            <a:chOff x="930116" y="4321016"/>
            <a:chExt cx="4967764" cy="2043589"/>
          </a:xfrm>
        </p:grpSpPr>
        <p:sp>
          <p:nvSpPr>
            <p:cNvPr id="14" name="Shape 12"/>
            <p:cNvSpPr/>
            <p:nvPr/>
          </p:nvSpPr>
          <p:spPr>
            <a:xfrm>
              <a:off x="930116" y="4321016"/>
              <a:ext cx="4967764" cy="2043589"/>
            </a:xfrm>
            <a:prstGeom prst="roundRect">
              <a:avLst>
                <a:gd name="adj" fmla="val 4348"/>
              </a:avLst>
            </a:prstGeom>
            <a:solidFill>
              <a:srgbClr val="FBEFE7"/>
            </a:solidFill>
            <a:ln/>
          </p:spPr>
        </p:sp>
        <p:sp>
          <p:nvSpPr>
            <p:cNvPr id="16" name="Text 14"/>
            <p:cNvSpPr/>
            <p:nvPr/>
          </p:nvSpPr>
          <p:spPr>
            <a:xfrm>
              <a:off x="1158716" y="4754403"/>
              <a:ext cx="4522471" cy="1126331"/>
            </a:xfrm>
            <a:prstGeom prst="rect">
              <a:avLst/>
            </a:prstGeom>
            <a:noFill/>
            <a:ln/>
          </p:spPr>
          <p:txBody>
            <a:bodyPr wrap="square" lIns="0" tIns="0" rIns="0" bIns="0" rtlCol="0" anchor="ctr"/>
            <a:lstStyle/>
            <a:p>
              <a:r>
                <a:rPr lang="ko-KR" altLang="en-US" sz="3000" b="1">
                  <a:solidFill>
                    <a:srgbClr val="C25A1E"/>
                  </a:solidFill>
                  <a:latin typeface="Arial"/>
                  <a:ea typeface="맑은 고딕"/>
                  <a:cs typeface="Arial"/>
                </a:rPr>
                <a:t>자원 사용량</a:t>
              </a:r>
              <a:endParaRPr lang="ko-KR"/>
            </a:p>
            <a:p>
              <a:r>
                <a:rPr lang="ko-KR" altLang="en-US" sz="3000" b="1">
                  <a:solidFill>
                    <a:srgbClr val="C25A1E"/>
                  </a:solidFill>
                  <a:latin typeface="Arial"/>
                  <a:ea typeface="맑은 고딕"/>
                  <a:cs typeface="Arial"/>
                </a:rPr>
                <a:t>LUT, BRAM, URAM, DSP</a:t>
              </a:r>
              <a:endParaRPr lang="ko-KR"/>
            </a:p>
          </p:txBody>
        </p:sp>
      </p:grpSp>
      <p:grpSp>
        <p:nvGrpSpPr>
          <p:cNvPr id="32" name="그룹 31">
            <a:extLst>
              <a:ext uri="{FF2B5EF4-FFF2-40B4-BE49-F238E27FC236}">
                <a16:creationId xmlns:a16="http://schemas.microsoft.com/office/drawing/2014/main" id="{3CAC340C-212F-AE40-D084-511F4E497F0F}"/>
              </a:ext>
            </a:extLst>
          </p:cNvPr>
          <p:cNvGrpSpPr/>
          <p:nvPr/>
        </p:nvGrpSpPr>
        <p:grpSpPr>
          <a:xfrm>
            <a:off x="6194107" y="1897856"/>
            <a:ext cx="4967764" cy="2043589"/>
            <a:chOff x="6194107" y="1909762"/>
            <a:chExt cx="4967764" cy="2043589"/>
          </a:xfrm>
        </p:grpSpPr>
        <p:sp>
          <p:nvSpPr>
            <p:cNvPr id="9" name="Shape 7"/>
            <p:cNvSpPr/>
            <p:nvPr/>
          </p:nvSpPr>
          <p:spPr>
            <a:xfrm>
              <a:off x="6194107" y="1909762"/>
              <a:ext cx="4967764" cy="2043589"/>
            </a:xfrm>
            <a:prstGeom prst="roundRect">
              <a:avLst>
                <a:gd name="adj" fmla="val 4348"/>
              </a:avLst>
            </a:prstGeom>
            <a:solidFill>
              <a:srgbClr val="E7F3EC"/>
            </a:solidFill>
            <a:ln/>
          </p:spPr>
        </p:sp>
        <p:sp>
          <p:nvSpPr>
            <p:cNvPr id="11" name="Text 9"/>
            <p:cNvSpPr/>
            <p:nvPr/>
          </p:nvSpPr>
          <p:spPr>
            <a:xfrm>
              <a:off x="6422707" y="2414586"/>
              <a:ext cx="4522471" cy="983456"/>
            </a:xfrm>
            <a:prstGeom prst="rect">
              <a:avLst/>
            </a:prstGeom>
            <a:noFill/>
            <a:ln/>
          </p:spPr>
          <p:txBody>
            <a:bodyPr wrap="square" lIns="0" tIns="0" rIns="0" bIns="0" rtlCol="0" anchor="ctr"/>
            <a:lstStyle/>
            <a:p>
              <a:r>
                <a:rPr lang="en-US" sz="3000" b="1">
                  <a:solidFill>
                    <a:srgbClr val="3E8E5A"/>
                  </a:solidFill>
                  <a:latin typeface="Arial"/>
                  <a:ea typeface="Arial" pitchFamily="34" charset="-122"/>
                  <a:cs typeface="Arial"/>
                </a:rPr>
                <a:t>Timing </a:t>
              </a:r>
              <a:r>
                <a:rPr lang="ko-KR" altLang="en-US" sz="3000" b="1">
                  <a:solidFill>
                    <a:srgbClr val="3E8E5A"/>
                  </a:solidFill>
                  <a:latin typeface="Arial"/>
                  <a:ea typeface="Arial" pitchFamily="34" charset="-122"/>
                  <a:cs typeface="Arial"/>
                </a:rPr>
                <a:t>여유</a:t>
              </a:r>
            </a:p>
            <a:p>
              <a:r>
                <a:rPr lang="en-US" sz="3000" b="1">
                  <a:solidFill>
                    <a:srgbClr val="3E8E5A"/>
                  </a:solidFill>
                  <a:latin typeface="Arial"/>
                  <a:ea typeface="Arial" pitchFamily="34" charset="-122"/>
                  <a:cs typeface="Arial"/>
                </a:rPr>
                <a:t>WNS, WHS, CLK</a:t>
              </a:r>
              <a:endParaRPr lang="en-US" sz="3000">
                <a:latin typeface="Arial"/>
                <a:ea typeface="Calibri"/>
                <a:cs typeface="Arial"/>
              </a:endParaRPr>
            </a:p>
          </p:txBody>
        </p:sp>
        <p:sp>
          <p:nvSpPr>
            <p:cNvPr id="25" name="Text 10">
              <a:extLst>
                <a:ext uri="{FF2B5EF4-FFF2-40B4-BE49-F238E27FC236}">
                  <a16:creationId xmlns:a16="http://schemas.microsoft.com/office/drawing/2014/main" id="{33E57D15-B155-D26F-698C-054B9D8E0834}"/>
                </a:ext>
              </a:extLst>
            </p:cNvPr>
            <p:cNvSpPr/>
            <p:nvPr/>
          </p:nvSpPr>
          <p:spPr>
            <a:xfrm>
              <a:off x="6422707" y="3362325"/>
              <a:ext cx="4522471" cy="30813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ko-KR" altLang="en-US" sz="1200" b="1">
                  <a:solidFill>
                    <a:srgbClr val="2E3B52"/>
                  </a:solidFill>
                  <a:latin typeface="Arial"/>
                  <a:ea typeface="Arial" pitchFamily="34" charset="-122"/>
                  <a:cs typeface="Arial"/>
                </a:rPr>
                <a:t>목표</a:t>
              </a:r>
              <a:r>
                <a:rPr lang="en-US" sz="1200" b="1">
                  <a:solidFill>
                    <a:srgbClr val="2E3B52"/>
                  </a:solidFill>
                  <a:latin typeface="Arial"/>
                  <a:ea typeface="Arial" pitchFamily="34" charset="-122"/>
                  <a:cs typeface="Arial"/>
                </a:rPr>
                <a:t> clk: 100MHz</a:t>
              </a:r>
              <a:endParaRPr lang="en-US" sz="1200">
                <a:latin typeface="Arial"/>
                <a:cs typeface="Arial"/>
              </a:endParaRPr>
            </a:p>
          </p:txBody>
        </p:sp>
      </p:grpSp>
      <p:grpSp>
        <p:nvGrpSpPr>
          <p:cNvPr id="34" name="그룹 33">
            <a:extLst>
              <a:ext uri="{FF2B5EF4-FFF2-40B4-BE49-F238E27FC236}">
                <a16:creationId xmlns:a16="http://schemas.microsoft.com/office/drawing/2014/main" id="{61590C13-6315-80E6-5A96-891E573E1D61}"/>
              </a:ext>
            </a:extLst>
          </p:cNvPr>
          <p:cNvGrpSpPr/>
          <p:nvPr/>
        </p:nvGrpSpPr>
        <p:grpSpPr>
          <a:xfrm>
            <a:off x="6194107" y="4273391"/>
            <a:ext cx="4967764" cy="2043589"/>
            <a:chOff x="6194107" y="4273391"/>
            <a:chExt cx="4967764" cy="2043589"/>
          </a:xfrm>
        </p:grpSpPr>
        <p:sp>
          <p:nvSpPr>
            <p:cNvPr id="19" name="Shape 17"/>
            <p:cNvSpPr/>
            <p:nvPr/>
          </p:nvSpPr>
          <p:spPr>
            <a:xfrm>
              <a:off x="6194107" y="4273391"/>
              <a:ext cx="4967764" cy="2043589"/>
            </a:xfrm>
            <a:prstGeom prst="roundRect">
              <a:avLst>
                <a:gd name="adj" fmla="val 4348"/>
              </a:avLst>
            </a:prstGeom>
            <a:solidFill>
              <a:srgbClr val="FBEAE7"/>
            </a:solidFill>
            <a:ln/>
          </p:spPr>
        </p:sp>
        <p:sp>
          <p:nvSpPr>
            <p:cNvPr id="21" name="Text 19"/>
            <p:cNvSpPr/>
            <p:nvPr/>
          </p:nvSpPr>
          <p:spPr>
            <a:xfrm>
              <a:off x="6422707" y="4849653"/>
              <a:ext cx="4522471" cy="661988"/>
            </a:xfrm>
            <a:prstGeom prst="rect">
              <a:avLst/>
            </a:prstGeom>
            <a:noFill/>
            <a:ln/>
          </p:spPr>
          <p:txBody>
            <a:bodyPr wrap="square" lIns="0" tIns="0" rIns="0" bIns="0" rtlCol="0" anchor="ctr"/>
            <a:lstStyle/>
            <a:p>
              <a:r>
                <a:rPr lang="ko-KR" altLang="en-US" sz="3000" b="1">
                  <a:solidFill>
                    <a:srgbClr val="B33A3A"/>
                  </a:solidFill>
                  <a:latin typeface="Arial"/>
                  <a:ea typeface="Arial" pitchFamily="34" charset="-122"/>
                  <a:cs typeface="Arial"/>
                </a:rPr>
                <a:t>전체 시스템의 FPS</a:t>
              </a:r>
              <a:endParaRPr lang="ko-KR" altLang="en-US" sz="3000" b="1">
                <a:solidFill>
                  <a:srgbClr val="B33A3A"/>
                </a:solidFill>
                <a:latin typeface="Arial"/>
                <a:cs typeface="Arial"/>
              </a:endParaRPr>
            </a:p>
          </p:txBody>
        </p:sp>
        <p:sp>
          <p:nvSpPr>
            <p:cNvPr id="26" name="Text 10">
              <a:extLst>
                <a:ext uri="{FF2B5EF4-FFF2-40B4-BE49-F238E27FC236}">
                  <a16:creationId xmlns:a16="http://schemas.microsoft.com/office/drawing/2014/main" id="{3CA7ED65-CE5D-D93C-4CEC-9CE4501CBA3A}"/>
                </a:ext>
              </a:extLst>
            </p:cNvPr>
            <p:cNvSpPr/>
            <p:nvPr/>
          </p:nvSpPr>
          <p:spPr>
            <a:xfrm>
              <a:off x="6422706" y="5529262"/>
              <a:ext cx="4522471" cy="30813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ko-KR" altLang="en-US" sz="1200" b="1">
                  <a:solidFill>
                    <a:srgbClr val="2E3B52"/>
                  </a:solidFill>
                  <a:latin typeface="Arial"/>
                  <a:ea typeface="맑은 고딕"/>
                  <a:cs typeface="Arial"/>
                </a:rPr>
                <a:t>목표 FPS: 10~15fps</a:t>
              </a:r>
              <a:endParaRPr lang="en-US" sz="1200" b="1">
                <a:solidFill>
                  <a:srgbClr val="2E3B52"/>
                </a:solidFill>
                <a:latin typeface="Arial"/>
                <a:cs typeface="Arial"/>
              </a:endParaRPr>
            </a:p>
          </p:txBody>
        </p:sp>
      </p:grpSp>
      <p:sp>
        <p:nvSpPr>
          <p:cNvPr id="30" name="TextBox 29">
            <a:extLst>
              <a:ext uri="{FF2B5EF4-FFF2-40B4-BE49-F238E27FC236}">
                <a16:creationId xmlns:a16="http://schemas.microsoft.com/office/drawing/2014/main" id="{F50C494F-E2B3-DBC8-84E4-8B2D83C818AE}"/>
              </a:ext>
            </a:extLst>
          </p:cNvPr>
          <p:cNvSpPr txBox="1"/>
          <p:nvPr/>
        </p:nvSpPr>
        <p:spPr>
          <a:xfrm>
            <a:off x="4215895" y="1294534"/>
            <a:ext cx="3651662" cy="523220"/>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ko-KR" altLang="en-US" sz="2800" b="1">
                <a:solidFill>
                  <a:srgbClr val="C00000"/>
                </a:solidFill>
                <a:latin typeface="Calibri"/>
                <a:ea typeface="맑은 고딕"/>
                <a:cs typeface="Calibri"/>
              </a:rPr>
              <a:t>Hardware Accelerator</a:t>
            </a:r>
            <a:endParaRPr lang="ko-KR" sz="2800">
              <a:solidFill>
                <a:srgbClr val="C00000"/>
              </a:solidFill>
              <a:latin typeface="Calibri"/>
              <a:ea typeface="맑은 고딕"/>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352A6ED-49D3-30C0-8628-BC1215CEB03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817FFF7-2A78-BF87-0F7D-C9F7F7A5A6A8}"/>
              </a:ext>
            </a:extLst>
          </p:cNvPr>
          <p:cNvSpPr/>
          <p:nvPr/>
        </p:nvSpPr>
        <p:spPr>
          <a:xfrm>
            <a:off x="547208" y="3017196"/>
            <a:ext cx="11094415" cy="822960"/>
          </a:xfrm>
          <a:prstGeom prst="rect">
            <a:avLst/>
          </a:prstGeom>
          <a:noFill/>
          <a:ln/>
        </p:spPr>
        <p:txBody>
          <a:bodyPr wrap="square" lIns="0" tIns="0" rIns="0" bIns="0" rtlCol="0" anchor="ctr"/>
          <a:lstStyle/>
          <a:p>
            <a:pPr algn="ctr"/>
            <a:r>
              <a:rPr lang="ko-KR" altLang="en-US" sz="5400" b="1">
                <a:solidFill>
                  <a:srgbClr val="1F3B66"/>
                </a:solidFill>
                <a:latin typeface="Arial"/>
                <a:ea typeface="맑은 고딕"/>
                <a:cs typeface="Arial"/>
              </a:rPr>
              <a:t>2. </a:t>
            </a:r>
            <a:r>
              <a:rPr lang="ko-KR" sz="5400" b="1">
                <a:solidFill>
                  <a:srgbClr val="1F3B66"/>
                </a:solidFill>
                <a:latin typeface="Arial"/>
                <a:ea typeface="+mn-lt"/>
                <a:cs typeface="Arial"/>
              </a:rPr>
              <a:t>C2f 하드웨어 구조 설계</a:t>
            </a:r>
            <a:endParaRPr lang="ko-KR" altLang="en-US" sz="5400" b="1">
              <a:solidFill>
                <a:srgbClr val="1F3B66"/>
              </a:solidFill>
              <a:latin typeface="Arial"/>
              <a:ea typeface="맑은 고딕"/>
              <a:cs typeface="Arial"/>
            </a:endParaRPr>
          </a:p>
        </p:txBody>
      </p:sp>
    </p:spTree>
    <p:extLst>
      <p:ext uri="{BB962C8B-B14F-4D97-AF65-F5344CB8AC3E}">
        <p14:creationId xmlns:p14="http://schemas.microsoft.com/office/powerpoint/2010/main" val="3818281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03201" y="201168"/>
            <a:ext cx="11803436" cy="502920"/>
          </a:xfrm>
          <a:prstGeom prst="rect">
            <a:avLst/>
          </a:prstGeom>
          <a:noFill/>
          <a:ln/>
        </p:spPr>
        <p:txBody>
          <a:bodyPr wrap="square" lIns="0" tIns="0" rIns="0" bIns="0" rtlCol="0" anchor="ctr"/>
          <a:lstStyle/>
          <a:p>
            <a:pPr algn="ctr"/>
            <a:r>
              <a:rPr lang="en-US" sz="3600" b="1">
                <a:solidFill>
                  <a:srgbClr val="1F3B66"/>
                </a:solidFill>
                <a:latin typeface="Arial"/>
                <a:cs typeface="Arial"/>
              </a:rPr>
              <a:t>C2f(Cross Stage Partial with 2 convolutions fusion)</a:t>
            </a:r>
            <a:endParaRPr lang="ko-KR" altLang="en-US" sz="3600">
              <a:ea typeface="맑은 고딕" panose="020B0503020000020004" pitchFamily="34" charset="-127"/>
              <a:cs typeface="Calibri" panose="020F0502020204030204"/>
            </a:endParaRPr>
          </a:p>
        </p:txBody>
      </p:sp>
      <p:grpSp>
        <p:nvGrpSpPr>
          <p:cNvPr id="40" name="그룹 39">
            <a:extLst>
              <a:ext uri="{FF2B5EF4-FFF2-40B4-BE49-F238E27FC236}">
                <a16:creationId xmlns:a16="http://schemas.microsoft.com/office/drawing/2014/main" id="{7CADAACC-292E-D84C-8761-9BBBA024B89D}"/>
              </a:ext>
            </a:extLst>
          </p:cNvPr>
          <p:cNvGrpSpPr/>
          <p:nvPr/>
        </p:nvGrpSpPr>
        <p:grpSpPr>
          <a:xfrm>
            <a:off x="2482437" y="959612"/>
            <a:ext cx="7543800" cy="5696712"/>
            <a:chOff x="2514600" y="896112"/>
            <a:chExt cx="7543800" cy="5696712"/>
          </a:xfrm>
        </p:grpSpPr>
        <p:sp>
          <p:nvSpPr>
            <p:cNvPr id="3" name="Shape 1"/>
            <p:cNvSpPr/>
            <p:nvPr/>
          </p:nvSpPr>
          <p:spPr>
            <a:xfrm>
              <a:off x="2766060" y="896112"/>
              <a:ext cx="2788920" cy="438912"/>
            </a:xfrm>
            <a:prstGeom prst="roundRect">
              <a:avLst>
                <a:gd name="adj" fmla="val 16667"/>
              </a:avLst>
            </a:prstGeom>
            <a:solidFill>
              <a:srgbClr val="FFFFFF"/>
            </a:solidFill>
            <a:ln w="15875">
              <a:solidFill>
                <a:srgbClr val="2E3B52"/>
              </a:solidFill>
              <a:prstDash val="solid"/>
            </a:ln>
          </p:spPr>
        </p:sp>
        <p:sp>
          <p:nvSpPr>
            <p:cNvPr id="4" name="Text 2"/>
            <p:cNvSpPr/>
            <p:nvPr/>
          </p:nvSpPr>
          <p:spPr>
            <a:xfrm>
              <a:off x="2766060" y="896112"/>
              <a:ext cx="2788920" cy="438912"/>
            </a:xfrm>
            <a:prstGeom prst="rect">
              <a:avLst/>
            </a:prstGeom>
            <a:noFill/>
            <a:ln/>
          </p:spPr>
          <p:txBody>
            <a:bodyPr wrap="square" lIns="381" tIns="381" rIns="381" bIns="381" rtlCol="0" anchor="ctr"/>
            <a:lstStyle/>
            <a:p>
              <a:pPr marL="0" indent="0" algn="ctr">
                <a:buNone/>
              </a:pPr>
              <a:r>
                <a:rPr lang="en-US" sz="1300" b="1">
                  <a:solidFill>
                    <a:srgbClr val="2E3B52"/>
                  </a:solidFill>
                  <a:latin typeface="Arial" pitchFamily="34" charset="0"/>
                  <a:ea typeface="Arial" pitchFamily="34" charset="-122"/>
                  <a:cs typeface="Arial" pitchFamily="34" charset="-120"/>
                </a:rPr>
                <a:t>입력 (128ch)</a:t>
              </a:r>
              <a:endParaRPr lang="en-US" sz="1300"/>
            </a:p>
          </p:txBody>
        </p:sp>
        <p:sp>
          <p:nvSpPr>
            <p:cNvPr id="5" name="Shape 3"/>
            <p:cNvSpPr/>
            <p:nvPr/>
          </p:nvSpPr>
          <p:spPr>
            <a:xfrm>
              <a:off x="4059936" y="1335024"/>
              <a:ext cx="201168" cy="246888"/>
            </a:xfrm>
            <a:prstGeom prst="downArrow">
              <a:avLst/>
            </a:prstGeom>
            <a:solidFill>
              <a:srgbClr val="8A929E"/>
            </a:solidFill>
            <a:ln/>
          </p:spPr>
        </p:sp>
        <p:sp>
          <p:nvSpPr>
            <p:cNvPr id="6" name="Shape 4"/>
            <p:cNvSpPr/>
            <p:nvPr/>
          </p:nvSpPr>
          <p:spPr>
            <a:xfrm>
              <a:off x="2766060" y="1600200"/>
              <a:ext cx="2788920" cy="475488"/>
            </a:xfrm>
            <a:prstGeom prst="roundRect">
              <a:avLst>
                <a:gd name="adj" fmla="val 15385"/>
              </a:avLst>
            </a:prstGeom>
            <a:solidFill>
              <a:srgbClr val="EDF1F7"/>
            </a:solidFill>
            <a:ln w="15875">
              <a:solidFill>
                <a:srgbClr val="2E3B52"/>
              </a:solidFill>
              <a:prstDash val="solid"/>
            </a:ln>
          </p:spPr>
        </p:sp>
        <p:sp>
          <p:nvSpPr>
            <p:cNvPr id="7" name="Text 5"/>
            <p:cNvSpPr/>
            <p:nvPr/>
          </p:nvSpPr>
          <p:spPr>
            <a:xfrm>
              <a:off x="2766060" y="1600200"/>
              <a:ext cx="2788920" cy="475488"/>
            </a:xfrm>
            <a:prstGeom prst="rect">
              <a:avLst/>
            </a:prstGeom>
            <a:noFill/>
            <a:ln/>
          </p:spPr>
          <p:txBody>
            <a:bodyPr wrap="square" lIns="381" tIns="381" rIns="381" bIns="381" rtlCol="0" anchor="ctr"/>
            <a:lstStyle/>
            <a:p>
              <a:pPr marL="0" indent="0" algn="ctr">
                <a:buNone/>
              </a:pPr>
              <a:r>
                <a:rPr lang="en-US" sz="1250" b="1">
                  <a:solidFill>
                    <a:srgbClr val="2E3B52"/>
                  </a:solidFill>
                  <a:latin typeface="Arial"/>
                  <a:ea typeface="Arial" pitchFamily="34" charset="-122"/>
                  <a:cs typeface="Arial"/>
                </a:rPr>
                <a:t>Conv (</a:t>
              </a:r>
              <a:r>
                <a:rPr lang="en-US" sz="1250" b="1">
                  <a:solidFill>
                    <a:srgbClr val="FF0000"/>
                  </a:solidFill>
                  <a:latin typeface="Arial"/>
                  <a:ea typeface="Arial" pitchFamily="34" charset="-122"/>
                  <a:cs typeface="Arial"/>
                </a:rPr>
                <a:t>cv1</a:t>
              </a:r>
              <a:r>
                <a:rPr lang="en-US" sz="1250" b="1">
                  <a:solidFill>
                    <a:srgbClr val="2E3B52"/>
                  </a:solidFill>
                  <a:latin typeface="Arial"/>
                  <a:ea typeface="Arial" pitchFamily="34" charset="-122"/>
                  <a:cs typeface="Arial"/>
                </a:rPr>
                <a:t>, 1×1, 128→128)</a:t>
              </a:r>
            </a:p>
            <a:p>
              <a:pPr algn="ctr"/>
              <a:r>
                <a:rPr lang="en-US" sz="1250" b="1" err="1">
                  <a:solidFill>
                    <a:srgbClr val="2E3B52"/>
                  </a:solidFill>
                  <a:latin typeface="Arial"/>
                  <a:cs typeface="Arial"/>
                </a:rPr>
                <a:t>BN+SiLu</a:t>
              </a:r>
              <a:endParaRPr lang="en-US" sz="1250" b="1">
                <a:solidFill>
                  <a:srgbClr val="2E3B52"/>
                </a:solidFill>
                <a:latin typeface="Arial"/>
                <a:cs typeface="Arial"/>
              </a:endParaRPr>
            </a:p>
          </p:txBody>
        </p:sp>
        <p:sp>
          <p:nvSpPr>
            <p:cNvPr id="8" name="Shape 6"/>
            <p:cNvSpPr/>
            <p:nvPr/>
          </p:nvSpPr>
          <p:spPr>
            <a:xfrm>
              <a:off x="4059936" y="2075688"/>
              <a:ext cx="201168" cy="274320"/>
            </a:xfrm>
            <a:prstGeom prst="downArrow">
              <a:avLst/>
            </a:prstGeom>
            <a:solidFill>
              <a:srgbClr val="8A929E"/>
            </a:solidFill>
            <a:ln/>
          </p:spPr>
        </p:sp>
        <p:sp>
          <p:nvSpPr>
            <p:cNvPr id="9" name="Shape 7"/>
            <p:cNvSpPr/>
            <p:nvPr/>
          </p:nvSpPr>
          <p:spPr>
            <a:xfrm>
              <a:off x="4114800" y="2350008"/>
              <a:ext cx="91440" cy="91440"/>
            </a:xfrm>
            <a:prstGeom prst="ellipse">
              <a:avLst/>
            </a:prstGeom>
            <a:solidFill>
              <a:srgbClr val="2E3B52"/>
            </a:solidFill>
            <a:ln/>
          </p:spPr>
        </p:sp>
        <p:sp>
          <p:nvSpPr>
            <p:cNvPr id="10" name="Text 8"/>
            <p:cNvSpPr/>
            <p:nvPr/>
          </p:nvSpPr>
          <p:spPr>
            <a:xfrm>
              <a:off x="2743200" y="2221992"/>
              <a:ext cx="1280160" cy="256032"/>
            </a:xfrm>
            <a:prstGeom prst="rect">
              <a:avLst/>
            </a:prstGeom>
            <a:noFill/>
            <a:ln>
              <a:solidFill>
                <a:schemeClr val="bg1"/>
              </a:solidFill>
            </a:ln>
          </p:spPr>
          <p:txBody>
            <a:bodyPr wrap="square" lIns="0" tIns="0" rIns="0" bIns="0" rtlCol="0" anchor="ctr"/>
            <a:lstStyle/>
            <a:p>
              <a:pPr marL="0" indent="0" algn="r">
                <a:buNone/>
              </a:pPr>
              <a:r>
                <a:rPr lang="en-US" sz="1100" b="1" i="1">
                  <a:solidFill>
                    <a:srgbClr val="000000"/>
                  </a:solidFill>
                  <a:latin typeface="Arial" pitchFamily="34" charset="0"/>
                  <a:ea typeface="Arial" pitchFamily="34" charset="-122"/>
                  <a:cs typeface="Arial" pitchFamily="34" charset="-120"/>
                </a:rPr>
                <a:t>Split</a:t>
              </a:r>
              <a:endParaRPr lang="en-US" sz="1100" b="1">
                <a:solidFill>
                  <a:srgbClr val="000000"/>
                </a:solidFill>
              </a:endParaRPr>
            </a:p>
          </p:txBody>
        </p:sp>
        <p:sp>
          <p:nvSpPr>
            <p:cNvPr id="11" name="Shape 9"/>
            <p:cNvSpPr/>
            <p:nvPr/>
          </p:nvSpPr>
          <p:spPr>
            <a:xfrm>
              <a:off x="4059936" y="2441448"/>
              <a:ext cx="201168" cy="192024"/>
            </a:xfrm>
            <a:prstGeom prst="downArrow">
              <a:avLst/>
            </a:prstGeom>
            <a:solidFill>
              <a:srgbClr val="8A929E"/>
            </a:solidFill>
            <a:ln/>
          </p:spPr>
        </p:sp>
        <p:sp>
          <p:nvSpPr>
            <p:cNvPr id="12" name="Shape 10"/>
            <p:cNvSpPr/>
            <p:nvPr/>
          </p:nvSpPr>
          <p:spPr>
            <a:xfrm>
              <a:off x="2766060" y="2651760"/>
              <a:ext cx="2788920" cy="621792"/>
            </a:xfrm>
            <a:prstGeom prst="roundRect">
              <a:avLst>
                <a:gd name="adj" fmla="val 11765"/>
              </a:avLst>
            </a:prstGeom>
            <a:solidFill>
              <a:srgbClr val="EDF1F7"/>
            </a:solidFill>
            <a:ln w="15875">
              <a:solidFill>
                <a:srgbClr val="2E3B52"/>
              </a:solidFill>
              <a:prstDash val="solid"/>
            </a:ln>
          </p:spPr>
        </p:sp>
        <p:sp>
          <p:nvSpPr>
            <p:cNvPr id="13" name="Text 11"/>
            <p:cNvSpPr/>
            <p:nvPr/>
          </p:nvSpPr>
          <p:spPr>
            <a:xfrm>
              <a:off x="2766060" y="2651760"/>
              <a:ext cx="2788920" cy="621792"/>
            </a:xfrm>
            <a:prstGeom prst="rect">
              <a:avLst/>
            </a:prstGeom>
            <a:noFill/>
            <a:ln/>
          </p:spPr>
          <p:txBody>
            <a:bodyPr wrap="square" lIns="381" tIns="381" rIns="381" bIns="381" rtlCol="0" anchor="ctr"/>
            <a:lstStyle/>
            <a:p>
              <a:pPr marL="0" indent="0" algn="ctr">
                <a:buNone/>
              </a:pPr>
              <a:r>
                <a:rPr lang="en-US" sz="1200" b="1">
                  <a:solidFill>
                    <a:srgbClr val="FF0000"/>
                  </a:solidFill>
                  <a:latin typeface="Arial"/>
                  <a:ea typeface="Arial" pitchFamily="34" charset="-122"/>
                  <a:cs typeface="Arial"/>
                </a:rPr>
                <a:t>Bottleneck 1</a:t>
              </a:r>
              <a:endParaRPr lang="en-US" sz="1200">
                <a:solidFill>
                  <a:srgbClr val="FF0000"/>
                </a:solidFill>
                <a:latin typeface="Arial"/>
                <a:ea typeface="Calibri"/>
                <a:cs typeface="Arial"/>
              </a:endParaRPr>
            </a:p>
            <a:p>
              <a:pPr algn="ctr"/>
              <a:r>
                <a:rPr lang="en-US" sz="1200" b="1">
                  <a:solidFill>
                    <a:srgbClr val="2E3B52"/>
                  </a:solidFill>
                  <a:latin typeface="Arial"/>
                  <a:ea typeface="Arial" pitchFamily="34" charset="-122"/>
                  <a:cs typeface="Arial"/>
                </a:rPr>
                <a:t>Conv3×3, Conv3×3, </a:t>
              </a:r>
              <a:r>
                <a:rPr lang="en-US" sz="1200" b="1" err="1">
                  <a:solidFill>
                    <a:srgbClr val="2E3B52"/>
                  </a:solidFill>
                  <a:latin typeface="Arial"/>
                  <a:ea typeface="Arial" pitchFamily="34" charset="-122"/>
                  <a:cs typeface="Arial"/>
                </a:rPr>
                <a:t>BN+SiLu</a:t>
              </a:r>
              <a:endParaRPr lang="en-US" sz="1200" err="1">
                <a:solidFill>
                  <a:srgbClr val="000000"/>
                </a:solidFill>
                <a:latin typeface="Arial"/>
                <a:ea typeface="Arial" pitchFamily="34" charset="-122"/>
                <a:cs typeface="Arial"/>
              </a:endParaRPr>
            </a:p>
            <a:p>
              <a:pPr algn="ctr"/>
              <a:r>
                <a:rPr lang="en-US" sz="1200" b="1">
                  <a:solidFill>
                    <a:srgbClr val="2E3B52"/>
                  </a:solidFill>
                  <a:latin typeface="Arial"/>
                  <a:ea typeface="Arial" pitchFamily="34" charset="-122"/>
                  <a:cs typeface="Arial"/>
                </a:rPr>
                <a:t>residual add</a:t>
              </a:r>
              <a:endParaRPr lang="en-US" sz="1200">
                <a:latin typeface="Arial"/>
                <a:cs typeface="Arial"/>
              </a:endParaRPr>
            </a:p>
          </p:txBody>
        </p:sp>
        <p:sp>
          <p:nvSpPr>
            <p:cNvPr id="14" name="Shape 12"/>
            <p:cNvSpPr/>
            <p:nvPr/>
          </p:nvSpPr>
          <p:spPr>
            <a:xfrm>
              <a:off x="4059936" y="3273552"/>
              <a:ext cx="201168" cy="292608"/>
            </a:xfrm>
            <a:prstGeom prst="downArrow">
              <a:avLst/>
            </a:prstGeom>
            <a:solidFill>
              <a:srgbClr val="8A929E"/>
            </a:solidFill>
            <a:ln/>
          </p:spPr>
        </p:sp>
        <p:sp>
          <p:nvSpPr>
            <p:cNvPr id="15" name="Shape 13"/>
            <p:cNvSpPr/>
            <p:nvPr/>
          </p:nvSpPr>
          <p:spPr>
            <a:xfrm>
              <a:off x="2766060" y="3584448"/>
              <a:ext cx="2788920" cy="621792"/>
            </a:xfrm>
            <a:prstGeom prst="roundRect">
              <a:avLst>
                <a:gd name="adj" fmla="val 11765"/>
              </a:avLst>
            </a:prstGeom>
            <a:solidFill>
              <a:srgbClr val="EDF1F7"/>
            </a:solidFill>
            <a:ln w="15875">
              <a:solidFill>
                <a:srgbClr val="2E3B52"/>
              </a:solidFill>
              <a:prstDash val="solid"/>
            </a:ln>
          </p:spPr>
        </p:sp>
        <p:sp>
          <p:nvSpPr>
            <p:cNvPr id="16" name="Text 14"/>
            <p:cNvSpPr/>
            <p:nvPr/>
          </p:nvSpPr>
          <p:spPr>
            <a:xfrm>
              <a:off x="2766060" y="3584448"/>
              <a:ext cx="2788920" cy="621792"/>
            </a:xfrm>
            <a:prstGeom prst="rect">
              <a:avLst/>
            </a:prstGeom>
            <a:noFill/>
            <a:ln/>
          </p:spPr>
          <p:txBody>
            <a:bodyPr wrap="square" lIns="381" tIns="381" rIns="381" bIns="381" rtlCol="0" anchor="ctr"/>
            <a:lstStyle/>
            <a:p>
              <a:pPr algn="ctr"/>
              <a:endParaRPr lang="en-US" sz="1200" b="1">
                <a:solidFill>
                  <a:srgbClr val="FF0000"/>
                </a:solidFill>
                <a:latin typeface="Arial"/>
                <a:ea typeface="Arial" pitchFamily="34" charset="-122"/>
                <a:cs typeface="Arial"/>
              </a:endParaRPr>
            </a:p>
            <a:p>
              <a:pPr algn="ctr"/>
              <a:r>
                <a:rPr lang="en-US" sz="1200" b="1">
                  <a:solidFill>
                    <a:srgbClr val="FF0000"/>
                  </a:solidFill>
                  <a:latin typeface="Arial"/>
                  <a:ea typeface="Arial" pitchFamily="34" charset="-122"/>
                  <a:cs typeface="Arial"/>
                </a:rPr>
                <a:t>Bottleneck 2</a:t>
              </a:r>
              <a:endParaRPr lang="en-US"/>
            </a:p>
            <a:p>
              <a:pPr algn="ctr"/>
              <a:r>
                <a:rPr lang="en-US" sz="1200" b="1">
                  <a:solidFill>
                    <a:srgbClr val="2E3B52"/>
                  </a:solidFill>
                  <a:latin typeface="Arial"/>
                  <a:cs typeface="Arial"/>
                </a:rPr>
                <a:t>Conv3×3, Conv3×3, </a:t>
              </a:r>
              <a:r>
                <a:rPr lang="en-US" sz="1200" b="1" err="1">
                  <a:solidFill>
                    <a:srgbClr val="2E3B52"/>
                  </a:solidFill>
                  <a:latin typeface="Arial"/>
                  <a:cs typeface="Arial"/>
                </a:rPr>
                <a:t>BN+SiLu</a:t>
              </a:r>
              <a:endParaRPr lang="en-US" sz="1200" err="1">
                <a:solidFill>
                  <a:srgbClr val="000000"/>
                </a:solidFill>
                <a:latin typeface="Arial"/>
                <a:cs typeface="Arial"/>
              </a:endParaRPr>
            </a:p>
            <a:p>
              <a:pPr algn="ctr"/>
              <a:r>
                <a:rPr lang="en-US" sz="1200" b="1">
                  <a:solidFill>
                    <a:srgbClr val="2E3B52"/>
                  </a:solidFill>
                  <a:latin typeface="Arial"/>
                  <a:cs typeface="Arial"/>
                </a:rPr>
                <a:t>residual add</a:t>
              </a:r>
              <a:endParaRPr lang="en-US" sz="1200">
                <a:solidFill>
                  <a:srgbClr val="000000"/>
                </a:solidFill>
                <a:latin typeface="Arial"/>
                <a:cs typeface="Arial"/>
              </a:endParaRPr>
            </a:p>
            <a:p>
              <a:pPr algn="ctr"/>
              <a:endParaRPr lang="en-US" sz="1200" b="1">
                <a:solidFill>
                  <a:srgbClr val="FF0000"/>
                </a:solidFill>
                <a:latin typeface="Arial"/>
                <a:cs typeface="Arial"/>
              </a:endParaRPr>
            </a:p>
          </p:txBody>
        </p:sp>
        <p:sp>
          <p:nvSpPr>
            <p:cNvPr id="17" name="Shape 15"/>
            <p:cNvSpPr/>
            <p:nvPr/>
          </p:nvSpPr>
          <p:spPr>
            <a:xfrm>
              <a:off x="4160520" y="4206240"/>
              <a:ext cx="914" cy="393192"/>
            </a:xfrm>
            <a:prstGeom prst="line">
              <a:avLst/>
            </a:prstGeom>
            <a:noFill/>
            <a:ln w="15875">
              <a:solidFill>
                <a:srgbClr val="5B6472"/>
              </a:solidFill>
              <a:prstDash val="solid"/>
            </a:ln>
          </p:spPr>
        </p:sp>
        <p:sp>
          <p:nvSpPr>
            <p:cNvPr id="18" name="Shape 16"/>
            <p:cNvSpPr/>
            <p:nvPr/>
          </p:nvSpPr>
          <p:spPr>
            <a:xfrm rot="10800000">
              <a:off x="4105656" y="4489704"/>
              <a:ext cx="109728" cy="109728"/>
            </a:xfrm>
            <a:prstGeom prst="triangle">
              <a:avLst/>
            </a:prstGeom>
            <a:solidFill>
              <a:srgbClr val="5B6472"/>
            </a:solidFill>
            <a:ln/>
          </p:spPr>
        </p:sp>
        <p:sp>
          <p:nvSpPr>
            <p:cNvPr id="19" name="Text 17"/>
            <p:cNvSpPr/>
            <p:nvPr/>
          </p:nvSpPr>
          <p:spPr>
            <a:xfrm>
              <a:off x="4270248" y="4261104"/>
              <a:ext cx="1188720" cy="219456"/>
            </a:xfrm>
            <a:prstGeom prst="rect">
              <a:avLst/>
            </a:prstGeom>
            <a:noFill/>
            <a:ln>
              <a:solidFill>
                <a:schemeClr val="bg1"/>
              </a:solidFill>
            </a:ln>
          </p:spPr>
          <p:txBody>
            <a:bodyPr wrap="square" lIns="0" tIns="0" rIns="0" bIns="0" rtlCol="0" anchor="ctr"/>
            <a:lstStyle/>
            <a:p>
              <a:pPr marL="0" indent="0" algn="l">
                <a:buNone/>
              </a:pPr>
              <a:r>
                <a:rPr lang="en-US" sz="1050" b="1">
                  <a:solidFill>
                    <a:srgbClr val="000000"/>
                  </a:solidFill>
                  <a:latin typeface="Arial" pitchFamily="34" charset="0"/>
                  <a:ea typeface="Arial" pitchFamily="34" charset="-122"/>
                  <a:cs typeface="Arial" pitchFamily="34" charset="-120"/>
                </a:rPr>
                <a:t>y3 (64ch)</a:t>
              </a:r>
              <a:endParaRPr lang="en-US" sz="1050" b="1">
                <a:solidFill>
                  <a:srgbClr val="000000"/>
                </a:solidFill>
              </a:endParaRPr>
            </a:p>
          </p:txBody>
        </p:sp>
        <p:sp>
          <p:nvSpPr>
            <p:cNvPr id="20" name="Shape 18"/>
            <p:cNvSpPr/>
            <p:nvPr/>
          </p:nvSpPr>
          <p:spPr>
            <a:xfrm>
              <a:off x="4160520" y="2395728"/>
              <a:ext cx="2834640" cy="914"/>
            </a:xfrm>
            <a:prstGeom prst="line">
              <a:avLst/>
            </a:prstGeom>
            <a:noFill/>
            <a:ln w="15875">
              <a:solidFill>
                <a:srgbClr val="5B6472"/>
              </a:solidFill>
              <a:prstDash val="solid"/>
            </a:ln>
          </p:spPr>
        </p:sp>
        <p:sp>
          <p:nvSpPr>
            <p:cNvPr id="21" name="Shape 19"/>
            <p:cNvSpPr/>
            <p:nvPr/>
          </p:nvSpPr>
          <p:spPr>
            <a:xfrm>
              <a:off x="6995160" y="2395728"/>
              <a:ext cx="914" cy="2203704"/>
            </a:xfrm>
            <a:prstGeom prst="line">
              <a:avLst/>
            </a:prstGeom>
            <a:noFill/>
            <a:ln w="15875">
              <a:solidFill>
                <a:srgbClr val="5B6472"/>
              </a:solidFill>
              <a:prstDash val="solid"/>
            </a:ln>
          </p:spPr>
        </p:sp>
        <p:sp>
          <p:nvSpPr>
            <p:cNvPr id="22" name="Shape 20"/>
            <p:cNvSpPr/>
            <p:nvPr/>
          </p:nvSpPr>
          <p:spPr>
            <a:xfrm rot="10800000">
              <a:off x="6940296" y="4489704"/>
              <a:ext cx="109728" cy="109728"/>
            </a:xfrm>
            <a:prstGeom prst="triangle">
              <a:avLst/>
            </a:prstGeom>
            <a:solidFill>
              <a:srgbClr val="5B6472"/>
            </a:solidFill>
            <a:ln/>
          </p:spPr>
        </p:sp>
        <p:sp>
          <p:nvSpPr>
            <p:cNvPr id="23" name="Text 21"/>
            <p:cNvSpPr/>
            <p:nvPr/>
          </p:nvSpPr>
          <p:spPr>
            <a:xfrm>
              <a:off x="6309360" y="1828800"/>
              <a:ext cx="1371600" cy="457200"/>
            </a:xfrm>
            <a:prstGeom prst="rect">
              <a:avLst/>
            </a:prstGeom>
            <a:noFill/>
            <a:ln>
              <a:solidFill>
                <a:schemeClr val="bg1"/>
              </a:solidFill>
            </a:ln>
          </p:spPr>
          <p:txBody>
            <a:bodyPr wrap="square" lIns="0" tIns="0" rIns="0" bIns="0" rtlCol="0" anchor="b"/>
            <a:lstStyle/>
            <a:p>
              <a:pPr marL="0" indent="0" algn="ctr">
                <a:buNone/>
              </a:pPr>
              <a:r>
                <a:rPr lang="en-US" sz="1050" b="1">
                  <a:solidFill>
                    <a:srgbClr val="000000"/>
                  </a:solidFill>
                  <a:latin typeface="Arial" pitchFamily="34" charset="0"/>
                  <a:ea typeface="Arial" pitchFamily="34" charset="-122"/>
                  <a:cs typeface="Arial" pitchFamily="34" charset="-120"/>
                </a:rPr>
                <a:t>y0 (64ch)</a:t>
              </a:r>
              <a:endParaRPr lang="en-US" sz="1050" b="1">
                <a:solidFill>
                  <a:srgbClr val="000000"/>
                </a:solidFill>
              </a:endParaRPr>
            </a:p>
            <a:p>
              <a:pPr marL="0" indent="0" algn="ctr">
                <a:buNone/>
              </a:pPr>
              <a:r>
                <a:rPr lang="en-US" sz="1050" b="1">
                  <a:solidFill>
                    <a:srgbClr val="000000"/>
                  </a:solidFill>
                  <a:latin typeface="Arial" pitchFamily="34" charset="0"/>
                  <a:ea typeface="Arial" pitchFamily="34" charset="-122"/>
                  <a:cs typeface="Arial" pitchFamily="34" charset="-120"/>
                </a:rPr>
                <a:t>그대로 보관</a:t>
              </a:r>
              <a:endParaRPr lang="en-US" sz="1050" b="1">
                <a:solidFill>
                  <a:srgbClr val="000000"/>
                </a:solidFill>
              </a:endParaRPr>
            </a:p>
          </p:txBody>
        </p:sp>
        <p:sp>
          <p:nvSpPr>
            <p:cNvPr id="24" name="Shape 22"/>
            <p:cNvSpPr/>
            <p:nvPr/>
          </p:nvSpPr>
          <p:spPr>
            <a:xfrm>
              <a:off x="4160520" y="2395728"/>
              <a:ext cx="4023360" cy="914"/>
            </a:xfrm>
            <a:prstGeom prst="line">
              <a:avLst/>
            </a:prstGeom>
            <a:noFill/>
            <a:ln w="15875">
              <a:solidFill>
                <a:srgbClr val="5B6472"/>
              </a:solidFill>
              <a:prstDash val="solid"/>
            </a:ln>
          </p:spPr>
        </p:sp>
        <p:sp>
          <p:nvSpPr>
            <p:cNvPr id="25" name="Shape 23"/>
            <p:cNvSpPr/>
            <p:nvPr/>
          </p:nvSpPr>
          <p:spPr>
            <a:xfrm>
              <a:off x="8183880" y="2395728"/>
              <a:ext cx="914" cy="2203704"/>
            </a:xfrm>
            <a:prstGeom prst="line">
              <a:avLst/>
            </a:prstGeom>
            <a:noFill/>
            <a:ln w="15875">
              <a:solidFill>
                <a:srgbClr val="5B6472"/>
              </a:solidFill>
              <a:prstDash val="solid"/>
            </a:ln>
          </p:spPr>
        </p:sp>
        <p:sp>
          <p:nvSpPr>
            <p:cNvPr id="26" name="Shape 24"/>
            <p:cNvSpPr/>
            <p:nvPr/>
          </p:nvSpPr>
          <p:spPr>
            <a:xfrm rot="10800000">
              <a:off x="8129016" y="4489704"/>
              <a:ext cx="109728" cy="109728"/>
            </a:xfrm>
            <a:prstGeom prst="triangle">
              <a:avLst/>
            </a:prstGeom>
            <a:solidFill>
              <a:srgbClr val="5B6472"/>
            </a:solidFill>
            <a:ln/>
          </p:spPr>
        </p:sp>
        <p:sp>
          <p:nvSpPr>
            <p:cNvPr id="27" name="Text 25"/>
            <p:cNvSpPr/>
            <p:nvPr/>
          </p:nvSpPr>
          <p:spPr>
            <a:xfrm>
              <a:off x="7498080" y="2103120"/>
              <a:ext cx="1371600" cy="219456"/>
            </a:xfrm>
            <a:prstGeom prst="rect">
              <a:avLst/>
            </a:prstGeom>
            <a:noFill/>
            <a:ln>
              <a:solidFill>
                <a:schemeClr val="bg1"/>
              </a:solidFill>
            </a:ln>
          </p:spPr>
          <p:txBody>
            <a:bodyPr wrap="square" lIns="0" tIns="0" rIns="0" bIns="0" rtlCol="0" anchor="b"/>
            <a:lstStyle/>
            <a:p>
              <a:pPr marL="0" indent="0" algn="ctr">
                <a:buNone/>
              </a:pPr>
              <a:r>
                <a:rPr lang="en-US" sz="1050" b="1">
                  <a:solidFill>
                    <a:srgbClr val="000000"/>
                  </a:solidFill>
                  <a:latin typeface="Arial" pitchFamily="34" charset="0"/>
                  <a:ea typeface="Arial" pitchFamily="34" charset="-122"/>
                  <a:cs typeface="Arial" pitchFamily="34" charset="-120"/>
                </a:rPr>
                <a:t>y1 (64ch)</a:t>
              </a:r>
              <a:endParaRPr lang="en-US" sz="1050" b="1">
                <a:solidFill>
                  <a:srgbClr val="000000"/>
                </a:solidFill>
              </a:endParaRPr>
            </a:p>
          </p:txBody>
        </p:sp>
        <p:sp>
          <p:nvSpPr>
            <p:cNvPr id="28" name="Shape 26"/>
            <p:cNvSpPr/>
            <p:nvPr/>
          </p:nvSpPr>
          <p:spPr>
            <a:xfrm>
              <a:off x="4160520" y="3273552"/>
              <a:ext cx="5212080" cy="914"/>
            </a:xfrm>
            <a:prstGeom prst="line">
              <a:avLst/>
            </a:prstGeom>
            <a:noFill/>
            <a:ln w="15875">
              <a:solidFill>
                <a:srgbClr val="5B6472"/>
              </a:solidFill>
              <a:prstDash val="solid"/>
            </a:ln>
          </p:spPr>
        </p:sp>
        <p:sp>
          <p:nvSpPr>
            <p:cNvPr id="29" name="Shape 27"/>
            <p:cNvSpPr/>
            <p:nvPr/>
          </p:nvSpPr>
          <p:spPr>
            <a:xfrm>
              <a:off x="9372600" y="3273552"/>
              <a:ext cx="914" cy="1325880"/>
            </a:xfrm>
            <a:prstGeom prst="line">
              <a:avLst/>
            </a:prstGeom>
            <a:noFill/>
            <a:ln w="15875">
              <a:solidFill>
                <a:srgbClr val="5B6472"/>
              </a:solidFill>
              <a:prstDash val="solid"/>
            </a:ln>
          </p:spPr>
        </p:sp>
        <p:sp>
          <p:nvSpPr>
            <p:cNvPr id="30" name="Shape 28"/>
            <p:cNvSpPr/>
            <p:nvPr/>
          </p:nvSpPr>
          <p:spPr>
            <a:xfrm rot="10800000">
              <a:off x="9317736" y="4489704"/>
              <a:ext cx="109728" cy="109728"/>
            </a:xfrm>
            <a:prstGeom prst="triangle">
              <a:avLst/>
            </a:prstGeom>
            <a:solidFill>
              <a:srgbClr val="5B6472"/>
            </a:solidFill>
            <a:ln/>
          </p:spPr>
        </p:sp>
        <p:sp>
          <p:nvSpPr>
            <p:cNvPr id="31" name="Text 29"/>
            <p:cNvSpPr/>
            <p:nvPr/>
          </p:nvSpPr>
          <p:spPr>
            <a:xfrm>
              <a:off x="8686800" y="2999232"/>
              <a:ext cx="1371600" cy="219456"/>
            </a:xfrm>
            <a:prstGeom prst="rect">
              <a:avLst/>
            </a:prstGeom>
            <a:noFill/>
            <a:ln>
              <a:solidFill>
                <a:schemeClr val="bg1"/>
              </a:solidFill>
            </a:ln>
          </p:spPr>
          <p:txBody>
            <a:bodyPr wrap="square" lIns="0" tIns="0" rIns="0" bIns="0" rtlCol="0" anchor="b"/>
            <a:lstStyle/>
            <a:p>
              <a:pPr marL="0" indent="0" algn="ctr">
                <a:buNone/>
              </a:pPr>
              <a:r>
                <a:rPr lang="en-US" sz="1050" b="1">
                  <a:solidFill>
                    <a:srgbClr val="000000"/>
                  </a:solidFill>
                  <a:latin typeface="Arial" pitchFamily="34" charset="0"/>
                  <a:ea typeface="Arial" pitchFamily="34" charset="-122"/>
                  <a:cs typeface="Arial" pitchFamily="34" charset="-120"/>
                </a:rPr>
                <a:t>y2 (64ch)</a:t>
              </a:r>
              <a:endParaRPr lang="en-US" sz="1050" b="1">
                <a:solidFill>
                  <a:srgbClr val="000000"/>
                </a:solidFill>
              </a:endParaRPr>
            </a:p>
          </p:txBody>
        </p:sp>
        <p:sp>
          <p:nvSpPr>
            <p:cNvPr id="32" name="Shape 30"/>
            <p:cNvSpPr/>
            <p:nvPr/>
          </p:nvSpPr>
          <p:spPr>
            <a:xfrm>
              <a:off x="2514600" y="4617720"/>
              <a:ext cx="7315200" cy="566928"/>
            </a:xfrm>
            <a:prstGeom prst="roundRect">
              <a:avLst>
                <a:gd name="adj" fmla="val 12903"/>
              </a:avLst>
            </a:prstGeom>
            <a:solidFill>
              <a:srgbClr val="2E3B52"/>
            </a:solidFill>
            <a:ln/>
          </p:spPr>
        </p:sp>
        <p:sp>
          <p:nvSpPr>
            <p:cNvPr id="33" name="Text 31"/>
            <p:cNvSpPr/>
            <p:nvPr/>
          </p:nvSpPr>
          <p:spPr>
            <a:xfrm>
              <a:off x="2514600" y="4617720"/>
              <a:ext cx="7315200" cy="566928"/>
            </a:xfrm>
            <a:prstGeom prst="rect">
              <a:avLst/>
            </a:prstGeom>
            <a:noFill/>
            <a:ln/>
          </p:spPr>
          <p:txBody>
            <a:bodyPr wrap="square" lIns="0" tIns="0" rIns="0" bIns="0" rtlCol="0" anchor="ctr"/>
            <a:lstStyle/>
            <a:p>
              <a:pPr marL="0" indent="0" algn="ctr">
                <a:buNone/>
              </a:pPr>
              <a:r>
                <a:rPr lang="en-US" sz="1400" b="1">
                  <a:solidFill>
                    <a:srgbClr val="FFFFFF"/>
                  </a:solidFill>
                  <a:latin typeface="Arial" pitchFamily="34" charset="0"/>
                  <a:ea typeface="Arial" pitchFamily="34" charset="-122"/>
                  <a:cs typeface="Arial" pitchFamily="34" charset="-120"/>
                </a:rPr>
                <a:t>Concat(y0, y1, y2, y3) → 256ch</a:t>
              </a:r>
              <a:endParaRPr lang="en-US" sz="1400"/>
            </a:p>
          </p:txBody>
        </p:sp>
        <p:sp>
          <p:nvSpPr>
            <p:cNvPr id="34" name="Shape 32"/>
            <p:cNvSpPr/>
            <p:nvPr/>
          </p:nvSpPr>
          <p:spPr>
            <a:xfrm>
              <a:off x="4059936" y="5184648"/>
              <a:ext cx="201168" cy="265176"/>
            </a:xfrm>
            <a:prstGeom prst="downArrow">
              <a:avLst/>
            </a:prstGeom>
            <a:solidFill>
              <a:srgbClr val="8A929E"/>
            </a:solidFill>
            <a:ln/>
          </p:spPr>
        </p:sp>
        <p:sp>
          <p:nvSpPr>
            <p:cNvPr id="35" name="Shape 33"/>
            <p:cNvSpPr/>
            <p:nvPr/>
          </p:nvSpPr>
          <p:spPr>
            <a:xfrm>
              <a:off x="2766060" y="5468112"/>
              <a:ext cx="2788920" cy="475488"/>
            </a:xfrm>
            <a:prstGeom prst="roundRect">
              <a:avLst>
                <a:gd name="adj" fmla="val 15385"/>
              </a:avLst>
            </a:prstGeom>
            <a:solidFill>
              <a:srgbClr val="EDF1F7"/>
            </a:solidFill>
            <a:ln w="15875">
              <a:solidFill>
                <a:srgbClr val="2E3B52"/>
              </a:solidFill>
              <a:prstDash val="solid"/>
            </a:ln>
          </p:spPr>
        </p:sp>
        <p:sp>
          <p:nvSpPr>
            <p:cNvPr id="36" name="Text 34"/>
            <p:cNvSpPr/>
            <p:nvPr/>
          </p:nvSpPr>
          <p:spPr>
            <a:xfrm>
              <a:off x="2766060" y="5468112"/>
              <a:ext cx="2788920" cy="475488"/>
            </a:xfrm>
            <a:prstGeom prst="rect">
              <a:avLst/>
            </a:prstGeom>
            <a:noFill/>
            <a:ln/>
          </p:spPr>
          <p:txBody>
            <a:bodyPr wrap="square" lIns="381" tIns="381" rIns="381" bIns="381" rtlCol="0" anchor="ctr"/>
            <a:lstStyle/>
            <a:p>
              <a:pPr marL="0" indent="0" algn="ctr">
                <a:buNone/>
              </a:pPr>
              <a:r>
                <a:rPr lang="en-US" sz="1250" b="1">
                  <a:solidFill>
                    <a:srgbClr val="2E3B52"/>
                  </a:solidFill>
                  <a:latin typeface="Arial"/>
                  <a:ea typeface="Arial" pitchFamily="34" charset="-122"/>
                  <a:cs typeface="Arial"/>
                </a:rPr>
                <a:t>Conv (</a:t>
              </a:r>
              <a:r>
                <a:rPr lang="en-US" sz="1250" b="1">
                  <a:solidFill>
                    <a:srgbClr val="FF0000"/>
                  </a:solidFill>
                  <a:latin typeface="Arial"/>
                  <a:ea typeface="Arial" pitchFamily="34" charset="-122"/>
                  <a:cs typeface="Arial"/>
                </a:rPr>
                <a:t>cv2</a:t>
              </a:r>
              <a:r>
                <a:rPr lang="en-US" sz="1250" b="1">
                  <a:solidFill>
                    <a:srgbClr val="2E3B52"/>
                  </a:solidFill>
                  <a:latin typeface="Arial"/>
                  <a:ea typeface="Arial" pitchFamily="34" charset="-122"/>
                  <a:cs typeface="Arial"/>
                </a:rPr>
                <a:t>, 1×1, 256→128)</a:t>
              </a:r>
            </a:p>
            <a:p>
              <a:pPr algn="ctr"/>
              <a:r>
                <a:rPr lang="en-US" sz="1250" b="1" err="1">
                  <a:solidFill>
                    <a:srgbClr val="2E3B52"/>
                  </a:solidFill>
                  <a:latin typeface="Arial"/>
                  <a:cs typeface="Arial"/>
                </a:rPr>
                <a:t>BN+SiLu</a:t>
              </a:r>
              <a:endParaRPr lang="en-US" sz="1250" b="1">
                <a:solidFill>
                  <a:srgbClr val="2E3B52"/>
                </a:solidFill>
                <a:latin typeface="Arial"/>
                <a:cs typeface="Arial"/>
              </a:endParaRPr>
            </a:p>
          </p:txBody>
        </p:sp>
        <p:sp>
          <p:nvSpPr>
            <p:cNvPr id="37" name="Shape 35"/>
            <p:cNvSpPr/>
            <p:nvPr/>
          </p:nvSpPr>
          <p:spPr>
            <a:xfrm>
              <a:off x="4059936" y="5943600"/>
              <a:ext cx="201168" cy="210312"/>
            </a:xfrm>
            <a:prstGeom prst="downArrow">
              <a:avLst/>
            </a:prstGeom>
            <a:solidFill>
              <a:srgbClr val="8A929E"/>
            </a:solidFill>
            <a:ln/>
          </p:spPr>
        </p:sp>
        <p:sp>
          <p:nvSpPr>
            <p:cNvPr id="38" name="Shape 36"/>
            <p:cNvSpPr/>
            <p:nvPr/>
          </p:nvSpPr>
          <p:spPr>
            <a:xfrm>
              <a:off x="2766060" y="6172200"/>
              <a:ext cx="2788920" cy="420624"/>
            </a:xfrm>
            <a:prstGeom prst="roundRect">
              <a:avLst>
                <a:gd name="adj" fmla="val 17391"/>
              </a:avLst>
            </a:prstGeom>
            <a:solidFill>
              <a:srgbClr val="FFFFFF"/>
            </a:solidFill>
            <a:ln w="15875">
              <a:solidFill>
                <a:srgbClr val="2E3B52"/>
              </a:solidFill>
              <a:prstDash val="solid"/>
            </a:ln>
          </p:spPr>
        </p:sp>
        <p:sp>
          <p:nvSpPr>
            <p:cNvPr id="39" name="Text 37"/>
            <p:cNvSpPr/>
            <p:nvPr/>
          </p:nvSpPr>
          <p:spPr>
            <a:xfrm>
              <a:off x="2766060" y="6172200"/>
              <a:ext cx="2788920" cy="420624"/>
            </a:xfrm>
            <a:prstGeom prst="rect">
              <a:avLst/>
            </a:prstGeom>
            <a:noFill/>
            <a:ln/>
          </p:spPr>
          <p:txBody>
            <a:bodyPr wrap="square" lIns="381" tIns="381" rIns="381" bIns="381" rtlCol="0" anchor="ctr"/>
            <a:lstStyle/>
            <a:p>
              <a:pPr marL="0" indent="0" algn="ctr">
                <a:buNone/>
              </a:pPr>
              <a:r>
                <a:rPr lang="en-US" sz="1300" b="1">
                  <a:solidFill>
                    <a:srgbClr val="2E3B52"/>
                  </a:solidFill>
                  <a:latin typeface="Arial" pitchFamily="34" charset="0"/>
                  <a:ea typeface="Arial" pitchFamily="34" charset="-122"/>
                  <a:cs typeface="Arial" pitchFamily="34" charset="-120"/>
                </a:rPr>
                <a:t>출력 (128ch)</a:t>
              </a:r>
              <a:endParaRPr lang="en-US" sz="1300"/>
            </a:p>
          </p:txBody>
        </p:sp>
      </p:grpSp>
    </p:spTree>
    <p:extLst>
      <p:ext uri="{BB962C8B-B14F-4D97-AF65-F5344CB8AC3E}">
        <p14:creationId xmlns:p14="http://schemas.microsoft.com/office/powerpoint/2010/main" val="3724933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7295" cy="502920"/>
          </a:xfrm>
          <a:prstGeom prst="rect">
            <a:avLst/>
          </a:prstGeom>
          <a:noFill/>
          <a:ln/>
        </p:spPr>
        <p:txBody>
          <a:bodyPr wrap="square" lIns="0" tIns="0" rIns="0" bIns="0" rtlCol="0" anchor="ctr"/>
          <a:lstStyle/>
          <a:p>
            <a:pPr marL="0" indent="0" algn="ctr">
              <a:buNone/>
            </a:pPr>
            <a:r>
              <a:rPr lang="en-US" sz="2600" b="1">
                <a:solidFill>
                  <a:srgbClr val="1F3B66"/>
                </a:solidFill>
                <a:latin typeface="Arial"/>
                <a:ea typeface="Arial" pitchFamily="34" charset="-122"/>
                <a:cs typeface="Arial"/>
              </a:rPr>
              <a:t>AXI-Stream</a:t>
            </a:r>
            <a:endParaRPr lang="en-US" sz="2600" b="1">
              <a:solidFill>
                <a:srgbClr val="1F3B66"/>
              </a:solidFill>
              <a:latin typeface="Arial"/>
              <a:cs typeface="Arial"/>
            </a:endParaRPr>
          </a:p>
        </p:txBody>
      </p:sp>
      <p:sp>
        <p:nvSpPr>
          <p:cNvPr id="3" name="Shape 1"/>
          <p:cNvSpPr/>
          <p:nvPr/>
        </p:nvSpPr>
        <p:spPr>
          <a:xfrm>
            <a:off x="640080" y="868680"/>
            <a:ext cx="10908792" cy="1600200"/>
          </a:xfrm>
          <a:prstGeom prst="roundRect">
            <a:avLst>
              <a:gd name="adj" fmla="val 3429"/>
            </a:avLst>
          </a:prstGeom>
          <a:solidFill>
            <a:srgbClr val="F2F4F8"/>
          </a:solidFill>
          <a:ln w="12700">
            <a:solidFill>
              <a:srgbClr val="C7CCD4"/>
            </a:solidFill>
            <a:prstDash val="solid"/>
          </a:ln>
        </p:spPr>
      </p:sp>
      <p:sp>
        <p:nvSpPr>
          <p:cNvPr id="4" name="Text 2"/>
          <p:cNvSpPr/>
          <p:nvPr/>
        </p:nvSpPr>
        <p:spPr>
          <a:xfrm>
            <a:off x="804672" y="941832"/>
            <a:ext cx="3657600" cy="256032"/>
          </a:xfrm>
          <a:prstGeom prst="rect">
            <a:avLst/>
          </a:prstGeom>
          <a:noFill/>
          <a:ln/>
        </p:spPr>
        <p:txBody>
          <a:bodyPr wrap="square" lIns="0" tIns="0" rIns="0" bIns="0" rtlCol="0" anchor="ctr"/>
          <a:lstStyle/>
          <a:p>
            <a:pPr marL="0" indent="0" algn="l">
              <a:buNone/>
            </a:pPr>
            <a:r>
              <a:rPr lang="en-US" sz="1200" b="1" i="1">
                <a:solidFill>
                  <a:srgbClr val="1F3B66"/>
                </a:solidFill>
                <a:latin typeface="Arial" pitchFamily="34" charset="0"/>
                <a:ea typeface="Arial" pitchFamily="34" charset="-122"/>
                <a:cs typeface="Arial" pitchFamily="34" charset="-120"/>
              </a:rPr>
              <a:t>PS  (Processing System)</a:t>
            </a:r>
            <a:endParaRPr lang="en-US" sz="1200"/>
          </a:p>
        </p:txBody>
      </p:sp>
      <p:sp>
        <p:nvSpPr>
          <p:cNvPr id="5" name="Shape 3"/>
          <p:cNvSpPr/>
          <p:nvPr/>
        </p:nvSpPr>
        <p:spPr>
          <a:xfrm>
            <a:off x="4937760" y="1234440"/>
            <a:ext cx="2286000" cy="502920"/>
          </a:xfrm>
          <a:prstGeom prst="roundRect">
            <a:avLst>
              <a:gd name="adj" fmla="val 12727"/>
            </a:avLst>
          </a:prstGeom>
          <a:solidFill>
            <a:srgbClr val="FFFFFF"/>
          </a:solidFill>
          <a:ln w="15875">
            <a:solidFill>
              <a:srgbClr val="2E3B52"/>
            </a:solidFill>
            <a:prstDash val="solid"/>
          </a:ln>
        </p:spPr>
      </p:sp>
      <p:sp>
        <p:nvSpPr>
          <p:cNvPr id="6" name="Text 4"/>
          <p:cNvSpPr/>
          <p:nvPr/>
        </p:nvSpPr>
        <p:spPr>
          <a:xfrm>
            <a:off x="4937760" y="1234440"/>
            <a:ext cx="2286000" cy="502920"/>
          </a:xfrm>
          <a:prstGeom prst="rect">
            <a:avLst/>
          </a:prstGeom>
          <a:noFill/>
          <a:ln/>
        </p:spPr>
        <p:txBody>
          <a:bodyPr wrap="square" lIns="254" tIns="254" rIns="254" bIns="254" rtlCol="0" anchor="ctr"/>
          <a:lstStyle/>
          <a:p>
            <a:pPr marL="0" indent="0" algn="ctr">
              <a:buNone/>
            </a:pPr>
            <a:r>
              <a:rPr lang="en-US" sz="1300" b="1">
                <a:solidFill>
                  <a:srgbClr val="2E3B52"/>
                </a:solidFill>
                <a:latin typeface="Arial" pitchFamily="34" charset="0"/>
                <a:ea typeface="Arial" pitchFamily="34" charset="-122"/>
                <a:cs typeface="Arial" pitchFamily="34" charset="-120"/>
              </a:rPr>
              <a:t>DDR 메모리</a:t>
            </a:r>
            <a:endParaRPr lang="en-US" sz="1300"/>
          </a:p>
        </p:txBody>
      </p:sp>
      <p:sp>
        <p:nvSpPr>
          <p:cNvPr id="7" name="Shape 5"/>
          <p:cNvSpPr/>
          <p:nvPr/>
        </p:nvSpPr>
        <p:spPr>
          <a:xfrm>
            <a:off x="1554480" y="2011680"/>
            <a:ext cx="2651760" cy="502920"/>
          </a:xfrm>
          <a:prstGeom prst="roundRect">
            <a:avLst>
              <a:gd name="adj" fmla="val 12727"/>
            </a:avLst>
          </a:prstGeom>
          <a:solidFill>
            <a:srgbClr val="FFFFFF"/>
          </a:solidFill>
          <a:ln w="15875">
            <a:solidFill>
              <a:srgbClr val="2E3B52"/>
            </a:solidFill>
            <a:prstDash val="solid"/>
          </a:ln>
        </p:spPr>
      </p:sp>
      <p:sp>
        <p:nvSpPr>
          <p:cNvPr id="8" name="Text 6"/>
          <p:cNvSpPr/>
          <p:nvPr/>
        </p:nvSpPr>
        <p:spPr>
          <a:xfrm>
            <a:off x="1554480" y="2011680"/>
            <a:ext cx="2651760" cy="502920"/>
          </a:xfrm>
          <a:prstGeom prst="rect">
            <a:avLst/>
          </a:prstGeom>
          <a:noFill/>
          <a:ln/>
        </p:spPr>
        <p:txBody>
          <a:bodyPr wrap="square" lIns="254" tIns="254" rIns="254" bIns="254" rtlCol="0" anchor="ctr"/>
          <a:lstStyle/>
          <a:p>
            <a:pPr marL="0" indent="0" algn="ctr">
              <a:buNone/>
            </a:pPr>
            <a:r>
              <a:rPr lang="en-US" sz="1100" b="1">
                <a:solidFill>
                  <a:srgbClr val="2E3B52"/>
                </a:solidFill>
                <a:latin typeface="Arial" pitchFamily="34" charset="0"/>
                <a:ea typeface="Arial" pitchFamily="34" charset="-122"/>
                <a:cs typeface="Arial" pitchFamily="34" charset="-120"/>
              </a:rPr>
              <a:t>DMA</a:t>
            </a:r>
            <a:endParaRPr lang="en-US" sz="1100"/>
          </a:p>
          <a:p>
            <a:pPr marL="0" indent="0" algn="ctr">
              <a:buNone/>
            </a:pPr>
            <a:r>
              <a:rPr lang="en-US" sz="1100" b="1">
                <a:solidFill>
                  <a:srgbClr val="2E3B52"/>
                </a:solidFill>
                <a:latin typeface="Arial" pitchFamily="34" charset="0"/>
                <a:ea typeface="Arial" pitchFamily="34" charset="-122"/>
                <a:cs typeface="Arial" pitchFamily="34" charset="-120"/>
              </a:rPr>
              <a:t>(MM2S · 입력 전송)</a:t>
            </a:r>
            <a:endParaRPr lang="en-US" sz="1100"/>
          </a:p>
        </p:txBody>
      </p:sp>
      <p:sp>
        <p:nvSpPr>
          <p:cNvPr id="9" name="Shape 7"/>
          <p:cNvSpPr/>
          <p:nvPr/>
        </p:nvSpPr>
        <p:spPr>
          <a:xfrm>
            <a:off x="7955280" y="2011680"/>
            <a:ext cx="2651760" cy="502920"/>
          </a:xfrm>
          <a:prstGeom prst="roundRect">
            <a:avLst>
              <a:gd name="adj" fmla="val 12727"/>
            </a:avLst>
          </a:prstGeom>
          <a:solidFill>
            <a:srgbClr val="FFFFFF"/>
          </a:solidFill>
          <a:ln w="15875">
            <a:solidFill>
              <a:srgbClr val="2E3B52"/>
            </a:solidFill>
            <a:prstDash val="solid"/>
          </a:ln>
        </p:spPr>
      </p:sp>
      <p:sp>
        <p:nvSpPr>
          <p:cNvPr id="10" name="Text 8"/>
          <p:cNvSpPr/>
          <p:nvPr/>
        </p:nvSpPr>
        <p:spPr>
          <a:xfrm>
            <a:off x="7955280" y="2011680"/>
            <a:ext cx="2651760" cy="502920"/>
          </a:xfrm>
          <a:prstGeom prst="rect">
            <a:avLst/>
          </a:prstGeom>
          <a:noFill/>
          <a:ln/>
        </p:spPr>
        <p:txBody>
          <a:bodyPr wrap="square" lIns="254" tIns="254" rIns="254" bIns="254" rtlCol="0" anchor="ctr"/>
          <a:lstStyle/>
          <a:p>
            <a:pPr marL="0" indent="0" algn="ctr">
              <a:buNone/>
            </a:pPr>
            <a:r>
              <a:rPr lang="en-US" sz="1100" b="1">
                <a:solidFill>
                  <a:srgbClr val="2E3B52"/>
                </a:solidFill>
                <a:latin typeface="Arial" pitchFamily="34" charset="0"/>
                <a:ea typeface="Arial" pitchFamily="34" charset="-122"/>
                <a:cs typeface="Arial" pitchFamily="34" charset="-120"/>
              </a:rPr>
              <a:t>DMA</a:t>
            </a:r>
            <a:endParaRPr lang="en-US" sz="1100"/>
          </a:p>
          <a:p>
            <a:pPr marL="0" indent="0" algn="ctr">
              <a:buNone/>
            </a:pPr>
            <a:r>
              <a:rPr lang="en-US" sz="1100" b="1">
                <a:solidFill>
                  <a:srgbClr val="2E3B52"/>
                </a:solidFill>
                <a:latin typeface="Arial" pitchFamily="34" charset="0"/>
                <a:ea typeface="Arial" pitchFamily="34" charset="-122"/>
                <a:cs typeface="Arial" pitchFamily="34" charset="-120"/>
              </a:rPr>
              <a:t>(S2MM · 출력 수신)</a:t>
            </a:r>
            <a:endParaRPr lang="en-US" sz="1100"/>
          </a:p>
        </p:txBody>
      </p:sp>
      <p:sp>
        <p:nvSpPr>
          <p:cNvPr id="11" name="Shape 9"/>
          <p:cNvSpPr/>
          <p:nvPr/>
        </p:nvSpPr>
        <p:spPr>
          <a:xfrm flipH="1">
            <a:off x="3931920" y="1737360"/>
            <a:ext cx="1188720" cy="274320"/>
          </a:xfrm>
          <a:prstGeom prst="line">
            <a:avLst/>
          </a:prstGeom>
          <a:noFill/>
          <a:ln w="15875">
            <a:solidFill>
              <a:srgbClr val="5B6472"/>
            </a:solidFill>
            <a:prstDash val="solid"/>
          </a:ln>
        </p:spPr>
      </p:sp>
      <p:sp>
        <p:nvSpPr>
          <p:cNvPr id="12" name="Shape 10"/>
          <p:cNvSpPr/>
          <p:nvPr/>
        </p:nvSpPr>
        <p:spPr>
          <a:xfrm rot="15420323">
            <a:off x="3930398" y="1938879"/>
            <a:ext cx="118872" cy="118872"/>
          </a:xfrm>
          <a:prstGeom prst="triangle">
            <a:avLst/>
          </a:prstGeom>
          <a:solidFill>
            <a:srgbClr val="5B6472"/>
          </a:solidFill>
          <a:ln/>
        </p:spPr>
      </p:sp>
      <p:sp>
        <p:nvSpPr>
          <p:cNvPr id="13" name="Shape 11"/>
          <p:cNvSpPr/>
          <p:nvPr/>
        </p:nvSpPr>
        <p:spPr>
          <a:xfrm flipH="1" flipV="1">
            <a:off x="7040880" y="1737360"/>
            <a:ext cx="1188720" cy="274320"/>
          </a:xfrm>
          <a:prstGeom prst="line">
            <a:avLst/>
          </a:prstGeom>
          <a:noFill/>
          <a:ln w="15875">
            <a:solidFill>
              <a:srgbClr val="5B6472"/>
            </a:solidFill>
            <a:prstDash val="solid"/>
          </a:ln>
        </p:spPr>
      </p:sp>
      <p:sp>
        <p:nvSpPr>
          <p:cNvPr id="14" name="Shape 12"/>
          <p:cNvSpPr/>
          <p:nvPr/>
        </p:nvSpPr>
        <p:spPr>
          <a:xfrm rot="16979677">
            <a:off x="7039358" y="1691289"/>
            <a:ext cx="118872" cy="118872"/>
          </a:xfrm>
          <a:prstGeom prst="triangle">
            <a:avLst/>
          </a:prstGeom>
          <a:solidFill>
            <a:srgbClr val="5B6472"/>
          </a:solidFill>
          <a:ln/>
        </p:spPr>
      </p:sp>
      <p:sp>
        <p:nvSpPr>
          <p:cNvPr id="16" name="Shape 14"/>
          <p:cNvSpPr/>
          <p:nvPr/>
        </p:nvSpPr>
        <p:spPr>
          <a:xfrm>
            <a:off x="640080" y="2651760"/>
            <a:ext cx="10908792" cy="914"/>
          </a:xfrm>
          <a:prstGeom prst="line">
            <a:avLst/>
          </a:prstGeom>
          <a:noFill/>
          <a:ln w="15875">
            <a:solidFill>
              <a:srgbClr val="B6BEC9"/>
            </a:solidFill>
            <a:prstDash val="dash"/>
          </a:ln>
        </p:spPr>
      </p:sp>
      <p:sp>
        <p:nvSpPr>
          <p:cNvPr id="18" name="Shape 16"/>
          <p:cNvSpPr/>
          <p:nvPr/>
        </p:nvSpPr>
        <p:spPr>
          <a:xfrm>
            <a:off x="640080" y="2834640"/>
            <a:ext cx="10908792" cy="3383280"/>
          </a:xfrm>
          <a:prstGeom prst="roundRect">
            <a:avLst>
              <a:gd name="adj" fmla="val 1622"/>
            </a:avLst>
          </a:prstGeom>
          <a:solidFill>
            <a:srgbClr val="E4EEFB"/>
          </a:solidFill>
          <a:ln w="12700">
            <a:solidFill>
              <a:srgbClr val="AFC6E3"/>
            </a:solidFill>
            <a:prstDash val="solid"/>
          </a:ln>
        </p:spPr>
      </p:sp>
      <p:sp>
        <p:nvSpPr>
          <p:cNvPr id="19" name="Text 17"/>
          <p:cNvSpPr/>
          <p:nvPr/>
        </p:nvSpPr>
        <p:spPr>
          <a:xfrm>
            <a:off x="804672" y="2907792"/>
            <a:ext cx="3657600" cy="256032"/>
          </a:xfrm>
          <a:prstGeom prst="rect">
            <a:avLst/>
          </a:prstGeom>
          <a:noFill/>
          <a:ln/>
        </p:spPr>
        <p:txBody>
          <a:bodyPr wrap="square" lIns="0" tIns="0" rIns="0" bIns="0" rtlCol="0" anchor="ctr"/>
          <a:lstStyle/>
          <a:p>
            <a:pPr marL="0" indent="0" algn="l">
              <a:buNone/>
            </a:pPr>
            <a:r>
              <a:rPr lang="en-US" sz="1200" b="1" i="1">
                <a:solidFill>
                  <a:srgbClr val="1F3B66"/>
                </a:solidFill>
                <a:latin typeface="Arial" pitchFamily="34" charset="0"/>
                <a:ea typeface="Arial" pitchFamily="34" charset="-122"/>
                <a:cs typeface="Arial" pitchFamily="34" charset="-120"/>
              </a:rPr>
              <a:t>PL  (FPGA Logic)</a:t>
            </a:r>
            <a:endParaRPr lang="en-US" sz="1200"/>
          </a:p>
        </p:txBody>
      </p:sp>
      <p:sp>
        <p:nvSpPr>
          <p:cNvPr id="20" name="Shape 18"/>
          <p:cNvSpPr/>
          <p:nvPr/>
        </p:nvSpPr>
        <p:spPr>
          <a:xfrm>
            <a:off x="1312164" y="4160520"/>
            <a:ext cx="1051560" cy="960120"/>
          </a:xfrm>
          <a:prstGeom prst="roundRect">
            <a:avLst>
              <a:gd name="adj" fmla="val 6667"/>
            </a:avLst>
          </a:prstGeom>
          <a:solidFill>
            <a:srgbClr val="FFFFFF"/>
          </a:solidFill>
          <a:ln w="15875">
            <a:solidFill>
              <a:srgbClr val="2E3B52"/>
            </a:solidFill>
            <a:prstDash val="solid"/>
          </a:ln>
        </p:spPr>
      </p:sp>
      <p:sp>
        <p:nvSpPr>
          <p:cNvPr id="21" name="Text 19"/>
          <p:cNvSpPr/>
          <p:nvPr/>
        </p:nvSpPr>
        <p:spPr>
          <a:xfrm>
            <a:off x="1312164" y="4160520"/>
            <a:ext cx="1051560" cy="960120"/>
          </a:xfrm>
          <a:prstGeom prst="rect">
            <a:avLst/>
          </a:prstGeom>
          <a:noFill/>
          <a:ln/>
        </p:spPr>
        <p:txBody>
          <a:bodyPr wrap="square" lIns="254" tIns="254" rIns="254" bIns="254" rtlCol="0" anchor="ctr"/>
          <a:lstStyle/>
          <a:p>
            <a:pPr marL="0" indent="0" algn="ctr">
              <a:buNone/>
            </a:pPr>
            <a:r>
              <a:rPr lang="en-US" sz="950" b="1">
                <a:solidFill>
                  <a:srgbClr val="2E3B52"/>
                </a:solidFill>
                <a:latin typeface="Arial" pitchFamily="34" charset="0"/>
                <a:ea typeface="Arial" pitchFamily="34" charset="-122"/>
                <a:cs typeface="Arial" pitchFamily="34" charset="-120"/>
              </a:rPr>
              <a:t>Conv 1×1</a:t>
            </a:r>
            <a:endParaRPr lang="en-US" sz="950"/>
          </a:p>
          <a:p>
            <a:pPr marL="0" indent="0" algn="ctr">
              <a:buNone/>
            </a:pPr>
            <a:r>
              <a:rPr lang="en-US" sz="950" b="1">
                <a:solidFill>
                  <a:srgbClr val="2E3B52"/>
                </a:solidFill>
                <a:latin typeface="Arial" pitchFamily="34" charset="0"/>
                <a:ea typeface="Arial" pitchFamily="34" charset="-122"/>
                <a:cs typeface="Arial" pitchFamily="34" charset="-120"/>
              </a:rPr>
              <a:t>(cv1)</a:t>
            </a:r>
            <a:endParaRPr lang="en-US" sz="950"/>
          </a:p>
        </p:txBody>
      </p:sp>
      <p:sp>
        <p:nvSpPr>
          <p:cNvPr id="22" name="Shape 20"/>
          <p:cNvSpPr/>
          <p:nvPr/>
        </p:nvSpPr>
        <p:spPr>
          <a:xfrm>
            <a:off x="2528316" y="4160520"/>
            <a:ext cx="1051560" cy="960120"/>
          </a:xfrm>
          <a:prstGeom prst="roundRect">
            <a:avLst>
              <a:gd name="adj" fmla="val 6667"/>
            </a:avLst>
          </a:prstGeom>
          <a:solidFill>
            <a:srgbClr val="FFFFFF"/>
          </a:solidFill>
          <a:ln w="15875">
            <a:solidFill>
              <a:srgbClr val="2E3B52"/>
            </a:solidFill>
            <a:prstDash val="solid"/>
          </a:ln>
        </p:spPr>
      </p:sp>
      <p:sp>
        <p:nvSpPr>
          <p:cNvPr id="23" name="Text 21"/>
          <p:cNvSpPr/>
          <p:nvPr/>
        </p:nvSpPr>
        <p:spPr>
          <a:xfrm>
            <a:off x="2528316" y="4160520"/>
            <a:ext cx="1051560" cy="960120"/>
          </a:xfrm>
          <a:prstGeom prst="rect">
            <a:avLst/>
          </a:prstGeom>
          <a:noFill/>
          <a:ln/>
        </p:spPr>
        <p:txBody>
          <a:bodyPr wrap="square" lIns="254" tIns="254" rIns="254" bIns="254" rtlCol="0" anchor="ctr"/>
          <a:lstStyle/>
          <a:p>
            <a:pPr marL="0" indent="0" algn="ctr">
              <a:buNone/>
            </a:pPr>
            <a:r>
              <a:rPr lang="en-US" sz="950" b="1">
                <a:solidFill>
                  <a:srgbClr val="2E3B52"/>
                </a:solidFill>
                <a:latin typeface="Arial" pitchFamily="34" charset="0"/>
                <a:ea typeface="Arial" pitchFamily="34" charset="-122"/>
                <a:cs typeface="Arial" pitchFamily="34" charset="-120"/>
              </a:rPr>
              <a:t>BN+SiLU</a:t>
            </a:r>
            <a:endParaRPr lang="en-US" sz="950"/>
          </a:p>
          <a:p>
            <a:pPr marL="0" indent="0" algn="ctr">
              <a:buNone/>
            </a:pPr>
            <a:r>
              <a:rPr lang="en-US" sz="950" b="1">
                <a:solidFill>
                  <a:srgbClr val="2E3B52"/>
                </a:solidFill>
                <a:latin typeface="Arial" pitchFamily="34" charset="0"/>
                <a:ea typeface="Arial" pitchFamily="34" charset="-122"/>
                <a:cs typeface="Arial" pitchFamily="34" charset="-120"/>
              </a:rPr>
              <a:t>(128ch)</a:t>
            </a:r>
            <a:endParaRPr lang="en-US" sz="950"/>
          </a:p>
        </p:txBody>
      </p:sp>
      <p:sp>
        <p:nvSpPr>
          <p:cNvPr id="24" name="Shape 22"/>
          <p:cNvSpPr/>
          <p:nvPr/>
        </p:nvSpPr>
        <p:spPr>
          <a:xfrm>
            <a:off x="3744468" y="4160520"/>
            <a:ext cx="1051560" cy="960120"/>
          </a:xfrm>
          <a:prstGeom prst="roundRect">
            <a:avLst>
              <a:gd name="adj" fmla="val 6667"/>
            </a:avLst>
          </a:prstGeom>
          <a:solidFill>
            <a:srgbClr val="FFFFFF"/>
          </a:solidFill>
          <a:ln w="15875">
            <a:solidFill>
              <a:srgbClr val="2E3B52"/>
            </a:solidFill>
            <a:prstDash val="solid"/>
          </a:ln>
        </p:spPr>
      </p:sp>
      <p:sp>
        <p:nvSpPr>
          <p:cNvPr id="25" name="Text 23"/>
          <p:cNvSpPr/>
          <p:nvPr/>
        </p:nvSpPr>
        <p:spPr>
          <a:xfrm>
            <a:off x="3744468" y="4160520"/>
            <a:ext cx="1051560" cy="960120"/>
          </a:xfrm>
          <a:prstGeom prst="rect">
            <a:avLst/>
          </a:prstGeom>
          <a:noFill/>
          <a:ln/>
        </p:spPr>
        <p:txBody>
          <a:bodyPr wrap="square" lIns="254" tIns="254" rIns="254" bIns="254" rtlCol="0" anchor="ctr"/>
          <a:lstStyle/>
          <a:p>
            <a:pPr marL="0" indent="0" algn="ctr">
              <a:buNone/>
            </a:pPr>
            <a:r>
              <a:rPr lang="en-US" sz="950" b="1">
                <a:solidFill>
                  <a:srgbClr val="2E3B52"/>
                </a:solidFill>
                <a:latin typeface="Arial" pitchFamily="34" charset="0"/>
                <a:ea typeface="Arial" pitchFamily="34" charset="-122"/>
                <a:cs typeface="Arial" pitchFamily="34" charset="-120"/>
              </a:rPr>
              <a:t>Split</a:t>
            </a:r>
            <a:endParaRPr lang="en-US" sz="950"/>
          </a:p>
        </p:txBody>
      </p:sp>
      <p:sp>
        <p:nvSpPr>
          <p:cNvPr id="26" name="Shape 24"/>
          <p:cNvSpPr/>
          <p:nvPr/>
        </p:nvSpPr>
        <p:spPr>
          <a:xfrm>
            <a:off x="4960620" y="4160520"/>
            <a:ext cx="1051560" cy="960120"/>
          </a:xfrm>
          <a:prstGeom prst="roundRect">
            <a:avLst>
              <a:gd name="adj" fmla="val 6667"/>
            </a:avLst>
          </a:prstGeom>
          <a:solidFill>
            <a:srgbClr val="FFFFFF"/>
          </a:solidFill>
          <a:ln w="15875">
            <a:solidFill>
              <a:srgbClr val="2E3B52"/>
            </a:solidFill>
            <a:prstDash val="solid"/>
          </a:ln>
        </p:spPr>
      </p:sp>
      <p:sp>
        <p:nvSpPr>
          <p:cNvPr id="27" name="Text 25"/>
          <p:cNvSpPr/>
          <p:nvPr/>
        </p:nvSpPr>
        <p:spPr>
          <a:xfrm>
            <a:off x="4960620" y="4160520"/>
            <a:ext cx="1051560" cy="960120"/>
          </a:xfrm>
          <a:prstGeom prst="rect">
            <a:avLst/>
          </a:prstGeom>
          <a:noFill/>
          <a:ln/>
        </p:spPr>
        <p:txBody>
          <a:bodyPr wrap="square" lIns="254" tIns="254" rIns="254" bIns="254" rtlCol="0" anchor="ctr"/>
          <a:lstStyle/>
          <a:p>
            <a:pPr algn="ctr"/>
            <a:r>
              <a:rPr lang="en-US" sz="950" b="1">
                <a:solidFill>
                  <a:srgbClr val="2E3B52"/>
                </a:solidFill>
                <a:latin typeface="Arial"/>
                <a:ea typeface="Arial" pitchFamily="34" charset="-122"/>
                <a:cs typeface="Arial"/>
              </a:rPr>
              <a:t>Bottleneck 1</a:t>
            </a:r>
            <a:br>
              <a:rPr lang="en-US" sz="950" b="1">
                <a:latin typeface="Arial"/>
                <a:ea typeface="Arial" pitchFamily="34" charset="-122"/>
                <a:cs typeface="Arial"/>
              </a:rPr>
            </a:br>
            <a:r>
              <a:rPr lang="en-US" sz="950" b="1">
                <a:solidFill>
                  <a:srgbClr val="2E3B52"/>
                </a:solidFill>
                <a:latin typeface="Arial"/>
                <a:cs typeface="Arial"/>
              </a:rPr>
              <a:t>conv3x3</a:t>
            </a:r>
            <a:br>
              <a:rPr lang="en-US" sz="950" b="1">
                <a:solidFill>
                  <a:srgbClr val="2E3B52"/>
                </a:solidFill>
                <a:latin typeface="Arial"/>
                <a:cs typeface="Arial"/>
              </a:rPr>
            </a:br>
            <a:r>
              <a:rPr lang="en-US" sz="950" b="1">
                <a:solidFill>
                  <a:srgbClr val="2E3B52"/>
                </a:solidFill>
                <a:latin typeface="Arial"/>
                <a:cs typeface="Arial"/>
              </a:rPr>
              <a:t>bn_silu_64​</a:t>
            </a:r>
            <a:endParaRPr lang="en-US" sz="950"/>
          </a:p>
        </p:txBody>
      </p:sp>
      <p:sp>
        <p:nvSpPr>
          <p:cNvPr id="28" name="Shape 26"/>
          <p:cNvSpPr/>
          <p:nvPr/>
        </p:nvSpPr>
        <p:spPr>
          <a:xfrm>
            <a:off x="6176772" y="4160520"/>
            <a:ext cx="1051560" cy="960120"/>
          </a:xfrm>
          <a:prstGeom prst="roundRect">
            <a:avLst>
              <a:gd name="adj" fmla="val 6667"/>
            </a:avLst>
          </a:prstGeom>
          <a:solidFill>
            <a:srgbClr val="FFFFFF"/>
          </a:solidFill>
          <a:ln w="15875">
            <a:solidFill>
              <a:srgbClr val="2E3B52"/>
            </a:solidFill>
            <a:prstDash val="solid"/>
          </a:ln>
        </p:spPr>
      </p:sp>
      <p:sp>
        <p:nvSpPr>
          <p:cNvPr id="29" name="Text 27"/>
          <p:cNvSpPr/>
          <p:nvPr/>
        </p:nvSpPr>
        <p:spPr>
          <a:xfrm>
            <a:off x="6176772" y="4160520"/>
            <a:ext cx="1051560" cy="960120"/>
          </a:xfrm>
          <a:prstGeom prst="rect">
            <a:avLst/>
          </a:prstGeom>
          <a:noFill/>
          <a:ln/>
        </p:spPr>
        <p:txBody>
          <a:bodyPr wrap="square" lIns="254" tIns="254" rIns="254" bIns="254" rtlCol="0" anchor="ctr"/>
          <a:lstStyle/>
          <a:p>
            <a:pPr algn="ctr"/>
            <a:r>
              <a:rPr lang="en-US" sz="950" b="1">
                <a:solidFill>
                  <a:srgbClr val="2E3B52"/>
                </a:solidFill>
                <a:latin typeface="Arial"/>
                <a:ea typeface="Arial" pitchFamily="34" charset="-122"/>
                <a:cs typeface="Arial"/>
              </a:rPr>
              <a:t>Bottleneck 2</a:t>
            </a:r>
            <a:br>
              <a:rPr lang="en-US" sz="950" b="1">
                <a:latin typeface="Arial"/>
                <a:ea typeface="Arial" pitchFamily="34" charset="-122"/>
                <a:cs typeface="Arial"/>
              </a:rPr>
            </a:br>
            <a:r>
              <a:rPr lang="en-US" sz="950" b="1">
                <a:solidFill>
                  <a:srgbClr val="2E3B52"/>
                </a:solidFill>
                <a:latin typeface="Arial"/>
                <a:ea typeface="Arial" pitchFamily="34" charset="-122"/>
                <a:cs typeface="Arial"/>
              </a:rPr>
              <a:t>conv3x3</a:t>
            </a:r>
            <a:br>
              <a:rPr lang="en-US" sz="950" b="1">
                <a:latin typeface="Arial"/>
                <a:ea typeface="Arial" pitchFamily="34" charset="-122"/>
                <a:cs typeface="Arial"/>
              </a:rPr>
            </a:br>
            <a:r>
              <a:rPr lang="en-US" sz="950" b="1">
                <a:solidFill>
                  <a:srgbClr val="2E3B52"/>
                </a:solidFill>
                <a:latin typeface="Arial"/>
                <a:ea typeface="Arial" pitchFamily="34" charset="-122"/>
                <a:cs typeface="Arial"/>
              </a:rPr>
              <a:t>bn_silu_64</a:t>
            </a:r>
            <a:endParaRPr lang="en-US" sz="950"/>
          </a:p>
        </p:txBody>
      </p:sp>
      <p:sp>
        <p:nvSpPr>
          <p:cNvPr id="30" name="Shape 28"/>
          <p:cNvSpPr/>
          <p:nvPr/>
        </p:nvSpPr>
        <p:spPr>
          <a:xfrm>
            <a:off x="7392924" y="4160520"/>
            <a:ext cx="1051560" cy="960120"/>
          </a:xfrm>
          <a:prstGeom prst="roundRect">
            <a:avLst>
              <a:gd name="adj" fmla="val 6667"/>
            </a:avLst>
          </a:prstGeom>
          <a:solidFill>
            <a:srgbClr val="FFFFFF"/>
          </a:solidFill>
          <a:ln w="15875">
            <a:solidFill>
              <a:srgbClr val="2E3B52"/>
            </a:solidFill>
            <a:prstDash val="solid"/>
          </a:ln>
        </p:spPr>
      </p:sp>
      <p:sp>
        <p:nvSpPr>
          <p:cNvPr id="31" name="Text 29"/>
          <p:cNvSpPr/>
          <p:nvPr/>
        </p:nvSpPr>
        <p:spPr>
          <a:xfrm>
            <a:off x="7392924" y="4160520"/>
            <a:ext cx="1051560" cy="960120"/>
          </a:xfrm>
          <a:prstGeom prst="rect">
            <a:avLst/>
          </a:prstGeom>
          <a:noFill/>
          <a:ln/>
        </p:spPr>
        <p:txBody>
          <a:bodyPr wrap="square" lIns="254" tIns="254" rIns="254" bIns="254" rtlCol="0" anchor="ctr"/>
          <a:lstStyle/>
          <a:p>
            <a:pPr marL="0" indent="0" algn="ctr">
              <a:buNone/>
            </a:pPr>
            <a:r>
              <a:rPr lang="en-US" sz="950" b="1">
                <a:solidFill>
                  <a:srgbClr val="2E3B52"/>
                </a:solidFill>
                <a:latin typeface="Arial" pitchFamily="34" charset="0"/>
                <a:ea typeface="Arial" pitchFamily="34" charset="-122"/>
                <a:cs typeface="Arial" pitchFamily="34" charset="-120"/>
              </a:rPr>
              <a:t>Concat</a:t>
            </a:r>
            <a:endParaRPr lang="en-US" sz="950"/>
          </a:p>
          <a:p>
            <a:pPr marL="0" indent="0" algn="ctr">
              <a:buNone/>
            </a:pPr>
            <a:r>
              <a:rPr lang="en-US" sz="950" b="1">
                <a:solidFill>
                  <a:srgbClr val="2E3B52"/>
                </a:solidFill>
                <a:latin typeface="Arial" pitchFamily="34" charset="0"/>
                <a:ea typeface="Arial" pitchFamily="34" charset="-122"/>
                <a:cs typeface="Arial" pitchFamily="34" charset="-120"/>
              </a:rPr>
              <a:t>(256ch)</a:t>
            </a:r>
            <a:endParaRPr lang="en-US" sz="950"/>
          </a:p>
        </p:txBody>
      </p:sp>
      <p:sp>
        <p:nvSpPr>
          <p:cNvPr id="32" name="Shape 30"/>
          <p:cNvSpPr/>
          <p:nvPr/>
        </p:nvSpPr>
        <p:spPr>
          <a:xfrm>
            <a:off x="8609076" y="4160520"/>
            <a:ext cx="1051560" cy="960120"/>
          </a:xfrm>
          <a:prstGeom prst="roundRect">
            <a:avLst>
              <a:gd name="adj" fmla="val 6667"/>
            </a:avLst>
          </a:prstGeom>
          <a:solidFill>
            <a:srgbClr val="FFFFFF"/>
          </a:solidFill>
          <a:ln w="15875">
            <a:solidFill>
              <a:srgbClr val="2E3B52"/>
            </a:solidFill>
            <a:prstDash val="solid"/>
          </a:ln>
        </p:spPr>
      </p:sp>
      <p:sp>
        <p:nvSpPr>
          <p:cNvPr id="33" name="Text 31"/>
          <p:cNvSpPr/>
          <p:nvPr/>
        </p:nvSpPr>
        <p:spPr>
          <a:xfrm>
            <a:off x="8609076" y="4160520"/>
            <a:ext cx="1051560" cy="960120"/>
          </a:xfrm>
          <a:prstGeom prst="rect">
            <a:avLst/>
          </a:prstGeom>
          <a:noFill/>
          <a:ln/>
        </p:spPr>
        <p:txBody>
          <a:bodyPr wrap="square" lIns="254" tIns="254" rIns="254" bIns="254" rtlCol="0" anchor="ctr"/>
          <a:lstStyle/>
          <a:p>
            <a:pPr marL="0" indent="0" algn="ctr">
              <a:buNone/>
            </a:pPr>
            <a:r>
              <a:rPr lang="en-US" sz="950" b="1">
                <a:solidFill>
                  <a:srgbClr val="2E3B52"/>
                </a:solidFill>
                <a:latin typeface="Arial" pitchFamily="34" charset="0"/>
                <a:ea typeface="Arial" pitchFamily="34" charset="-122"/>
                <a:cs typeface="Arial" pitchFamily="34" charset="-120"/>
              </a:rPr>
              <a:t>Conv 1×1</a:t>
            </a:r>
            <a:endParaRPr lang="en-US" sz="950"/>
          </a:p>
          <a:p>
            <a:pPr marL="0" indent="0" algn="ctr">
              <a:buNone/>
            </a:pPr>
            <a:r>
              <a:rPr lang="en-US" sz="950" b="1">
                <a:solidFill>
                  <a:srgbClr val="2E3B52"/>
                </a:solidFill>
                <a:latin typeface="Arial" pitchFamily="34" charset="0"/>
                <a:ea typeface="Arial" pitchFamily="34" charset="-122"/>
                <a:cs typeface="Arial" pitchFamily="34" charset="-120"/>
              </a:rPr>
              <a:t>(cv2)</a:t>
            </a:r>
            <a:endParaRPr lang="en-US" sz="950"/>
          </a:p>
        </p:txBody>
      </p:sp>
      <p:sp>
        <p:nvSpPr>
          <p:cNvPr id="34" name="Shape 32"/>
          <p:cNvSpPr/>
          <p:nvPr/>
        </p:nvSpPr>
        <p:spPr>
          <a:xfrm>
            <a:off x="9825228" y="4160520"/>
            <a:ext cx="1051560" cy="960120"/>
          </a:xfrm>
          <a:prstGeom prst="roundRect">
            <a:avLst>
              <a:gd name="adj" fmla="val 6667"/>
            </a:avLst>
          </a:prstGeom>
          <a:solidFill>
            <a:srgbClr val="FFFFFF"/>
          </a:solidFill>
          <a:ln w="15875">
            <a:solidFill>
              <a:srgbClr val="2E3B52"/>
            </a:solidFill>
            <a:prstDash val="solid"/>
          </a:ln>
        </p:spPr>
      </p:sp>
      <p:sp>
        <p:nvSpPr>
          <p:cNvPr id="35" name="Text 33"/>
          <p:cNvSpPr/>
          <p:nvPr/>
        </p:nvSpPr>
        <p:spPr>
          <a:xfrm>
            <a:off x="9825228" y="4160520"/>
            <a:ext cx="1051560" cy="960120"/>
          </a:xfrm>
          <a:prstGeom prst="rect">
            <a:avLst/>
          </a:prstGeom>
          <a:noFill/>
          <a:ln/>
        </p:spPr>
        <p:txBody>
          <a:bodyPr wrap="square" lIns="254" tIns="254" rIns="254" bIns="254" rtlCol="0" anchor="ctr"/>
          <a:lstStyle/>
          <a:p>
            <a:pPr marL="0" indent="0" algn="ctr">
              <a:buNone/>
            </a:pPr>
            <a:r>
              <a:rPr lang="en-US" sz="950" b="1">
                <a:solidFill>
                  <a:srgbClr val="2E3B52"/>
                </a:solidFill>
                <a:latin typeface="Arial" pitchFamily="34" charset="0"/>
                <a:ea typeface="Arial" pitchFamily="34" charset="-122"/>
                <a:cs typeface="Arial" pitchFamily="34" charset="-120"/>
              </a:rPr>
              <a:t>BN+SiLU</a:t>
            </a:r>
            <a:endParaRPr lang="en-US" sz="950"/>
          </a:p>
          <a:p>
            <a:pPr marL="0" indent="0" algn="ctr">
              <a:buNone/>
            </a:pPr>
            <a:r>
              <a:rPr lang="en-US" sz="950" b="1">
                <a:solidFill>
                  <a:srgbClr val="2E3B52"/>
                </a:solidFill>
                <a:latin typeface="Arial" pitchFamily="34" charset="0"/>
                <a:ea typeface="Arial" pitchFamily="34" charset="-122"/>
                <a:cs typeface="Arial" pitchFamily="34" charset="-120"/>
              </a:rPr>
              <a:t>(128ch)</a:t>
            </a:r>
            <a:endParaRPr lang="en-US" sz="950"/>
          </a:p>
        </p:txBody>
      </p:sp>
      <p:sp>
        <p:nvSpPr>
          <p:cNvPr id="36" name="Shape 34"/>
          <p:cNvSpPr/>
          <p:nvPr/>
        </p:nvSpPr>
        <p:spPr>
          <a:xfrm>
            <a:off x="2382012" y="4549140"/>
            <a:ext cx="128016" cy="182880"/>
          </a:xfrm>
          <a:prstGeom prst="rightArrow">
            <a:avLst/>
          </a:prstGeom>
          <a:solidFill>
            <a:srgbClr val="8A929E"/>
          </a:solidFill>
          <a:ln/>
        </p:spPr>
      </p:sp>
      <p:sp>
        <p:nvSpPr>
          <p:cNvPr id="37" name="Shape 35"/>
          <p:cNvSpPr/>
          <p:nvPr/>
        </p:nvSpPr>
        <p:spPr>
          <a:xfrm>
            <a:off x="3598164" y="4549140"/>
            <a:ext cx="128016" cy="182880"/>
          </a:xfrm>
          <a:prstGeom prst="rightArrow">
            <a:avLst/>
          </a:prstGeom>
          <a:solidFill>
            <a:srgbClr val="8A929E"/>
          </a:solidFill>
          <a:ln/>
        </p:spPr>
      </p:sp>
      <p:sp>
        <p:nvSpPr>
          <p:cNvPr id="38" name="Shape 36"/>
          <p:cNvSpPr/>
          <p:nvPr/>
        </p:nvSpPr>
        <p:spPr>
          <a:xfrm>
            <a:off x="4814316" y="4549140"/>
            <a:ext cx="128016" cy="182880"/>
          </a:xfrm>
          <a:prstGeom prst="rightArrow">
            <a:avLst/>
          </a:prstGeom>
          <a:solidFill>
            <a:srgbClr val="8A929E"/>
          </a:solidFill>
          <a:ln/>
        </p:spPr>
      </p:sp>
      <p:sp>
        <p:nvSpPr>
          <p:cNvPr id="39" name="Shape 37"/>
          <p:cNvSpPr/>
          <p:nvPr/>
        </p:nvSpPr>
        <p:spPr>
          <a:xfrm>
            <a:off x="6030468" y="4549140"/>
            <a:ext cx="128016" cy="182880"/>
          </a:xfrm>
          <a:prstGeom prst="rightArrow">
            <a:avLst/>
          </a:prstGeom>
          <a:solidFill>
            <a:srgbClr val="8A929E"/>
          </a:solidFill>
          <a:ln/>
        </p:spPr>
      </p:sp>
      <p:sp>
        <p:nvSpPr>
          <p:cNvPr id="40" name="Shape 38"/>
          <p:cNvSpPr/>
          <p:nvPr/>
        </p:nvSpPr>
        <p:spPr>
          <a:xfrm>
            <a:off x="7246620" y="4549140"/>
            <a:ext cx="128016" cy="182880"/>
          </a:xfrm>
          <a:prstGeom prst="rightArrow">
            <a:avLst/>
          </a:prstGeom>
          <a:solidFill>
            <a:srgbClr val="8A929E"/>
          </a:solidFill>
          <a:ln/>
        </p:spPr>
      </p:sp>
      <p:sp>
        <p:nvSpPr>
          <p:cNvPr id="41" name="Shape 39"/>
          <p:cNvSpPr/>
          <p:nvPr/>
        </p:nvSpPr>
        <p:spPr>
          <a:xfrm>
            <a:off x="8462772" y="4549140"/>
            <a:ext cx="128016" cy="182880"/>
          </a:xfrm>
          <a:prstGeom prst="rightArrow">
            <a:avLst/>
          </a:prstGeom>
          <a:solidFill>
            <a:srgbClr val="8A929E"/>
          </a:solidFill>
          <a:ln/>
        </p:spPr>
      </p:sp>
      <p:sp>
        <p:nvSpPr>
          <p:cNvPr id="42" name="Shape 40"/>
          <p:cNvSpPr/>
          <p:nvPr/>
        </p:nvSpPr>
        <p:spPr>
          <a:xfrm>
            <a:off x="9678924" y="4549140"/>
            <a:ext cx="128016" cy="182880"/>
          </a:xfrm>
          <a:prstGeom prst="rightArrow">
            <a:avLst/>
          </a:prstGeom>
          <a:solidFill>
            <a:srgbClr val="8A929E"/>
          </a:solidFill>
          <a:ln/>
        </p:spPr>
      </p:sp>
      <p:sp>
        <p:nvSpPr>
          <p:cNvPr id="44" name="Shape 42"/>
          <p:cNvSpPr/>
          <p:nvPr/>
        </p:nvSpPr>
        <p:spPr>
          <a:xfrm flipH="1">
            <a:off x="1837944" y="2514600"/>
            <a:ext cx="1042416" cy="1645920"/>
          </a:xfrm>
          <a:prstGeom prst="line">
            <a:avLst/>
          </a:prstGeom>
          <a:noFill/>
          <a:ln w="19050">
            <a:solidFill>
              <a:srgbClr val="C25A1E"/>
            </a:solidFill>
            <a:prstDash val="solid"/>
          </a:ln>
        </p:spPr>
      </p:sp>
      <p:sp>
        <p:nvSpPr>
          <p:cNvPr id="45" name="Shape 43"/>
          <p:cNvSpPr/>
          <p:nvPr/>
        </p:nvSpPr>
        <p:spPr>
          <a:xfrm rot="12740847">
            <a:off x="1810309" y="4050871"/>
            <a:ext cx="118872" cy="118872"/>
          </a:xfrm>
          <a:prstGeom prst="triangle">
            <a:avLst/>
          </a:prstGeom>
          <a:solidFill>
            <a:srgbClr val="C25A1E"/>
          </a:solidFill>
          <a:ln/>
        </p:spPr>
      </p:sp>
      <p:sp>
        <p:nvSpPr>
          <p:cNvPr id="46" name="Shape 44"/>
          <p:cNvSpPr/>
          <p:nvPr/>
        </p:nvSpPr>
        <p:spPr>
          <a:xfrm flipH="1" flipV="1">
            <a:off x="9281160" y="2514600"/>
            <a:ext cx="1069848" cy="1645920"/>
          </a:xfrm>
          <a:prstGeom prst="line">
            <a:avLst/>
          </a:prstGeom>
          <a:noFill/>
          <a:ln w="19050">
            <a:solidFill>
              <a:srgbClr val="C25A1E"/>
            </a:solidFill>
            <a:prstDash val="solid"/>
          </a:ln>
        </p:spPr>
      </p:sp>
      <p:sp>
        <p:nvSpPr>
          <p:cNvPr id="47" name="Shape 45"/>
          <p:cNvSpPr/>
          <p:nvPr/>
        </p:nvSpPr>
        <p:spPr>
          <a:xfrm rot="19618568">
            <a:off x="9254116" y="2504998"/>
            <a:ext cx="118872" cy="118872"/>
          </a:xfrm>
          <a:prstGeom prst="triangle">
            <a:avLst/>
          </a:prstGeom>
          <a:solidFill>
            <a:srgbClr val="C25A1E"/>
          </a:solidFill>
          <a:ln/>
        </p:spPr>
      </p:sp>
      <p:sp>
        <p:nvSpPr>
          <p:cNvPr id="52" name="Text 43">
            <a:extLst>
              <a:ext uri="{FF2B5EF4-FFF2-40B4-BE49-F238E27FC236}">
                <a16:creationId xmlns:a16="http://schemas.microsoft.com/office/drawing/2014/main" id="{4AD2B85F-A491-10EE-0AE8-3BDEE5612225}"/>
              </a:ext>
            </a:extLst>
          </p:cNvPr>
          <p:cNvSpPr/>
          <p:nvPr/>
        </p:nvSpPr>
        <p:spPr>
          <a:xfrm>
            <a:off x="2267217" y="3201430"/>
            <a:ext cx="1371600" cy="457200"/>
          </a:xfrm>
          <a:prstGeom prst="rect">
            <a:avLst/>
          </a:prstGeom>
          <a:noFill/>
          <a:ln/>
        </p:spPr>
        <p:txBody>
          <a:bodyPr wrap="square" lIns="0" tIns="0" rIns="0" bIns="0" rtlCol="0" anchor="t"/>
          <a:lstStyle/>
          <a:p>
            <a:pPr marL="0" indent="0" algn="ctr">
              <a:buNone/>
            </a:pPr>
            <a:r>
              <a:rPr lang="en-US" sz="1400" b="1" i="1">
                <a:solidFill>
                  <a:srgbClr val="C00000"/>
                </a:solidFill>
                <a:latin typeface="Arial"/>
                <a:ea typeface="Arial" pitchFamily="34" charset="-122"/>
                <a:cs typeface="Arial"/>
              </a:rPr>
              <a:t>AXI-Stream</a:t>
            </a:r>
            <a:endParaRPr lang="en-US" sz="1400" b="1">
              <a:solidFill>
                <a:srgbClr val="C00000"/>
              </a:solidFill>
              <a:latin typeface="Arial"/>
              <a:ea typeface="Calibri"/>
              <a:cs typeface="Arial"/>
            </a:endParaRPr>
          </a:p>
          <a:p>
            <a:pPr marL="0" indent="0" algn="ctr">
              <a:buNone/>
            </a:pPr>
            <a:r>
              <a:rPr lang="en-US" sz="1400" b="1" i="1" err="1">
                <a:solidFill>
                  <a:srgbClr val="C00000"/>
                </a:solidFill>
                <a:latin typeface="Arial"/>
                <a:ea typeface="Arial" pitchFamily="34" charset="-122"/>
                <a:cs typeface="Arial"/>
              </a:rPr>
              <a:t>입력</a:t>
            </a:r>
            <a:endParaRPr lang="en-US" sz="1400" b="1">
              <a:solidFill>
                <a:srgbClr val="C00000"/>
              </a:solidFill>
              <a:latin typeface="Arial"/>
              <a:ea typeface="Calibri"/>
              <a:cs typeface="Arial"/>
            </a:endParaRPr>
          </a:p>
        </p:txBody>
      </p:sp>
      <p:sp>
        <p:nvSpPr>
          <p:cNvPr id="54" name="Text 44">
            <a:extLst>
              <a:ext uri="{FF2B5EF4-FFF2-40B4-BE49-F238E27FC236}">
                <a16:creationId xmlns:a16="http://schemas.microsoft.com/office/drawing/2014/main" id="{5944AACE-4704-855A-D881-37F8D06B8496}"/>
              </a:ext>
            </a:extLst>
          </p:cNvPr>
          <p:cNvSpPr/>
          <p:nvPr/>
        </p:nvSpPr>
        <p:spPr>
          <a:xfrm>
            <a:off x="9618914" y="3201429"/>
            <a:ext cx="1371600" cy="457200"/>
          </a:xfrm>
          <a:prstGeom prst="rect">
            <a:avLst/>
          </a:prstGeom>
          <a:noFill/>
          <a:ln/>
        </p:spPr>
        <p:txBody>
          <a:bodyPr wrap="square" lIns="0" tIns="0" rIns="0" bIns="0" rtlCol="0" anchor="t"/>
          <a:lstStyle/>
          <a:p>
            <a:pPr marL="0" indent="0" algn="ctr">
              <a:buNone/>
            </a:pPr>
            <a:r>
              <a:rPr lang="en-US" sz="1400" b="1" i="1">
                <a:solidFill>
                  <a:srgbClr val="C00000"/>
                </a:solidFill>
                <a:latin typeface="Arial"/>
                <a:ea typeface="Arial" pitchFamily="34" charset="-122"/>
                <a:cs typeface="Arial"/>
              </a:rPr>
              <a:t>AXI-Stream</a:t>
            </a:r>
            <a:endParaRPr lang="en-US" sz="1400" b="1">
              <a:solidFill>
                <a:srgbClr val="C00000"/>
              </a:solidFill>
              <a:latin typeface="Arial"/>
              <a:ea typeface="Calibri" panose="020F0502020204030204"/>
              <a:cs typeface="Arial"/>
            </a:endParaRPr>
          </a:p>
          <a:p>
            <a:pPr marL="0" indent="0" algn="ctr">
              <a:buNone/>
            </a:pPr>
            <a:r>
              <a:rPr lang="en-US" sz="1400" b="1" i="1" err="1">
                <a:solidFill>
                  <a:srgbClr val="C00000"/>
                </a:solidFill>
                <a:latin typeface="Arial"/>
                <a:ea typeface="Arial" pitchFamily="34" charset="-122"/>
                <a:cs typeface="Arial"/>
              </a:rPr>
              <a:t>출력</a:t>
            </a:r>
            <a:endParaRPr lang="en-US" sz="1400" b="1">
              <a:solidFill>
                <a:srgbClr val="C00000"/>
              </a:solidFill>
              <a:latin typeface="Arial"/>
              <a:cs typeface="Arial"/>
            </a:endParaRPr>
          </a:p>
        </p:txBody>
      </p:sp>
      <p:sp>
        <p:nvSpPr>
          <p:cNvPr id="56" name="사각형: 둥근 모서리 55">
            <a:extLst>
              <a:ext uri="{FF2B5EF4-FFF2-40B4-BE49-F238E27FC236}">
                <a16:creationId xmlns:a16="http://schemas.microsoft.com/office/drawing/2014/main" id="{E7FB9132-3155-FB2B-DEB9-E146C716D95F}"/>
              </a:ext>
            </a:extLst>
          </p:cNvPr>
          <p:cNvSpPr/>
          <p:nvPr/>
        </p:nvSpPr>
        <p:spPr>
          <a:xfrm>
            <a:off x="1083194" y="3893950"/>
            <a:ext cx="10024753" cy="1534722"/>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TextBox 57">
            <a:extLst>
              <a:ext uri="{FF2B5EF4-FFF2-40B4-BE49-F238E27FC236}">
                <a16:creationId xmlns:a16="http://schemas.microsoft.com/office/drawing/2014/main" id="{15E6EABF-3272-FA0E-D901-6CADF67562A8}"/>
              </a:ext>
            </a:extLst>
          </p:cNvPr>
          <p:cNvSpPr txBox="1"/>
          <p:nvPr/>
        </p:nvSpPr>
        <p:spPr>
          <a:xfrm>
            <a:off x="4255325" y="3493325"/>
            <a:ext cx="365166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ko-KR" altLang="en-US" sz="2000" b="1">
                <a:solidFill>
                  <a:srgbClr val="C00000"/>
                </a:solidFill>
                <a:latin typeface="Calibri"/>
                <a:ea typeface="맑은 고딕"/>
                <a:cs typeface="Calibri"/>
              </a:rPr>
              <a:t>STREAM</a:t>
            </a:r>
          </a:p>
        </p:txBody>
      </p:sp>
    </p:spTree>
    <p:extLst>
      <p:ext uri="{BB962C8B-B14F-4D97-AF65-F5344CB8AC3E}">
        <p14:creationId xmlns:p14="http://schemas.microsoft.com/office/powerpoint/2010/main" val="717858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11277295" cy="502920"/>
          </a:xfrm>
          <a:prstGeom prst="rect">
            <a:avLst/>
          </a:prstGeom>
          <a:noFill/>
          <a:ln/>
        </p:spPr>
        <p:txBody>
          <a:bodyPr wrap="square" lIns="0" tIns="0" rIns="0" bIns="0" rtlCol="0" anchor="ctr"/>
          <a:lstStyle/>
          <a:p>
            <a:pPr algn="ctr"/>
            <a:r>
              <a:rPr lang="ko-KR" altLang="en-US" sz="2400" b="1">
                <a:solidFill>
                  <a:srgbClr val="1F3B66"/>
                </a:solidFill>
                <a:latin typeface="Arial"/>
                <a:ea typeface="맑은 고딕"/>
                <a:cs typeface="Arial"/>
              </a:rPr>
              <a:t>18번의 연산 호출 8개의 IP로 구현</a:t>
            </a:r>
          </a:p>
        </p:txBody>
      </p:sp>
      <p:sp>
        <p:nvSpPr>
          <p:cNvPr id="4" name="Text 2"/>
          <p:cNvSpPr/>
          <p:nvPr/>
        </p:nvSpPr>
        <p:spPr>
          <a:xfrm>
            <a:off x="777240" y="1307592"/>
            <a:ext cx="4846320" cy="320040"/>
          </a:xfrm>
          <a:prstGeom prst="rect">
            <a:avLst/>
          </a:prstGeom>
          <a:noFill/>
          <a:ln/>
        </p:spPr>
        <p:txBody>
          <a:bodyPr wrap="square" lIns="0" tIns="0" rIns="0" bIns="0" rtlCol="0" anchor="ctr"/>
          <a:lstStyle/>
          <a:p>
            <a:pPr algn="ctr"/>
            <a:r>
              <a:rPr lang="ko-KR" altLang="en-US" sz="1400" b="1">
                <a:solidFill>
                  <a:srgbClr val="1F3B66"/>
                </a:solidFill>
                <a:latin typeface="Arial"/>
                <a:ea typeface="맑은 고딕"/>
                <a:cs typeface="Arial"/>
              </a:rPr>
              <a:t>C2f 연산 종류</a:t>
            </a:r>
            <a:endParaRPr lang="en-US" altLang="ko-KR" sz="1400" b="1">
              <a:solidFill>
                <a:srgbClr val="1F3B66"/>
              </a:solidFill>
              <a:latin typeface="Arial"/>
              <a:ea typeface="맑은 고딕"/>
              <a:cs typeface="Arial"/>
            </a:endParaRPr>
          </a:p>
        </p:txBody>
      </p:sp>
      <p:graphicFrame>
        <p:nvGraphicFramePr>
          <p:cNvPr id="5" name="Table 0"/>
          <p:cNvGraphicFramePr>
            <a:graphicFrameLocks noGrp="1"/>
          </p:cNvGraphicFramePr>
          <p:nvPr>
            <p:extLst>
              <p:ext uri="{D42A27DB-BD31-4B8C-83A1-F6EECF244321}">
                <p14:modId xmlns:p14="http://schemas.microsoft.com/office/powerpoint/2010/main" val="3518574964"/>
              </p:ext>
            </p:extLst>
          </p:nvPr>
        </p:nvGraphicFramePr>
        <p:xfrm>
          <a:off x="777240" y="1691640"/>
          <a:ext cx="4846320" cy="3072384"/>
        </p:xfrm>
        <a:graphic>
          <a:graphicData uri="http://schemas.openxmlformats.org/drawingml/2006/table">
            <a:tbl>
              <a:tblPr/>
              <a:tblGrid>
                <a:gridCol w="3392424">
                  <a:extLst>
                    <a:ext uri="{9D8B030D-6E8A-4147-A177-3AD203B41FA5}">
                      <a16:colId xmlns:a16="http://schemas.microsoft.com/office/drawing/2014/main" val="20000"/>
                    </a:ext>
                  </a:extLst>
                </a:gridCol>
                <a:gridCol w="1453896">
                  <a:extLst>
                    <a:ext uri="{9D8B030D-6E8A-4147-A177-3AD203B41FA5}">
                      <a16:colId xmlns:a16="http://schemas.microsoft.com/office/drawing/2014/main" val="20001"/>
                    </a:ext>
                  </a:extLst>
                </a:gridCol>
              </a:tblGrid>
              <a:tr h="384048">
                <a:tc>
                  <a:txBody>
                    <a:bodyPr/>
                    <a:lstStyle/>
                    <a:p>
                      <a:pPr marL="0" indent="0" algn="ctr">
                        <a:buNone/>
                      </a:pPr>
                      <a:r>
                        <a:rPr lang="en-US" sz="1200" b="1">
                          <a:solidFill>
                            <a:srgbClr val="FFFFFF"/>
                          </a:solidFill>
                        </a:rPr>
                        <a:t>연산 / IP</a:t>
                      </a:r>
                      <a:endParaRPr lang="en-US" sz="12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ko-KR" altLang="en-US" sz="1200" b="1">
                          <a:solidFill>
                            <a:srgbClr val="FFFFFF"/>
                          </a:solidFill>
                        </a:rPr>
                        <a:t>사용</a:t>
                      </a:r>
                      <a:r>
                        <a:rPr lang="en-US" altLang="ko-KR" sz="1200" b="1">
                          <a:solidFill>
                            <a:srgbClr val="FFFFFF"/>
                          </a:solidFill>
                        </a:rPr>
                        <a:t> </a:t>
                      </a:r>
                      <a:r>
                        <a:rPr lang="en-US" altLang="ko-KR" sz="1200" b="1" err="1">
                          <a:solidFill>
                            <a:srgbClr val="FFFFFF"/>
                          </a:solidFill>
                        </a:rPr>
                        <a:t>회수</a:t>
                      </a:r>
                      <a:endParaRPr lang="en-US" sz="1200" b="1" err="1">
                        <a:solidFill>
                          <a:srgbClr val="FFFFFF"/>
                        </a:solidFill>
                      </a:endParaRPr>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extLst>
                  <a:ext uri="{0D108BD9-81ED-4DB2-BD59-A6C34878D82A}">
                    <a16:rowId xmlns:a16="http://schemas.microsoft.com/office/drawing/2014/main" val="10000"/>
                  </a:ext>
                </a:extLst>
              </a:tr>
              <a:tr h="384048">
                <a:tc>
                  <a:txBody>
                    <a:bodyPr/>
                    <a:lstStyle/>
                    <a:p>
                      <a:pPr marL="0" indent="0" algn="ctr">
                        <a:buNone/>
                      </a:pPr>
                      <a:r>
                        <a:rPr lang="en-US" sz="1250">
                          <a:solidFill>
                            <a:srgbClr val="2E3B52"/>
                          </a:solidFill>
                        </a:rPr>
                        <a:t>Conv 3×3</a:t>
                      </a:r>
                      <a:endParaRPr lang="en-US" sz="12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300" b="1">
                          <a:solidFill>
                            <a:srgbClr val="1F3B66"/>
                          </a:solidFill>
                        </a:rPr>
                        <a:t>4회</a:t>
                      </a:r>
                      <a:endParaRPr lang="en-US" sz="13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250">
                          <a:solidFill>
                            <a:srgbClr val="2E3B52"/>
                          </a:solidFill>
                        </a:rPr>
                        <a:t>Conv 1×1</a:t>
                      </a:r>
                      <a:endParaRPr lang="en-US" sz="1300" b="0" i="0" u="none" strike="noStrike" noProof="0">
                        <a:solidFill>
                          <a:srgbClr val="2E3B52"/>
                        </a:solidFill>
                        <a:latin typeface="Calibri"/>
                        <a:ea typeface="Calibri"/>
                        <a:cs typeface="Calibri"/>
                      </a:endParaRPr>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300" b="1">
                          <a:solidFill>
                            <a:srgbClr val="1F3B66"/>
                          </a:solidFill>
                        </a:rPr>
                        <a:t>2회</a:t>
                      </a:r>
                      <a:endParaRPr lang="en-US" sz="13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50">
                          <a:solidFill>
                            <a:srgbClr val="2E3B52"/>
                          </a:solidFill>
                        </a:rPr>
                        <a:t>Batch Normalization</a:t>
                      </a:r>
                      <a:endParaRPr lang="en-US" sz="12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300" b="1">
                          <a:solidFill>
                            <a:srgbClr val="1F3B66"/>
                          </a:solidFill>
                        </a:rPr>
                        <a:t>4회</a:t>
                      </a:r>
                      <a:endParaRPr lang="en-US" sz="13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250">
                          <a:solidFill>
                            <a:srgbClr val="2E3B52"/>
                          </a:solidFill>
                        </a:rPr>
                        <a:t>SiLU</a:t>
                      </a:r>
                      <a:endParaRPr lang="en-US" sz="12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300" b="1">
                          <a:solidFill>
                            <a:srgbClr val="1F3B66"/>
                          </a:solidFill>
                        </a:rPr>
                        <a:t>4회</a:t>
                      </a:r>
                      <a:endParaRPr lang="en-US" sz="13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a:buNone/>
                      </a:pPr>
                      <a:r>
                        <a:rPr lang="en-US" sz="1250">
                          <a:solidFill>
                            <a:srgbClr val="2E3B52"/>
                          </a:solidFill>
                        </a:rPr>
                        <a:t>Residual Add</a:t>
                      </a:r>
                      <a:endParaRPr lang="en-US" sz="12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300" b="1">
                          <a:solidFill>
                            <a:srgbClr val="1F3B66"/>
                          </a:solidFill>
                        </a:rPr>
                        <a:t>2회</a:t>
                      </a:r>
                      <a:endParaRPr lang="en-US" sz="13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ctr">
                        <a:buNone/>
                      </a:pPr>
                      <a:r>
                        <a:rPr lang="en-US" sz="1250">
                          <a:solidFill>
                            <a:srgbClr val="2E3B52"/>
                          </a:solidFill>
                        </a:rPr>
                        <a:t>Concat</a:t>
                      </a:r>
                      <a:endParaRPr lang="en-US" sz="12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300" b="1">
                          <a:solidFill>
                            <a:srgbClr val="1F3B66"/>
                          </a:solidFill>
                        </a:rPr>
                        <a:t>1회</a:t>
                      </a:r>
                      <a:endParaRPr lang="en-US" sz="13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ctr">
                        <a:buNone/>
                      </a:pPr>
                      <a:r>
                        <a:rPr lang="en-US" sz="1250">
                          <a:solidFill>
                            <a:srgbClr val="2E3B52"/>
                          </a:solidFill>
                        </a:rPr>
                        <a:t>Split</a:t>
                      </a:r>
                      <a:endParaRPr lang="en-US" sz="12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300" b="1">
                          <a:solidFill>
                            <a:srgbClr val="1F3B66"/>
                          </a:solidFill>
                        </a:rPr>
                        <a:t>1회</a:t>
                      </a:r>
                      <a:endParaRPr lang="en-US" sz="13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6537960" y="1307592"/>
            <a:ext cx="4846320" cy="320040"/>
          </a:xfrm>
          <a:prstGeom prst="rect">
            <a:avLst/>
          </a:prstGeom>
          <a:noFill/>
          <a:ln/>
        </p:spPr>
        <p:txBody>
          <a:bodyPr wrap="square" lIns="0" tIns="0" rIns="0" bIns="0" rtlCol="0" anchor="ctr"/>
          <a:lstStyle/>
          <a:p>
            <a:pPr algn="ctr"/>
            <a:r>
              <a:rPr lang="ko-KR" altLang="en-US" sz="1400" b="1">
                <a:solidFill>
                  <a:srgbClr val="3E8E5A"/>
                </a:solidFill>
                <a:latin typeface="Arial"/>
                <a:ea typeface="Arial" pitchFamily="34" charset="-122"/>
                <a:cs typeface="Arial"/>
              </a:rPr>
              <a:t>실제</a:t>
            </a:r>
            <a:r>
              <a:rPr lang="en-US" sz="1400" b="1">
                <a:solidFill>
                  <a:srgbClr val="3E8E5A"/>
                </a:solidFill>
                <a:latin typeface="Arial"/>
                <a:ea typeface="Arial" pitchFamily="34" charset="-122"/>
                <a:cs typeface="Arial"/>
              </a:rPr>
              <a:t> </a:t>
            </a:r>
            <a:r>
              <a:rPr lang="ko-KR" altLang="en-US" sz="1400" b="1">
                <a:solidFill>
                  <a:srgbClr val="3E8E5A"/>
                </a:solidFill>
                <a:latin typeface="Arial"/>
                <a:ea typeface="Arial" pitchFamily="34" charset="-122"/>
                <a:cs typeface="Arial"/>
              </a:rPr>
              <a:t>구현 IP </a:t>
            </a:r>
            <a:endParaRPr lang="en-US" sz="1400" b="1">
              <a:solidFill>
                <a:srgbClr val="3E8E5A"/>
              </a:solidFill>
              <a:latin typeface="Arial"/>
              <a:cs typeface="Arial"/>
            </a:endParaRPr>
          </a:p>
        </p:txBody>
      </p:sp>
      <p:graphicFrame>
        <p:nvGraphicFramePr>
          <p:cNvPr id="7" name="Table 1"/>
          <p:cNvGraphicFramePr>
            <a:graphicFrameLocks noGrp="1"/>
          </p:cNvGraphicFramePr>
          <p:nvPr>
            <p:extLst>
              <p:ext uri="{D42A27DB-BD31-4B8C-83A1-F6EECF244321}">
                <p14:modId xmlns:p14="http://schemas.microsoft.com/office/powerpoint/2010/main" val="3350181154"/>
              </p:ext>
            </p:extLst>
          </p:nvPr>
        </p:nvGraphicFramePr>
        <p:xfrm>
          <a:off x="6537960" y="1691640"/>
          <a:ext cx="4846316" cy="3072384"/>
        </p:xfrm>
        <a:graphic>
          <a:graphicData uri="http://schemas.openxmlformats.org/drawingml/2006/table">
            <a:tbl>
              <a:tblPr/>
              <a:tblGrid>
                <a:gridCol w="3571875">
                  <a:extLst>
                    <a:ext uri="{9D8B030D-6E8A-4147-A177-3AD203B41FA5}">
                      <a16:colId xmlns:a16="http://schemas.microsoft.com/office/drawing/2014/main" val="20000"/>
                    </a:ext>
                  </a:extLst>
                </a:gridCol>
                <a:gridCol w="1274441">
                  <a:extLst>
                    <a:ext uri="{9D8B030D-6E8A-4147-A177-3AD203B41FA5}">
                      <a16:colId xmlns:a16="http://schemas.microsoft.com/office/drawing/2014/main" val="20001"/>
                    </a:ext>
                  </a:extLst>
                </a:gridCol>
              </a:tblGrid>
              <a:tr h="384048">
                <a:tc>
                  <a:txBody>
                    <a:bodyPr/>
                    <a:lstStyle/>
                    <a:p>
                      <a:pPr marL="0" indent="0" algn="ctr">
                        <a:buNone/>
                      </a:pPr>
                      <a:r>
                        <a:rPr lang="ko-KR" altLang="en-US" sz="1200" b="1">
                          <a:solidFill>
                            <a:srgbClr val="FFFFFF"/>
                          </a:solidFill>
                        </a:rPr>
                        <a:t>설계에 필요</a:t>
                      </a:r>
                      <a:r>
                        <a:rPr lang="en-US" altLang="ko-KR" sz="1200" b="1">
                          <a:solidFill>
                            <a:srgbClr val="FFFFFF"/>
                          </a:solidFill>
                        </a:rPr>
                        <a:t> IP</a:t>
                      </a:r>
                    </a:p>
                  </a:txBody>
                  <a:tcPr>
                    <a:lnL w="9525" cap="flat" cmpd="sng" algn="ctr">
                      <a:solidFill>
                        <a:srgbClr val="D8DCE2"/>
                      </a:solidFill>
                      <a:prstDash val="solid"/>
                      <a:round/>
                      <a:headEnd type="none" w="med" len="med"/>
                      <a:tailEnd type="none" w="med" len="med"/>
                    </a:lnL>
                    <a:lnR w="9524">
                      <a:solidFill>
                        <a:srgbClr val="D8DCE2"/>
                      </a:solidFill>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200" b="1">
                          <a:solidFill>
                            <a:srgbClr val="FFFFFF"/>
                          </a:solidFill>
                        </a:rPr>
                        <a:t>IP </a:t>
                      </a:r>
                      <a:r>
                        <a:rPr lang="ko-KR" altLang="en-US" sz="1200" b="1">
                          <a:solidFill>
                            <a:srgbClr val="FFFFFF"/>
                          </a:solidFill>
                        </a:rPr>
                        <a:t>개수</a:t>
                      </a:r>
                    </a:p>
                  </a:txBody>
                  <a:tcPr>
                    <a:lnL w="9524">
                      <a:solidFill>
                        <a:srgbClr val="D8DCE2"/>
                      </a:solidFill>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extLst>
                  <a:ext uri="{0D108BD9-81ED-4DB2-BD59-A6C34878D82A}">
                    <a16:rowId xmlns:a16="http://schemas.microsoft.com/office/drawing/2014/main" val="10000"/>
                  </a:ext>
                </a:extLst>
              </a:tr>
              <a:tr h="384048">
                <a:tc>
                  <a:txBody>
                    <a:bodyPr/>
                    <a:lstStyle/>
                    <a:p>
                      <a:pPr marL="0" indent="0" algn="ctr">
                        <a:buNone/>
                      </a:pPr>
                      <a:r>
                        <a:rPr lang="en-US" sz="1250">
                          <a:solidFill>
                            <a:srgbClr val="2E3B52"/>
                          </a:solidFill>
                        </a:rPr>
                        <a:t>Conv 3×3</a:t>
                      </a:r>
                      <a:endParaRPr lang="en-US" sz="1250"/>
                    </a:p>
                  </a:txBody>
                  <a:tcPr>
                    <a:lnL w="9525" cap="flat" cmpd="sng" algn="ctr">
                      <a:solidFill>
                        <a:srgbClr val="D8DCE2"/>
                      </a:solidFill>
                      <a:prstDash val="solid"/>
                      <a:round/>
                      <a:headEnd type="none" w="med" len="med"/>
                      <a:tailEnd type="none" w="med" len="med"/>
                    </a:lnL>
                    <a:lnR w="9524">
                      <a:solidFill>
                        <a:srgbClr val="D8DCE2"/>
                      </a:solidFill>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300" b="1">
                          <a:solidFill>
                            <a:srgbClr val="3E8E5A"/>
                          </a:solidFill>
                        </a:rPr>
                        <a:t>1</a:t>
                      </a:r>
                      <a:r>
                        <a:rPr lang="ko-KR" altLang="en-US" sz="1300" b="1">
                          <a:solidFill>
                            <a:srgbClr val="3E8E5A"/>
                          </a:solidFill>
                        </a:rPr>
                        <a:t>개</a:t>
                      </a:r>
                      <a:endParaRPr lang="en-US" sz="1300" b="1">
                        <a:solidFill>
                          <a:srgbClr val="3E8E5A"/>
                        </a:solidFill>
                      </a:endParaRPr>
                    </a:p>
                  </a:txBody>
                  <a:tcPr>
                    <a:lnL w="9524">
                      <a:solidFill>
                        <a:srgbClr val="D8DCE2"/>
                      </a:solidFill>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250">
                          <a:solidFill>
                            <a:srgbClr val="2E3B52"/>
                          </a:solidFill>
                        </a:rPr>
                        <a:t>Conv 1×1  (128ch, 256ch)</a:t>
                      </a:r>
                      <a:endParaRPr lang="ko-KR" altLang="en-US" sz="1250">
                        <a:solidFill>
                          <a:srgbClr val="2E3B52"/>
                        </a:solidFill>
                      </a:endParaRPr>
                    </a:p>
                  </a:txBody>
                  <a:tcPr>
                    <a:lnL w="9525" cap="flat" cmpd="sng" algn="ctr">
                      <a:solidFill>
                        <a:srgbClr val="D8DCE2"/>
                      </a:solidFill>
                      <a:prstDash val="solid"/>
                      <a:round/>
                      <a:headEnd type="none" w="med" len="med"/>
                      <a:tailEnd type="none" w="med" len="med"/>
                    </a:lnL>
                    <a:lnR w="9524">
                      <a:solidFill>
                        <a:srgbClr val="D8DCE2"/>
                      </a:solidFill>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300" b="1">
                          <a:solidFill>
                            <a:srgbClr val="3E8E5A"/>
                          </a:solidFill>
                        </a:rPr>
                        <a:t>2</a:t>
                      </a:r>
                      <a:r>
                        <a:rPr lang="ko-KR" altLang="en-US" sz="1300" b="1">
                          <a:solidFill>
                            <a:srgbClr val="3E8E5A"/>
                          </a:solidFill>
                        </a:rPr>
                        <a:t>개</a:t>
                      </a:r>
                      <a:endParaRPr lang="en-US" sz="1300"/>
                    </a:p>
                  </a:txBody>
                  <a:tcPr>
                    <a:lnL w="9524">
                      <a:solidFill>
                        <a:srgbClr val="D8DCE2"/>
                      </a:solidFill>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50" err="1">
                          <a:solidFill>
                            <a:srgbClr val="2E3B52"/>
                          </a:solidFill>
                        </a:rPr>
                        <a:t>BN+SiLU</a:t>
                      </a:r>
                      <a:r>
                        <a:rPr lang="en-US" sz="1250">
                          <a:solidFill>
                            <a:srgbClr val="2E3B52"/>
                          </a:solidFill>
                        </a:rPr>
                        <a:t>  (64ch)</a:t>
                      </a:r>
                      <a:endParaRPr lang="en-US" sz="1250"/>
                    </a:p>
                  </a:txBody>
                  <a:tcPr>
                    <a:lnL w="9525" cap="flat" cmpd="sng" algn="ctr">
                      <a:solidFill>
                        <a:srgbClr val="D8DCE2"/>
                      </a:solidFill>
                      <a:prstDash val="solid"/>
                      <a:round/>
                      <a:headEnd type="none" w="med" len="med"/>
                      <a:tailEnd type="none" w="med" len="med"/>
                    </a:lnL>
                    <a:lnR w="9524">
                      <a:solidFill>
                        <a:srgbClr val="D8DCE2"/>
                      </a:solidFill>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BEFE7"/>
                    </a:solidFill>
                  </a:tcPr>
                </a:tc>
                <a:tc>
                  <a:txBody>
                    <a:bodyPr/>
                    <a:lstStyle/>
                    <a:p>
                      <a:pPr marL="0" indent="0" algn="ctr">
                        <a:buNone/>
                      </a:pPr>
                      <a:r>
                        <a:rPr lang="en-US" sz="1300" b="1">
                          <a:solidFill>
                            <a:srgbClr val="3E8E5A"/>
                          </a:solidFill>
                        </a:rPr>
                        <a:t>1</a:t>
                      </a:r>
                      <a:r>
                        <a:rPr lang="ko-KR" altLang="en-US" sz="1300" b="1">
                          <a:solidFill>
                            <a:srgbClr val="3E8E5A"/>
                          </a:solidFill>
                        </a:rPr>
                        <a:t>개</a:t>
                      </a:r>
                      <a:endParaRPr lang="en-US" sz="1300" b="1">
                        <a:solidFill>
                          <a:srgbClr val="3E8E5A"/>
                        </a:solidFill>
                      </a:endParaRPr>
                    </a:p>
                  </a:txBody>
                  <a:tcPr>
                    <a:lnL w="9524">
                      <a:solidFill>
                        <a:srgbClr val="D8DCE2"/>
                      </a:solidFill>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BEFE7"/>
                    </a:solidFill>
                  </a:tcPr>
                </a:tc>
                <a:extLst>
                  <a:ext uri="{0D108BD9-81ED-4DB2-BD59-A6C34878D82A}">
                    <a16:rowId xmlns:a16="http://schemas.microsoft.com/office/drawing/2014/main" val="10003"/>
                  </a:ext>
                </a:extLst>
              </a:tr>
              <a:tr h="384048">
                <a:tc>
                  <a:txBody>
                    <a:bodyPr/>
                    <a:lstStyle/>
                    <a:p>
                      <a:pPr marL="0" indent="0" algn="ctr">
                        <a:buNone/>
                      </a:pPr>
                      <a:r>
                        <a:rPr lang="en-US" sz="1250" err="1">
                          <a:solidFill>
                            <a:srgbClr val="2E3B52"/>
                          </a:solidFill>
                        </a:rPr>
                        <a:t>BN+SiLU</a:t>
                      </a:r>
                      <a:r>
                        <a:rPr lang="en-US" sz="1250">
                          <a:solidFill>
                            <a:srgbClr val="2E3B52"/>
                          </a:solidFill>
                        </a:rPr>
                        <a:t>  (128ch)</a:t>
                      </a:r>
                      <a:endParaRPr lang="en-US" sz="1250"/>
                    </a:p>
                  </a:txBody>
                  <a:tcPr>
                    <a:lnL w="9525" cap="flat" cmpd="sng" algn="ctr">
                      <a:solidFill>
                        <a:srgbClr val="D8DCE2"/>
                      </a:solidFill>
                      <a:prstDash val="solid"/>
                      <a:round/>
                      <a:headEnd type="none" w="med" len="med"/>
                      <a:tailEnd type="none" w="med" len="med"/>
                    </a:lnL>
                    <a:lnR w="9524">
                      <a:solidFill>
                        <a:srgbClr val="D8DCE2"/>
                      </a:solidFill>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BEFE7"/>
                    </a:solidFill>
                  </a:tcPr>
                </a:tc>
                <a:tc>
                  <a:txBody>
                    <a:bodyPr/>
                    <a:lstStyle/>
                    <a:p>
                      <a:pPr marL="0" indent="0" algn="ctr">
                        <a:buNone/>
                      </a:pPr>
                      <a:r>
                        <a:rPr lang="en-US" sz="1300" b="1">
                          <a:solidFill>
                            <a:srgbClr val="3E8E5A"/>
                          </a:solidFill>
                        </a:rPr>
                        <a:t>1</a:t>
                      </a:r>
                      <a:r>
                        <a:rPr lang="ko-KR" altLang="en-US" sz="1300" b="1">
                          <a:solidFill>
                            <a:srgbClr val="3E8E5A"/>
                          </a:solidFill>
                        </a:rPr>
                        <a:t>개</a:t>
                      </a:r>
                      <a:endParaRPr lang="en-US" sz="1300" b="1">
                        <a:solidFill>
                          <a:srgbClr val="3E8E5A"/>
                        </a:solidFill>
                      </a:endParaRPr>
                    </a:p>
                  </a:txBody>
                  <a:tcPr>
                    <a:lnL w="9524">
                      <a:solidFill>
                        <a:srgbClr val="D8DCE2"/>
                      </a:solidFill>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BEFE7"/>
                    </a:solidFill>
                  </a:tcPr>
                </a:tc>
                <a:extLst>
                  <a:ext uri="{0D108BD9-81ED-4DB2-BD59-A6C34878D82A}">
                    <a16:rowId xmlns:a16="http://schemas.microsoft.com/office/drawing/2014/main" val="10004"/>
                  </a:ext>
                </a:extLst>
              </a:tr>
              <a:tr h="384048">
                <a:tc>
                  <a:txBody>
                    <a:bodyPr/>
                    <a:lstStyle/>
                    <a:p>
                      <a:pPr marL="0" indent="0" algn="ctr">
                        <a:buNone/>
                      </a:pPr>
                      <a:r>
                        <a:rPr lang="en-US" sz="1250">
                          <a:solidFill>
                            <a:srgbClr val="2E3B52"/>
                          </a:solidFill>
                        </a:rPr>
                        <a:t>Residual Add</a:t>
                      </a:r>
                      <a:endParaRPr lang="en-US" sz="1250"/>
                    </a:p>
                  </a:txBody>
                  <a:tcPr>
                    <a:lnL w="9525" cap="flat" cmpd="sng" algn="ctr">
                      <a:solidFill>
                        <a:srgbClr val="D8DCE2"/>
                      </a:solidFill>
                      <a:prstDash val="solid"/>
                      <a:round/>
                      <a:headEnd type="none" w="med" len="med"/>
                      <a:tailEnd type="none" w="med" len="med"/>
                    </a:lnL>
                    <a:lnR w="9524">
                      <a:solidFill>
                        <a:srgbClr val="D8DCE2"/>
                      </a:solidFill>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300" b="1">
                          <a:solidFill>
                            <a:srgbClr val="3E8E5A"/>
                          </a:solidFill>
                        </a:rPr>
                        <a:t>1</a:t>
                      </a:r>
                      <a:r>
                        <a:rPr lang="ko-KR" altLang="en-US" sz="1300" b="1">
                          <a:solidFill>
                            <a:srgbClr val="3E8E5A"/>
                          </a:solidFill>
                        </a:rPr>
                        <a:t>개</a:t>
                      </a:r>
                      <a:endParaRPr lang="en-US" sz="1300" b="1">
                        <a:solidFill>
                          <a:srgbClr val="3E8E5A"/>
                        </a:solidFill>
                      </a:endParaRPr>
                    </a:p>
                  </a:txBody>
                  <a:tcPr>
                    <a:lnL w="9524">
                      <a:solidFill>
                        <a:srgbClr val="D8DCE2"/>
                      </a:solidFill>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ctr">
                        <a:buNone/>
                      </a:pPr>
                      <a:r>
                        <a:rPr lang="en-US" sz="1250" err="1">
                          <a:solidFill>
                            <a:srgbClr val="2E3B52"/>
                          </a:solidFill>
                        </a:rPr>
                        <a:t>Concat</a:t>
                      </a:r>
                      <a:endParaRPr lang="en-US" sz="1250" err="1"/>
                    </a:p>
                  </a:txBody>
                  <a:tcPr>
                    <a:lnL w="9525" cap="flat" cmpd="sng" algn="ctr">
                      <a:solidFill>
                        <a:srgbClr val="D8DCE2"/>
                      </a:solidFill>
                      <a:prstDash val="solid"/>
                      <a:round/>
                      <a:headEnd type="none" w="med" len="med"/>
                      <a:tailEnd type="none" w="med" len="med"/>
                    </a:lnL>
                    <a:lnR w="9524">
                      <a:solidFill>
                        <a:srgbClr val="D8DCE2"/>
                      </a:solidFill>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300" b="1">
                          <a:solidFill>
                            <a:srgbClr val="3E8E5A"/>
                          </a:solidFill>
                        </a:rPr>
                        <a:t>1</a:t>
                      </a:r>
                      <a:r>
                        <a:rPr lang="ko-KR" altLang="en-US" sz="1300" b="1">
                          <a:solidFill>
                            <a:srgbClr val="3E8E5A"/>
                          </a:solidFill>
                        </a:rPr>
                        <a:t>개</a:t>
                      </a:r>
                      <a:endParaRPr lang="en-US" sz="1300" b="1">
                        <a:solidFill>
                          <a:srgbClr val="3E8E5A"/>
                        </a:solidFill>
                      </a:endParaRPr>
                    </a:p>
                  </a:txBody>
                  <a:tcPr>
                    <a:lnL w="9524">
                      <a:solidFill>
                        <a:srgbClr val="D8DCE2"/>
                      </a:solidFill>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ctr">
                        <a:buNone/>
                      </a:pPr>
                      <a:r>
                        <a:rPr lang="en-US" sz="1250">
                          <a:solidFill>
                            <a:srgbClr val="2E3B52"/>
                          </a:solidFill>
                        </a:rPr>
                        <a:t>Split</a:t>
                      </a:r>
                      <a:endParaRPr lang="en-US" sz="1250"/>
                    </a:p>
                  </a:txBody>
                  <a:tcPr>
                    <a:lnL w="9525" cap="flat" cmpd="sng" algn="ctr">
                      <a:solidFill>
                        <a:srgbClr val="D8DCE2"/>
                      </a:solidFill>
                      <a:prstDash val="solid"/>
                      <a:round/>
                      <a:headEnd type="none" w="med" len="med"/>
                      <a:tailEnd type="none" w="med" len="med"/>
                    </a:lnL>
                    <a:lnR w="9524">
                      <a:solidFill>
                        <a:srgbClr val="D8DCE2"/>
                      </a:solidFill>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300" b="1">
                          <a:solidFill>
                            <a:srgbClr val="3E8E5A"/>
                          </a:solidFill>
                        </a:rPr>
                        <a:t>1</a:t>
                      </a:r>
                      <a:r>
                        <a:rPr lang="ko-KR" altLang="en-US" sz="1300" b="1">
                          <a:solidFill>
                            <a:srgbClr val="3E8E5A"/>
                          </a:solidFill>
                        </a:rPr>
                        <a:t>개</a:t>
                      </a:r>
                      <a:endParaRPr lang="en-US" sz="1300" b="1">
                        <a:solidFill>
                          <a:srgbClr val="3E8E5A"/>
                        </a:solidFill>
                      </a:endParaRPr>
                    </a:p>
                  </a:txBody>
                  <a:tcPr>
                    <a:lnL w="9524">
                      <a:solidFill>
                        <a:srgbClr val="D8DCE2"/>
                      </a:solidFill>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Shape 4"/>
          <p:cNvSpPr/>
          <p:nvPr/>
        </p:nvSpPr>
        <p:spPr>
          <a:xfrm>
            <a:off x="5852160" y="2880360"/>
            <a:ext cx="457200" cy="457200"/>
          </a:xfrm>
          <a:prstGeom prst="rightArrow">
            <a:avLst/>
          </a:prstGeom>
          <a:solidFill>
            <a:srgbClr val="AAB2BD"/>
          </a:solidFill>
          <a:ln/>
        </p:spPr>
      </p:sp>
    </p:spTree>
    <p:extLst>
      <p:ext uri="{BB962C8B-B14F-4D97-AF65-F5344CB8AC3E}">
        <p14:creationId xmlns:p14="http://schemas.microsoft.com/office/powerpoint/2010/main" val="2477652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02920"/>
          </a:xfrm>
          <a:prstGeom prst="rect">
            <a:avLst/>
          </a:prstGeom>
          <a:noFill/>
          <a:ln/>
        </p:spPr>
        <p:txBody>
          <a:bodyPr wrap="square" lIns="0" tIns="0" rIns="0" bIns="0" rtlCol="0" anchor="ctr"/>
          <a:lstStyle/>
          <a:p>
            <a:pPr algn="ctr"/>
            <a:r>
              <a:rPr lang="en-US" sz="2600" b="1">
                <a:solidFill>
                  <a:srgbClr val="1F3B66"/>
                </a:solidFill>
                <a:latin typeface="Arial"/>
                <a:ea typeface="Arial" pitchFamily="34" charset="-122"/>
                <a:cs typeface="Arial"/>
              </a:rPr>
              <a:t>IP의 </a:t>
            </a:r>
            <a:r>
              <a:rPr lang="en-US" sz="2600" b="1" err="1">
                <a:solidFill>
                  <a:srgbClr val="1F3B66"/>
                </a:solidFill>
                <a:latin typeface="Arial"/>
                <a:ea typeface="Arial" pitchFamily="34" charset="-122"/>
                <a:cs typeface="Arial"/>
              </a:rPr>
              <a:t>재사용</a:t>
            </a:r>
            <a:r>
              <a:rPr lang="en-US" sz="2600" b="1">
                <a:solidFill>
                  <a:srgbClr val="1F3B66"/>
                </a:solidFill>
                <a:latin typeface="Arial"/>
                <a:ea typeface="Arial" pitchFamily="34" charset="-122"/>
                <a:cs typeface="Arial"/>
              </a:rPr>
              <a:t> </a:t>
            </a:r>
            <a:r>
              <a:rPr lang="ko-KR" altLang="en-US" sz="2600" b="1">
                <a:solidFill>
                  <a:srgbClr val="1F3B66"/>
                </a:solidFill>
                <a:latin typeface="Arial"/>
                <a:ea typeface="Arial" pitchFamily="34" charset="-122"/>
                <a:cs typeface="Arial"/>
              </a:rPr>
              <a:t>해결을위해 2개의 IP(router) 추가 총 10개의 IP</a:t>
            </a:r>
            <a:endParaRPr lang="en-US" sz="2600" b="1">
              <a:solidFill>
                <a:srgbClr val="1F3B66"/>
              </a:solidFill>
              <a:latin typeface="Arial"/>
              <a:cs typeface="Arial"/>
            </a:endParaRPr>
          </a:p>
        </p:txBody>
      </p:sp>
      <p:sp>
        <p:nvSpPr>
          <p:cNvPr id="3" name="Shape 1"/>
          <p:cNvSpPr/>
          <p:nvPr/>
        </p:nvSpPr>
        <p:spPr>
          <a:xfrm>
            <a:off x="640080" y="1471748"/>
            <a:ext cx="3200400" cy="4187371"/>
          </a:xfrm>
          <a:prstGeom prst="roundRect">
            <a:avLst>
              <a:gd name="adj" fmla="val 2857"/>
            </a:avLst>
          </a:prstGeom>
          <a:solidFill>
            <a:srgbClr val="EDF1F7"/>
          </a:solidFill>
          <a:ln w="28575">
            <a:solidFill>
              <a:srgbClr val="002060"/>
            </a:solidFill>
          </a:ln>
        </p:spPr>
      </p:sp>
      <p:sp>
        <p:nvSpPr>
          <p:cNvPr id="4" name="Text 2"/>
          <p:cNvSpPr/>
          <p:nvPr/>
        </p:nvSpPr>
        <p:spPr>
          <a:xfrm>
            <a:off x="640080" y="1618488"/>
            <a:ext cx="3200400" cy="365760"/>
          </a:xfrm>
          <a:prstGeom prst="rect">
            <a:avLst/>
          </a:prstGeom>
          <a:noFill/>
          <a:ln/>
        </p:spPr>
        <p:txBody>
          <a:bodyPr wrap="square" lIns="0" tIns="0" rIns="0" bIns="0" rtlCol="0" anchor="ctr"/>
          <a:lstStyle/>
          <a:p>
            <a:pPr marL="0" indent="0" algn="ctr">
              <a:buNone/>
            </a:pPr>
            <a:r>
              <a:rPr lang="en-US" sz="1550" b="1">
                <a:solidFill>
                  <a:srgbClr val="1F3B66"/>
                </a:solidFill>
                <a:latin typeface="Arial" pitchFamily="34" charset="0"/>
                <a:ea typeface="Arial" pitchFamily="34" charset="-122"/>
                <a:cs typeface="Arial" pitchFamily="34" charset="-120"/>
              </a:rPr>
              <a:t>재사용이 필요한 IP</a:t>
            </a:r>
            <a:endParaRPr lang="en-US" sz="1550"/>
          </a:p>
        </p:txBody>
      </p:sp>
      <p:sp>
        <p:nvSpPr>
          <p:cNvPr id="5" name="Shape 3"/>
          <p:cNvSpPr/>
          <p:nvPr/>
        </p:nvSpPr>
        <p:spPr>
          <a:xfrm>
            <a:off x="960120" y="2468880"/>
            <a:ext cx="182880" cy="182880"/>
          </a:xfrm>
          <a:prstGeom prst="ellipse">
            <a:avLst/>
          </a:prstGeom>
          <a:solidFill>
            <a:srgbClr val="1F3B66"/>
          </a:solidFill>
          <a:ln/>
        </p:spPr>
      </p:sp>
      <p:sp>
        <p:nvSpPr>
          <p:cNvPr id="6" name="Text 4"/>
          <p:cNvSpPr/>
          <p:nvPr/>
        </p:nvSpPr>
        <p:spPr>
          <a:xfrm>
            <a:off x="1325880" y="2194560"/>
            <a:ext cx="2240280" cy="731520"/>
          </a:xfrm>
          <a:prstGeom prst="rect">
            <a:avLst/>
          </a:prstGeom>
          <a:noFill/>
          <a:ln/>
        </p:spPr>
        <p:txBody>
          <a:bodyPr wrap="square" lIns="0" tIns="0" rIns="0" bIns="0" rtlCol="0" anchor="ctr"/>
          <a:lstStyle/>
          <a:p>
            <a:pPr marL="0" indent="0" algn="l">
              <a:buNone/>
            </a:pPr>
            <a:r>
              <a:rPr lang="en-US" sz="1500" b="1">
                <a:solidFill>
                  <a:srgbClr val="2E3B52"/>
                </a:solidFill>
                <a:latin typeface="Arial" pitchFamily="34" charset="0"/>
                <a:ea typeface="Arial" pitchFamily="34" charset="-122"/>
                <a:cs typeface="Arial" pitchFamily="34" charset="-120"/>
              </a:rPr>
              <a:t>Conv3x3</a:t>
            </a:r>
            <a:endParaRPr lang="en-US" sz="1500"/>
          </a:p>
        </p:txBody>
      </p:sp>
      <p:sp>
        <p:nvSpPr>
          <p:cNvPr id="7" name="Shape 5"/>
          <p:cNvSpPr/>
          <p:nvPr/>
        </p:nvSpPr>
        <p:spPr>
          <a:xfrm>
            <a:off x="960120" y="3383280"/>
            <a:ext cx="182880" cy="182880"/>
          </a:xfrm>
          <a:prstGeom prst="ellipse">
            <a:avLst/>
          </a:prstGeom>
          <a:solidFill>
            <a:srgbClr val="1F3B66"/>
          </a:solidFill>
          <a:ln/>
        </p:spPr>
      </p:sp>
      <p:sp>
        <p:nvSpPr>
          <p:cNvPr id="8" name="Text 6"/>
          <p:cNvSpPr/>
          <p:nvPr/>
        </p:nvSpPr>
        <p:spPr>
          <a:xfrm>
            <a:off x="1325880" y="3108960"/>
            <a:ext cx="2240280" cy="731520"/>
          </a:xfrm>
          <a:prstGeom prst="rect">
            <a:avLst/>
          </a:prstGeom>
          <a:noFill/>
          <a:ln/>
        </p:spPr>
        <p:txBody>
          <a:bodyPr wrap="square" lIns="0" tIns="0" rIns="0" bIns="0" rtlCol="0" anchor="ctr"/>
          <a:lstStyle/>
          <a:p>
            <a:pPr marL="0" indent="0" algn="l">
              <a:buNone/>
            </a:pPr>
            <a:r>
              <a:rPr lang="en-US" sz="1500" b="1">
                <a:solidFill>
                  <a:srgbClr val="2E3B52"/>
                </a:solidFill>
                <a:latin typeface="Arial" pitchFamily="34" charset="0"/>
                <a:ea typeface="Arial" pitchFamily="34" charset="-122"/>
                <a:cs typeface="Arial" pitchFamily="34" charset="-120"/>
              </a:rPr>
              <a:t>Bn_silu_64</a:t>
            </a:r>
            <a:endParaRPr lang="en-US" sz="1500"/>
          </a:p>
        </p:txBody>
      </p:sp>
      <p:sp>
        <p:nvSpPr>
          <p:cNvPr id="9" name="Shape 7"/>
          <p:cNvSpPr/>
          <p:nvPr/>
        </p:nvSpPr>
        <p:spPr>
          <a:xfrm>
            <a:off x="960120" y="4297680"/>
            <a:ext cx="182880" cy="182880"/>
          </a:xfrm>
          <a:prstGeom prst="ellipse">
            <a:avLst/>
          </a:prstGeom>
          <a:solidFill>
            <a:srgbClr val="1F3B66"/>
          </a:solidFill>
          <a:ln/>
        </p:spPr>
      </p:sp>
      <p:sp>
        <p:nvSpPr>
          <p:cNvPr id="10" name="Text 8"/>
          <p:cNvSpPr/>
          <p:nvPr/>
        </p:nvSpPr>
        <p:spPr>
          <a:xfrm>
            <a:off x="1325880" y="4023360"/>
            <a:ext cx="2240280" cy="731520"/>
          </a:xfrm>
          <a:prstGeom prst="rect">
            <a:avLst/>
          </a:prstGeom>
          <a:noFill/>
          <a:ln/>
        </p:spPr>
        <p:txBody>
          <a:bodyPr wrap="square" lIns="0" tIns="0" rIns="0" bIns="0" rtlCol="0" anchor="ctr"/>
          <a:lstStyle/>
          <a:p>
            <a:pPr marL="0" indent="0" algn="l">
              <a:buNone/>
            </a:pPr>
            <a:r>
              <a:rPr lang="en-US" sz="1500" b="1">
                <a:solidFill>
                  <a:srgbClr val="2E3B52"/>
                </a:solidFill>
                <a:latin typeface="Arial" pitchFamily="34" charset="0"/>
                <a:ea typeface="Arial" pitchFamily="34" charset="-122"/>
                <a:cs typeface="Arial" pitchFamily="34" charset="-120"/>
              </a:rPr>
              <a:t>Bn_silu_128</a:t>
            </a:r>
            <a:endParaRPr lang="en-US" sz="1500"/>
          </a:p>
        </p:txBody>
      </p:sp>
      <p:sp>
        <p:nvSpPr>
          <p:cNvPr id="11" name="Shape 9"/>
          <p:cNvSpPr/>
          <p:nvPr/>
        </p:nvSpPr>
        <p:spPr>
          <a:xfrm>
            <a:off x="960120" y="5212080"/>
            <a:ext cx="182880" cy="182880"/>
          </a:xfrm>
          <a:prstGeom prst="ellipse">
            <a:avLst/>
          </a:prstGeom>
          <a:solidFill>
            <a:srgbClr val="1F3B66"/>
          </a:solidFill>
          <a:ln/>
        </p:spPr>
      </p:sp>
      <p:sp>
        <p:nvSpPr>
          <p:cNvPr id="12" name="Text 10"/>
          <p:cNvSpPr/>
          <p:nvPr/>
        </p:nvSpPr>
        <p:spPr>
          <a:xfrm>
            <a:off x="1325880" y="4937760"/>
            <a:ext cx="2240280" cy="731520"/>
          </a:xfrm>
          <a:prstGeom prst="rect">
            <a:avLst/>
          </a:prstGeom>
          <a:noFill/>
          <a:ln/>
        </p:spPr>
        <p:txBody>
          <a:bodyPr wrap="square" lIns="0" tIns="0" rIns="0" bIns="0" rtlCol="0" anchor="ctr"/>
          <a:lstStyle/>
          <a:p>
            <a:pPr marL="0" indent="0" algn="l">
              <a:buNone/>
            </a:pPr>
            <a:r>
              <a:rPr lang="en-US" sz="1500" b="1">
                <a:solidFill>
                  <a:srgbClr val="2E3B52"/>
                </a:solidFill>
                <a:latin typeface="Arial" pitchFamily="34" charset="0"/>
                <a:ea typeface="Arial" pitchFamily="34" charset="-122"/>
                <a:cs typeface="Arial" pitchFamily="34" charset="-120"/>
              </a:rPr>
              <a:t>Residual_add</a:t>
            </a:r>
            <a:endParaRPr lang="en-US" sz="1500"/>
          </a:p>
        </p:txBody>
      </p:sp>
      <p:sp>
        <p:nvSpPr>
          <p:cNvPr id="13" name="Shape 11"/>
          <p:cNvSpPr/>
          <p:nvPr/>
        </p:nvSpPr>
        <p:spPr>
          <a:xfrm>
            <a:off x="3950208" y="3273552"/>
            <a:ext cx="548640" cy="402336"/>
          </a:xfrm>
          <a:prstGeom prst="rightArrow">
            <a:avLst/>
          </a:prstGeom>
          <a:solidFill>
            <a:srgbClr val="AAB2BD"/>
          </a:solidFill>
          <a:ln/>
        </p:spPr>
      </p:sp>
      <p:grpSp>
        <p:nvGrpSpPr>
          <p:cNvPr id="30" name="그룹 29">
            <a:extLst>
              <a:ext uri="{FF2B5EF4-FFF2-40B4-BE49-F238E27FC236}">
                <a16:creationId xmlns:a16="http://schemas.microsoft.com/office/drawing/2014/main" id="{D276CC5A-5BC0-E23C-69A3-6DF05548FDB9}"/>
              </a:ext>
            </a:extLst>
          </p:cNvPr>
          <p:cNvGrpSpPr/>
          <p:nvPr/>
        </p:nvGrpSpPr>
        <p:grpSpPr>
          <a:xfrm>
            <a:off x="4508863" y="2537823"/>
            <a:ext cx="1783080" cy="1783080"/>
            <a:chOff x="4508863" y="2537823"/>
            <a:chExt cx="1783080" cy="1783080"/>
          </a:xfrm>
        </p:grpSpPr>
        <p:sp>
          <p:nvSpPr>
            <p:cNvPr id="14" name="Shape 12"/>
            <p:cNvSpPr/>
            <p:nvPr/>
          </p:nvSpPr>
          <p:spPr>
            <a:xfrm>
              <a:off x="4590505" y="2601324"/>
              <a:ext cx="1619795" cy="1647008"/>
            </a:xfrm>
            <a:prstGeom prst="ellipse">
              <a:avLst/>
            </a:prstGeom>
            <a:solidFill>
              <a:srgbClr val="DCE7F7"/>
            </a:solidFill>
            <a:ln/>
          </p:spPr>
        </p:sp>
        <p:sp>
          <p:nvSpPr>
            <p:cNvPr id="15" name="Text 13"/>
            <p:cNvSpPr/>
            <p:nvPr/>
          </p:nvSpPr>
          <p:spPr>
            <a:xfrm>
              <a:off x="4508863" y="2537823"/>
              <a:ext cx="1783080" cy="1783080"/>
            </a:xfrm>
            <a:prstGeom prst="rect">
              <a:avLst/>
            </a:prstGeom>
            <a:noFill/>
            <a:ln/>
          </p:spPr>
          <p:txBody>
            <a:bodyPr wrap="square" lIns="0" tIns="0" rIns="0" bIns="0" rtlCol="0" anchor="ctr"/>
            <a:lstStyle/>
            <a:p>
              <a:pPr marL="0" indent="0" algn="ctr">
                <a:lnSpc>
                  <a:spcPct val="120000"/>
                </a:lnSpc>
                <a:buNone/>
              </a:pPr>
              <a:r>
                <a:rPr lang="en-US" sz="1700" b="1">
                  <a:solidFill>
                    <a:srgbClr val="1F3B66"/>
                  </a:solidFill>
                  <a:latin typeface="Arial" pitchFamily="34" charset="0"/>
                  <a:ea typeface="Arial" pitchFamily="34" charset="-122"/>
                  <a:cs typeface="Arial" pitchFamily="34" charset="-120"/>
                </a:rPr>
                <a:t>교통정리</a:t>
              </a:r>
              <a:endParaRPr lang="en-US" sz="1700"/>
            </a:p>
            <a:p>
              <a:pPr marL="0" indent="0" algn="ctr">
                <a:lnSpc>
                  <a:spcPct val="120000"/>
                </a:lnSpc>
                <a:buNone/>
              </a:pPr>
              <a:r>
                <a:rPr lang="en-US" sz="1700" b="1">
                  <a:solidFill>
                    <a:srgbClr val="1F3B66"/>
                  </a:solidFill>
                  <a:latin typeface="Arial" pitchFamily="34" charset="0"/>
                  <a:ea typeface="Arial" pitchFamily="34" charset="-122"/>
                  <a:cs typeface="Arial" pitchFamily="34" charset="-120"/>
                </a:rPr>
                <a:t>필요</a:t>
              </a:r>
              <a:endParaRPr lang="en-US" sz="1700"/>
            </a:p>
          </p:txBody>
        </p:sp>
      </p:grpSp>
      <p:sp>
        <p:nvSpPr>
          <p:cNvPr id="16" name="Shape 14"/>
          <p:cNvSpPr/>
          <p:nvPr/>
        </p:nvSpPr>
        <p:spPr>
          <a:xfrm>
            <a:off x="7178040" y="1214846"/>
            <a:ext cx="4373575" cy="2880360"/>
          </a:xfrm>
          <a:prstGeom prst="roundRect">
            <a:avLst>
              <a:gd name="adj" fmla="val 3175"/>
            </a:avLst>
          </a:prstGeom>
          <a:solidFill>
            <a:srgbClr val="EDF1F7"/>
          </a:solidFill>
          <a:ln/>
        </p:spPr>
      </p:sp>
      <p:sp>
        <p:nvSpPr>
          <p:cNvPr id="17" name="Text 15"/>
          <p:cNvSpPr/>
          <p:nvPr/>
        </p:nvSpPr>
        <p:spPr>
          <a:xfrm>
            <a:off x="7452360" y="1488585"/>
            <a:ext cx="3824935" cy="365760"/>
          </a:xfrm>
          <a:prstGeom prst="rect">
            <a:avLst/>
          </a:prstGeom>
          <a:noFill/>
          <a:ln/>
        </p:spPr>
        <p:txBody>
          <a:bodyPr wrap="square" lIns="0" tIns="0" rIns="0" bIns="0" rtlCol="0" anchor="ctr"/>
          <a:lstStyle/>
          <a:p>
            <a:pPr marL="0" indent="0" algn="l">
              <a:buNone/>
            </a:pPr>
            <a:r>
              <a:rPr lang="en-US" sz="1700" b="1" err="1">
                <a:solidFill>
                  <a:srgbClr val="002060"/>
                </a:solidFill>
                <a:latin typeface="Arial"/>
                <a:ea typeface="Arial" pitchFamily="34" charset="-122"/>
                <a:cs typeface="Arial"/>
              </a:rPr>
              <a:t>bottleneck_router</a:t>
            </a:r>
            <a:endParaRPr lang="en-US" sz="1700" b="1">
              <a:solidFill>
                <a:srgbClr val="002060"/>
              </a:solidFill>
              <a:latin typeface="Arial"/>
              <a:cs typeface="Arial"/>
            </a:endParaRPr>
          </a:p>
        </p:txBody>
      </p:sp>
      <p:sp>
        <p:nvSpPr>
          <p:cNvPr id="18" name="Shape 16"/>
          <p:cNvSpPr/>
          <p:nvPr/>
        </p:nvSpPr>
        <p:spPr>
          <a:xfrm>
            <a:off x="7452360" y="2064657"/>
            <a:ext cx="384048" cy="384048"/>
          </a:xfrm>
          <a:prstGeom prst="ellipse">
            <a:avLst/>
          </a:prstGeom>
          <a:solidFill>
            <a:srgbClr val="1F3B66"/>
          </a:solidFill>
          <a:ln/>
        </p:spPr>
      </p:sp>
      <p:sp>
        <p:nvSpPr>
          <p:cNvPr id="19" name="Text 17"/>
          <p:cNvSpPr/>
          <p:nvPr/>
        </p:nvSpPr>
        <p:spPr>
          <a:xfrm>
            <a:off x="7452360" y="2064657"/>
            <a:ext cx="384048" cy="384048"/>
          </a:xfrm>
          <a:prstGeom prst="rect">
            <a:avLst/>
          </a:prstGeom>
          <a:noFill/>
          <a:ln/>
        </p:spPr>
        <p:txBody>
          <a:bodyPr wrap="square" lIns="0" tIns="0" rIns="0" bIns="0" rtlCol="0" anchor="ctr"/>
          <a:lstStyle/>
          <a:p>
            <a:pPr marL="0" indent="0" algn="ctr">
              <a:buNone/>
            </a:pPr>
            <a:r>
              <a:rPr lang="en-US" sz="1400" b="1">
                <a:solidFill>
                  <a:srgbClr val="FFFFFF"/>
                </a:solidFill>
                <a:latin typeface="Arial" pitchFamily="34" charset="0"/>
                <a:ea typeface="Arial" pitchFamily="34" charset="-122"/>
                <a:cs typeface="Arial" pitchFamily="34" charset="-120"/>
              </a:rPr>
              <a:t>1</a:t>
            </a:r>
            <a:endParaRPr lang="en-US" sz="1400"/>
          </a:p>
        </p:txBody>
      </p:sp>
      <p:sp>
        <p:nvSpPr>
          <p:cNvPr id="20" name="Text 18"/>
          <p:cNvSpPr/>
          <p:nvPr/>
        </p:nvSpPr>
        <p:spPr>
          <a:xfrm>
            <a:off x="8001000" y="1980857"/>
            <a:ext cx="3385152" cy="842752"/>
          </a:xfrm>
          <a:prstGeom prst="rect">
            <a:avLst/>
          </a:prstGeom>
          <a:noFill/>
          <a:ln/>
        </p:spPr>
        <p:txBody>
          <a:bodyPr wrap="square" lIns="0" tIns="0" rIns="0" bIns="0" rtlCol="0" anchor="t"/>
          <a:lstStyle/>
          <a:p>
            <a:pPr>
              <a:lnSpc>
                <a:spcPct val="125000"/>
              </a:lnSpc>
            </a:pPr>
            <a:r>
              <a:rPr lang="en-US" sz="1400">
                <a:solidFill>
                  <a:srgbClr val="2E3B52"/>
                </a:solidFill>
                <a:latin typeface="Arial"/>
                <a:ea typeface="Arial" pitchFamily="34" charset="-122"/>
                <a:cs typeface="Arial"/>
              </a:rPr>
              <a:t>Conv3x3, bn_silu_64, </a:t>
            </a:r>
            <a:r>
              <a:rPr lang="en-US" sz="1400" err="1">
                <a:solidFill>
                  <a:srgbClr val="2E3B52"/>
                </a:solidFill>
                <a:latin typeface="Arial"/>
                <a:ea typeface="Arial" pitchFamily="34" charset="-122"/>
                <a:cs typeface="Arial"/>
              </a:rPr>
              <a:t>residual_add</a:t>
            </a:r>
            <a:r>
              <a:rPr lang="en-US" sz="1400">
                <a:solidFill>
                  <a:srgbClr val="2E3B52"/>
                </a:solidFill>
                <a:latin typeface="Arial"/>
                <a:ea typeface="Arial" pitchFamily="34" charset="-122"/>
                <a:cs typeface="Arial"/>
              </a:rPr>
              <a:t> </a:t>
            </a:r>
            <a:br>
              <a:rPr lang="en-US" sz="1400">
                <a:latin typeface="Arial"/>
                <a:ea typeface="Arial" pitchFamily="34" charset="-122"/>
                <a:cs typeface="Arial"/>
              </a:rPr>
            </a:br>
            <a:r>
              <a:rPr lang="en-US" sz="1400">
                <a:solidFill>
                  <a:srgbClr val="2E3B52"/>
                </a:solidFill>
                <a:latin typeface="Arial"/>
                <a:ea typeface="Arial" pitchFamily="34" charset="-122"/>
                <a:cs typeface="Arial"/>
              </a:rPr>
              <a:t>각 </a:t>
            </a:r>
            <a:r>
              <a:rPr lang="en-US" sz="1400" err="1">
                <a:solidFill>
                  <a:srgbClr val="2E3B52"/>
                </a:solidFill>
                <a:latin typeface="Arial"/>
                <a:ea typeface="Arial" pitchFamily="34" charset="-122"/>
                <a:cs typeface="Arial"/>
              </a:rPr>
              <a:t>IP가</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호출될</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때마다</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입출력</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포트를</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다르게</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연결</a:t>
            </a:r>
            <a:endParaRPr lang="en-US" sz="1400">
              <a:latin typeface="Arial"/>
              <a:ea typeface="Calibri"/>
              <a:cs typeface="Arial"/>
            </a:endParaRPr>
          </a:p>
        </p:txBody>
      </p:sp>
      <p:sp>
        <p:nvSpPr>
          <p:cNvPr id="21" name="Shape 19"/>
          <p:cNvSpPr/>
          <p:nvPr/>
        </p:nvSpPr>
        <p:spPr>
          <a:xfrm>
            <a:off x="7452360" y="3116217"/>
            <a:ext cx="384048" cy="384048"/>
          </a:xfrm>
          <a:prstGeom prst="ellipse">
            <a:avLst/>
          </a:prstGeom>
          <a:solidFill>
            <a:srgbClr val="1F3B66"/>
          </a:solidFill>
          <a:ln/>
        </p:spPr>
      </p:sp>
      <p:sp>
        <p:nvSpPr>
          <p:cNvPr id="22" name="Text 20"/>
          <p:cNvSpPr/>
          <p:nvPr/>
        </p:nvSpPr>
        <p:spPr>
          <a:xfrm>
            <a:off x="7452360" y="3116217"/>
            <a:ext cx="384048" cy="384048"/>
          </a:xfrm>
          <a:prstGeom prst="rect">
            <a:avLst/>
          </a:prstGeom>
          <a:noFill/>
          <a:ln/>
        </p:spPr>
        <p:txBody>
          <a:bodyPr wrap="square" lIns="0" tIns="0" rIns="0" bIns="0" rtlCol="0" anchor="ctr"/>
          <a:lstStyle/>
          <a:p>
            <a:pPr marL="0" indent="0" algn="ctr">
              <a:buNone/>
            </a:pPr>
            <a:r>
              <a:rPr lang="en-US" sz="1400" b="1">
                <a:solidFill>
                  <a:srgbClr val="FFFFFF"/>
                </a:solidFill>
                <a:latin typeface="Arial" pitchFamily="34" charset="0"/>
                <a:ea typeface="Arial" pitchFamily="34" charset="-122"/>
                <a:cs typeface="Arial" pitchFamily="34" charset="-120"/>
              </a:rPr>
              <a:t>2</a:t>
            </a:r>
            <a:endParaRPr lang="en-US" sz="1400"/>
          </a:p>
        </p:txBody>
      </p:sp>
      <p:sp>
        <p:nvSpPr>
          <p:cNvPr id="23" name="Text 21"/>
          <p:cNvSpPr/>
          <p:nvPr/>
        </p:nvSpPr>
        <p:spPr>
          <a:xfrm>
            <a:off x="8001000" y="3052209"/>
            <a:ext cx="3276295" cy="822960"/>
          </a:xfrm>
          <a:prstGeom prst="rect">
            <a:avLst/>
          </a:prstGeom>
          <a:noFill/>
          <a:ln/>
        </p:spPr>
        <p:txBody>
          <a:bodyPr wrap="square" lIns="0" tIns="0" rIns="0" bIns="0" rtlCol="0" anchor="t"/>
          <a:lstStyle/>
          <a:p>
            <a:pPr>
              <a:lnSpc>
                <a:spcPct val="125000"/>
              </a:lnSpc>
            </a:pPr>
            <a:r>
              <a:rPr lang="en-US" sz="1350" err="1">
                <a:solidFill>
                  <a:srgbClr val="2E3B52"/>
                </a:solidFill>
                <a:latin typeface="Arial"/>
                <a:ea typeface="Arial" pitchFamily="34" charset="-122"/>
                <a:cs typeface="Arial"/>
              </a:rPr>
              <a:t>Residual_add의</a:t>
            </a:r>
            <a:r>
              <a:rPr lang="en-US" sz="1350">
                <a:solidFill>
                  <a:srgbClr val="2E3B52"/>
                </a:solidFill>
                <a:latin typeface="Arial"/>
                <a:ea typeface="Arial" pitchFamily="34" charset="-122"/>
                <a:cs typeface="Arial"/>
              </a:rPr>
              <a:t> shortcut </a:t>
            </a:r>
            <a:r>
              <a:rPr lang="en-US" sz="1350" err="1">
                <a:solidFill>
                  <a:srgbClr val="2E3B52"/>
                </a:solidFill>
                <a:latin typeface="Arial"/>
                <a:ea typeface="Arial" pitchFamily="34" charset="-122"/>
                <a:cs typeface="Arial"/>
              </a:rPr>
              <a:t>값을</a:t>
            </a:r>
            <a:r>
              <a:rPr lang="en-US" sz="1350">
                <a:solidFill>
                  <a:srgbClr val="2E3B52"/>
                </a:solidFill>
                <a:latin typeface="Arial"/>
                <a:ea typeface="Arial" pitchFamily="34" charset="-122"/>
                <a:cs typeface="Arial"/>
              </a:rPr>
              <a:t> </a:t>
            </a:r>
            <a:r>
              <a:rPr lang="en-US" sz="1350" err="1">
                <a:solidFill>
                  <a:srgbClr val="2E3B52"/>
                </a:solidFill>
                <a:latin typeface="Arial"/>
                <a:ea typeface="Arial" pitchFamily="34" charset="-122"/>
                <a:cs typeface="Arial"/>
              </a:rPr>
              <a:t>저장하는</a:t>
            </a:r>
            <a:r>
              <a:rPr lang="en-US" sz="1350">
                <a:solidFill>
                  <a:srgbClr val="2E3B52"/>
                </a:solidFill>
                <a:latin typeface="Arial"/>
                <a:ea typeface="Arial" pitchFamily="34" charset="-122"/>
                <a:cs typeface="Arial"/>
              </a:rPr>
              <a:t> </a:t>
            </a:r>
            <a:br>
              <a:rPr lang="en-US" sz="1350">
                <a:latin typeface="Arial"/>
                <a:ea typeface="Arial" pitchFamily="34" charset="-122"/>
                <a:cs typeface="Arial"/>
              </a:rPr>
            </a:br>
            <a:r>
              <a:rPr lang="en-US" sz="1350" err="1">
                <a:solidFill>
                  <a:srgbClr val="2E3B52"/>
                </a:solidFill>
                <a:latin typeface="Arial"/>
                <a:ea typeface="Arial" pitchFamily="34" charset="-122"/>
                <a:cs typeface="Arial"/>
              </a:rPr>
              <a:t>버퍼</a:t>
            </a:r>
            <a:r>
              <a:rPr lang="en-US" sz="1350">
                <a:solidFill>
                  <a:srgbClr val="2E3B52"/>
                </a:solidFill>
                <a:latin typeface="Arial"/>
                <a:ea typeface="Arial" pitchFamily="34" charset="-122"/>
                <a:cs typeface="Arial"/>
              </a:rPr>
              <a:t>(</a:t>
            </a:r>
            <a:r>
              <a:rPr lang="en-US" sz="1350" err="1">
                <a:solidFill>
                  <a:srgbClr val="2E3B52"/>
                </a:solidFill>
                <a:latin typeface="Arial"/>
                <a:ea typeface="Arial" pitchFamily="34" charset="-122"/>
                <a:cs typeface="Arial"/>
              </a:rPr>
              <a:t>uram</a:t>
            </a:r>
            <a:r>
              <a:rPr lang="en-US" sz="1350">
                <a:solidFill>
                  <a:srgbClr val="2E3B52"/>
                </a:solidFill>
                <a:latin typeface="Arial"/>
                <a:ea typeface="Arial" pitchFamily="34" charset="-122"/>
                <a:cs typeface="Arial"/>
              </a:rPr>
              <a:t>)</a:t>
            </a:r>
            <a:endParaRPr lang="en-US" sz="1350"/>
          </a:p>
        </p:txBody>
      </p:sp>
      <p:sp>
        <p:nvSpPr>
          <p:cNvPr id="24" name="Shape 22"/>
          <p:cNvSpPr/>
          <p:nvPr/>
        </p:nvSpPr>
        <p:spPr>
          <a:xfrm>
            <a:off x="7178040" y="4297680"/>
            <a:ext cx="4373575" cy="1463040"/>
          </a:xfrm>
          <a:prstGeom prst="roundRect">
            <a:avLst>
              <a:gd name="adj" fmla="val 6250"/>
            </a:avLst>
          </a:prstGeom>
          <a:solidFill>
            <a:srgbClr val="EDF1F7"/>
          </a:solidFill>
          <a:ln w="12700">
            <a:noFill/>
            <a:prstDash val="solid"/>
          </a:ln>
        </p:spPr>
      </p:sp>
      <p:sp>
        <p:nvSpPr>
          <p:cNvPr id="25" name="Text 23"/>
          <p:cNvSpPr/>
          <p:nvPr/>
        </p:nvSpPr>
        <p:spPr>
          <a:xfrm>
            <a:off x="7452360" y="4480560"/>
            <a:ext cx="3824935" cy="365760"/>
          </a:xfrm>
          <a:prstGeom prst="rect">
            <a:avLst/>
          </a:prstGeom>
          <a:noFill/>
          <a:ln/>
        </p:spPr>
        <p:txBody>
          <a:bodyPr wrap="square" lIns="0" tIns="0" rIns="0" bIns="0" rtlCol="0" anchor="ctr"/>
          <a:lstStyle/>
          <a:p>
            <a:pPr marL="0" indent="0" algn="l">
              <a:buNone/>
            </a:pPr>
            <a:r>
              <a:rPr lang="en-US" sz="1700" b="1">
                <a:solidFill>
                  <a:srgbClr val="1F3B66"/>
                </a:solidFill>
                <a:latin typeface="Arial" pitchFamily="34" charset="0"/>
                <a:ea typeface="Arial" pitchFamily="34" charset="-122"/>
                <a:cs typeface="Arial" pitchFamily="34" charset="-120"/>
              </a:rPr>
              <a:t>bn128_silu_router</a:t>
            </a:r>
            <a:endParaRPr lang="en-US" sz="1700"/>
          </a:p>
        </p:txBody>
      </p:sp>
      <p:sp>
        <p:nvSpPr>
          <p:cNvPr id="26" name="Text 24"/>
          <p:cNvSpPr/>
          <p:nvPr/>
        </p:nvSpPr>
        <p:spPr>
          <a:xfrm>
            <a:off x="7452360" y="4919472"/>
            <a:ext cx="3824935" cy="685800"/>
          </a:xfrm>
          <a:prstGeom prst="rect">
            <a:avLst/>
          </a:prstGeom>
          <a:noFill/>
          <a:ln/>
        </p:spPr>
        <p:txBody>
          <a:bodyPr wrap="square" lIns="0" tIns="0" rIns="0" bIns="0" rtlCol="0" anchor="t"/>
          <a:lstStyle/>
          <a:p>
            <a:pPr marL="0" indent="0" algn="l">
              <a:lnSpc>
                <a:spcPct val="125000"/>
              </a:lnSpc>
              <a:buNone/>
            </a:pPr>
            <a:r>
              <a:rPr lang="en-US" sz="1350">
                <a:solidFill>
                  <a:srgbClr val="2E3B52"/>
                </a:solidFill>
                <a:latin typeface="Arial" pitchFamily="34" charset="0"/>
                <a:ea typeface="Arial" pitchFamily="34" charset="-122"/>
                <a:cs typeface="Arial" pitchFamily="34" charset="-120"/>
              </a:rPr>
              <a:t>Bn_silu_128 재사용을 위한 순서 전환 라우터</a:t>
            </a:r>
            <a:endParaRPr lang="en-US" sz="1350"/>
          </a:p>
        </p:txBody>
      </p:sp>
      <p:sp>
        <p:nvSpPr>
          <p:cNvPr id="28" name="직사각형 27">
            <a:extLst>
              <a:ext uri="{FF2B5EF4-FFF2-40B4-BE49-F238E27FC236}">
                <a16:creationId xmlns:a16="http://schemas.microsoft.com/office/drawing/2014/main" id="{7850CA7F-AAED-8351-01B1-AA4B63D0C16C}"/>
              </a:ext>
            </a:extLst>
          </p:cNvPr>
          <p:cNvSpPr/>
          <p:nvPr/>
        </p:nvSpPr>
        <p:spPr>
          <a:xfrm>
            <a:off x="7013233" y="1083355"/>
            <a:ext cx="4723380" cy="4840741"/>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Shape 11">
            <a:extLst>
              <a:ext uri="{FF2B5EF4-FFF2-40B4-BE49-F238E27FC236}">
                <a16:creationId xmlns:a16="http://schemas.microsoft.com/office/drawing/2014/main" id="{3532B90B-5571-E50A-096E-FB3FA3640089}"/>
              </a:ext>
            </a:extLst>
          </p:cNvPr>
          <p:cNvSpPr/>
          <p:nvPr/>
        </p:nvSpPr>
        <p:spPr>
          <a:xfrm>
            <a:off x="6408564" y="3264480"/>
            <a:ext cx="548640" cy="402336"/>
          </a:xfrm>
          <a:prstGeom prst="rightArrow">
            <a:avLst/>
          </a:prstGeom>
          <a:solidFill>
            <a:srgbClr val="AAB2BD"/>
          </a:solidFill>
          <a:ln/>
        </p:spPr>
      </p:sp>
    </p:spTree>
    <p:extLst>
      <p:ext uri="{BB962C8B-B14F-4D97-AF65-F5344CB8AC3E}">
        <p14:creationId xmlns:p14="http://schemas.microsoft.com/office/powerpoint/2010/main" val="1868008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7295" cy="502920"/>
          </a:xfrm>
          <a:prstGeom prst="rect">
            <a:avLst/>
          </a:prstGeom>
          <a:noFill/>
          <a:ln/>
        </p:spPr>
        <p:txBody>
          <a:bodyPr wrap="square" lIns="0" tIns="0" rIns="0" bIns="0" rtlCol="0" anchor="ctr"/>
          <a:lstStyle/>
          <a:p>
            <a:pPr marL="0" indent="0" algn="ctr">
              <a:buNone/>
            </a:pPr>
            <a:r>
              <a:rPr lang="en-US" sz="2600" b="1">
                <a:solidFill>
                  <a:srgbClr val="1F3B66"/>
                </a:solidFill>
                <a:latin typeface="Arial" pitchFamily="34" charset="0"/>
                <a:ea typeface="Arial" pitchFamily="34" charset="-122"/>
                <a:cs typeface="Arial" pitchFamily="34" charset="-120"/>
              </a:rPr>
              <a:t>양자화(Quantization) — INT8 기반 설계</a:t>
            </a:r>
            <a:endParaRPr lang="en-US" sz="2600"/>
          </a:p>
        </p:txBody>
      </p:sp>
      <p:sp>
        <p:nvSpPr>
          <p:cNvPr id="4" name="Shape 4"/>
          <p:cNvSpPr/>
          <p:nvPr/>
        </p:nvSpPr>
        <p:spPr>
          <a:xfrm>
            <a:off x="421680" y="1524000"/>
            <a:ext cx="3600000" cy="3200400"/>
          </a:xfrm>
          <a:prstGeom prst="roundRect">
            <a:avLst>
              <a:gd name="adj" fmla="val 4348"/>
            </a:avLst>
          </a:prstGeom>
          <a:solidFill>
            <a:srgbClr val="EAF0FA"/>
          </a:solidFill>
          <a:ln/>
        </p:spPr>
      </p:sp>
      <p:sp>
        <p:nvSpPr>
          <p:cNvPr id="5" name="Text 5"/>
          <p:cNvSpPr/>
          <p:nvPr/>
        </p:nvSpPr>
        <p:spPr>
          <a:xfrm>
            <a:off x="696000" y="1752600"/>
            <a:ext cx="3051360" cy="41148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① 왜 INT8인가</a:t>
            </a:r>
            <a:endParaRPr lang="en-US" sz="1500"/>
          </a:p>
        </p:txBody>
      </p:sp>
      <p:sp>
        <p:nvSpPr>
          <p:cNvPr id="6" name="Text 6"/>
          <p:cNvSpPr/>
          <p:nvPr/>
        </p:nvSpPr>
        <p:spPr>
          <a:xfrm>
            <a:off x="696000" y="2255520"/>
            <a:ext cx="3051360" cy="2240280"/>
          </a:xfrm>
          <a:prstGeom prst="rect">
            <a:avLst/>
          </a:prstGeom>
          <a:noFill/>
          <a:ln/>
        </p:spPr>
        <p:txBody>
          <a:bodyPr wrap="square" lIns="0" tIns="0" rIns="0" bIns="0" rtlCol="0" anchor="t"/>
          <a:lstStyle/>
          <a:p>
            <a:pPr>
              <a:lnSpc>
                <a:spcPct val="112000"/>
              </a:lnSpc>
              <a:spcAft>
                <a:spcPts val="500"/>
              </a:spcAft>
            </a:pPr>
            <a:r>
              <a:rPr lang="en-US" sz="1100">
                <a:solidFill>
                  <a:srgbClr val="2E3B52"/>
                </a:solidFill>
                <a:latin typeface="Arial"/>
                <a:ea typeface="Arial" pitchFamily="34" charset="-122"/>
                <a:cs typeface="Arial"/>
              </a:rPr>
              <a:t>• </a:t>
            </a:r>
            <a:r>
              <a:rPr lang="en-US" sz="1400">
                <a:solidFill>
                  <a:srgbClr val="2E3B52"/>
                </a:solidFill>
                <a:latin typeface="Arial"/>
                <a:ea typeface="Arial" pitchFamily="34" charset="-122"/>
                <a:cs typeface="Arial"/>
              </a:rPr>
              <a:t>float(32bit)</a:t>
            </a:r>
            <a:r>
              <a:rPr lang="ko-KR" altLang="en-US" sz="1400">
                <a:solidFill>
                  <a:srgbClr val="2E3B52"/>
                </a:solidFill>
                <a:latin typeface="Arial"/>
                <a:ea typeface="Arial" pitchFamily="34" charset="-122"/>
                <a:cs typeface="Arial"/>
              </a:rPr>
              <a:t>는</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연산량이</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큼</a:t>
            </a:r>
            <a:endParaRPr lang="en-US" sz="1400">
              <a:solidFill>
                <a:srgbClr val="2E3B52"/>
              </a:solidFill>
              <a:latin typeface="Arial"/>
              <a:cs typeface="Arial"/>
            </a:endParaRPr>
          </a:p>
          <a:p>
            <a:pPr>
              <a:lnSpc>
                <a:spcPct val="112000"/>
              </a:lnSpc>
              <a:spcAft>
                <a:spcPts val="500"/>
              </a:spcAft>
            </a:pPr>
            <a:endParaRPr lang="en-US" sz="1400">
              <a:solidFill>
                <a:srgbClr val="2E3B52"/>
              </a:solidFill>
              <a:latin typeface="Arial"/>
              <a:ea typeface="Arial" pitchFamily="34" charset="-122"/>
              <a:cs typeface="Arial"/>
            </a:endParaRPr>
          </a:p>
          <a:p>
            <a:pPr>
              <a:lnSpc>
                <a:spcPct val="112000"/>
              </a:lnSpc>
              <a:spcAft>
                <a:spcPts val="500"/>
              </a:spcAft>
            </a:pPr>
            <a:r>
              <a:rPr lang="en-US" sz="1400">
                <a:solidFill>
                  <a:srgbClr val="2E3B52"/>
                </a:solidFill>
                <a:latin typeface="Arial"/>
                <a:ea typeface="Arial" pitchFamily="34" charset="-122"/>
                <a:cs typeface="Arial"/>
              </a:rPr>
              <a:t>• </a:t>
            </a:r>
            <a:r>
              <a:rPr lang="ko-KR" altLang="en-US" sz="1400">
                <a:solidFill>
                  <a:srgbClr val="2E3B52"/>
                </a:solidFill>
                <a:ea typeface="+mn-lt"/>
                <a:cs typeface="+mn-lt"/>
              </a:rPr>
              <a:t>자원</a:t>
            </a:r>
            <a:r>
              <a:rPr lang="en-US" sz="1400">
                <a:solidFill>
                  <a:srgbClr val="2E3B52"/>
                </a:solidFill>
                <a:ea typeface="+mn-lt"/>
                <a:cs typeface="+mn-lt"/>
              </a:rPr>
              <a:t> </a:t>
            </a:r>
            <a:r>
              <a:rPr lang="ko-KR" altLang="en-US" sz="1400">
                <a:solidFill>
                  <a:srgbClr val="2E3B52"/>
                </a:solidFill>
                <a:ea typeface="+mn-lt"/>
                <a:cs typeface="+mn-lt"/>
              </a:rPr>
              <a:t>절감, </a:t>
            </a:r>
            <a:r>
              <a:rPr lang="ko-KR" sz="1400">
                <a:solidFill>
                  <a:srgbClr val="2E3B52"/>
                </a:solidFill>
                <a:ea typeface="+mn-lt"/>
                <a:cs typeface="+mn-lt"/>
              </a:rPr>
              <a:t>처리 속도</a:t>
            </a:r>
            <a:r>
              <a:rPr lang="en-US" altLang="ko-KR" sz="1400">
                <a:solidFill>
                  <a:srgbClr val="2E3B52"/>
                </a:solidFill>
                <a:ea typeface="+mn-lt"/>
                <a:cs typeface="+mn-lt"/>
              </a:rPr>
              <a:t>,</a:t>
            </a:r>
            <a:r>
              <a:rPr lang="ko-KR" sz="1400">
                <a:solidFill>
                  <a:srgbClr val="2E3B52"/>
                </a:solidFill>
                <a:ea typeface="+mn-lt"/>
                <a:cs typeface="+mn-lt"/>
              </a:rPr>
              <a:t> 즉 예산 안에       </a:t>
            </a:r>
            <a:r>
              <a:rPr lang="ko-KR" altLang="en-US" sz="1400">
                <a:solidFill>
                  <a:srgbClr val="2E3B52"/>
                </a:solidFill>
                <a:ea typeface="+mn-lt"/>
                <a:cs typeface="+mn-lt"/>
              </a:rPr>
              <a:t> </a:t>
            </a:r>
            <a:r>
              <a:rPr lang="ko-KR" sz="1400">
                <a:solidFill>
                  <a:srgbClr val="2E3B52"/>
                </a:solidFill>
                <a:ea typeface="+mn-lt"/>
                <a:cs typeface="+mn-lt"/>
              </a:rPr>
              <a:t>맞추기 위한 필수 선택</a:t>
            </a:r>
            <a:endParaRPr lang="ko-KR">
              <a:ea typeface="맑은 고딕"/>
              <a:cs typeface="Calibri"/>
            </a:endParaRPr>
          </a:p>
        </p:txBody>
      </p:sp>
      <p:sp>
        <p:nvSpPr>
          <p:cNvPr id="7" name="Shape 7"/>
          <p:cNvSpPr/>
          <p:nvPr/>
        </p:nvSpPr>
        <p:spPr>
          <a:xfrm>
            <a:off x="4296000" y="1524000"/>
            <a:ext cx="3600000" cy="3200400"/>
          </a:xfrm>
          <a:prstGeom prst="roundRect">
            <a:avLst>
              <a:gd name="adj" fmla="val 4348"/>
            </a:avLst>
          </a:prstGeom>
          <a:solidFill>
            <a:srgbClr val="EAF0FA"/>
          </a:solidFill>
          <a:ln/>
        </p:spPr>
      </p:sp>
      <p:sp>
        <p:nvSpPr>
          <p:cNvPr id="8" name="Text 8"/>
          <p:cNvSpPr/>
          <p:nvPr/>
        </p:nvSpPr>
        <p:spPr>
          <a:xfrm>
            <a:off x="4570320" y="1752600"/>
            <a:ext cx="3051360" cy="41148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② 레이어별 적용 방식</a:t>
            </a:r>
            <a:endParaRPr lang="en-US" sz="1500"/>
          </a:p>
        </p:txBody>
      </p:sp>
      <p:sp>
        <p:nvSpPr>
          <p:cNvPr id="9" name="Text 9"/>
          <p:cNvSpPr/>
          <p:nvPr/>
        </p:nvSpPr>
        <p:spPr>
          <a:xfrm>
            <a:off x="4570320" y="2255520"/>
            <a:ext cx="3051360" cy="2240280"/>
          </a:xfrm>
          <a:prstGeom prst="rect">
            <a:avLst/>
          </a:prstGeom>
          <a:noFill/>
          <a:ln/>
        </p:spPr>
        <p:txBody>
          <a:bodyPr wrap="square" lIns="0" tIns="0" rIns="0" bIns="0" rtlCol="0" anchor="t"/>
          <a:lstStyle/>
          <a:p>
            <a:pPr>
              <a:lnSpc>
                <a:spcPct val="112000"/>
              </a:lnSpc>
              <a:spcAft>
                <a:spcPts val="500"/>
              </a:spcAft>
            </a:pPr>
            <a:r>
              <a:rPr lang="en-US" sz="1400">
                <a:solidFill>
                  <a:srgbClr val="2E3B52"/>
                </a:solidFill>
                <a:latin typeface="Arial"/>
                <a:ea typeface="Arial" pitchFamily="34" charset="-122"/>
                <a:cs typeface="Arial"/>
              </a:rPr>
              <a:t>• Conv(1×1·3×3): int8×int8 </a:t>
            </a:r>
            <a:r>
              <a:rPr lang="en-US" sz="1400" err="1">
                <a:solidFill>
                  <a:srgbClr val="2E3B52"/>
                </a:solidFill>
                <a:latin typeface="Arial"/>
                <a:ea typeface="Arial" pitchFamily="34" charset="-122"/>
                <a:cs typeface="Arial"/>
              </a:rPr>
              <a:t>정수</a:t>
            </a:r>
            <a:r>
              <a:rPr lang="en-US" sz="1400">
                <a:solidFill>
                  <a:srgbClr val="2E3B52"/>
                </a:solidFill>
                <a:latin typeface="Arial"/>
                <a:ea typeface="Arial" pitchFamily="34" charset="-122"/>
                <a:cs typeface="Arial"/>
              </a:rPr>
              <a:t> MAC </a:t>
            </a:r>
            <a:r>
              <a:rPr lang="ko-KR" altLang="en-US" sz="1400">
                <a:solidFill>
                  <a:srgbClr val="2E3B52"/>
                </a:solidFill>
                <a:latin typeface="Arial"/>
                <a:ea typeface="Arial" pitchFamily="34" charset="-122"/>
                <a:cs typeface="Arial"/>
              </a:rPr>
              <a:t>수행</a:t>
            </a:r>
            <a:br>
              <a:rPr lang="ko-KR" altLang="en-US" sz="1400">
                <a:latin typeface="Arial"/>
                <a:ea typeface="Arial" pitchFamily="34" charset="-122"/>
                <a:cs typeface="Arial"/>
              </a:rPr>
            </a:br>
            <a:endParaRPr lang="ko-KR" altLang="en-US" sz="1400">
              <a:solidFill>
                <a:srgbClr val="2E3B52"/>
              </a:solidFill>
              <a:latin typeface="Arial" pitchFamily="34" charset="-122"/>
              <a:ea typeface="Arial" pitchFamily="34" charset="-122"/>
              <a:cs typeface="Arial"/>
            </a:endParaRPr>
          </a:p>
          <a:p>
            <a:pPr>
              <a:lnSpc>
                <a:spcPct val="112000"/>
              </a:lnSpc>
              <a:spcAft>
                <a:spcPts val="500"/>
              </a:spcAft>
            </a:pPr>
            <a:r>
              <a:rPr lang="en-US" sz="1400">
                <a:solidFill>
                  <a:srgbClr val="2E3B52"/>
                </a:solidFill>
                <a:latin typeface="Arial"/>
                <a:ea typeface="Arial" pitchFamily="34" charset="-122"/>
                <a:cs typeface="Arial"/>
              </a:rPr>
              <a:t>• BN+SiLU: </a:t>
            </a:r>
            <a:r>
              <a:rPr lang="ko-KR" altLang="en-US" sz="1400" err="1">
                <a:solidFill>
                  <a:srgbClr val="2E3B52"/>
                </a:solidFill>
                <a:latin typeface="Arial"/>
                <a:ea typeface="Arial" pitchFamily="34" charset="-122"/>
                <a:cs typeface="Arial"/>
              </a:rPr>
              <a:t>스케일</a:t>
            </a:r>
            <a:r>
              <a:rPr lang="en-US" sz="1400">
                <a:solidFill>
                  <a:srgbClr val="2E3B52"/>
                </a:solidFill>
                <a:latin typeface="Arial"/>
                <a:ea typeface="Arial" pitchFamily="34" charset="-122"/>
                <a:cs typeface="Arial"/>
              </a:rPr>
              <a:t> </a:t>
            </a:r>
            <a:r>
              <a:rPr lang="ko-KR" altLang="en-US" sz="1400" err="1">
                <a:solidFill>
                  <a:srgbClr val="2E3B52"/>
                </a:solidFill>
                <a:latin typeface="Arial"/>
                <a:ea typeface="Arial" pitchFamily="34" charset="-122"/>
                <a:cs typeface="Arial"/>
              </a:rPr>
              <a:t>값을</a:t>
            </a:r>
            <a:r>
              <a:rPr lang="en-US" sz="1400">
                <a:solidFill>
                  <a:srgbClr val="2E3B52"/>
                </a:solidFill>
                <a:latin typeface="Arial"/>
                <a:ea typeface="Arial" pitchFamily="34" charset="-122"/>
                <a:cs typeface="Arial"/>
              </a:rPr>
              <a:t> </a:t>
            </a:r>
            <a:r>
              <a:rPr lang="ko-KR" altLang="en-US" sz="1400" err="1">
                <a:solidFill>
                  <a:srgbClr val="2E3B52"/>
                </a:solidFill>
                <a:latin typeface="Arial"/>
                <a:ea typeface="Arial" pitchFamily="34" charset="-122"/>
                <a:cs typeface="Arial"/>
              </a:rPr>
              <a:t>이용해</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역양자화 하여 </a:t>
            </a:r>
            <a:r>
              <a:rPr lang="en-US" sz="1400" err="1">
                <a:solidFill>
                  <a:srgbClr val="2E3B52"/>
                </a:solidFill>
                <a:latin typeface="Arial"/>
                <a:ea typeface="Arial" pitchFamily="34" charset="-122"/>
                <a:cs typeface="Arial"/>
              </a:rPr>
              <a:t>계산</a:t>
            </a:r>
            <a:r>
              <a:rPr lang="en-US" sz="1400">
                <a:solidFill>
                  <a:srgbClr val="2E3B52"/>
                </a:solidFill>
                <a:latin typeface="Arial"/>
                <a:ea typeface="Arial" pitchFamily="34" charset="-122"/>
                <a:cs typeface="Arial"/>
              </a:rPr>
              <a:t> 후 </a:t>
            </a:r>
            <a:r>
              <a:rPr lang="ko-KR" altLang="en-US" sz="1400">
                <a:solidFill>
                  <a:srgbClr val="2E3B52"/>
                </a:solidFill>
                <a:latin typeface="Arial"/>
                <a:ea typeface="Arial" pitchFamily="34" charset="-122"/>
                <a:cs typeface="Arial"/>
              </a:rPr>
              <a:t>다시</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한번</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양자화</a:t>
            </a:r>
            <a:endParaRPr lang="ko-KR">
              <a:ea typeface="맑은 고딕"/>
              <a:cs typeface="Calibri"/>
            </a:endParaRPr>
          </a:p>
          <a:p>
            <a:pPr>
              <a:lnSpc>
                <a:spcPct val="112000"/>
              </a:lnSpc>
              <a:spcAft>
                <a:spcPts val="500"/>
              </a:spcAft>
            </a:pPr>
            <a:r>
              <a:rPr lang="en-US" sz="1400">
                <a:solidFill>
                  <a:srgbClr val="2E3B52"/>
                </a:solidFill>
                <a:latin typeface="Arial"/>
                <a:ea typeface="Arial" pitchFamily="34" charset="-122"/>
                <a:cs typeface="Arial"/>
              </a:rPr>
              <a:t> </a:t>
            </a:r>
          </a:p>
          <a:p>
            <a:pPr>
              <a:lnSpc>
                <a:spcPct val="112000"/>
              </a:lnSpc>
              <a:spcAft>
                <a:spcPts val="500"/>
              </a:spcAft>
            </a:pPr>
            <a:r>
              <a:rPr lang="en-US" sz="1400">
                <a:solidFill>
                  <a:srgbClr val="2E3B52"/>
                </a:solidFill>
                <a:latin typeface="Arial"/>
                <a:ea typeface="Arial" pitchFamily="34" charset="-122"/>
                <a:cs typeface="Arial"/>
              </a:rPr>
              <a:t>• 연산량이 </a:t>
            </a:r>
            <a:r>
              <a:rPr lang="en-US" sz="1400" err="1">
                <a:solidFill>
                  <a:srgbClr val="2E3B52"/>
                </a:solidFill>
                <a:latin typeface="Arial"/>
                <a:ea typeface="Arial" pitchFamily="34" charset="-122"/>
                <a:cs typeface="Arial"/>
              </a:rPr>
              <a:t>많은</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곳은</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정수로</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적고</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복잡한</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곳은</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float로</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처리해 자원과 정확도 관리</a:t>
            </a:r>
            <a:endParaRPr lang="ko-KR">
              <a:ea typeface="맑은 고딕"/>
              <a:cs typeface="Calibri"/>
            </a:endParaRPr>
          </a:p>
        </p:txBody>
      </p:sp>
      <p:sp>
        <p:nvSpPr>
          <p:cNvPr id="10" name="Shape 10"/>
          <p:cNvSpPr/>
          <p:nvPr/>
        </p:nvSpPr>
        <p:spPr>
          <a:xfrm>
            <a:off x="8170320" y="1524000"/>
            <a:ext cx="3600000" cy="3200400"/>
          </a:xfrm>
          <a:prstGeom prst="roundRect">
            <a:avLst>
              <a:gd name="adj" fmla="val 4348"/>
            </a:avLst>
          </a:prstGeom>
          <a:solidFill>
            <a:srgbClr val="EAF0FA"/>
          </a:solidFill>
          <a:ln/>
        </p:spPr>
      </p:sp>
      <p:sp>
        <p:nvSpPr>
          <p:cNvPr id="11" name="Text 11"/>
          <p:cNvSpPr/>
          <p:nvPr/>
        </p:nvSpPr>
        <p:spPr>
          <a:xfrm>
            <a:off x="8444640" y="1752600"/>
            <a:ext cx="3051360" cy="41148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③ 보정(Calibration)</a:t>
            </a:r>
            <a:endParaRPr lang="en-US" sz="1500"/>
          </a:p>
        </p:txBody>
      </p:sp>
      <p:sp>
        <p:nvSpPr>
          <p:cNvPr id="12" name="Text 12"/>
          <p:cNvSpPr/>
          <p:nvPr/>
        </p:nvSpPr>
        <p:spPr>
          <a:xfrm>
            <a:off x="8444640" y="2255520"/>
            <a:ext cx="3051360" cy="2240280"/>
          </a:xfrm>
          <a:prstGeom prst="rect">
            <a:avLst/>
          </a:prstGeom>
          <a:noFill/>
          <a:ln/>
        </p:spPr>
        <p:txBody>
          <a:bodyPr wrap="square" lIns="0" tIns="0" rIns="0" bIns="0" rtlCol="0" anchor="t"/>
          <a:lstStyle/>
          <a:p>
            <a:pPr>
              <a:lnSpc>
                <a:spcPct val="112000"/>
              </a:lnSpc>
              <a:spcAft>
                <a:spcPts val="500"/>
              </a:spcAft>
            </a:pP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valid_dataset</a:t>
            </a:r>
            <a:r>
              <a:rPr lang="en-US" sz="1400">
                <a:solidFill>
                  <a:srgbClr val="2E3B52"/>
                </a:solidFill>
                <a:latin typeface="Arial"/>
                <a:ea typeface="Arial" pitchFamily="34" charset="-122"/>
                <a:cs typeface="Arial"/>
              </a:rPr>
              <a:t> 114장을 </a:t>
            </a:r>
            <a:r>
              <a:rPr lang="en-US" sz="1400" err="1">
                <a:solidFill>
                  <a:srgbClr val="2E3B52"/>
                </a:solidFill>
                <a:latin typeface="Arial"/>
                <a:ea typeface="Arial" pitchFamily="34" charset="-122"/>
                <a:cs typeface="Arial"/>
              </a:rPr>
              <a:t>모델에</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통과시켜</a:t>
            </a:r>
            <a:r>
              <a:rPr lang="en-US" sz="1400">
                <a:solidFill>
                  <a:srgbClr val="2E3B52"/>
                </a:solidFill>
                <a:latin typeface="Arial"/>
                <a:ea typeface="Arial" pitchFamily="34" charset="-122"/>
                <a:cs typeface="Arial"/>
              </a:rPr>
              <a:t> 각 </a:t>
            </a:r>
            <a:r>
              <a:rPr lang="en-US" sz="1400" err="1">
                <a:solidFill>
                  <a:srgbClr val="2E3B52"/>
                </a:solidFill>
                <a:latin typeface="Arial"/>
                <a:ea typeface="Arial" pitchFamily="34" charset="-122"/>
                <a:cs typeface="Arial"/>
              </a:rPr>
              <a:t>지점의</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실제</a:t>
            </a:r>
            <a:r>
              <a:rPr lang="en-US" sz="1400">
                <a:solidFill>
                  <a:srgbClr val="2E3B52"/>
                </a:solidFill>
                <a:latin typeface="Arial"/>
                <a:ea typeface="Arial" pitchFamily="34" charset="-122"/>
                <a:cs typeface="Arial"/>
              </a:rPr>
              <a:t> 값 </a:t>
            </a:r>
            <a:r>
              <a:rPr lang="en-US" sz="1400" err="1">
                <a:solidFill>
                  <a:srgbClr val="2E3B52"/>
                </a:solidFill>
                <a:latin typeface="Arial"/>
                <a:ea typeface="Arial" pitchFamily="34" charset="-122"/>
                <a:cs typeface="Arial"/>
              </a:rPr>
              <a:t>분포를</a:t>
            </a:r>
            <a:r>
              <a:rPr lang="en-US" sz="1400">
                <a:solidFill>
                  <a:srgbClr val="2E3B52"/>
                </a:solidFill>
                <a:latin typeface="Arial"/>
                <a:ea typeface="Arial" pitchFamily="34" charset="-122"/>
                <a:cs typeface="Arial"/>
              </a:rPr>
              <a:t> </a:t>
            </a:r>
            <a:r>
              <a:rPr lang="ko-KR" altLang="en-US" sz="1400" err="1">
                <a:solidFill>
                  <a:srgbClr val="2E3B52"/>
                </a:solidFill>
                <a:latin typeface="Arial"/>
                <a:ea typeface="Arial" pitchFamily="34" charset="-122"/>
                <a:cs typeface="Arial"/>
              </a:rPr>
              <a:t>확인</a:t>
            </a:r>
            <a:endParaRPr lang="en-US" sz="1400" err="1">
              <a:solidFill>
                <a:srgbClr val="2E3B52"/>
              </a:solidFill>
              <a:latin typeface="Arial"/>
              <a:ea typeface="Arial" pitchFamily="34" charset="-122"/>
              <a:cs typeface="Arial"/>
            </a:endParaRPr>
          </a:p>
          <a:p>
            <a:pPr>
              <a:lnSpc>
                <a:spcPct val="112000"/>
              </a:lnSpc>
              <a:spcAft>
                <a:spcPts val="500"/>
              </a:spcAft>
            </a:pPr>
            <a:endParaRPr lang="en-US" sz="1400">
              <a:solidFill>
                <a:srgbClr val="2E3B52"/>
              </a:solidFill>
              <a:latin typeface="Arial"/>
              <a:ea typeface="Arial" pitchFamily="34" charset="-122"/>
              <a:cs typeface="Arial"/>
            </a:endParaRPr>
          </a:p>
          <a:p>
            <a:pPr>
              <a:lnSpc>
                <a:spcPct val="112000"/>
              </a:lnSpc>
              <a:spcAft>
                <a:spcPts val="500"/>
              </a:spcAft>
            </a:pPr>
            <a:r>
              <a:rPr lang="en-US" sz="1400">
                <a:solidFill>
                  <a:srgbClr val="2E3B52"/>
                </a:solidFill>
                <a:latin typeface="Arial"/>
                <a:ea typeface="Arial" pitchFamily="34" charset="-122"/>
                <a:cs typeface="Arial"/>
              </a:rPr>
              <a:t>• MSE(</a:t>
            </a:r>
            <a:r>
              <a:rPr lang="en-US" sz="1400" err="1">
                <a:solidFill>
                  <a:srgbClr val="2E3B52"/>
                </a:solidFill>
                <a:latin typeface="Arial"/>
                <a:ea typeface="Arial" pitchFamily="34" charset="-122"/>
                <a:cs typeface="Arial"/>
              </a:rPr>
              <a:t>평균제곱오차</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최소화</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기준으로</a:t>
            </a:r>
            <a:r>
              <a:rPr lang="en-US" sz="1400">
                <a:solidFill>
                  <a:srgbClr val="2E3B52"/>
                </a:solidFill>
                <a:latin typeface="Arial"/>
                <a:ea typeface="Arial" pitchFamily="34" charset="-122"/>
                <a:cs typeface="Arial"/>
              </a:rPr>
              <a:t> </a:t>
            </a:r>
            <a:r>
              <a:rPr lang="ko-KR" altLang="en-US" sz="1400" err="1">
                <a:solidFill>
                  <a:srgbClr val="2E3B52"/>
                </a:solidFill>
                <a:latin typeface="Arial"/>
                <a:ea typeface="Arial" pitchFamily="34" charset="-122"/>
                <a:cs typeface="Arial"/>
              </a:rPr>
              <a:t>가장</a:t>
            </a:r>
            <a:r>
              <a:rPr lang="en-US" sz="1400">
                <a:solidFill>
                  <a:srgbClr val="2E3B52"/>
                </a:solidFill>
                <a:latin typeface="Arial"/>
                <a:ea typeface="Arial" pitchFamily="34" charset="-122"/>
                <a:cs typeface="Arial"/>
              </a:rPr>
              <a:t> </a:t>
            </a:r>
            <a:r>
              <a:rPr lang="ko-KR" altLang="en-US" sz="1400" err="1">
                <a:solidFill>
                  <a:srgbClr val="2E3B52"/>
                </a:solidFill>
                <a:latin typeface="Arial"/>
                <a:ea typeface="Arial" pitchFamily="34" charset="-122"/>
                <a:cs typeface="Arial"/>
              </a:rPr>
              <a:t>오차가</a:t>
            </a:r>
            <a:r>
              <a:rPr lang="en-US" sz="1400">
                <a:solidFill>
                  <a:srgbClr val="2E3B52"/>
                </a:solidFill>
                <a:latin typeface="Arial"/>
                <a:ea typeface="Arial" pitchFamily="34" charset="-122"/>
                <a:cs typeface="Arial"/>
              </a:rPr>
              <a:t> </a:t>
            </a:r>
            <a:r>
              <a:rPr lang="ko-KR" altLang="en-US" sz="1400" err="1">
                <a:solidFill>
                  <a:srgbClr val="2E3B52"/>
                </a:solidFill>
                <a:latin typeface="Arial"/>
                <a:ea typeface="Arial" pitchFamily="34" charset="-122"/>
                <a:cs typeface="Arial"/>
              </a:rPr>
              <a:t>작은</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스케일값을 산출.</a:t>
            </a:r>
            <a:endParaRPr lang="en-US" sz="1400">
              <a:solidFill>
                <a:srgbClr val="2E3B52"/>
              </a:solidFill>
              <a:latin typeface="Arial"/>
              <a:ea typeface="Arial" pitchFamily="34" charset="-122"/>
              <a:cs typeface="Arial"/>
            </a:endParaRPr>
          </a:p>
        </p:txBody>
      </p:sp>
    </p:spTree>
    <p:extLst>
      <p:ext uri="{BB962C8B-B14F-4D97-AF65-F5344CB8AC3E}">
        <p14:creationId xmlns:p14="http://schemas.microsoft.com/office/powerpoint/2010/main" val="2188732261"/>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47987CF-BCCF-AA57-D98F-6D10A23C5F5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ED5508-96B2-23F9-005C-F5FB46E01966}"/>
              </a:ext>
            </a:extLst>
          </p:cNvPr>
          <p:cNvSpPr/>
          <p:nvPr/>
        </p:nvSpPr>
        <p:spPr>
          <a:xfrm>
            <a:off x="547208" y="3017196"/>
            <a:ext cx="11094415" cy="822960"/>
          </a:xfrm>
          <a:prstGeom prst="rect">
            <a:avLst/>
          </a:prstGeom>
          <a:noFill/>
          <a:ln/>
        </p:spPr>
        <p:txBody>
          <a:bodyPr wrap="square" lIns="0" tIns="0" rIns="0" bIns="0" rtlCol="0" anchor="ctr"/>
          <a:lstStyle/>
          <a:p>
            <a:pPr algn="ctr"/>
            <a:r>
              <a:rPr lang="ko-KR" altLang="en-US" sz="5400" b="1">
                <a:solidFill>
                  <a:srgbClr val="1F3B66"/>
                </a:solidFill>
                <a:latin typeface="Arial"/>
                <a:ea typeface="맑은 고딕"/>
                <a:cs typeface="Arial"/>
              </a:rPr>
              <a:t>3. </a:t>
            </a:r>
            <a:r>
              <a:rPr lang="ko-KR" sz="5400" b="1">
                <a:solidFill>
                  <a:srgbClr val="1F3B66"/>
                </a:solidFill>
                <a:latin typeface="Arial"/>
                <a:ea typeface="+mn-lt"/>
                <a:cs typeface="Arial"/>
              </a:rPr>
              <a:t>IP 최적화 기법</a:t>
            </a:r>
            <a:endParaRPr lang="ko-KR" altLang="en-US" sz="5400" b="1">
              <a:solidFill>
                <a:srgbClr val="1F3B66"/>
              </a:solidFill>
              <a:latin typeface="Arial"/>
              <a:ea typeface="맑은 고딕"/>
              <a:cs typeface="Arial"/>
            </a:endParaRPr>
          </a:p>
        </p:txBody>
      </p:sp>
    </p:spTree>
    <p:extLst>
      <p:ext uri="{BB962C8B-B14F-4D97-AF65-F5344CB8AC3E}">
        <p14:creationId xmlns:p14="http://schemas.microsoft.com/office/powerpoint/2010/main" val="4140148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7295" cy="502920"/>
          </a:xfrm>
          <a:prstGeom prst="rect">
            <a:avLst/>
          </a:prstGeom>
          <a:noFill/>
          <a:ln/>
        </p:spPr>
        <p:txBody>
          <a:bodyPr wrap="square" lIns="0" tIns="0" rIns="0" bIns="0" rtlCol="0" anchor="ctr"/>
          <a:lstStyle/>
          <a:p>
            <a:pPr marL="0" indent="0" algn="ctr">
              <a:buNone/>
            </a:pPr>
            <a:r>
              <a:rPr lang="en-US" sz="2600" b="1">
                <a:solidFill>
                  <a:srgbClr val="1F3B66"/>
                </a:solidFill>
                <a:latin typeface="Arial" pitchFamily="34" charset="0"/>
                <a:ea typeface="Arial" pitchFamily="34" charset="-122"/>
                <a:cs typeface="Arial" pitchFamily="34" charset="-120"/>
              </a:rPr>
              <a:t>Self-counting (call_counter)</a:t>
            </a:r>
            <a:endParaRPr lang="en-US" sz="2600"/>
          </a:p>
        </p:txBody>
      </p:sp>
      <p:sp>
        <p:nvSpPr>
          <p:cNvPr id="3" name="Text 1"/>
          <p:cNvSpPr/>
          <p:nvPr/>
        </p:nvSpPr>
        <p:spPr>
          <a:xfrm>
            <a:off x="640080" y="868680"/>
            <a:ext cx="10911535" cy="411480"/>
          </a:xfrm>
          <a:prstGeom prst="rect">
            <a:avLst/>
          </a:prstGeom>
          <a:noFill/>
          <a:ln/>
        </p:spPr>
        <p:txBody>
          <a:bodyPr wrap="square" lIns="0" tIns="0" rIns="0" bIns="0" rtlCol="0" anchor="ctr"/>
          <a:lstStyle/>
          <a:p>
            <a:pPr marL="0" indent="0" algn="ctr">
              <a:buNone/>
            </a:pPr>
            <a:r>
              <a:rPr lang="en-US" sz="1250">
                <a:solidFill>
                  <a:srgbClr val="2E3B52"/>
                </a:solidFill>
                <a:latin typeface="Arial" pitchFamily="34" charset="0"/>
                <a:ea typeface="Arial" pitchFamily="34" charset="-122"/>
                <a:cs typeface="Arial" pitchFamily="34" charset="-120"/>
              </a:rPr>
              <a:t>재사용되는 IP가 "지금 몇 번째 호출인지" PS 대신 스스로 판단하는 방식</a:t>
            </a:r>
            <a:endParaRPr lang="en-US" sz="1250"/>
          </a:p>
        </p:txBody>
      </p:sp>
      <p:sp>
        <p:nvSpPr>
          <p:cNvPr id="4" name="Shape 4"/>
          <p:cNvSpPr/>
          <p:nvPr/>
        </p:nvSpPr>
        <p:spPr>
          <a:xfrm>
            <a:off x="640080" y="1470660"/>
            <a:ext cx="5318760" cy="3474720"/>
          </a:xfrm>
          <a:prstGeom prst="roundRect">
            <a:avLst>
              <a:gd name="adj" fmla="val 4348"/>
            </a:avLst>
          </a:prstGeom>
          <a:solidFill>
            <a:srgbClr val="EAF0FA"/>
          </a:solidFill>
          <a:ln/>
        </p:spPr>
      </p:sp>
      <p:sp>
        <p:nvSpPr>
          <p:cNvPr id="5" name="Text 5"/>
          <p:cNvSpPr/>
          <p:nvPr/>
        </p:nvSpPr>
        <p:spPr>
          <a:xfrm>
            <a:off x="960120" y="1699260"/>
            <a:ext cx="4678680" cy="365760"/>
          </a:xfrm>
          <a:prstGeom prst="rect">
            <a:avLst/>
          </a:prstGeom>
          <a:noFill/>
          <a:ln/>
        </p:spPr>
        <p:txBody>
          <a:bodyPr wrap="square" lIns="0" tIns="0" rIns="0" bIns="0" rtlCol="0" anchor="ctr"/>
          <a:lstStyle/>
          <a:p>
            <a:pPr marL="0" indent="0" algn="l">
              <a:buNone/>
            </a:pPr>
            <a:r>
              <a:rPr lang="en-US" b="1">
                <a:solidFill>
                  <a:srgbClr val="1F3B66"/>
                </a:solidFill>
                <a:latin typeface="Arial"/>
                <a:ea typeface="Arial" pitchFamily="34" charset="-122"/>
                <a:cs typeface="Arial"/>
              </a:rPr>
              <a:t>왜 </a:t>
            </a:r>
            <a:r>
              <a:rPr lang="en-US" b="1" err="1">
                <a:solidFill>
                  <a:srgbClr val="1F3B66"/>
                </a:solidFill>
                <a:latin typeface="Arial"/>
                <a:ea typeface="Arial" pitchFamily="34" charset="-122"/>
                <a:cs typeface="Arial"/>
              </a:rPr>
              <a:t>필요했나</a:t>
            </a:r>
            <a:endParaRPr lang="en-US" err="1">
              <a:latin typeface="Arial"/>
              <a:ea typeface="Calibri"/>
              <a:cs typeface="Arial"/>
            </a:endParaRPr>
          </a:p>
        </p:txBody>
      </p:sp>
      <p:sp>
        <p:nvSpPr>
          <p:cNvPr id="6" name="Text 6"/>
          <p:cNvSpPr/>
          <p:nvPr/>
        </p:nvSpPr>
        <p:spPr>
          <a:xfrm>
            <a:off x="960120" y="2156460"/>
            <a:ext cx="4678680" cy="2560320"/>
          </a:xfrm>
          <a:prstGeom prst="rect">
            <a:avLst/>
          </a:prstGeom>
          <a:noFill/>
          <a:ln/>
        </p:spPr>
        <p:txBody>
          <a:bodyPr wrap="square" lIns="0" tIns="0" rIns="0" bIns="0" rtlCol="0" anchor="t"/>
          <a:lstStyle/>
          <a:p>
            <a:pPr>
              <a:lnSpc>
                <a:spcPct val="118000"/>
              </a:lnSpc>
              <a:spcAft>
                <a:spcPts val="700"/>
              </a:spcAft>
            </a:pPr>
            <a:r>
              <a:rPr lang="en-US" sz="1400">
                <a:solidFill>
                  <a:srgbClr val="2E3B52"/>
                </a:solidFill>
                <a:latin typeface="Arial"/>
                <a:ea typeface="Calibri" panose="020F0502020204030204"/>
                <a:cs typeface="Arial"/>
              </a:rPr>
              <a:t>• </a:t>
            </a:r>
            <a:r>
              <a:rPr lang="en-US" altLang="ko-KR" sz="1400" err="1">
                <a:solidFill>
                  <a:srgbClr val="2E3B52"/>
                </a:solidFill>
                <a:latin typeface="Arial"/>
                <a:ea typeface="+mn-lt"/>
                <a:cs typeface="Arial"/>
              </a:rPr>
              <a:t>Router는</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특정</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IP에게</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무엇을</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보낼지</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결정</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하였지만</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HW시작은</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IP자신이</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스스로하며</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어떤</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파라미터를</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쓸지도</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스스로</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결정</a:t>
            </a:r>
          </a:p>
          <a:p>
            <a:pPr>
              <a:lnSpc>
                <a:spcPct val="118000"/>
              </a:lnSpc>
              <a:spcAft>
                <a:spcPts val="700"/>
              </a:spcAft>
            </a:pPr>
            <a:endParaRPr lang="en-US" altLang="ko-KR" sz="1400">
              <a:solidFill>
                <a:srgbClr val="2E3B52"/>
              </a:solidFill>
              <a:latin typeface="Arial"/>
              <a:ea typeface="Calibri"/>
              <a:cs typeface="Arial"/>
            </a:endParaRPr>
          </a:p>
          <a:p>
            <a:pPr>
              <a:lnSpc>
                <a:spcPct val="118000"/>
              </a:lnSpc>
              <a:spcAft>
                <a:spcPts val="700"/>
              </a:spcAft>
            </a:pPr>
            <a:r>
              <a:rPr lang="en-US" sz="1400">
                <a:solidFill>
                  <a:srgbClr val="2E3B52"/>
                </a:solidFill>
                <a:latin typeface="Arial"/>
                <a:ea typeface="Calibri"/>
                <a:cs typeface="Arial"/>
              </a:rPr>
              <a:t>• Auto Restart</a:t>
            </a:r>
            <a:r>
              <a:rPr lang="ko-KR" altLang="en-US" sz="1400">
                <a:solidFill>
                  <a:srgbClr val="2E3B52"/>
                </a:solidFill>
                <a:latin typeface="Arial"/>
                <a:ea typeface="Calibri"/>
                <a:cs typeface="Arial"/>
              </a:rPr>
              <a:t>로 </a:t>
            </a:r>
            <a:r>
              <a:rPr lang="en-US" sz="1400">
                <a:solidFill>
                  <a:srgbClr val="2E3B52"/>
                </a:solidFill>
                <a:latin typeface="Arial"/>
                <a:ea typeface="Calibri"/>
                <a:cs typeface="Arial"/>
              </a:rPr>
              <a:t>PS</a:t>
            </a:r>
            <a:r>
              <a:rPr lang="en-US" altLang="ko-KR" sz="1400">
                <a:solidFill>
                  <a:srgbClr val="2E3B52"/>
                </a:solidFill>
                <a:latin typeface="Arial"/>
                <a:ea typeface="Calibri"/>
                <a:cs typeface="Arial"/>
              </a:rPr>
              <a:t> </a:t>
            </a:r>
            <a:r>
              <a:rPr lang="ko-KR" altLang="en-US" sz="1400">
                <a:solidFill>
                  <a:srgbClr val="2E3B52"/>
                </a:solidFill>
                <a:latin typeface="Arial"/>
                <a:ea typeface="Calibri"/>
                <a:cs typeface="Arial"/>
              </a:rPr>
              <a:t>없이도</a:t>
            </a:r>
            <a:r>
              <a:rPr lang="en-US" altLang="ko-KR" sz="1400">
                <a:solidFill>
                  <a:srgbClr val="2E3B52"/>
                </a:solidFill>
                <a:latin typeface="Arial"/>
                <a:ea typeface="Calibri"/>
                <a:cs typeface="Arial"/>
              </a:rPr>
              <a:t> </a:t>
            </a:r>
            <a:r>
              <a:rPr lang="ko-KR" altLang="en-US" sz="1400">
                <a:solidFill>
                  <a:srgbClr val="2E3B52"/>
                </a:solidFill>
                <a:latin typeface="Arial"/>
                <a:ea typeface="Calibri"/>
                <a:cs typeface="Arial"/>
              </a:rPr>
              <a:t>스트림</a:t>
            </a:r>
            <a:r>
              <a:rPr lang="en-US" altLang="ko-KR" sz="1400">
                <a:solidFill>
                  <a:srgbClr val="2E3B52"/>
                </a:solidFill>
                <a:latin typeface="Arial"/>
                <a:ea typeface="Calibri"/>
                <a:cs typeface="Arial"/>
              </a:rPr>
              <a:t> </a:t>
            </a:r>
            <a:r>
              <a:rPr lang="ko-KR" altLang="en-US" sz="1400">
                <a:solidFill>
                  <a:srgbClr val="2E3B52"/>
                </a:solidFill>
                <a:latin typeface="Arial"/>
                <a:ea typeface="Calibri"/>
                <a:cs typeface="Arial"/>
              </a:rPr>
              <a:t>도착</a:t>
            </a:r>
            <a:r>
              <a:rPr lang="en-US" altLang="ko-KR" sz="1400">
                <a:solidFill>
                  <a:srgbClr val="2E3B52"/>
                </a:solidFill>
                <a:latin typeface="Arial"/>
                <a:ea typeface="Calibri"/>
                <a:cs typeface="Arial"/>
              </a:rPr>
              <a:t> </a:t>
            </a:r>
            <a:r>
              <a:rPr lang="ko-KR" altLang="en-US" sz="1400">
                <a:solidFill>
                  <a:srgbClr val="2E3B52"/>
                </a:solidFill>
                <a:latin typeface="Arial"/>
                <a:ea typeface="Calibri"/>
                <a:cs typeface="Arial"/>
              </a:rPr>
              <a:t>시</a:t>
            </a:r>
            <a:r>
              <a:rPr lang="en-US" altLang="ko-KR" sz="1400">
                <a:solidFill>
                  <a:srgbClr val="2E3B52"/>
                </a:solidFill>
                <a:latin typeface="Arial"/>
                <a:ea typeface="Calibri"/>
                <a:cs typeface="Arial"/>
              </a:rPr>
              <a:t> </a:t>
            </a:r>
            <a:r>
              <a:rPr lang="ko-KR" altLang="en-US" sz="1400">
                <a:solidFill>
                  <a:srgbClr val="2E3B52"/>
                </a:solidFill>
                <a:latin typeface="Arial"/>
                <a:ea typeface="Calibri"/>
                <a:cs typeface="Arial"/>
              </a:rPr>
              <a:t>자동</a:t>
            </a:r>
            <a:r>
              <a:rPr lang="en-US" altLang="ko-KR" sz="1400">
                <a:solidFill>
                  <a:srgbClr val="2E3B52"/>
                </a:solidFill>
                <a:latin typeface="Arial"/>
                <a:ea typeface="Calibri"/>
                <a:cs typeface="Arial"/>
              </a:rPr>
              <a:t> </a:t>
            </a:r>
            <a:r>
              <a:rPr lang="ko-KR" altLang="en-US" sz="1400">
                <a:solidFill>
                  <a:srgbClr val="2E3B52"/>
                </a:solidFill>
                <a:latin typeface="Arial"/>
                <a:ea typeface="맑은 고딕"/>
                <a:cs typeface="Arial"/>
              </a:rPr>
              <a:t>재시작하기 위함</a:t>
            </a:r>
            <a:endParaRPr lang="en-US" sz="1400">
              <a:latin typeface="Arial"/>
              <a:ea typeface="Calibri"/>
              <a:cs typeface="Arial"/>
            </a:endParaRPr>
          </a:p>
        </p:txBody>
      </p:sp>
      <p:sp>
        <p:nvSpPr>
          <p:cNvPr id="7" name="Shape 7"/>
          <p:cNvSpPr/>
          <p:nvPr/>
        </p:nvSpPr>
        <p:spPr>
          <a:xfrm>
            <a:off x="6233160" y="1470660"/>
            <a:ext cx="5318760" cy="3474720"/>
          </a:xfrm>
          <a:prstGeom prst="roundRect">
            <a:avLst>
              <a:gd name="adj" fmla="val 4348"/>
            </a:avLst>
          </a:prstGeom>
          <a:solidFill>
            <a:srgbClr val="EAF0FA"/>
          </a:solidFill>
          <a:ln/>
        </p:spPr>
      </p:sp>
      <p:sp>
        <p:nvSpPr>
          <p:cNvPr id="8" name="Text 8"/>
          <p:cNvSpPr/>
          <p:nvPr/>
        </p:nvSpPr>
        <p:spPr>
          <a:xfrm>
            <a:off x="6553200" y="1699260"/>
            <a:ext cx="4678680" cy="365760"/>
          </a:xfrm>
          <a:prstGeom prst="rect">
            <a:avLst/>
          </a:prstGeom>
          <a:noFill/>
          <a:ln/>
        </p:spPr>
        <p:txBody>
          <a:bodyPr wrap="square" lIns="0" tIns="0" rIns="0" bIns="0" rtlCol="0" anchor="ctr"/>
          <a:lstStyle/>
          <a:p>
            <a:pPr marL="0" indent="0" algn="l">
              <a:buNone/>
            </a:pPr>
            <a:r>
              <a:rPr lang="en-US" b="1" err="1">
                <a:solidFill>
                  <a:srgbClr val="1F3B66"/>
                </a:solidFill>
                <a:latin typeface="Arial"/>
                <a:ea typeface="Arial" pitchFamily="34" charset="-122"/>
                <a:cs typeface="Arial"/>
              </a:rPr>
              <a:t>적용</a:t>
            </a:r>
            <a:r>
              <a:rPr lang="en-US" b="1">
                <a:solidFill>
                  <a:srgbClr val="1F3B66"/>
                </a:solidFill>
                <a:latin typeface="Arial"/>
                <a:ea typeface="Arial" pitchFamily="34" charset="-122"/>
                <a:cs typeface="Arial"/>
              </a:rPr>
              <a:t> </a:t>
            </a:r>
            <a:r>
              <a:rPr lang="en-US" b="1" err="1">
                <a:solidFill>
                  <a:srgbClr val="1F3B66"/>
                </a:solidFill>
                <a:latin typeface="Arial"/>
                <a:ea typeface="Arial" pitchFamily="34" charset="-122"/>
                <a:cs typeface="Arial"/>
              </a:rPr>
              <a:t>방식</a:t>
            </a:r>
            <a:r>
              <a:rPr lang="en-US" b="1">
                <a:solidFill>
                  <a:srgbClr val="1F3B66"/>
                </a:solidFill>
                <a:latin typeface="Arial"/>
                <a:ea typeface="Arial" pitchFamily="34" charset="-122"/>
                <a:cs typeface="Arial"/>
              </a:rPr>
              <a:t> &amp; </a:t>
            </a:r>
            <a:r>
              <a:rPr lang="en-US" b="1" err="1">
                <a:solidFill>
                  <a:srgbClr val="1F3B66"/>
                </a:solidFill>
                <a:latin typeface="Arial"/>
                <a:ea typeface="Arial" pitchFamily="34" charset="-122"/>
                <a:cs typeface="Arial"/>
              </a:rPr>
              <a:t>효과</a:t>
            </a:r>
            <a:endParaRPr lang="en-US" err="1">
              <a:latin typeface="Arial"/>
              <a:ea typeface="Calibri"/>
              <a:cs typeface="Arial"/>
            </a:endParaRPr>
          </a:p>
        </p:txBody>
      </p:sp>
      <p:sp>
        <p:nvSpPr>
          <p:cNvPr id="9" name="Text 9"/>
          <p:cNvSpPr/>
          <p:nvPr/>
        </p:nvSpPr>
        <p:spPr>
          <a:xfrm>
            <a:off x="6553200" y="2156460"/>
            <a:ext cx="4678680" cy="2194560"/>
          </a:xfrm>
          <a:prstGeom prst="rect">
            <a:avLst/>
          </a:prstGeom>
          <a:noFill/>
          <a:ln/>
        </p:spPr>
        <p:txBody>
          <a:bodyPr wrap="square" lIns="0" tIns="0" rIns="0" bIns="0" rtlCol="0" anchor="t"/>
          <a:lstStyle/>
          <a:p>
            <a:pPr>
              <a:lnSpc>
                <a:spcPct val="118000"/>
              </a:lnSpc>
              <a:spcAft>
                <a:spcPts val="700"/>
              </a:spcAft>
            </a:pP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파라미터(가중치 OR 스케일 값)를</a:t>
            </a:r>
            <a:r>
              <a:rPr lang="en-US" sz="1400">
                <a:solidFill>
                  <a:srgbClr val="2E3B52"/>
                </a:solidFill>
                <a:latin typeface="Arial"/>
                <a:ea typeface="Arial" pitchFamily="34" charset="-122"/>
                <a:cs typeface="Arial"/>
              </a:rPr>
              <a:t> 한 </a:t>
            </a:r>
            <a:r>
              <a:rPr lang="ko-KR" altLang="en-US" sz="1400">
                <a:solidFill>
                  <a:srgbClr val="2E3B52"/>
                </a:solidFill>
                <a:latin typeface="Arial"/>
                <a:ea typeface="Arial" pitchFamily="34" charset="-122"/>
                <a:cs typeface="Arial"/>
              </a:rPr>
              <a:t>번</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로드 </a:t>
            </a:r>
            <a:r>
              <a:rPr lang="en-US" sz="1400" err="1">
                <a:solidFill>
                  <a:srgbClr val="2E3B52"/>
                </a:solidFill>
                <a:latin typeface="Arial"/>
                <a:ea typeface="Arial" pitchFamily="34" charset="-122"/>
                <a:cs typeface="Arial"/>
              </a:rPr>
              <a:t>하면</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이후로는</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개입이</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전혀</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필요</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없음</a:t>
            </a:r>
            <a:endParaRPr lang="en-US" sz="1400">
              <a:solidFill>
                <a:srgbClr val="2E3B52"/>
              </a:solidFill>
              <a:latin typeface="Arial"/>
              <a:ea typeface="Arial" pitchFamily="34" charset="-122"/>
              <a:cs typeface="Arial"/>
            </a:endParaRPr>
          </a:p>
          <a:p>
            <a:endParaRPr lang="en-US" sz="1400">
              <a:solidFill>
                <a:srgbClr val="2E3B52"/>
              </a:solidFill>
              <a:latin typeface="Arial"/>
              <a:ea typeface="Arial" pitchFamily="34" charset="-122"/>
              <a:cs typeface="Arial"/>
            </a:endParaRPr>
          </a:p>
          <a:p>
            <a:r>
              <a:rPr lang="en-US" sz="1400">
                <a:solidFill>
                  <a:srgbClr val="2E3B52"/>
                </a:solidFill>
                <a:latin typeface="Arial"/>
                <a:ea typeface="Arial" pitchFamily="34" charset="-122"/>
                <a:cs typeface="Arial"/>
              </a:rPr>
              <a:t>•</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각각의</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파라미터</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값들은</a:t>
            </a:r>
            <a:r>
              <a:rPr lang="en-US" sz="1400">
                <a:solidFill>
                  <a:srgbClr val="2E3B52"/>
                </a:solidFill>
                <a:latin typeface="Arial"/>
                <a:ea typeface="Arial" pitchFamily="34" charset="-122"/>
                <a:cs typeface="Arial"/>
              </a:rPr>
              <a:t> block memory generator</a:t>
            </a:r>
            <a:r>
              <a:rPr lang="ko-KR" altLang="en-US" sz="1400">
                <a:solidFill>
                  <a:srgbClr val="2E3B52"/>
                </a:solidFill>
                <a:latin typeface="Arial"/>
                <a:ea typeface="Arial" pitchFamily="34" charset="-122"/>
                <a:cs typeface="Arial"/>
              </a:rPr>
              <a:t>로</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일일이</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넣어줌</a:t>
            </a:r>
            <a:endParaRPr lang="en-US" sz="1400">
              <a:solidFill>
                <a:srgbClr val="000000"/>
              </a:solidFill>
              <a:latin typeface="Arial"/>
              <a:ea typeface="Arial" pitchFamily="34" charset="-122"/>
              <a:cs typeface="Arial"/>
            </a:endParaRPr>
          </a:p>
          <a:p>
            <a:pPr>
              <a:lnSpc>
                <a:spcPct val="118000"/>
              </a:lnSpc>
              <a:spcAft>
                <a:spcPts val="700"/>
              </a:spcAft>
            </a:pPr>
            <a:endParaRPr lang="en-US" sz="1400">
              <a:solidFill>
                <a:srgbClr val="2E3B52"/>
              </a:solidFill>
              <a:latin typeface="Arial"/>
              <a:ea typeface="Arial" pitchFamily="34" charset="-122"/>
              <a:cs typeface="Arial"/>
            </a:endParaRPr>
          </a:p>
          <a:p>
            <a:pPr>
              <a:lnSpc>
                <a:spcPct val="118000"/>
              </a:lnSpc>
              <a:spcAft>
                <a:spcPts val="700"/>
              </a:spcAft>
            </a:pP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가중치</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파일과</a:t>
            </a:r>
            <a:r>
              <a:rPr lang="en-US" sz="1400">
                <a:solidFill>
                  <a:srgbClr val="2E3B52"/>
                </a:solidFill>
                <a:latin typeface="Arial"/>
                <a:ea typeface="Arial" pitchFamily="34" charset="-122"/>
                <a:cs typeface="Arial"/>
              </a:rPr>
              <a:t> valid dataset</a:t>
            </a:r>
            <a:r>
              <a:rPr lang="ko-KR" altLang="en-US" sz="1400">
                <a:solidFill>
                  <a:srgbClr val="2E3B52"/>
                </a:solidFill>
                <a:latin typeface="Arial"/>
                <a:ea typeface="Arial" pitchFamily="34" charset="-122"/>
                <a:cs typeface="Arial"/>
              </a:rPr>
              <a:t>에서</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얻은 여러개의</a:t>
            </a:r>
            <a:r>
              <a:rPr lang="en-US" sz="1400">
                <a:solidFill>
                  <a:srgbClr val="2E3B52"/>
                </a:solidFill>
                <a:latin typeface="Arial"/>
                <a:ea typeface="Calibri"/>
                <a:cs typeface="Arial"/>
              </a:rPr>
              <a:t> </a:t>
            </a:r>
            <a:r>
              <a:rPr lang="ko-KR" altLang="en-US" sz="1400">
                <a:solidFill>
                  <a:srgbClr val="2E3B52"/>
                </a:solidFill>
                <a:latin typeface="Arial"/>
                <a:ea typeface="Arial" pitchFamily="34" charset="-122"/>
                <a:cs typeface="Arial"/>
              </a:rPr>
              <a:t>파라미터값</a:t>
            </a:r>
            <a:r>
              <a:rPr lang="en-US" sz="1400">
                <a:solidFill>
                  <a:srgbClr val="2E3B52"/>
                </a:solidFill>
                <a:latin typeface="Arial"/>
                <a:ea typeface="Calibri"/>
                <a:cs typeface="Arial"/>
              </a:rPr>
              <a:t>(weight, scale)</a:t>
            </a:r>
            <a:r>
              <a:rPr lang="ko-KR" altLang="en-US" sz="1400">
                <a:solidFill>
                  <a:srgbClr val="2E3B52"/>
                </a:solidFill>
                <a:latin typeface="Arial"/>
                <a:ea typeface="Arial" pitchFamily="34" charset="-122"/>
                <a:cs typeface="Arial"/>
              </a:rPr>
              <a:t>을</a:t>
            </a:r>
            <a:r>
              <a:rPr lang="en-US" sz="1400">
                <a:solidFill>
                  <a:srgbClr val="2E3B52"/>
                </a:solidFill>
                <a:latin typeface="Arial"/>
                <a:ea typeface="Calibri"/>
                <a:cs typeface="Arial"/>
              </a:rPr>
              <a:t> </a:t>
            </a:r>
            <a:r>
              <a:rPr lang="ko-KR" altLang="en-US" sz="1400">
                <a:solidFill>
                  <a:srgbClr val="2E3B52"/>
                </a:solidFill>
                <a:latin typeface="Arial"/>
                <a:ea typeface="Arial" pitchFamily="34" charset="-122"/>
                <a:cs typeface="Arial"/>
              </a:rPr>
              <a:t>이용함</a:t>
            </a:r>
            <a:r>
              <a:rPr lang="en-US" sz="1400">
                <a:solidFill>
                  <a:srgbClr val="2E3B52"/>
                </a:solidFill>
                <a:latin typeface="Arial"/>
                <a:ea typeface="Calibri"/>
                <a:cs typeface="Arial"/>
              </a:rPr>
              <a:t>.</a:t>
            </a:r>
            <a:endParaRPr lang="en-US" sz="1400">
              <a:latin typeface="Arial"/>
              <a:ea typeface="Calibri"/>
              <a:cs typeface="Arial"/>
            </a:endParaRPr>
          </a:p>
        </p:txBody>
      </p:sp>
      <p:sp>
        <p:nvSpPr>
          <p:cNvPr id="10" name="Text 10"/>
          <p:cNvSpPr/>
          <p:nvPr/>
        </p:nvSpPr>
        <p:spPr>
          <a:xfrm>
            <a:off x="6553200" y="4442460"/>
            <a:ext cx="4678680" cy="411480"/>
          </a:xfrm>
          <a:prstGeom prst="rect">
            <a:avLst/>
          </a:prstGeom>
          <a:noFill/>
          <a:ln/>
        </p:spPr>
        <p:txBody>
          <a:bodyPr wrap="square" lIns="0" tIns="0" rIns="0" bIns="0" rtlCol="0" anchor="b"/>
          <a:lstStyle/>
          <a:p>
            <a:pPr marL="0" indent="0" algn="l">
              <a:buNone/>
            </a:pPr>
            <a:r>
              <a:rPr lang="en-US" sz="1050" b="1">
                <a:solidFill>
                  <a:srgbClr val="8A929E"/>
                </a:solidFill>
                <a:latin typeface="Arial" pitchFamily="34" charset="0"/>
                <a:ea typeface="Arial" pitchFamily="34" charset="-122"/>
                <a:cs typeface="Arial" pitchFamily="34" charset="-120"/>
              </a:rPr>
              <a:t>적용: </a:t>
            </a:r>
            <a:r>
              <a:rPr lang="en-US" sz="1050">
                <a:solidFill>
                  <a:srgbClr val="8A929E"/>
                </a:solidFill>
                <a:latin typeface="Arial" pitchFamily="34" charset="0"/>
                <a:ea typeface="Arial" pitchFamily="34" charset="-122"/>
                <a:cs typeface="Arial" pitchFamily="34" charset="-120"/>
              </a:rPr>
              <a:t>conv3x3 (×4) · bn_silu_64 (×4) · bn_silu_128 (×2) · residual_add (×2)</a:t>
            </a:r>
            <a:endParaRPr lang="en-US" sz="1050"/>
          </a:p>
        </p:txBody>
      </p:sp>
    </p:spTree>
    <p:extLst>
      <p:ext uri="{BB962C8B-B14F-4D97-AF65-F5344CB8AC3E}">
        <p14:creationId xmlns:p14="http://schemas.microsoft.com/office/powerpoint/2010/main" val="970681367"/>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7295" cy="502920"/>
          </a:xfrm>
          <a:prstGeom prst="rect">
            <a:avLst/>
          </a:prstGeom>
          <a:noFill/>
          <a:ln/>
        </p:spPr>
        <p:txBody>
          <a:bodyPr wrap="square" lIns="0" tIns="0" rIns="0" bIns="0" rtlCol="0" anchor="ctr"/>
          <a:lstStyle/>
          <a:p>
            <a:pPr marL="0" indent="0" algn="ctr">
              <a:buNone/>
            </a:pPr>
            <a:r>
              <a:rPr lang="en-US" sz="2600" b="1">
                <a:solidFill>
                  <a:srgbClr val="1F3B66"/>
                </a:solidFill>
                <a:latin typeface="Arial" pitchFamily="34" charset="0"/>
                <a:ea typeface="Arial" pitchFamily="34" charset="-122"/>
                <a:cs typeface="Arial" pitchFamily="34" charset="-120"/>
              </a:rPr>
              <a:t>더블 버퍼링 (Double Buffering)</a:t>
            </a:r>
            <a:endParaRPr lang="en-US" sz="2600"/>
          </a:p>
        </p:txBody>
      </p:sp>
      <p:sp>
        <p:nvSpPr>
          <p:cNvPr id="3" name="Text 1"/>
          <p:cNvSpPr/>
          <p:nvPr/>
        </p:nvSpPr>
        <p:spPr>
          <a:xfrm>
            <a:off x="640080" y="868680"/>
            <a:ext cx="10911535" cy="411480"/>
          </a:xfrm>
          <a:prstGeom prst="rect">
            <a:avLst/>
          </a:prstGeom>
          <a:noFill/>
          <a:ln/>
        </p:spPr>
        <p:txBody>
          <a:bodyPr wrap="square" lIns="0" tIns="0" rIns="0" bIns="0" rtlCol="0" anchor="ctr"/>
          <a:lstStyle/>
          <a:p>
            <a:pPr marL="0" indent="0" algn="ctr">
              <a:buNone/>
            </a:pPr>
            <a:r>
              <a:rPr lang="en-US" sz="1250">
                <a:solidFill>
                  <a:srgbClr val="2E3B52"/>
                </a:solidFill>
                <a:latin typeface="Arial" pitchFamily="34" charset="0"/>
                <a:ea typeface="Arial" pitchFamily="34" charset="-122"/>
                <a:cs typeface="Arial" pitchFamily="34" charset="-120"/>
              </a:rPr>
              <a:t>매 사이클 끊김 없이(II=1) 처리하기 위해 버퍼를 2개로 번갈아 쓰는 방식</a:t>
            </a:r>
            <a:endParaRPr lang="en-US" sz="1250"/>
          </a:p>
        </p:txBody>
      </p:sp>
      <p:sp>
        <p:nvSpPr>
          <p:cNvPr id="4" name="Shape 4"/>
          <p:cNvSpPr/>
          <p:nvPr/>
        </p:nvSpPr>
        <p:spPr>
          <a:xfrm>
            <a:off x="640080" y="1470660"/>
            <a:ext cx="5318760" cy="3474720"/>
          </a:xfrm>
          <a:prstGeom prst="roundRect">
            <a:avLst>
              <a:gd name="adj" fmla="val 4348"/>
            </a:avLst>
          </a:prstGeom>
          <a:solidFill>
            <a:srgbClr val="EAF0FA"/>
          </a:solidFill>
          <a:ln/>
        </p:spPr>
      </p:sp>
      <p:sp>
        <p:nvSpPr>
          <p:cNvPr id="5" name="Text 5"/>
          <p:cNvSpPr/>
          <p:nvPr/>
        </p:nvSpPr>
        <p:spPr>
          <a:xfrm>
            <a:off x="960120" y="1699260"/>
            <a:ext cx="4678680" cy="365760"/>
          </a:xfrm>
          <a:prstGeom prst="rect">
            <a:avLst/>
          </a:prstGeom>
          <a:noFill/>
          <a:ln/>
        </p:spPr>
        <p:txBody>
          <a:bodyPr wrap="square" lIns="0" tIns="0" rIns="0" bIns="0" rtlCol="0" anchor="ctr"/>
          <a:lstStyle/>
          <a:p>
            <a:pPr marL="0" indent="0" algn="l">
              <a:buNone/>
            </a:pPr>
            <a:r>
              <a:rPr lang="en-US" b="1">
                <a:solidFill>
                  <a:srgbClr val="1F3B66"/>
                </a:solidFill>
                <a:latin typeface="Arial"/>
                <a:ea typeface="Arial" pitchFamily="34" charset="-122"/>
                <a:cs typeface="Arial"/>
              </a:rPr>
              <a:t>왜 </a:t>
            </a:r>
            <a:r>
              <a:rPr lang="en-US" b="1" err="1">
                <a:solidFill>
                  <a:srgbClr val="1F3B66"/>
                </a:solidFill>
                <a:latin typeface="Arial"/>
                <a:ea typeface="Arial" pitchFamily="34" charset="-122"/>
                <a:cs typeface="Arial"/>
              </a:rPr>
              <a:t>필요했나</a:t>
            </a:r>
            <a:endParaRPr lang="en-US" err="1">
              <a:latin typeface="Arial"/>
              <a:ea typeface="Calibri"/>
              <a:cs typeface="Arial"/>
            </a:endParaRPr>
          </a:p>
        </p:txBody>
      </p:sp>
      <p:sp>
        <p:nvSpPr>
          <p:cNvPr id="6" name="Text 6"/>
          <p:cNvSpPr/>
          <p:nvPr/>
        </p:nvSpPr>
        <p:spPr>
          <a:xfrm>
            <a:off x="960120" y="2156460"/>
            <a:ext cx="4678680" cy="2560320"/>
          </a:xfrm>
          <a:prstGeom prst="rect">
            <a:avLst/>
          </a:prstGeom>
          <a:noFill/>
          <a:ln/>
        </p:spPr>
        <p:txBody>
          <a:bodyPr wrap="square" lIns="0" tIns="0" rIns="0" bIns="0" rtlCol="0" anchor="t"/>
          <a:lstStyle/>
          <a:p>
            <a:pPr marL="0" indent="0" algn="l">
              <a:lnSpc>
                <a:spcPct val="118000"/>
              </a:lnSpc>
              <a:spcAft>
                <a:spcPts val="700"/>
              </a:spcAft>
              <a:buNone/>
            </a:pPr>
            <a:r>
              <a:rPr lang="en-US" altLang="ko-KR" sz="1400">
                <a:solidFill>
                  <a:srgbClr val="2E3B52"/>
                </a:solidFill>
                <a:latin typeface="Calibri" panose="020F0502020204030204"/>
                <a:ea typeface="Calibri" panose="020F0502020204030204"/>
                <a:cs typeface="Arial"/>
              </a:rPr>
              <a:t>• </a:t>
            </a:r>
            <a:r>
              <a:rPr lang="ko-KR" altLang="en-US" sz="1400">
                <a:solidFill>
                  <a:srgbClr val="2E3B52"/>
                </a:solidFill>
                <a:ea typeface="+mn-lt"/>
                <a:cs typeface="+mn-lt"/>
              </a:rPr>
              <a:t>처리량</a:t>
            </a:r>
            <a:r>
              <a:rPr lang="en-US" altLang="ko-KR" sz="1400" dirty="0">
                <a:solidFill>
                  <a:srgbClr val="2E3B52"/>
                </a:solidFill>
                <a:ea typeface="+mn-lt"/>
                <a:cs typeface="+mn-lt"/>
              </a:rPr>
              <a:t> </a:t>
            </a:r>
            <a:r>
              <a:rPr lang="ko-KR" altLang="en-US" sz="1400">
                <a:solidFill>
                  <a:srgbClr val="2E3B52"/>
                </a:solidFill>
                <a:ea typeface="+mn-lt"/>
                <a:cs typeface="+mn-lt"/>
              </a:rPr>
              <a:t>극대화</a:t>
            </a:r>
            <a:r>
              <a:rPr lang="en-US" sz="1400">
                <a:solidFill>
                  <a:srgbClr val="2E3B52"/>
                </a:solidFill>
                <a:ea typeface="+mn-lt"/>
                <a:cs typeface="+mn-lt"/>
              </a:rPr>
              <a:t>,</a:t>
            </a:r>
            <a:r>
              <a:rPr lang="en-US" altLang="ko-KR" sz="1400" dirty="0">
                <a:solidFill>
                  <a:srgbClr val="2E3B52"/>
                </a:solidFill>
                <a:ea typeface="+mn-lt"/>
                <a:cs typeface="+mn-lt"/>
              </a:rPr>
              <a:t> </a:t>
            </a:r>
            <a:r>
              <a:rPr lang="ko-KR" altLang="en-US" sz="1400">
                <a:solidFill>
                  <a:srgbClr val="2E3B52"/>
                </a:solidFill>
                <a:ea typeface="+mn-lt"/>
                <a:cs typeface="+mn-lt"/>
              </a:rPr>
              <a:t>지연</a:t>
            </a:r>
            <a:r>
              <a:rPr lang="en-US" altLang="ko-KR" sz="1400" dirty="0">
                <a:solidFill>
                  <a:srgbClr val="2E3B52"/>
                </a:solidFill>
                <a:ea typeface="+mn-lt"/>
                <a:cs typeface="+mn-lt"/>
              </a:rPr>
              <a:t> </a:t>
            </a:r>
            <a:r>
              <a:rPr lang="ko-KR" altLang="en-US" sz="1400">
                <a:solidFill>
                  <a:srgbClr val="2E3B52"/>
                </a:solidFill>
                <a:ea typeface="+mn-lt"/>
                <a:cs typeface="+mn-lt"/>
              </a:rPr>
              <a:t>최소화</a:t>
            </a:r>
            <a:r>
              <a:rPr lang="en-US" sz="1400">
                <a:solidFill>
                  <a:srgbClr val="2E3B52"/>
                </a:solidFill>
                <a:ea typeface="+mn-lt"/>
                <a:cs typeface="+mn-lt"/>
              </a:rPr>
              <a:t>,</a:t>
            </a:r>
            <a:r>
              <a:rPr lang="en-US" altLang="ko-KR" sz="1400" dirty="0">
                <a:solidFill>
                  <a:srgbClr val="2E3B52"/>
                </a:solidFill>
                <a:ea typeface="+mn-lt"/>
                <a:cs typeface="+mn-lt"/>
              </a:rPr>
              <a:t> </a:t>
            </a:r>
            <a:r>
              <a:rPr lang="ko-KR" altLang="en-US" sz="1400">
                <a:solidFill>
                  <a:srgbClr val="2E3B52"/>
                </a:solidFill>
                <a:ea typeface="+mn-lt"/>
                <a:cs typeface="+mn-lt"/>
              </a:rPr>
              <a:t>안정적인</a:t>
            </a:r>
            <a:r>
              <a:rPr lang="en-US" altLang="ko-KR" sz="1400" dirty="0">
                <a:solidFill>
                  <a:srgbClr val="2E3B52"/>
                </a:solidFill>
                <a:ea typeface="+mn-lt"/>
                <a:cs typeface="+mn-lt"/>
              </a:rPr>
              <a:t> </a:t>
            </a:r>
            <a:r>
              <a:rPr lang="ko-KR" altLang="en-US" sz="1400">
                <a:solidFill>
                  <a:srgbClr val="2E3B52"/>
                </a:solidFill>
                <a:ea typeface="+mn-lt"/>
                <a:cs typeface="+mn-lt"/>
              </a:rPr>
              <a:t>파이프라인이 필요</a:t>
            </a:r>
            <a:endParaRPr lang="en-US" sz="1400">
              <a:ea typeface="Calibri"/>
              <a:cs typeface="Calibri"/>
            </a:endParaRPr>
          </a:p>
          <a:p>
            <a:pPr>
              <a:lnSpc>
                <a:spcPct val="118000"/>
              </a:lnSpc>
              <a:spcAft>
                <a:spcPts val="700"/>
              </a:spcAft>
            </a:pPr>
            <a:endParaRPr lang="en-US" sz="1400">
              <a:solidFill>
                <a:srgbClr val="2E3B52"/>
              </a:solidFill>
              <a:latin typeface="Arial"/>
              <a:ea typeface="Calibri"/>
              <a:cs typeface="Arial"/>
            </a:endParaRPr>
          </a:p>
          <a:p>
            <a:pPr>
              <a:lnSpc>
                <a:spcPct val="118000"/>
              </a:lnSpc>
              <a:spcAft>
                <a:spcPts val="700"/>
              </a:spcAft>
            </a:pPr>
            <a:r>
              <a:rPr lang="en-US" sz="1400">
                <a:solidFill>
                  <a:srgbClr val="2E3B52"/>
                </a:solidFill>
                <a:latin typeface="Arial"/>
                <a:ea typeface="Calibri"/>
                <a:cs typeface="Arial"/>
              </a:rPr>
              <a:t>• </a:t>
            </a:r>
            <a:r>
              <a:rPr lang="ko-KR" sz="1400">
                <a:solidFill>
                  <a:srgbClr val="2E3B52"/>
                </a:solidFill>
                <a:latin typeface="Calibri"/>
                <a:ea typeface="Calibri"/>
                <a:cs typeface="Calibri"/>
              </a:rPr>
              <a:t>Initiation</a:t>
            </a:r>
            <a:r>
              <a:rPr lang="ko-KR" sz="1400">
                <a:solidFill>
                  <a:srgbClr val="2E3B52"/>
                </a:solidFill>
                <a:ea typeface="+mn-lt"/>
                <a:cs typeface="+mn-lt"/>
              </a:rPr>
              <a:t> Interval</a:t>
            </a:r>
            <a:r>
              <a:rPr lang="ko-KR" altLang="en-US" sz="1400">
                <a:solidFill>
                  <a:srgbClr val="2E3B52"/>
                </a:solidFill>
                <a:latin typeface="Calibri"/>
                <a:ea typeface="Calibri"/>
                <a:cs typeface="Calibri"/>
              </a:rPr>
              <a:t>(II)</a:t>
            </a:r>
            <a:r>
              <a:rPr lang="en-US" sz="1400">
                <a:solidFill>
                  <a:srgbClr val="2E3B52"/>
                </a:solidFill>
                <a:latin typeface="Arial"/>
                <a:ea typeface="Calibri"/>
                <a:cs typeface="Arial"/>
              </a:rPr>
              <a:t>=1 </a:t>
            </a:r>
            <a:r>
              <a:rPr lang="ko-KR" altLang="en-US" sz="1400">
                <a:solidFill>
                  <a:srgbClr val="2E3B52"/>
                </a:solidFill>
                <a:latin typeface="Arial"/>
                <a:ea typeface="Calibri"/>
                <a:cs typeface="Arial"/>
              </a:rPr>
              <a:t>즉</a:t>
            </a:r>
            <a:r>
              <a:rPr lang="en-US" sz="1400" dirty="0">
                <a:solidFill>
                  <a:srgbClr val="2E3B52"/>
                </a:solidFill>
                <a:latin typeface="Arial"/>
                <a:ea typeface="Calibri"/>
                <a:cs typeface="Arial"/>
              </a:rPr>
              <a:t> </a:t>
            </a:r>
            <a:r>
              <a:rPr lang="ko-KR" altLang="en-US" sz="1400">
                <a:solidFill>
                  <a:srgbClr val="2E3B52"/>
                </a:solidFill>
                <a:latin typeface="Arial"/>
                <a:ea typeface="Calibri"/>
                <a:cs typeface="Arial"/>
              </a:rPr>
              <a:t>매</a:t>
            </a:r>
            <a:r>
              <a:rPr lang="en-US" sz="1400" dirty="0">
                <a:solidFill>
                  <a:srgbClr val="2E3B52"/>
                </a:solidFill>
                <a:latin typeface="Arial"/>
                <a:ea typeface="Calibri"/>
                <a:cs typeface="Arial"/>
              </a:rPr>
              <a:t> </a:t>
            </a:r>
            <a:r>
              <a:rPr lang="ko-KR" altLang="en-US" sz="1400">
                <a:solidFill>
                  <a:srgbClr val="2E3B52"/>
                </a:solidFill>
                <a:latin typeface="Arial"/>
                <a:ea typeface="Calibri"/>
                <a:cs typeface="Arial"/>
              </a:rPr>
              <a:t>사이클 마다 데이터를 처리 할 수 있게 하기 위함</a:t>
            </a:r>
          </a:p>
        </p:txBody>
      </p:sp>
      <p:sp>
        <p:nvSpPr>
          <p:cNvPr id="7" name="Shape 7"/>
          <p:cNvSpPr/>
          <p:nvPr/>
        </p:nvSpPr>
        <p:spPr>
          <a:xfrm>
            <a:off x="6233160" y="1470660"/>
            <a:ext cx="5318760" cy="3474720"/>
          </a:xfrm>
          <a:prstGeom prst="roundRect">
            <a:avLst>
              <a:gd name="adj" fmla="val 4348"/>
            </a:avLst>
          </a:prstGeom>
          <a:solidFill>
            <a:srgbClr val="EAF0FA"/>
          </a:solidFill>
          <a:ln/>
        </p:spPr>
      </p:sp>
      <p:sp>
        <p:nvSpPr>
          <p:cNvPr id="8" name="Text 8"/>
          <p:cNvSpPr/>
          <p:nvPr/>
        </p:nvSpPr>
        <p:spPr>
          <a:xfrm>
            <a:off x="6553200" y="1699260"/>
            <a:ext cx="4678680" cy="365760"/>
          </a:xfrm>
          <a:prstGeom prst="rect">
            <a:avLst/>
          </a:prstGeom>
          <a:noFill/>
          <a:ln/>
        </p:spPr>
        <p:txBody>
          <a:bodyPr wrap="square" lIns="0" tIns="0" rIns="0" bIns="0" rtlCol="0" anchor="ctr"/>
          <a:lstStyle/>
          <a:p>
            <a:pPr marL="0" indent="0" algn="l">
              <a:buNone/>
            </a:pPr>
            <a:r>
              <a:rPr lang="en-US" b="1" err="1">
                <a:solidFill>
                  <a:srgbClr val="1F3B66"/>
                </a:solidFill>
                <a:latin typeface="Arial"/>
                <a:ea typeface="Arial" pitchFamily="34" charset="-122"/>
                <a:cs typeface="Arial"/>
              </a:rPr>
              <a:t>적용</a:t>
            </a:r>
            <a:r>
              <a:rPr lang="en-US" b="1">
                <a:solidFill>
                  <a:srgbClr val="1F3B66"/>
                </a:solidFill>
                <a:latin typeface="Arial"/>
                <a:ea typeface="Arial" pitchFamily="34" charset="-122"/>
                <a:cs typeface="Arial"/>
              </a:rPr>
              <a:t> </a:t>
            </a:r>
            <a:r>
              <a:rPr lang="en-US" b="1" err="1">
                <a:solidFill>
                  <a:srgbClr val="1F3B66"/>
                </a:solidFill>
                <a:latin typeface="Arial"/>
                <a:ea typeface="Arial" pitchFamily="34" charset="-122"/>
                <a:cs typeface="Arial"/>
              </a:rPr>
              <a:t>방식</a:t>
            </a:r>
            <a:r>
              <a:rPr lang="en-US" b="1">
                <a:solidFill>
                  <a:srgbClr val="1F3B66"/>
                </a:solidFill>
                <a:latin typeface="Arial"/>
                <a:ea typeface="Arial" pitchFamily="34" charset="-122"/>
                <a:cs typeface="Arial"/>
              </a:rPr>
              <a:t> &amp; </a:t>
            </a:r>
            <a:r>
              <a:rPr lang="en-US" b="1" err="1">
                <a:solidFill>
                  <a:srgbClr val="1F3B66"/>
                </a:solidFill>
                <a:latin typeface="Arial"/>
                <a:ea typeface="Arial" pitchFamily="34" charset="-122"/>
                <a:cs typeface="Arial"/>
              </a:rPr>
              <a:t>효과</a:t>
            </a:r>
            <a:endParaRPr lang="en-US" err="1">
              <a:latin typeface="Arial"/>
              <a:ea typeface="Calibri"/>
              <a:cs typeface="Arial"/>
            </a:endParaRPr>
          </a:p>
        </p:txBody>
      </p:sp>
      <p:sp>
        <p:nvSpPr>
          <p:cNvPr id="9" name="Text 9"/>
          <p:cNvSpPr/>
          <p:nvPr/>
        </p:nvSpPr>
        <p:spPr>
          <a:xfrm>
            <a:off x="6553200" y="2156460"/>
            <a:ext cx="4678680" cy="2194560"/>
          </a:xfrm>
          <a:prstGeom prst="rect">
            <a:avLst/>
          </a:prstGeom>
          <a:noFill/>
          <a:ln/>
        </p:spPr>
        <p:txBody>
          <a:bodyPr wrap="square" lIns="0" tIns="0" rIns="0" bIns="0" rtlCol="0" anchor="t"/>
          <a:lstStyle/>
          <a:p>
            <a:pPr>
              <a:lnSpc>
                <a:spcPct val="118000"/>
              </a:lnSpc>
              <a:spcAft>
                <a:spcPts val="700"/>
              </a:spcAft>
            </a:pP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읽고</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쓰기를</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같은</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버퍼에서</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하면</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충돌이 일어나기 때문에</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버퍼를</a:t>
            </a:r>
            <a:r>
              <a:rPr lang="en-US" sz="1400">
                <a:solidFill>
                  <a:srgbClr val="2E3B52"/>
                </a:solidFill>
                <a:latin typeface="Arial"/>
                <a:ea typeface="Arial" pitchFamily="34" charset="-122"/>
                <a:cs typeface="Arial"/>
              </a:rPr>
              <a:t> 2개</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사용</a:t>
            </a:r>
            <a:r>
              <a:rPr lang="en-US" sz="1400">
                <a:solidFill>
                  <a:srgbClr val="2E3B52"/>
                </a:solidFill>
                <a:latin typeface="Arial"/>
                <a:ea typeface="Arial" pitchFamily="34" charset="-122"/>
                <a:cs typeface="Arial"/>
              </a:rPr>
              <a:t>.</a:t>
            </a:r>
            <a:r>
              <a:rPr lang="en-US" sz="1400">
                <a:solidFill>
                  <a:srgbClr val="2E3B52"/>
                </a:solidFill>
                <a:ea typeface="+mn-lt"/>
                <a:cs typeface="+mn-lt"/>
              </a:rPr>
              <a:t> </a:t>
            </a:r>
            <a:endParaRPr lang="en-US" sz="1400">
              <a:solidFill>
                <a:srgbClr val="2E3B52"/>
              </a:solidFill>
              <a:latin typeface="Calibri"/>
              <a:ea typeface="Calibri"/>
              <a:cs typeface="Calibri"/>
            </a:endParaRPr>
          </a:p>
          <a:p>
            <a:pPr>
              <a:lnSpc>
                <a:spcPct val="118000"/>
              </a:lnSpc>
              <a:spcAft>
                <a:spcPts val="700"/>
              </a:spcAft>
            </a:pPr>
            <a:endParaRPr lang="en-US" sz="1400">
              <a:solidFill>
                <a:srgbClr val="2E3B52"/>
              </a:solidFill>
              <a:latin typeface="Calibri"/>
              <a:ea typeface="Calibri"/>
              <a:cs typeface="Calibri"/>
            </a:endParaRPr>
          </a:p>
          <a:p>
            <a:pPr>
              <a:lnSpc>
                <a:spcPct val="118000"/>
              </a:lnSpc>
              <a:spcAft>
                <a:spcPts val="700"/>
              </a:spcAft>
            </a:pPr>
            <a:r>
              <a:rPr lang="en-US" sz="1400">
                <a:solidFill>
                  <a:srgbClr val="2E3B52"/>
                </a:solidFill>
                <a:latin typeface="Arial"/>
                <a:ea typeface="Arial" pitchFamily="34" charset="-122"/>
                <a:cs typeface="Arial"/>
              </a:rPr>
              <a:t>•  </a:t>
            </a:r>
            <a:r>
              <a:rPr lang="ko-KR" altLang="en-US" sz="1400">
                <a:solidFill>
                  <a:srgbClr val="2E3B52"/>
                </a:solidFill>
                <a:latin typeface="Calibri"/>
                <a:ea typeface="+mn-lt"/>
                <a:cs typeface="Calibri"/>
              </a:rPr>
              <a:t>매</a:t>
            </a:r>
            <a:r>
              <a:rPr lang="en-US" sz="1400">
                <a:solidFill>
                  <a:srgbClr val="2E3B52"/>
                </a:solidFill>
                <a:latin typeface="Arial"/>
                <a:ea typeface="+mn-lt"/>
                <a:cs typeface="Arial"/>
              </a:rPr>
              <a:t> </a:t>
            </a:r>
            <a:r>
              <a:rPr lang="ko-KR" altLang="en-US" sz="1400">
                <a:solidFill>
                  <a:srgbClr val="2E3B52"/>
                </a:solidFill>
                <a:ea typeface="+mn-lt"/>
                <a:cs typeface="+mn-lt"/>
              </a:rPr>
              <a:t>사이클마다</a:t>
            </a:r>
            <a:r>
              <a:rPr lang="en-US" altLang="ko-KR" sz="1400">
                <a:solidFill>
                  <a:srgbClr val="2E3B52"/>
                </a:solidFill>
                <a:ea typeface="+mn-lt"/>
                <a:cs typeface="+mn-lt"/>
              </a:rPr>
              <a:t> </a:t>
            </a:r>
            <a:r>
              <a:rPr lang="ko-KR" altLang="en-US" sz="1400">
                <a:solidFill>
                  <a:srgbClr val="2E3B52"/>
                </a:solidFill>
                <a:ea typeface="+mn-lt"/>
                <a:cs typeface="+mn-lt"/>
              </a:rPr>
              <a:t>다른</a:t>
            </a:r>
            <a:r>
              <a:rPr lang="en-US" altLang="ko-KR" sz="1400">
                <a:solidFill>
                  <a:srgbClr val="2E3B52"/>
                </a:solidFill>
                <a:ea typeface="+mn-lt"/>
                <a:cs typeface="+mn-lt"/>
              </a:rPr>
              <a:t> </a:t>
            </a:r>
            <a:r>
              <a:rPr lang="ko-KR" altLang="en-US" sz="1400">
                <a:solidFill>
                  <a:srgbClr val="2E3B52"/>
                </a:solidFill>
                <a:ea typeface="+mn-lt"/>
                <a:cs typeface="+mn-lt"/>
              </a:rPr>
              <a:t>버퍼를</a:t>
            </a:r>
            <a:r>
              <a:rPr lang="en-US" altLang="ko-KR" sz="1400">
                <a:solidFill>
                  <a:srgbClr val="2E3B52"/>
                </a:solidFill>
                <a:ea typeface="+mn-lt"/>
                <a:cs typeface="+mn-lt"/>
              </a:rPr>
              <a:t> </a:t>
            </a:r>
            <a:r>
              <a:rPr lang="ko-KR" altLang="en-US" sz="1400">
                <a:solidFill>
                  <a:srgbClr val="2E3B52"/>
                </a:solidFill>
                <a:ea typeface="+mn-lt"/>
                <a:cs typeface="+mn-lt"/>
              </a:rPr>
              <a:t>선택하며 각 버퍼가 읽고 쓰기를   번갈아 가면서 수행</a:t>
            </a:r>
          </a:p>
          <a:p>
            <a:pPr>
              <a:lnSpc>
                <a:spcPct val="118000"/>
              </a:lnSpc>
              <a:spcAft>
                <a:spcPts val="700"/>
              </a:spcAft>
            </a:pPr>
            <a:endParaRPr lang="ko-KR" altLang="en-US" sz="1400">
              <a:solidFill>
                <a:srgbClr val="2E3B52"/>
              </a:solidFill>
              <a:latin typeface="Calibri"/>
              <a:ea typeface="Calibri"/>
              <a:cs typeface="Calibri"/>
            </a:endParaRPr>
          </a:p>
          <a:p>
            <a:pPr>
              <a:lnSpc>
                <a:spcPct val="118000"/>
              </a:lnSpc>
              <a:spcAft>
                <a:spcPts val="700"/>
              </a:spcAft>
            </a:pPr>
            <a:r>
              <a:rPr lang="en-US" altLang="ko-KR" sz="1400">
                <a:solidFill>
                  <a:srgbClr val="2E3B52"/>
                </a:solidFill>
                <a:latin typeface="Arial"/>
                <a:ea typeface="맑은 고딕"/>
                <a:cs typeface="Arial"/>
              </a:rPr>
              <a:t>• </a:t>
            </a:r>
            <a:r>
              <a:rPr lang="ko-KR" altLang="en-US" sz="1400">
                <a:solidFill>
                  <a:srgbClr val="2E3B52"/>
                </a:solidFill>
                <a:latin typeface="맑은 고딕"/>
                <a:ea typeface="맑은 고딕"/>
                <a:cs typeface="Arial"/>
              </a:rPr>
              <a:t>파이프라인이</a:t>
            </a:r>
            <a:r>
              <a:rPr lang="en-US" sz="1400">
                <a:solidFill>
                  <a:srgbClr val="2E3B52"/>
                </a:solidFill>
                <a:latin typeface="Arial"/>
                <a:cs typeface="Arial"/>
              </a:rPr>
              <a:t> </a:t>
            </a:r>
            <a:r>
              <a:rPr lang="ko-KR" altLang="en-US" sz="1400">
                <a:solidFill>
                  <a:srgbClr val="2E3B52"/>
                </a:solidFill>
                <a:latin typeface="맑은 고딕"/>
                <a:ea typeface="맑은 고딕"/>
                <a:cs typeface="Arial"/>
              </a:rPr>
              <a:t>끊기지</a:t>
            </a:r>
            <a:r>
              <a:rPr lang="en-US" sz="1400">
                <a:solidFill>
                  <a:srgbClr val="2E3B52"/>
                </a:solidFill>
                <a:latin typeface="Arial"/>
                <a:cs typeface="Arial"/>
              </a:rPr>
              <a:t> </a:t>
            </a:r>
            <a:r>
              <a:rPr lang="ko-KR" altLang="en-US" sz="1400">
                <a:solidFill>
                  <a:srgbClr val="2E3B52"/>
                </a:solidFill>
                <a:latin typeface="맑은 고딕"/>
                <a:ea typeface="맑은 고딕"/>
                <a:cs typeface="Arial"/>
              </a:rPr>
              <a:t>않고</a:t>
            </a:r>
            <a:r>
              <a:rPr lang="en-US" sz="1400">
                <a:solidFill>
                  <a:srgbClr val="2E3B52"/>
                </a:solidFill>
                <a:latin typeface="Arial"/>
                <a:cs typeface="Arial"/>
              </a:rPr>
              <a:t> </a:t>
            </a:r>
            <a:r>
              <a:rPr lang="ko-KR" altLang="en-US" sz="1400">
                <a:solidFill>
                  <a:srgbClr val="2E3B52"/>
                </a:solidFill>
                <a:latin typeface="맑은 고딕"/>
                <a:ea typeface="맑은 고딕"/>
                <a:cs typeface="Arial"/>
              </a:rPr>
              <a:t>매</a:t>
            </a:r>
            <a:r>
              <a:rPr lang="en-US" sz="1400">
                <a:solidFill>
                  <a:srgbClr val="2E3B52"/>
                </a:solidFill>
                <a:latin typeface="Arial"/>
                <a:cs typeface="Arial"/>
              </a:rPr>
              <a:t> </a:t>
            </a:r>
            <a:r>
              <a:rPr lang="ko-KR" altLang="en-US" sz="1400">
                <a:solidFill>
                  <a:srgbClr val="2E3B52"/>
                </a:solidFill>
                <a:latin typeface="맑은 고딕"/>
                <a:ea typeface="맑은 고딕"/>
                <a:cs typeface="Arial"/>
              </a:rPr>
              <a:t>사이클</a:t>
            </a:r>
            <a:r>
              <a:rPr lang="en-US" sz="1400">
                <a:solidFill>
                  <a:srgbClr val="2E3B52"/>
                </a:solidFill>
                <a:latin typeface="Arial"/>
                <a:cs typeface="Arial"/>
              </a:rPr>
              <a:t> </a:t>
            </a:r>
            <a:r>
              <a:rPr lang="ko-KR" altLang="en-US" sz="1400">
                <a:solidFill>
                  <a:srgbClr val="2E3B52"/>
                </a:solidFill>
                <a:latin typeface="맑은 고딕"/>
                <a:ea typeface="맑은 고딕"/>
                <a:cs typeface="Arial"/>
              </a:rPr>
              <a:t>처리</a:t>
            </a:r>
            <a:r>
              <a:rPr lang="en-US" sz="1400">
                <a:solidFill>
                  <a:srgbClr val="2E3B52"/>
                </a:solidFill>
                <a:latin typeface="Arial"/>
                <a:cs typeface="Arial"/>
              </a:rPr>
              <a:t> </a:t>
            </a:r>
            <a:r>
              <a:rPr lang="ko-KR" altLang="en-US" sz="1400">
                <a:solidFill>
                  <a:srgbClr val="2E3B52"/>
                </a:solidFill>
                <a:latin typeface="맑은 고딕"/>
                <a:ea typeface="맑은 고딕"/>
                <a:cs typeface="Arial"/>
              </a:rPr>
              <a:t>유지 가능</a:t>
            </a:r>
            <a:endParaRPr lang="en-US" altLang="ko-KR" sz="1400">
              <a:latin typeface="맑은 고딕"/>
              <a:ea typeface="맑은 고딕"/>
              <a:cs typeface="Calibri"/>
            </a:endParaRPr>
          </a:p>
        </p:txBody>
      </p:sp>
      <p:sp>
        <p:nvSpPr>
          <p:cNvPr id="10" name="Text 10"/>
          <p:cNvSpPr/>
          <p:nvPr/>
        </p:nvSpPr>
        <p:spPr>
          <a:xfrm>
            <a:off x="6553200" y="4442460"/>
            <a:ext cx="4678680" cy="411480"/>
          </a:xfrm>
          <a:prstGeom prst="rect">
            <a:avLst/>
          </a:prstGeom>
          <a:noFill/>
          <a:ln/>
        </p:spPr>
        <p:txBody>
          <a:bodyPr wrap="square" lIns="0" tIns="0" rIns="0" bIns="0" rtlCol="0" anchor="b"/>
          <a:lstStyle/>
          <a:p>
            <a:pPr marL="0" indent="0" algn="l">
              <a:buNone/>
            </a:pPr>
            <a:r>
              <a:rPr lang="en-US" sz="1050" b="1">
                <a:solidFill>
                  <a:srgbClr val="8A929E"/>
                </a:solidFill>
                <a:latin typeface="Arial" pitchFamily="34" charset="0"/>
                <a:ea typeface="Arial" pitchFamily="34" charset="-122"/>
                <a:cs typeface="Arial" pitchFamily="34" charset="-120"/>
              </a:rPr>
              <a:t>적용: </a:t>
            </a:r>
            <a:r>
              <a:rPr lang="en-US" sz="1050">
                <a:solidFill>
                  <a:srgbClr val="8A929E"/>
                </a:solidFill>
                <a:latin typeface="Arial" pitchFamily="34" charset="0"/>
                <a:ea typeface="Arial" pitchFamily="34" charset="-122"/>
                <a:cs typeface="Arial" pitchFamily="34" charset="-120"/>
              </a:rPr>
              <a:t>conv1x1(cv1) · bn_silu_64/128 · residual_add</a:t>
            </a:r>
            <a:endParaRPr lang="en-US" sz="1050"/>
          </a:p>
        </p:txBody>
      </p:sp>
    </p:spTree>
    <p:extLst>
      <p:ext uri="{BB962C8B-B14F-4D97-AF65-F5344CB8AC3E}">
        <p14:creationId xmlns:p14="http://schemas.microsoft.com/office/powerpoint/2010/main" val="1711224045"/>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7295" cy="502920"/>
          </a:xfrm>
          <a:prstGeom prst="rect">
            <a:avLst/>
          </a:prstGeom>
          <a:noFill/>
          <a:ln/>
        </p:spPr>
        <p:txBody>
          <a:bodyPr wrap="square" lIns="0" tIns="0" rIns="0" bIns="0" rtlCol="0" anchor="ctr"/>
          <a:lstStyle/>
          <a:p>
            <a:pPr marL="0" indent="0" algn="ctr">
              <a:buNone/>
            </a:pPr>
            <a:r>
              <a:rPr lang="en-US" sz="2600" b="1">
                <a:solidFill>
                  <a:srgbClr val="1F3B66"/>
                </a:solidFill>
                <a:latin typeface="Arial" pitchFamily="34" charset="0"/>
                <a:ea typeface="Arial" pitchFamily="34" charset="-122"/>
                <a:cs typeface="Arial" pitchFamily="34" charset="-120"/>
              </a:rPr>
              <a:t>URAM + ARRAY_RESHAPE(factor=8)</a:t>
            </a:r>
            <a:endParaRPr lang="en-US" sz="2600"/>
          </a:p>
        </p:txBody>
      </p:sp>
      <p:sp>
        <p:nvSpPr>
          <p:cNvPr id="3" name="Text 1"/>
          <p:cNvSpPr/>
          <p:nvPr/>
        </p:nvSpPr>
        <p:spPr>
          <a:xfrm>
            <a:off x="640080" y="868680"/>
            <a:ext cx="10911535" cy="411480"/>
          </a:xfrm>
          <a:prstGeom prst="rect">
            <a:avLst/>
          </a:prstGeom>
          <a:noFill/>
          <a:ln/>
        </p:spPr>
        <p:txBody>
          <a:bodyPr wrap="square" lIns="0" tIns="0" rIns="0" bIns="0" rtlCol="0" anchor="ctr"/>
          <a:lstStyle/>
          <a:p>
            <a:pPr marL="0" indent="0" algn="ctr">
              <a:buNone/>
            </a:pPr>
            <a:r>
              <a:rPr lang="en-US" sz="1250">
                <a:solidFill>
                  <a:srgbClr val="2E3B52"/>
                </a:solidFill>
                <a:latin typeface="Arial" pitchFamily="34" charset="0"/>
                <a:ea typeface="Arial" pitchFamily="34" charset="-122"/>
                <a:cs typeface="Arial" pitchFamily="34" charset="-120"/>
              </a:rPr>
              <a:t>도착 시점이 다른 값을 저장할 대용량 버퍼를, 자원 효율적으로 배치하는 방식</a:t>
            </a:r>
            <a:endParaRPr lang="en-US" sz="1250"/>
          </a:p>
        </p:txBody>
      </p:sp>
      <p:sp>
        <p:nvSpPr>
          <p:cNvPr id="4" name="Shape 4"/>
          <p:cNvSpPr/>
          <p:nvPr/>
        </p:nvSpPr>
        <p:spPr>
          <a:xfrm>
            <a:off x="640080" y="1470660"/>
            <a:ext cx="5318760" cy="3474720"/>
          </a:xfrm>
          <a:prstGeom prst="roundRect">
            <a:avLst>
              <a:gd name="adj" fmla="val 4348"/>
            </a:avLst>
          </a:prstGeom>
          <a:solidFill>
            <a:srgbClr val="EAF0FA"/>
          </a:solidFill>
          <a:ln/>
        </p:spPr>
      </p:sp>
      <p:sp>
        <p:nvSpPr>
          <p:cNvPr id="5" name="Text 5"/>
          <p:cNvSpPr/>
          <p:nvPr/>
        </p:nvSpPr>
        <p:spPr>
          <a:xfrm>
            <a:off x="960120" y="1699260"/>
            <a:ext cx="4678680" cy="36576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왜 필요했나</a:t>
            </a:r>
            <a:endParaRPr lang="en-US" sz="1500"/>
          </a:p>
        </p:txBody>
      </p:sp>
      <p:sp>
        <p:nvSpPr>
          <p:cNvPr id="6" name="Text 6"/>
          <p:cNvSpPr/>
          <p:nvPr/>
        </p:nvSpPr>
        <p:spPr>
          <a:xfrm>
            <a:off x="960120" y="2156460"/>
            <a:ext cx="4678680" cy="2560320"/>
          </a:xfrm>
          <a:prstGeom prst="rect">
            <a:avLst/>
          </a:prstGeom>
          <a:noFill/>
          <a:ln/>
        </p:spPr>
        <p:txBody>
          <a:bodyPr wrap="square" lIns="0" tIns="0" rIns="0" bIns="0" rtlCol="0" anchor="t"/>
          <a:lstStyle/>
          <a:p>
            <a:pPr>
              <a:lnSpc>
                <a:spcPct val="118000"/>
              </a:lnSpc>
              <a:spcAft>
                <a:spcPts val="700"/>
              </a:spcAft>
            </a:pP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서로</a:t>
            </a:r>
            <a:r>
              <a:rPr lang="en-US" sz="1400">
                <a:solidFill>
                  <a:srgbClr val="2E3B52"/>
                </a:solidFill>
                <a:latin typeface="Arial"/>
                <a:ea typeface="Arial" pitchFamily="34" charset="-122"/>
                <a:cs typeface="Arial"/>
              </a:rPr>
              <a:t> </a:t>
            </a:r>
            <a:r>
              <a:rPr lang="ko-KR" altLang="en-US" sz="1400" err="1">
                <a:solidFill>
                  <a:srgbClr val="2E3B52"/>
                </a:solidFill>
                <a:latin typeface="Arial"/>
                <a:ea typeface="Arial" pitchFamily="34" charset="-122"/>
                <a:cs typeface="Arial"/>
              </a:rPr>
              <a:t>다른</a:t>
            </a:r>
            <a:r>
              <a:rPr lang="en-US" sz="1400">
                <a:solidFill>
                  <a:srgbClr val="2E3B52"/>
                </a:solidFill>
                <a:latin typeface="Arial"/>
                <a:ea typeface="Arial" pitchFamily="34" charset="-122"/>
                <a:cs typeface="Arial"/>
              </a:rPr>
              <a:t> </a:t>
            </a:r>
            <a:r>
              <a:rPr lang="ko-KR" altLang="en-US" sz="1400" err="1">
                <a:solidFill>
                  <a:srgbClr val="2E3B52"/>
                </a:solidFill>
                <a:latin typeface="Arial"/>
                <a:ea typeface="Arial" pitchFamily="34" charset="-122"/>
                <a:cs typeface="Arial"/>
              </a:rPr>
              <a:t>시점에</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도착하는</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값을</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나중에</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다시</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맞춰</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써야</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해서</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먼저</a:t>
            </a:r>
            <a:r>
              <a:rPr lang="en-US" sz="1400">
                <a:solidFill>
                  <a:srgbClr val="2E3B52"/>
                </a:solidFill>
                <a:latin typeface="Arial"/>
                <a:ea typeface="Arial" pitchFamily="34" charset="-122"/>
                <a:cs typeface="Arial"/>
              </a:rPr>
              <a:t> 온 </a:t>
            </a:r>
            <a:r>
              <a:rPr lang="en-US" sz="1400" err="1">
                <a:solidFill>
                  <a:srgbClr val="2E3B52"/>
                </a:solidFill>
                <a:latin typeface="Arial"/>
                <a:ea typeface="Arial" pitchFamily="34" charset="-122"/>
                <a:cs typeface="Arial"/>
              </a:rPr>
              <a:t>값을</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담아둘</a:t>
            </a:r>
            <a:r>
              <a:rPr lang="en-US" sz="1400">
                <a:solidFill>
                  <a:srgbClr val="2E3B52"/>
                </a:solidFill>
                <a:latin typeface="Arial"/>
                <a:ea typeface="Arial" pitchFamily="34" charset="-122"/>
                <a:cs typeface="Arial"/>
              </a:rPr>
              <a:t> </a:t>
            </a:r>
            <a:r>
              <a:rPr lang="ko-KR" altLang="en-US" sz="1400" err="1">
                <a:solidFill>
                  <a:srgbClr val="2E3B52"/>
                </a:solidFill>
                <a:latin typeface="Arial"/>
                <a:ea typeface="Arial" pitchFamily="34" charset="-122"/>
                <a:cs typeface="Arial"/>
              </a:rPr>
              <a:t>버퍼가</a:t>
            </a:r>
            <a:r>
              <a:rPr lang="en-US" sz="1400">
                <a:solidFill>
                  <a:srgbClr val="2E3B52"/>
                </a:solidFill>
                <a:latin typeface="Arial"/>
                <a:ea typeface="Arial" pitchFamily="34" charset="-122"/>
                <a:cs typeface="Arial"/>
              </a:rPr>
              <a:t> </a:t>
            </a:r>
            <a:r>
              <a:rPr lang="ko-KR" altLang="en-US" sz="1400" err="1">
                <a:solidFill>
                  <a:srgbClr val="2E3B52"/>
                </a:solidFill>
                <a:latin typeface="Arial"/>
                <a:ea typeface="Arial" pitchFamily="34" charset="-122"/>
                <a:cs typeface="Arial"/>
              </a:rPr>
              <a:t>필요</a:t>
            </a:r>
            <a:r>
              <a:rPr lang="en-US" sz="1400">
                <a:solidFill>
                  <a:srgbClr val="2E3B52"/>
                </a:solidFill>
                <a:latin typeface="Arial"/>
                <a:ea typeface="Arial" pitchFamily="34" charset="-122"/>
                <a:cs typeface="Arial"/>
              </a:rPr>
              <a:t>.</a:t>
            </a:r>
            <a:endParaRPr lang="en-US" sz="1400">
              <a:solidFill>
                <a:srgbClr val="2E3B52"/>
              </a:solidFill>
              <a:latin typeface="Arial"/>
              <a:cs typeface="Arial"/>
            </a:endParaRPr>
          </a:p>
          <a:p>
            <a:pPr>
              <a:lnSpc>
                <a:spcPct val="118000"/>
              </a:lnSpc>
              <a:spcAft>
                <a:spcPts val="700"/>
              </a:spcAft>
            </a:pPr>
            <a:endParaRPr lang="en-US" sz="1400">
              <a:solidFill>
                <a:srgbClr val="2E3B52"/>
              </a:solidFill>
              <a:latin typeface="Arial"/>
              <a:ea typeface="Arial" pitchFamily="34" charset="-122"/>
              <a:cs typeface="Arial"/>
            </a:endParaRPr>
          </a:p>
          <a:p>
            <a:pPr>
              <a:lnSpc>
                <a:spcPct val="118000"/>
              </a:lnSpc>
              <a:spcAft>
                <a:spcPts val="700"/>
              </a:spcAft>
            </a:pP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concat</a:t>
            </a:r>
            <a:r>
              <a:rPr lang="en-US" sz="1400">
                <a:solidFill>
                  <a:srgbClr val="2E3B52"/>
                </a:solidFill>
                <a:latin typeface="Arial"/>
                <a:ea typeface="+mn-lt"/>
                <a:cs typeface="Arial"/>
              </a:rPr>
              <a:t>, </a:t>
            </a:r>
            <a:r>
              <a:rPr lang="en-US" altLang="ko-KR" sz="1400" err="1">
                <a:solidFill>
                  <a:srgbClr val="2E3B52"/>
                </a:solidFill>
                <a:latin typeface="Arial"/>
                <a:ea typeface="+mn-lt"/>
                <a:cs typeface="Arial"/>
              </a:rPr>
              <a:t>residual_add로</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옮겨지는</a:t>
            </a:r>
            <a:r>
              <a:rPr lang="en-US" altLang="ko-KR" sz="1400">
                <a:solidFill>
                  <a:srgbClr val="2E3B52"/>
                </a:solidFill>
                <a:latin typeface="Arial"/>
                <a:ea typeface="+mn-lt"/>
                <a:cs typeface="Arial"/>
              </a:rPr>
              <a:t> </a:t>
            </a:r>
            <a:r>
              <a:rPr lang="en-US" altLang="ko-KR" sz="1400" err="1">
                <a:solidFill>
                  <a:srgbClr val="2E3B52"/>
                </a:solidFill>
                <a:latin typeface="Arial"/>
                <a:ea typeface="+mn-lt"/>
                <a:cs typeface="Arial"/>
              </a:rPr>
              <a:t>데이터는</a:t>
            </a:r>
            <a:r>
              <a:rPr lang="en-US" altLang="ko-KR" sz="1400">
                <a:solidFill>
                  <a:srgbClr val="2E3B52"/>
                </a:solidFill>
                <a:latin typeface="Arial"/>
                <a:ea typeface="+mn-lt"/>
                <a:cs typeface="Arial"/>
              </a:rPr>
              <a:t> </a:t>
            </a:r>
            <a:r>
              <a:rPr lang="ko-KR" altLang="en-US" sz="1400">
                <a:solidFill>
                  <a:srgbClr val="2E3B52"/>
                </a:solidFill>
                <a:ea typeface="+mn-lt"/>
                <a:cs typeface="+mn-lt"/>
              </a:rPr>
              <a:t>매우</a:t>
            </a:r>
            <a:r>
              <a:rPr lang="en-US" sz="1400">
                <a:solidFill>
                  <a:srgbClr val="2E3B52"/>
                </a:solidFill>
                <a:ea typeface="+mn-lt"/>
                <a:cs typeface="+mn-lt"/>
              </a:rPr>
              <a:t> </a:t>
            </a:r>
            <a:r>
              <a:rPr lang="ko-KR" altLang="en-US" sz="1400">
                <a:solidFill>
                  <a:srgbClr val="2E3B52"/>
                </a:solidFill>
                <a:ea typeface="+mn-lt"/>
                <a:cs typeface="+mn-lt"/>
              </a:rPr>
              <a:t>큰</a:t>
            </a:r>
            <a:r>
              <a:rPr lang="en-US" sz="1400">
                <a:solidFill>
                  <a:srgbClr val="2E3B52"/>
                </a:solidFill>
                <a:ea typeface="+mn-lt"/>
                <a:cs typeface="+mn-lt"/>
              </a:rPr>
              <a:t> </a:t>
            </a:r>
            <a:r>
              <a:rPr lang="ko-KR" altLang="en-US" sz="1400">
                <a:solidFill>
                  <a:srgbClr val="2E3B52"/>
                </a:solidFill>
                <a:ea typeface="+mn-lt"/>
                <a:cs typeface="+mn-lt"/>
              </a:rPr>
              <a:t>메모리를요구하기에 블록</a:t>
            </a:r>
            <a:r>
              <a:rPr lang="ko-KR" sz="1400">
                <a:solidFill>
                  <a:srgbClr val="2E3B52"/>
                </a:solidFill>
                <a:ea typeface="+mn-lt"/>
                <a:cs typeface="+mn-lt"/>
              </a:rPr>
              <a:t> 용량이 가장 </a:t>
            </a:r>
            <a:r>
              <a:rPr lang="ko-KR" altLang="en-US" sz="1400">
                <a:solidFill>
                  <a:srgbClr val="2E3B52"/>
                </a:solidFill>
                <a:ea typeface="+mn-lt"/>
                <a:cs typeface="+mn-lt"/>
              </a:rPr>
              <a:t>큰 uram을 사용</a:t>
            </a:r>
            <a:endParaRPr lang="en-US" altLang="ko-KR" sz="1400">
              <a:solidFill>
                <a:srgbClr val="2E3B52"/>
              </a:solidFill>
              <a:latin typeface="Calibri"/>
              <a:ea typeface="Calibri"/>
              <a:cs typeface="Calibri"/>
            </a:endParaRPr>
          </a:p>
        </p:txBody>
      </p:sp>
      <p:sp>
        <p:nvSpPr>
          <p:cNvPr id="7" name="Shape 7"/>
          <p:cNvSpPr/>
          <p:nvPr/>
        </p:nvSpPr>
        <p:spPr>
          <a:xfrm>
            <a:off x="6233160" y="1470660"/>
            <a:ext cx="5318760" cy="3474720"/>
          </a:xfrm>
          <a:prstGeom prst="roundRect">
            <a:avLst>
              <a:gd name="adj" fmla="val 4348"/>
            </a:avLst>
          </a:prstGeom>
          <a:solidFill>
            <a:srgbClr val="EAF0FA"/>
          </a:solidFill>
          <a:ln/>
        </p:spPr>
      </p:sp>
      <p:sp>
        <p:nvSpPr>
          <p:cNvPr id="8" name="Text 8"/>
          <p:cNvSpPr/>
          <p:nvPr/>
        </p:nvSpPr>
        <p:spPr>
          <a:xfrm>
            <a:off x="6553200" y="1699260"/>
            <a:ext cx="4678680" cy="36576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적용 방식 &amp; 효과</a:t>
            </a:r>
            <a:endParaRPr lang="en-US" sz="1500"/>
          </a:p>
        </p:txBody>
      </p:sp>
      <p:sp>
        <p:nvSpPr>
          <p:cNvPr id="9" name="Text 9"/>
          <p:cNvSpPr/>
          <p:nvPr/>
        </p:nvSpPr>
        <p:spPr>
          <a:xfrm>
            <a:off x="6553200" y="2156460"/>
            <a:ext cx="4995354" cy="2194560"/>
          </a:xfrm>
          <a:prstGeom prst="rect">
            <a:avLst/>
          </a:prstGeom>
          <a:noFill/>
          <a:ln/>
        </p:spPr>
        <p:txBody>
          <a:bodyPr wrap="square" lIns="0" tIns="0" rIns="0" bIns="0" rtlCol="0" anchor="t"/>
          <a:lstStyle/>
          <a:p>
            <a:pPr marL="0" indent="0" algn="l">
              <a:lnSpc>
                <a:spcPct val="118000"/>
              </a:lnSpc>
              <a:spcAft>
                <a:spcPts val="700"/>
              </a:spcAft>
              <a:buNone/>
            </a:pPr>
            <a:r>
              <a:rPr lang="en-US" sz="1400">
                <a:solidFill>
                  <a:srgbClr val="2E3B52"/>
                </a:solidFill>
                <a:latin typeface="Arial"/>
                <a:ea typeface="Arial" pitchFamily="34" charset="-122"/>
                <a:cs typeface="Arial"/>
              </a:rPr>
              <a:t>• int8(8bit)</a:t>
            </a:r>
            <a:r>
              <a:rPr lang="en-US" sz="1400" err="1">
                <a:solidFill>
                  <a:srgbClr val="2E3B52"/>
                </a:solidFill>
                <a:latin typeface="Arial"/>
                <a:ea typeface="Arial" pitchFamily="34" charset="-122"/>
                <a:cs typeface="Arial"/>
              </a:rPr>
              <a:t>처럼</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폭이</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좁은</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데이터는</a:t>
            </a:r>
            <a:r>
              <a:rPr lang="en-US" sz="1400">
                <a:solidFill>
                  <a:srgbClr val="2E3B52"/>
                </a:solidFill>
                <a:latin typeface="Arial"/>
                <a:ea typeface="Arial" pitchFamily="34" charset="-122"/>
                <a:cs typeface="Arial"/>
              </a:rPr>
              <a:t> URAM </a:t>
            </a:r>
            <a:r>
              <a:rPr lang="en-US" sz="1400" err="1">
                <a:solidFill>
                  <a:srgbClr val="2E3B52"/>
                </a:solidFill>
                <a:latin typeface="Arial"/>
                <a:ea typeface="Arial" pitchFamily="34" charset="-122"/>
                <a:cs typeface="Arial"/>
              </a:rPr>
              <a:t>폭을</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낭비</a:t>
            </a:r>
            <a:r>
              <a:rPr lang="en-US" sz="1400">
                <a:solidFill>
                  <a:srgbClr val="2E3B52"/>
                </a:solidFill>
                <a:latin typeface="Arial"/>
                <a:ea typeface="Arial" pitchFamily="34" charset="-122"/>
                <a:cs typeface="Arial"/>
              </a:rPr>
              <a:t> ARRAY_RESHAPE(factor=8)로 8개씩 </a:t>
            </a:r>
            <a:r>
              <a:rPr lang="en-US" sz="1400" err="1">
                <a:solidFill>
                  <a:srgbClr val="2E3B52"/>
                </a:solidFill>
                <a:latin typeface="Arial"/>
                <a:ea typeface="Arial" pitchFamily="34" charset="-122"/>
                <a:cs typeface="Arial"/>
              </a:rPr>
              <a:t>묶어</a:t>
            </a:r>
            <a:r>
              <a:rPr lang="en-US" sz="1400">
                <a:solidFill>
                  <a:srgbClr val="2E3B52"/>
                </a:solidFill>
                <a:latin typeface="Arial"/>
                <a:ea typeface="Arial" pitchFamily="34" charset="-122"/>
                <a:cs typeface="Arial"/>
              </a:rPr>
              <a:t> 64bit </a:t>
            </a:r>
            <a:r>
              <a:rPr lang="en-US" sz="1400" err="1">
                <a:solidFill>
                  <a:srgbClr val="2E3B52"/>
                </a:solidFill>
                <a:latin typeface="Arial"/>
                <a:ea typeface="Arial" pitchFamily="34" charset="-122"/>
                <a:cs typeface="Arial"/>
              </a:rPr>
              <a:t>단위로</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재구성</a:t>
            </a:r>
            <a:endParaRPr lang="ko-KR" altLang="en-US" sz="1400">
              <a:latin typeface="Arial"/>
              <a:ea typeface="맑은 고딕"/>
              <a:cs typeface="Arial"/>
            </a:endParaRPr>
          </a:p>
          <a:p>
            <a:pPr>
              <a:lnSpc>
                <a:spcPct val="118000"/>
              </a:lnSpc>
              <a:spcAft>
                <a:spcPts val="700"/>
              </a:spcAft>
            </a:pPr>
            <a:endParaRPr lang="en-US" sz="1400">
              <a:solidFill>
                <a:srgbClr val="2E3B52"/>
              </a:solidFill>
              <a:latin typeface="Arial"/>
              <a:ea typeface="Arial" pitchFamily="34" charset="-122"/>
              <a:cs typeface="Arial"/>
            </a:endParaRPr>
          </a:p>
          <a:p>
            <a:pPr>
              <a:lnSpc>
                <a:spcPct val="118000"/>
              </a:lnSpc>
              <a:spcAft>
                <a:spcPts val="700"/>
              </a:spcAft>
            </a:pP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효과</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concat</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기준</a:t>
            </a:r>
            <a:r>
              <a:rPr lang="en-US" sz="1400">
                <a:solidFill>
                  <a:srgbClr val="2E3B52"/>
                </a:solidFill>
                <a:latin typeface="Arial"/>
                <a:ea typeface="Arial" pitchFamily="34" charset="-122"/>
                <a:cs typeface="Arial"/>
              </a:rPr>
              <a:t> URAM 75개 → 12개로 </a:t>
            </a:r>
            <a:r>
              <a:rPr lang="en-US" sz="1400" err="1">
                <a:solidFill>
                  <a:srgbClr val="2E3B52"/>
                </a:solidFill>
                <a:latin typeface="Arial"/>
                <a:ea typeface="Arial" pitchFamily="34" charset="-122"/>
                <a:cs typeface="Arial"/>
              </a:rPr>
              <a:t>절감</a:t>
            </a:r>
            <a:r>
              <a:rPr lang="en-US" sz="1400">
                <a:solidFill>
                  <a:srgbClr val="2E3B52"/>
                </a:solidFill>
                <a:latin typeface="Arial"/>
                <a:ea typeface="Arial" pitchFamily="34" charset="-122"/>
                <a:cs typeface="Arial"/>
              </a:rPr>
              <a:t>(</a:t>
            </a:r>
            <a:r>
              <a:rPr lang="en-US" sz="1400" err="1">
                <a:solidFill>
                  <a:srgbClr val="2E3B52"/>
                </a:solidFill>
                <a:latin typeface="Arial"/>
                <a:ea typeface="Arial" pitchFamily="34" charset="-122"/>
                <a:cs typeface="Arial"/>
              </a:rPr>
              <a:t>uram</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총량: 60</a:t>
            </a:r>
            <a:r>
              <a:rPr lang="en-US" altLang="ko-KR" sz="1400">
                <a:solidFill>
                  <a:srgbClr val="2E3B52"/>
                </a:solidFill>
                <a:latin typeface="Arial"/>
                <a:ea typeface="Arial" pitchFamily="34" charset="-122"/>
                <a:cs typeface="Arial"/>
              </a:rPr>
              <a:t>)</a:t>
            </a:r>
            <a:endParaRPr lang="ko-KR" altLang="en-US" sz="1400">
              <a:solidFill>
                <a:srgbClr val="2E3B52"/>
              </a:solidFill>
              <a:latin typeface="Arial"/>
              <a:ea typeface="Arial" pitchFamily="34" charset="-122"/>
              <a:cs typeface="Arial"/>
            </a:endParaRPr>
          </a:p>
        </p:txBody>
      </p:sp>
      <p:sp>
        <p:nvSpPr>
          <p:cNvPr id="10" name="Text 10"/>
          <p:cNvSpPr/>
          <p:nvPr/>
        </p:nvSpPr>
        <p:spPr>
          <a:xfrm>
            <a:off x="6553200" y="4442460"/>
            <a:ext cx="4678680" cy="411480"/>
          </a:xfrm>
          <a:prstGeom prst="rect">
            <a:avLst/>
          </a:prstGeom>
          <a:noFill/>
          <a:ln/>
        </p:spPr>
        <p:txBody>
          <a:bodyPr wrap="square" lIns="0" tIns="0" rIns="0" bIns="0" rtlCol="0" anchor="b"/>
          <a:lstStyle/>
          <a:p>
            <a:pPr marL="0" indent="0" algn="l">
              <a:buNone/>
            </a:pPr>
            <a:r>
              <a:rPr lang="en-US" sz="1050" b="1">
                <a:solidFill>
                  <a:srgbClr val="8A929E"/>
                </a:solidFill>
                <a:latin typeface="Arial" pitchFamily="34" charset="0"/>
                <a:ea typeface="Arial" pitchFamily="34" charset="-122"/>
                <a:cs typeface="Arial" pitchFamily="34" charset="-120"/>
              </a:rPr>
              <a:t>적용: </a:t>
            </a:r>
            <a:r>
              <a:rPr lang="en-US" sz="1050">
                <a:solidFill>
                  <a:srgbClr val="8A929E"/>
                </a:solidFill>
                <a:latin typeface="Arial" pitchFamily="34" charset="0"/>
                <a:ea typeface="Arial" pitchFamily="34" charset="-122"/>
                <a:cs typeface="Arial" pitchFamily="34" charset="-120"/>
              </a:rPr>
              <a:t>concat (버퍼 3개) · bottleneck_router (버퍼 3개)</a:t>
            </a:r>
            <a:endParaRPr lang="en-US" sz="1050"/>
          </a:p>
        </p:txBody>
      </p:sp>
    </p:spTree>
    <p:extLst>
      <p:ext uri="{BB962C8B-B14F-4D97-AF65-F5344CB8AC3E}">
        <p14:creationId xmlns:p14="http://schemas.microsoft.com/office/powerpoint/2010/main" val="2210280832"/>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7295" cy="502920"/>
          </a:xfrm>
          <a:prstGeom prst="rect">
            <a:avLst/>
          </a:prstGeom>
          <a:noFill/>
          <a:ln/>
        </p:spPr>
        <p:txBody>
          <a:bodyPr wrap="square" lIns="0" tIns="0" rIns="0" bIns="0" rtlCol="0" anchor="ctr"/>
          <a:lstStyle/>
          <a:p>
            <a:pPr marL="0" indent="0" algn="ctr">
              <a:buNone/>
            </a:pPr>
            <a:r>
              <a:rPr lang="en-US" sz="2600" b="1">
                <a:solidFill>
                  <a:srgbClr val="1F3B66"/>
                </a:solidFill>
                <a:latin typeface="Arial" pitchFamily="34" charset="0"/>
                <a:ea typeface="Arial" pitchFamily="34" charset="-122"/>
                <a:cs typeface="Arial" pitchFamily="34" charset="-120"/>
              </a:rPr>
              <a:t>DATAFLOW / 함수 분리 (파이프라인 오버랩)</a:t>
            </a:r>
            <a:endParaRPr lang="en-US" sz="2600"/>
          </a:p>
        </p:txBody>
      </p:sp>
      <p:sp>
        <p:nvSpPr>
          <p:cNvPr id="3" name="Text 1"/>
          <p:cNvSpPr/>
          <p:nvPr/>
        </p:nvSpPr>
        <p:spPr>
          <a:xfrm>
            <a:off x="640080" y="868680"/>
            <a:ext cx="10911535" cy="411480"/>
          </a:xfrm>
          <a:prstGeom prst="rect">
            <a:avLst/>
          </a:prstGeom>
          <a:noFill/>
          <a:ln/>
        </p:spPr>
        <p:txBody>
          <a:bodyPr wrap="square" lIns="0" tIns="0" rIns="0" bIns="0" rtlCol="0" anchor="ctr"/>
          <a:lstStyle/>
          <a:p>
            <a:pPr marL="0" indent="0" algn="ctr">
              <a:buNone/>
            </a:pPr>
            <a:r>
              <a:rPr lang="en-US" sz="1250">
                <a:solidFill>
                  <a:srgbClr val="2E3B52"/>
                </a:solidFill>
                <a:latin typeface="Arial" pitchFamily="34" charset="0"/>
                <a:ea typeface="Arial" pitchFamily="34" charset="-122"/>
                <a:cs typeface="Arial" pitchFamily="34" charset="-120"/>
              </a:rPr>
              <a:t>독립적인 하위 작업을 별도 함수로 쪼개 겹쳐서 실행, 지연시간 단축</a:t>
            </a:r>
            <a:endParaRPr lang="en-US" sz="1250"/>
          </a:p>
        </p:txBody>
      </p:sp>
      <p:sp>
        <p:nvSpPr>
          <p:cNvPr id="4" name="Shape 4"/>
          <p:cNvSpPr/>
          <p:nvPr/>
        </p:nvSpPr>
        <p:spPr>
          <a:xfrm>
            <a:off x="640080" y="1470660"/>
            <a:ext cx="5318760" cy="3474720"/>
          </a:xfrm>
          <a:prstGeom prst="roundRect">
            <a:avLst>
              <a:gd name="adj" fmla="val 4348"/>
            </a:avLst>
          </a:prstGeom>
          <a:solidFill>
            <a:srgbClr val="EAF0FA"/>
          </a:solidFill>
          <a:ln/>
        </p:spPr>
      </p:sp>
      <p:sp>
        <p:nvSpPr>
          <p:cNvPr id="5" name="Text 5"/>
          <p:cNvSpPr/>
          <p:nvPr/>
        </p:nvSpPr>
        <p:spPr>
          <a:xfrm>
            <a:off x="960120" y="1699260"/>
            <a:ext cx="4678680" cy="36576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왜 필요했나</a:t>
            </a:r>
            <a:endParaRPr lang="en-US" sz="1500"/>
          </a:p>
        </p:txBody>
      </p:sp>
      <p:sp>
        <p:nvSpPr>
          <p:cNvPr id="6" name="Text 6"/>
          <p:cNvSpPr/>
          <p:nvPr/>
        </p:nvSpPr>
        <p:spPr>
          <a:xfrm>
            <a:off x="960120" y="2156460"/>
            <a:ext cx="4678680" cy="2560320"/>
          </a:xfrm>
          <a:prstGeom prst="rect">
            <a:avLst/>
          </a:prstGeom>
          <a:noFill/>
          <a:ln/>
        </p:spPr>
        <p:txBody>
          <a:bodyPr wrap="square" lIns="0" tIns="0" rIns="0" bIns="0" rtlCol="0" anchor="t"/>
          <a:lstStyle/>
          <a:p>
            <a:pPr>
              <a:lnSpc>
                <a:spcPct val="118000"/>
              </a:lnSpc>
              <a:spcAft>
                <a:spcPts val="700"/>
              </a:spcAft>
            </a:pP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하나의</a:t>
            </a:r>
            <a:r>
              <a:rPr lang="en-US" sz="1400">
                <a:solidFill>
                  <a:srgbClr val="2E3B52"/>
                </a:solidFill>
                <a:latin typeface="Arial"/>
                <a:ea typeface="Arial" pitchFamily="34" charset="-122"/>
                <a:cs typeface="Arial"/>
              </a:rPr>
              <a:t> IP </a:t>
            </a:r>
            <a:r>
              <a:rPr lang="ko-KR" altLang="en-US" sz="1400">
                <a:solidFill>
                  <a:srgbClr val="2E3B52"/>
                </a:solidFill>
                <a:latin typeface="Arial"/>
                <a:ea typeface="Arial" pitchFamily="34" charset="-122"/>
                <a:cs typeface="Arial"/>
              </a:rPr>
              <a:t>안에</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존재하는</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모든</a:t>
            </a:r>
            <a:r>
              <a:rPr lang="en-US" sz="1400">
                <a:solidFill>
                  <a:srgbClr val="2E3B52"/>
                </a:solidFill>
                <a:latin typeface="Arial"/>
                <a:ea typeface="Arial" pitchFamily="34" charset="-122"/>
                <a:cs typeface="Arial"/>
              </a:rPr>
              <a:t> </a:t>
            </a:r>
            <a:r>
              <a:rPr lang="ko-KR" altLang="en-US" sz="1400" err="1">
                <a:solidFill>
                  <a:srgbClr val="2E3B52"/>
                </a:solidFill>
                <a:latin typeface="Arial"/>
                <a:ea typeface="Arial" pitchFamily="34" charset="-122"/>
                <a:cs typeface="Arial"/>
              </a:rPr>
              <a:t>수행</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단계를</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순차</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실행하면</a:t>
            </a:r>
            <a:r>
              <a:rPr lang="en-US" sz="1400">
                <a:solidFill>
                  <a:srgbClr val="2E3B52"/>
                </a:solidFill>
                <a:latin typeface="Arial"/>
                <a:ea typeface="Arial" pitchFamily="34" charset="-122"/>
                <a:cs typeface="Arial"/>
              </a:rPr>
              <a:t> </a:t>
            </a:r>
            <a:r>
              <a:rPr lang="ko-KR" altLang="en-US" sz="1400" err="1">
                <a:solidFill>
                  <a:srgbClr val="2E3B52"/>
                </a:solidFill>
                <a:latin typeface="Arial"/>
                <a:ea typeface="Arial" pitchFamily="34" charset="-122"/>
                <a:cs typeface="Arial"/>
              </a:rPr>
              <a:t>지연이</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증가</a:t>
            </a:r>
            <a:r>
              <a:rPr lang="en-US" altLang="ko-KR" sz="1400">
                <a:solidFill>
                  <a:srgbClr val="2E3B52"/>
                </a:solidFill>
                <a:latin typeface="Arial"/>
                <a:ea typeface="Arial" pitchFamily="34" charset="-122"/>
                <a:cs typeface="Arial"/>
              </a:rPr>
              <a:t>.</a:t>
            </a:r>
            <a:endParaRPr lang="en-US" sz="1400">
              <a:solidFill>
                <a:srgbClr val="2E3B52"/>
              </a:solidFill>
              <a:latin typeface="Arial"/>
              <a:ea typeface="Arial" pitchFamily="34" charset="-122"/>
              <a:cs typeface="Arial"/>
            </a:endParaRPr>
          </a:p>
          <a:p>
            <a:pPr>
              <a:lnSpc>
                <a:spcPct val="118000"/>
              </a:lnSpc>
              <a:spcAft>
                <a:spcPts val="700"/>
              </a:spcAft>
            </a:pPr>
            <a:r>
              <a:rPr lang="en-US" sz="1400">
                <a:solidFill>
                  <a:srgbClr val="2E3B52"/>
                </a:solidFill>
                <a:latin typeface="Arial"/>
                <a:ea typeface="Arial" pitchFamily="34" charset="-122"/>
                <a:cs typeface="Arial"/>
              </a:rPr>
              <a:t> </a:t>
            </a:r>
            <a:endParaRPr lang="ko-KR" altLang="en-US" sz="1400">
              <a:solidFill>
                <a:srgbClr val="2E3B52"/>
              </a:solidFill>
              <a:latin typeface="Arial"/>
              <a:ea typeface="Arial" pitchFamily="34" charset="-122"/>
              <a:cs typeface="Arial"/>
            </a:endParaRPr>
          </a:p>
          <a:p>
            <a:r>
              <a:rPr lang="en-US" sz="1400">
                <a:solidFill>
                  <a:srgbClr val="2E3B52"/>
                </a:solidFill>
                <a:latin typeface="Arial"/>
                <a:ea typeface="Arial" pitchFamily="34" charset="-122"/>
                <a:cs typeface="Arial"/>
              </a:rPr>
              <a:t>• conv3x3처럼 "</a:t>
            </a:r>
            <a:r>
              <a:rPr lang="en-US" sz="1400" err="1">
                <a:solidFill>
                  <a:srgbClr val="2E3B52"/>
                </a:solidFill>
                <a:latin typeface="Arial"/>
                <a:ea typeface="Arial" pitchFamily="34" charset="-122"/>
                <a:cs typeface="Arial"/>
              </a:rPr>
              <a:t>윈도우</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생성</a:t>
            </a:r>
            <a:r>
              <a:rPr lang="en-US" sz="1400">
                <a:solidFill>
                  <a:srgbClr val="2E3B52"/>
                </a:solidFill>
                <a:latin typeface="Arial"/>
                <a:ea typeface="Arial" pitchFamily="34" charset="-122"/>
                <a:cs typeface="Arial"/>
              </a:rPr>
              <a:t> → </a:t>
            </a:r>
            <a:r>
              <a:rPr lang="en-US" sz="1400" err="1">
                <a:solidFill>
                  <a:srgbClr val="2E3B52"/>
                </a:solidFill>
                <a:latin typeface="Arial"/>
                <a:ea typeface="Arial" pitchFamily="34" charset="-122"/>
                <a:cs typeface="Arial"/>
              </a:rPr>
              <a:t>곱셈누적</a:t>
            </a:r>
            <a:r>
              <a:rPr lang="en-US" sz="1400">
                <a:solidFill>
                  <a:srgbClr val="2E3B52"/>
                </a:solidFill>
                <a:latin typeface="Arial"/>
                <a:ea typeface="Arial" pitchFamily="34" charset="-122"/>
                <a:cs typeface="Arial"/>
              </a:rPr>
              <a:t> → </a:t>
            </a:r>
            <a:r>
              <a:rPr lang="en-US" sz="1400" err="1">
                <a:solidFill>
                  <a:srgbClr val="2E3B52"/>
                </a:solidFill>
                <a:latin typeface="Arial"/>
                <a:ea typeface="Arial" pitchFamily="34" charset="-122"/>
                <a:cs typeface="Arial"/>
              </a:rPr>
              <a:t>가중치</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로드"같은</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독립적</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하위</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작업이</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있는</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경우</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순차적으로</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작업</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시</a:t>
            </a:r>
            <a:r>
              <a:rPr lang="en-US" altLang="ko-KR" sz="1400">
                <a:solidFill>
                  <a:srgbClr val="2E3B52"/>
                </a:solidFill>
                <a:latin typeface="Arial"/>
                <a:ea typeface="Arial" pitchFamily="34" charset="-122"/>
                <a:cs typeface="Arial"/>
              </a:rPr>
              <a:t> </a:t>
            </a:r>
            <a:r>
              <a:rPr lang="en-US" altLang="ko-KR" sz="1400" err="1">
                <a:solidFill>
                  <a:srgbClr val="2E3B52"/>
                </a:solidFill>
                <a:latin typeface="Arial"/>
                <a:ea typeface="Arial" pitchFamily="34" charset="-122"/>
                <a:cs typeface="Arial"/>
              </a:rPr>
              <a:t>지연이</a:t>
            </a:r>
            <a:r>
              <a:rPr lang="en-US" altLang="ko-KR" sz="1400">
                <a:solidFill>
                  <a:srgbClr val="2E3B52"/>
                </a:solidFill>
                <a:latin typeface="Arial"/>
                <a:ea typeface="Arial" pitchFamily="34" charset="-122"/>
                <a:cs typeface="Arial"/>
              </a:rPr>
              <a:t> </a:t>
            </a:r>
            <a:r>
              <a:rPr lang="en-US" altLang="ko-KR" sz="1400" err="1">
                <a:solidFill>
                  <a:srgbClr val="2E3B52"/>
                </a:solidFill>
                <a:latin typeface="Arial"/>
                <a:ea typeface="Arial" pitchFamily="34" charset="-122"/>
                <a:cs typeface="Arial"/>
              </a:rPr>
              <a:t>증가</a:t>
            </a:r>
            <a:r>
              <a:rPr lang="en-US" altLang="ko-KR" sz="1400">
                <a:solidFill>
                  <a:srgbClr val="2E3B52"/>
                </a:solidFill>
                <a:latin typeface="Arial"/>
                <a:ea typeface="Arial" pitchFamily="34" charset="-122"/>
                <a:cs typeface="Arial"/>
              </a:rPr>
              <a:t>.</a:t>
            </a:r>
            <a:endParaRPr lang="ko-KR" altLang="en-US" sz="1400">
              <a:solidFill>
                <a:srgbClr val="2E3B52"/>
              </a:solidFill>
              <a:latin typeface="Arial"/>
              <a:ea typeface="Arial" pitchFamily="34" charset="-122"/>
              <a:cs typeface="Arial"/>
            </a:endParaRPr>
          </a:p>
        </p:txBody>
      </p:sp>
      <p:sp>
        <p:nvSpPr>
          <p:cNvPr id="7" name="Shape 7"/>
          <p:cNvSpPr/>
          <p:nvPr/>
        </p:nvSpPr>
        <p:spPr>
          <a:xfrm>
            <a:off x="6233160" y="1470660"/>
            <a:ext cx="5318760" cy="3474720"/>
          </a:xfrm>
          <a:prstGeom prst="roundRect">
            <a:avLst>
              <a:gd name="adj" fmla="val 4348"/>
            </a:avLst>
          </a:prstGeom>
          <a:solidFill>
            <a:srgbClr val="EAF0FA"/>
          </a:solidFill>
          <a:ln/>
        </p:spPr>
      </p:sp>
      <p:sp>
        <p:nvSpPr>
          <p:cNvPr id="8" name="Text 8"/>
          <p:cNvSpPr/>
          <p:nvPr/>
        </p:nvSpPr>
        <p:spPr>
          <a:xfrm>
            <a:off x="6553200" y="1699260"/>
            <a:ext cx="4678680" cy="36576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적용 방식 &amp; 효과</a:t>
            </a:r>
            <a:endParaRPr lang="en-US" sz="1500"/>
          </a:p>
        </p:txBody>
      </p:sp>
      <p:sp>
        <p:nvSpPr>
          <p:cNvPr id="9" name="Text 9"/>
          <p:cNvSpPr/>
          <p:nvPr/>
        </p:nvSpPr>
        <p:spPr>
          <a:xfrm>
            <a:off x="6553200" y="2156460"/>
            <a:ext cx="4678680" cy="2194560"/>
          </a:xfrm>
          <a:prstGeom prst="rect">
            <a:avLst/>
          </a:prstGeom>
          <a:noFill/>
          <a:ln/>
        </p:spPr>
        <p:txBody>
          <a:bodyPr wrap="square" lIns="0" tIns="0" rIns="0" bIns="0" rtlCol="0" anchor="t"/>
          <a:lstStyle/>
          <a:p>
            <a:pPr marL="0" indent="0" algn="l">
              <a:lnSpc>
                <a:spcPct val="118000"/>
              </a:lnSpc>
              <a:spcAft>
                <a:spcPts val="700"/>
              </a:spcAft>
              <a:buNone/>
            </a:pP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하나의</a:t>
            </a:r>
            <a:r>
              <a:rPr lang="en-US" sz="1400">
                <a:solidFill>
                  <a:srgbClr val="2E3B52"/>
                </a:solidFill>
                <a:latin typeface="Arial"/>
                <a:ea typeface="Arial" pitchFamily="34" charset="-122"/>
                <a:cs typeface="Arial"/>
              </a:rPr>
              <a:t> 큰 </a:t>
            </a:r>
            <a:r>
              <a:rPr lang="en-US" sz="1400" err="1">
                <a:solidFill>
                  <a:srgbClr val="2E3B52"/>
                </a:solidFill>
                <a:latin typeface="Arial"/>
                <a:ea typeface="Arial" pitchFamily="34" charset="-122"/>
                <a:cs typeface="Arial"/>
              </a:rPr>
              <a:t>함수를</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여러</a:t>
            </a:r>
            <a:r>
              <a:rPr lang="en-US" sz="1400">
                <a:solidFill>
                  <a:srgbClr val="2E3B52"/>
                </a:solidFill>
                <a:latin typeface="Arial"/>
                <a:ea typeface="Arial" pitchFamily="34" charset="-122"/>
                <a:cs typeface="Arial"/>
              </a:rPr>
              <a:t> static </a:t>
            </a:r>
            <a:r>
              <a:rPr lang="en-US" sz="1400" err="1">
                <a:solidFill>
                  <a:srgbClr val="2E3B52"/>
                </a:solidFill>
                <a:latin typeface="Arial"/>
                <a:ea typeface="Arial" pitchFamily="34" charset="-122"/>
                <a:cs typeface="Arial"/>
              </a:rPr>
              <a:t>함수로</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분리</a:t>
            </a:r>
            <a:endParaRPr lang="en-US" sz="1400">
              <a:solidFill>
                <a:srgbClr val="2E3B52"/>
              </a:solidFill>
              <a:latin typeface="Arial"/>
              <a:ea typeface="Arial" pitchFamily="34" charset="-122"/>
              <a:cs typeface="Arial"/>
            </a:endParaRPr>
          </a:p>
          <a:p>
            <a:pPr marL="0" indent="0" algn="l">
              <a:lnSpc>
                <a:spcPct val="118000"/>
              </a:lnSpc>
              <a:spcAft>
                <a:spcPts val="700"/>
              </a:spcAft>
              <a:buNone/>
            </a:pPr>
            <a:r>
              <a:rPr lang="en-US" sz="1400">
                <a:solidFill>
                  <a:srgbClr val="2E3B52"/>
                </a:solidFill>
                <a:latin typeface="Arial"/>
                <a:ea typeface="Arial" pitchFamily="34" charset="-122"/>
                <a:cs typeface="Arial"/>
              </a:rPr>
              <a:t>•  conv3x3: </a:t>
            </a:r>
            <a:r>
              <a:rPr lang="en-US" sz="1400" err="1">
                <a:solidFill>
                  <a:srgbClr val="2E3B52"/>
                </a:solidFill>
                <a:latin typeface="Arial"/>
                <a:ea typeface="Arial" pitchFamily="34" charset="-122"/>
                <a:cs typeface="Arial"/>
              </a:rPr>
              <a:t>produce_windows</a:t>
            </a:r>
            <a:r>
              <a:rPr lang="en-US" sz="1400">
                <a:solidFill>
                  <a:srgbClr val="2E3B52"/>
                </a:solidFill>
                <a:latin typeface="Arial"/>
                <a:ea typeface="Arial" pitchFamily="34" charset="-122"/>
                <a:cs typeface="Arial"/>
              </a:rPr>
              <a:t> / </a:t>
            </a:r>
            <a:r>
              <a:rPr lang="en-US" sz="1400" err="1">
                <a:solidFill>
                  <a:srgbClr val="2E3B52"/>
                </a:solidFill>
                <a:latin typeface="Arial"/>
                <a:ea typeface="Arial" pitchFamily="34" charset="-122"/>
                <a:cs typeface="Arial"/>
              </a:rPr>
              <a:t>compute_stage</a:t>
            </a:r>
            <a:r>
              <a:rPr lang="en-US" sz="1400">
                <a:solidFill>
                  <a:srgbClr val="2E3B52"/>
                </a:solidFill>
                <a:latin typeface="Arial"/>
                <a:ea typeface="Arial" pitchFamily="34" charset="-122"/>
                <a:cs typeface="Arial"/>
              </a:rPr>
              <a:t> / </a:t>
            </a:r>
            <a:r>
              <a:rPr lang="en-US" sz="1400" err="1">
                <a:solidFill>
                  <a:srgbClr val="2E3B52"/>
                </a:solidFill>
                <a:latin typeface="Arial"/>
                <a:ea typeface="Arial" pitchFamily="34" charset="-122"/>
                <a:cs typeface="Arial"/>
              </a:rPr>
              <a:t>load_weights</a:t>
            </a:r>
            <a:r>
              <a:rPr lang="en-US" sz="1400">
                <a:solidFill>
                  <a:srgbClr val="2E3B52"/>
                </a:solidFill>
                <a:latin typeface="Arial"/>
                <a:ea typeface="Arial" pitchFamily="34" charset="-122"/>
                <a:cs typeface="Arial"/>
              </a:rPr>
              <a:t> (3단계)</a:t>
            </a:r>
            <a:endParaRPr lang="en-US" sz="1400">
              <a:latin typeface="Arial"/>
              <a:cs typeface="Arial"/>
            </a:endParaRPr>
          </a:p>
          <a:p>
            <a:pPr marL="0" indent="0" algn="l">
              <a:lnSpc>
                <a:spcPct val="118000"/>
              </a:lnSpc>
              <a:spcAft>
                <a:spcPts val="700"/>
              </a:spcAft>
              <a:buNone/>
            </a:pP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concat</a:t>
            </a:r>
            <a:r>
              <a:rPr lang="en-US" sz="1400">
                <a:solidFill>
                  <a:srgbClr val="2E3B52"/>
                </a:solidFill>
                <a:latin typeface="Arial"/>
                <a:ea typeface="Arial" pitchFamily="34" charset="-122"/>
                <a:cs typeface="Arial"/>
              </a:rPr>
              <a:t>: buffer01 / buffer2 / combine (3단계, 각 branch </a:t>
            </a:r>
            <a:r>
              <a:rPr lang="en-US" sz="1400" err="1">
                <a:solidFill>
                  <a:srgbClr val="2E3B52"/>
                </a:solidFill>
                <a:latin typeface="Arial"/>
                <a:ea typeface="Arial" pitchFamily="34" charset="-122"/>
                <a:cs typeface="Arial"/>
              </a:rPr>
              <a:t>도착</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시점</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차이를</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흡수</a:t>
            </a:r>
            <a:r>
              <a:rPr lang="en-US" sz="1400">
                <a:solidFill>
                  <a:srgbClr val="2E3B52"/>
                </a:solidFill>
                <a:latin typeface="Arial"/>
                <a:ea typeface="Arial" pitchFamily="34" charset="-122"/>
                <a:cs typeface="Arial"/>
              </a:rPr>
              <a:t>)</a:t>
            </a:r>
            <a:endParaRPr lang="en-US" sz="1400">
              <a:latin typeface="Arial"/>
              <a:cs typeface="Arial"/>
            </a:endParaRPr>
          </a:p>
          <a:p>
            <a:pPr marL="0" indent="0" algn="l">
              <a:lnSpc>
                <a:spcPct val="118000"/>
              </a:lnSpc>
              <a:spcAft>
                <a:spcPts val="700"/>
              </a:spcAft>
              <a:buNone/>
            </a:pPr>
            <a:r>
              <a:rPr lang="en-US" sz="1400">
                <a:solidFill>
                  <a:srgbClr val="2E3B52"/>
                </a:solidFill>
                <a:latin typeface="Arial"/>
                <a:ea typeface="Arial" pitchFamily="34" charset="-122"/>
                <a:cs typeface="Arial"/>
              </a:rPr>
              <a:t>•  #pragma HLS </a:t>
            </a:r>
            <a:r>
              <a:rPr lang="en-US" sz="1400" err="1">
                <a:solidFill>
                  <a:srgbClr val="2E3B52"/>
                </a:solidFill>
                <a:latin typeface="Arial"/>
                <a:ea typeface="Arial" pitchFamily="34" charset="-122"/>
                <a:cs typeface="Arial"/>
              </a:rPr>
              <a:t>DATAFLOW로</a:t>
            </a:r>
            <a:r>
              <a:rPr lang="en-US" sz="1400">
                <a:solidFill>
                  <a:srgbClr val="2E3B52"/>
                </a:solidFill>
                <a:latin typeface="Arial"/>
                <a:ea typeface="Arial" pitchFamily="34" charset="-122"/>
                <a:cs typeface="Arial"/>
              </a:rPr>
              <a:t> 이 </a:t>
            </a:r>
            <a:r>
              <a:rPr lang="en-US" sz="1400" err="1">
                <a:solidFill>
                  <a:srgbClr val="2E3B52"/>
                </a:solidFill>
                <a:latin typeface="Arial"/>
                <a:ea typeface="Arial" pitchFamily="34" charset="-122"/>
                <a:cs typeface="Arial"/>
              </a:rPr>
              <a:t>함수들이</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파이프라인처럼</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겹쳐</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실행되도록</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지시</a:t>
            </a:r>
            <a:endParaRPr lang="en-US" sz="1400">
              <a:solidFill>
                <a:srgbClr val="2E3B52"/>
              </a:solidFill>
              <a:latin typeface="Arial"/>
              <a:ea typeface="Arial" pitchFamily="34" charset="-122"/>
              <a:cs typeface="Arial"/>
            </a:endParaRPr>
          </a:p>
        </p:txBody>
      </p:sp>
      <p:sp>
        <p:nvSpPr>
          <p:cNvPr id="10" name="Text 10"/>
          <p:cNvSpPr/>
          <p:nvPr/>
        </p:nvSpPr>
        <p:spPr>
          <a:xfrm>
            <a:off x="6553200" y="4442460"/>
            <a:ext cx="4678680" cy="411480"/>
          </a:xfrm>
          <a:prstGeom prst="rect">
            <a:avLst/>
          </a:prstGeom>
          <a:noFill/>
          <a:ln/>
        </p:spPr>
        <p:txBody>
          <a:bodyPr wrap="square" lIns="0" tIns="0" rIns="0" bIns="0" rtlCol="0" anchor="b"/>
          <a:lstStyle/>
          <a:p>
            <a:pPr marL="0" indent="0" algn="l">
              <a:buNone/>
            </a:pPr>
            <a:r>
              <a:rPr lang="en-US" sz="1050" b="1">
                <a:solidFill>
                  <a:srgbClr val="8A929E"/>
                </a:solidFill>
                <a:latin typeface="Arial" pitchFamily="34" charset="0"/>
                <a:ea typeface="Arial" pitchFamily="34" charset="-122"/>
                <a:cs typeface="Arial" pitchFamily="34" charset="-120"/>
              </a:rPr>
              <a:t>적용: </a:t>
            </a:r>
            <a:r>
              <a:rPr lang="en-US" sz="1050">
                <a:solidFill>
                  <a:srgbClr val="8A929E"/>
                </a:solidFill>
                <a:latin typeface="Arial" pitchFamily="34" charset="0"/>
                <a:ea typeface="Arial" pitchFamily="34" charset="-122"/>
                <a:cs typeface="Arial" pitchFamily="34" charset="-120"/>
              </a:rPr>
              <a:t>conv3x3 (3단계) · concat (3단계)</a:t>
            </a:r>
            <a:endParaRPr lang="en-US" sz="1050"/>
          </a:p>
        </p:txBody>
      </p:sp>
    </p:spTree>
    <p:extLst>
      <p:ext uri="{BB962C8B-B14F-4D97-AF65-F5344CB8AC3E}">
        <p14:creationId xmlns:p14="http://schemas.microsoft.com/office/powerpoint/2010/main" val="204195607"/>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7295" cy="502920"/>
          </a:xfrm>
          <a:prstGeom prst="rect">
            <a:avLst/>
          </a:prstGeom>
          <a:noFill/>
          <a:ln/>
        </p:spPr>
        <p:txBody>
          <a:bodyPr wrap="square" lIns="0" tIns="0" rIns="0" bIns="0" rtlCol="0" anchor="ctr"/>
          <a:lstStyle/>
          <a:p>
            <a:pPr algn="ctr"/>
            <a:r>
              <a:rPr lang="en-US" sz="2800" b="1">
                <a:solidFill>
                  <a:srgbClr val="002060"/>
                </a:solidFill>
                <a:latin typeface="Arial"/>
                <a:ea typeface="Arial" pitchFamily="34" charset="-122"/>
                <a:cs typeface="Arial"/>
              </a:rPr>
              <a:t>IC_UF(Input Channel Unroll Factor)</a:t>
            </a:r>
            <a:endParaRPr lang="en-US" sz="2800" b="1">
              <a:solidFill>
                <a:srgbClr val="002060"/>
              </a:solidFill>
              <a:latin typeface="Arial"/>
              <a:cs typeface="Arial"/>
            </a:endParaRPr>
          </a:p>
        </p:txBody>
      </p:sp>
      <p:sp>
        <p:nvSpPr>
          <p:cNvPr id="3" name="Text 1"/>
          <p:cNvSpPr/>
          <p:nvPr/>
        </p:nvSpPr>
        <p:spPr>
          <a:xfrm>
            <a:off x="640080" y="868680"/>
            <a:ext cx="10911535" cy="411480"/>
          </a:xfrm>
          <a:prstGeom prst="rect">
            <a:avLst/>
          </a:prstGeom>
          <a:noFill/>
          <a:ln/>
        </p:spPr>
        <p:txBody>
          <a:bodyPr wrap="square" lIns="0" tIns="0" rIns="0" bIns="0" rtlCol="0" anchor="ctr"/>
          <a:lstStyle/>
          <a:p>
            <a:pPr marL="0" indent="0" algn="ctr">
              <a:buNone/>
            </a:pPr>
            <a:r>
              <a:rPr lang="en-US" sz="1250">
                <a:solidFill>
                  <a:srgbClr val="2E3B52"/>
                </a:solidFill>
                <a:latin typeface="Arial" pitchFamily="34" charset="0"/>
                <a:ea typeface="Arial" pitchFamily="34" charset="-122"/>
                <a:cs typeface="Arial" pitchFamily="34" charset="-120"/>
              </a:rPr>
              <a:t>conv3x3의 MAC 병렬도(IC_UF)를 얼마나 줄일지, 실제로 두 값을 비교해 결정</a:t>
            </a:r>
            <a:endParaRPr lang="en-US" sz="1250"/>
          </a:p>
        </p:txBody>
      </p:sp>
      <p:sp>
        <p:nvSpPr>
          <p:cNvPr id="4" name="Shape 4"/>
          <p:cNvSpPr/>
          <p:nvPr/>
        </p:nvSpPr>
        <p:spPr>
          <a:xfrm>
            <a:off x="640080" y="1470660"/>
            <a:ext cx="5318760" cy="3474720"/>
          </a:xfrm>
          <a:prstGeom prst="roundRect">
            <a:avLst>
              <a:gd name="adj" fmla="val 4348"/>
            </a:avLst>
          </a:prstGeom>
          <a:solidFill>
            <a:srgbClr val="EAF0FA"/>
          </a:solidFill>
          <a:ln/>
        </p:spPr>
      </p:sp>
      <p:sp>
        <p:nvSpPr>
          <p:cNvPr id="5" name="Text 5"/>
          <p:cNvSpPr/>
          <p:nvPr/>
        </p:nvSpPr>
        <p:spPr>
          <a:xfrm>
            <a:off x="960120" y="1699260"/>
            <a:ext cx="4678680" cy="365760"/>
          </a:xfrm>
          <a:prstGeom prst="rect">
            <a:avLst/>
          </a:prstGeom>
          <a:noFill/>
          <a:ln/>
        </p:spPr>
        <p:txBody>
          <a:bodyPr wrap="square" lIns="0" tIns="0" rIns="0" bIns="0" rtlCol="0" anchor="ctr"/>
          <a:lstStyle/>
          <a:p>
            <a:pPr marL="0" indent="0" algn="l">
              <a:buNone/>
            </a:pPr>
            <a:r>
              <a:rPr lang="en-US" sz="1500" b="1">
                <a:solidFill>
                  <a:srgbClr val="1F3B66"/>
                </a:solidFill>
                <a:latin typeface="Arial"/>
                <a:ea typeface="Arial" pitchFamily="34" charset="-122"/>
                <a:cs typeface="Arial"/>
              </a:rPr>
              <a:t>왜 필요했나</a:t>
            </a:r>
            <a:endParaRPr lang="en-US" sz="1500">
              <a:latin typeface="Arial"/>
              <a:cs typeface="Arial"/>
            </a:endParaRPr>
          </a:p>
        </p:txBody>
      </p:sp>
      <p:sp>
        <p:nvSpPr>
          <p:cNvPr id="6" name="Text 6"/>
          <p:cNvSpPr/>
          <p:nvPr/>
        </p:nvSpPr>
        <p:spPr>
          <a:xfrm>
            <a:off x="960120" y="2156460"/>
            <a:ext cx="4678680" cy="2560320"/>
          </a:xfrm>
          <a:prstGeom prst="rect">
            <a:avLst/>
          </a:prstGeom>
          <a:noFill/>
          <a:ln/>
        </p:spPr>
        <p:txBody>
          <a:bodyPr wrap="square" lIns="0" tIns="0" rIns="0" bIns="0" rtlCol="0" anchor="t"/>
          <a:lstStyle/>
          <a:p>
            <a:pPr>
              <a:lnSpc>
                <a:spcPct val="118000"/>
              </a:lnSpc>
              <a:spcAft>
                <a:spcPts val="700"/>
              </a:spcAft>
            </a:pPr>
            <a:r>
              <a:rPr lang="en-US" sz="1400">
                <a:solidFill>
                  <a:srgbClr val="2E3B52"/>
                </a:solidFill>
                <a:latin typeface="Arial"/>
                <a:ea typeface="Arial" pitchFamily="34" charset="-122"/>
                <a:cs typeface="Arial"/>
              </a:rPr>
              <a:t>• </a:t>
            </a:r>
            <a:r>
              <a:rPr lang="en-US" sz="1400">
                <a:solidFill>
                  <a:srgbClr val="2E3B52"/>
                </a:solidFill>
                <a:latin typeface="Arial"/>
                <a:ea typeface="+mn-lt"/>
                <a:cs typeface="Arial"/>
              </a:rPr>
              <a:t>Input Channel Unroll Factor(IC_UF): </a:t>
            </a:r>
            <a:r>
              <a:rPr lang="ko-KR" altLang="en-US" sz="1400">
                <a:solidFill>
                  <a:srgbClr val="2E3B52"/>
                </a:solidFill>
                <a:latin typeface="Arial"/>
                <a:ea typeface="+mn-lt"/>
                <a:cs typeface="Arial"/>
              </a:rPr>
              <a:t>입력</a:t>
            </a:r>
            <a:r>
              <a:rPr lang="en-US" sz="1400">
                <a:solidFill>
                  <a:srgbClr val="2E3B52"/>
                </a:solidFill>
                <a:latin typeface="Arial"/>
                <a:ea typeface="+mn-lt"/>
                <a:cs typeface="Arial"/>
              </a:rPr>
              <a:t> </a:t>
            </a:r>
            <a:r>
              <a:rPr lang="ko-KR" altLang="en-US" sz="1400">
                <a:solidFill>
                  <a:srgbClr val="2E3B52"/>
                </a:solidFill>
                <a:latin typeface="Arial"/>
                <a:ea typeface="+mn-lt"/>
                <a:cs typeface="Arial"/>
              </a:rPr>
              <a:t>채널</a:t>
            </a:r>
            <a:r>
              <a:rPr lang="en-US" sz="1400">
                <a:solidFill>
                  <a:srgbClr val="2E3B52"/>
                </a:solidFill>
                <a:latin typeface="Arial"/>
                <a:ea typeface="+mn-lt"/>
                <a:cs typeface="Arial"/>
              </a:rPr>
              <a:t> </a:t>
            </a:r>
            <a:r>
              <a:rPr lang="en-US" altLang="ko-KR" sz="1400">
                <a:solidFill>
                  <a:srgbClr val="2E3B52"/>
                </a:solidFill>
                <a:latin typeface="Arial"/>
                <a:ea typeface="+mn-lt"/>
                <a:cs typeface="Arial"/>
              </a:rPr>
              <a:t>N</a:t>
            </a:r>
            <a:r>
              <a:rPr lang="ko-KR" altLang="en-US" sz="1400">
                <a:solidFill>
                  <a:srgbClr val="2E3B52"/>
                </a:solidFill>
                <a:latin typeface="Arial"/>
                <a:ea typeface="+mn-lt"/>
                <a:cs typeface="Arial"/>
              </a:rPr>
              <a:t> 배수로</a:t>
            </a:r>
            <a:r>
              <a:rPr lang="en-US" sz="1400">
                <a:solidFill>
                  <a:srgbClr val="2E3B52"/>
                </a:solidFill>
                <a:latin typeface="Arial"/>
                <a:ea typeface="+mn-lt"/>
                <a:cs typeface="Arial"/>
              </a:rPr>
              <a:t> </a:t>
            </a:r>
            <a:r>
              <a:rPr lang="en-US" altLang="ko-KR" sz="1400">
                <a:solidFill>
                  <a:srgbClr val="2E3B52"/>
                </a:solidFill>
                <a:latin typeface="Arial"/>
                <a:ea typeface="+mn-lt"/>
                <a:cs typeface="Arial"/>
              </a:rPr>
              <a:t> </a:t>
            </a:r>
            <a:r>
              <a:rPr lang="ko-KR" altLang="en-US" sz="1400">
                <a:solidFill>
                  <a:srgbClr val="2E3B52"/>
                </a:solidFill>
                <a:latin typeface="Arial"/>
                <a:ea typeface="+mn-lt"/>
                <a:cs typeface="Arial"/>
              </a:rPr>
              <a:t>나눈 후  나눈 부분을 병렬로 처리하여 하드웨어 속도 설정</a:t>
            </a:r>
            <a:endParaRPr lang="en-US" sz="1400">
              <a:solidFill>
                <a:srgbClr val="2E3B52"/>
              </a:solidFill>
              <a:latin typeface="Arial"/>
              <a:ea typeface="Arial" pitchFamily="34" charset="-122"/>
              <a:cs typeface="Arial"/>
            </a:endParaRPr>
          </a:p>
          <a:p>
            <a:pPr>
              <a:lnSpc>
                <a:spcPct val="118000"/>
              </a:lnSpc>
              <a:spcAft>
                <a:spcPts val="700"/>
              </a:spcAft>
            </a:pPr>
            <a:endParaRPr lang="en-US" sz="1400">
              <a:solidFill>
                <a:srgbClr val="2E3B52"/>
              </a:solidFill>
              <a:latin typeface="Arial"/>
              <a:ea typeface="Arial" pitchFamily="34" charset="-122"/>
              <a:cs typeface="Arial"/>
            </a:endParaRPr>
          </a:p>
          <a:p>
            <a:r>
              <a:rPr lang="en-US" sz="1400">
                <a:solidFill>
                  <a:srgbClr val="2E3B52"/>
                </a:solidFill>
                <a:latin typeface="Arial"/>
                <a:ea typeface="Arial" pitchFamily="34" charset="-122"/>
                <a:cs typeface="Arial"/>
              </a:rPr>
              <a:t>• conv3x3의 MAC </a:t>
            </a:r>
            <a:r>
              <a:rPr lang="en-US" sz="1400" err="1">
                <a:solidFill>
                  <a:srgbClr val="2E3B52"/>
                </a:solidFill>
                <a:latin typeface="Arial"/>
                <a:ea typeface="Arial" pitchFamily="34" charset="-122"/>
                <a:cs typeface="Arial"/>
              </a:rPr>
              <a:t>연산</a:t>
            </a:r>
            <a:r>
              <a:rPr lang="en-US" sz="1400">
                <a:solidFill>
                  <a:srgbClr val="2E3B52"/>
                </a:solidFill>
                <a:latin typeface="Arial"/>
                <a:ea typeface="Arial" pitchFamily="34" charset="-122"/>
                <a:cs typeface="Arial"/>
              </a:rPr>
              <a:t>(64ch × 3×3 = 576회)</a:t>
            </a:r>
            <a:r>
              <a:rPr lang="ko-KR" altLang="en-US" sz="1400">
                <a:solidFill>
                  <a:srgbClr val="2E3B52"/>
                </a:solidFill>
                <a:latin typeface="Arial"/>
                <a:ea typeface="Arial" pitchFamily="34" charset="-122"/>
                <a:cs typeface="Arial"/>
              </a:rPr>
              <a:t>량이</a:t>
            </a:r>
            <a:r>
              <a:rPr lang="en-US" altLang="ko-KR" sz="1400">
                <a:solidFill>
                  <a:srgbClr val="2E3B52"/>
                </a:solidFill>
                <a:latin typeface="Arial"/>
                <a:ea typeface="Arial" pitchFamily="34" charset="-122"/>
                <a:cs typeface="Arial"/>
              </a:rPr>
              <a:t> </a:t>
            </a:r>
            <a:r>
              <a:rPr lang="en-US" altLang="ko-KR" sz="1400" err="1">
                <a:solidFill>
                  <a:srgbClr val="2E3B52"/>
                </a:solidFill>
                <a:latin typeface="Arial"/>
                <a:ea typeface="Arial" pitchFamily="34" charset="-122"/>
                <a:cs typeface="Arial"/>
              </a:rPr>
              <a:t>많기에</a:t>
            </a:r>
            <a:r>
              <a:rPr lang="en-US" altLang="ko-KR" sz="1400">
                <a:solidFill>
                  <a:srgbClr val="2E3B52"/>
                </a:solidFill>
                <a:latin typeface="Arial"/>
                <a:ea typeface="Arial" pitchFamily="34" charset="-122"/>
                <a:cs typeface="Arial"/>
              </a:rPr>
              <a:t> </a:t>
            </a:r>
          </a:p>
          <a:p>
            <a:r>
              <a:rPr lang="en-US" altLang="ko-KR" sz="1400" err="1">
                <a:solidFill>
                  <a:srgbClr val="2E3B52"/>
                </a:solidFill>
                <a:latin typeface="Arial"/>
                <a:ea typeface="Arial" pitchFamily="34" charset="-122"/>
                <a:cs typeface="Arial"/>
              </a:rPr>
              <a:t>병렬화</a:t>
            </a:r>
            <a:r>
              <a:rPr lang="en-US" altLang="ko-KR" sz="1400">
                <a:solidFill>
                  <a:srgbClr val="2E3B52"/>
                </a:solidFill>
                <a:latin typeface="Arial"/>
                <a:ea typeface="Arial" pitchFamily="34" charset="-122"/>
                <a:cs typeface="Arial"/>
              </a:rPr>
              <a:t> </a:t>
            </a:r>
            <a:r>
              <a:rPr lang="en-US" altLang="ko-KR" sz="1400" err="1">
                <a:solidFill>
                  <a:srgbClr val="2E3B52"/>
                </a:solidFill>
                <a:latin typeface="Arial"/>
                <a:ea typeface="Arial" pitchFamily="34" charset="-122"/>
                <a:cs typeface="Arial"/>
              </a:rPr>
              <a:t>필요성</a:t>
            </a:r>
            <a:r>
              <a:rPr lang="en-US" altLang="ko-KR" sz="1400">
                <a:solidFill>
                  <a:srgbClr val="2E3B52"/>
                </a:solidFill>
                <a:latin typeface="Arial"/>
                <a:ea typeface="Arial" pitchFamily="34" charset="-122"/>
                <a:cs typeface="Arial"/>
              </a:rPr>
              <a:t> </a:t>
            </a:r>
            <a:r>
              <a:rPr lang="en-US" altLang="ko-KR" sz="1400" err="1">
                <a:solidFill>
                  <a:srgbClr val="2E3B52"/>
                </a:solidFill>
                <a:latin typeface="Arial"/>
                <a:ea typeface="Arial" pitchFamily="34" charset="-122"/>
                <a:cs typeface="Arial"/>
              </a:rPr>
              <a:t>확인</a:t>
            </a:r>
            <a:endParaRPr lang="en-US" altLang="ko-KR" sz="1400">
              <a:solidFill>
                <a:srgbClr val="2E3B52"/>
              </a:solidFill>
              <a:latin typeface="Arial"/>
              <a:ea typeface="Arial" pitchFamily="34" charset="-122"/>
              <a:cs typeface="Arial"/>
            </a:endParaRPr>
          </a:p>
          <a:p>
            <a:pPr>
              <a:lnSpc>
                <a:spcPct val="118000"/>
              </a:lnSpc>
              <a:spcAft>
                <a:spcPts val="700"/>
              </a:spcAft>
            </a:pPr>
            <a:endParaRPr lang="en-US" sz="1400">
              <a:solidFill>
                <a:srgbClr val="2E3B52"/>
              </a:solidFill>
              <a:latin typeface="Arial"/>
              <a:ea typeface="Arial" pitchFamily="34" charset="-122"/>
              <a:cs typeface="Arial"/>
            </a:endParaRPr>
          </a:p>
        </p:txBody>
      </p:sp>
      <p:sp>
        <p:nvSpPr>
          <p:cNvPr id="7" name="Shape 7"/>
          <p:cNvSpPr/>
          <p:nvPr/>
        </p:nvSpPr>
        <p:spPr>
          <a:xfrm>
            <a:off x="6233160" y="1470660"/>
            <a:ext cx="5318760" cy="3474720"/>
          </a:xfrm>
          <a:prstGeom prst="roundRect">
            <a:avLst>
              <a:gd name="adj" fmla="val 4348"/>
            </a:avLst>
          </a:prstGeom>
          <a:solidFill>
            <a:srgbClr val="EAF0FA"/>
          </a:solidFill>
          <a:ln/>
        </p:spPr>
      </p:sp>
      <p:sp>
        <p:nvSpPr>
          <p:cNvPr id="8" name="Text 8"/>
          <p:cNvSpPr/>
          <p:nvPr/>
        </p:nvSpPr>
        <p:spPr>
          <a:xfrm>
            <a:off x="6553200" y="1699260"/>
            <a:ext cx="4678680" cy="36576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실제 비교 결과</a:t>
            </a:r>
            <a:endParaRPr lang="en-US" sz="1500"/>
          </a:p>
        </p:txBody>
      </p:sp>
      <p:sp>
        <p:nvSpPr>
          <p:cNvPr id="9" name="Text 9"/>
          <p:cNvSpPr/>
          <p:nvPr/>
        </p:nvSpPr>
        <p:spPr>
          <a:xfrm>
            <a:off x="6553200" y="2156460"/>
            <a:ext cx="4678680" cy="2194560"/>
          </a:xfrm>
          <a:prstGeom prst="rect">
            <a:avLst/>
          </a:prstGeom>
          <a:noFill/>
          <a:ln/>
        </p:spPr>
        <p:txBody>
          <a:bodyPr wrap="square" lIns="0" tIns="0" rIns="0" bIns="0" rtlCol="0" anchor="t"/>
          <a:lstStyle/>
          <a:p>
            <a:pPr>
              <a:lnSpc>
                <a:spcPct val="118000"/>
              </a:lnSpc>
              <a:spcAft>
                <a:spcPts val="700"/>
              </a:spcAft>
            </a:pPr>
            <a:r>
              <a:rPr lang="en-US" sz="1400">
                <a:solidFill>
                  <a:srgbClr val="2E3B52"/>
                </a:solidFill>
                <a:latin typeface="Arial"/>
                <a:ea typeface="Arial" pitchFamily="34" charset="-122"/>
                <a:cs typeface="Arial"/>
              </a:rPr>
              <a:t>• IC_UF=16 (</a:t>
            </a:r>
            <a:r>
              <a:rPr lang="en-US" sz="1400" err="1">
                <a:solidFill>
                  <a:srgbClr val="2E3B52"/>
                </a:solidFill>
                <a:latin typeface="Arial"/>
                <a:ea typeface="Arial" pitchFamily="34" charset="-122"/>
                <a:cs typeface="Arial"/>
              </a:rPr>
              <a:t>채택</a:t>
            </a:r>
            <a:r>
              <a:rPr lang="en-US" sz="1400">
                <a:solidFill>
                  <a:srgbClr val="2E3B52"/>
                </a:solidFill>
                <a:latin typeface="Arial"/>
                <a:ea typeface="Arial" pitchFamily="34" charset="-122"/>
                <a:cs typeface="Arial"/>
              </a:rPr>
              <a:t>): LUT 31,776 / latency(</a:t>
            </a:r>
            <a:r>
              <a:rPr lang="en-US" sz="1400">
                <a:solidFill>
                  <a:srgbClr val="2E3B52"/>
                </a:solidFill>
                <a:latin typeface="Calibri"/>
                <a:ea typeface="Calibri"/>
                <a:cs typeface="Calibri"/>
              </a:rPr>
              <a:t>12ms)</a:t>
            </a:r>
            <a:endParaRPr lang="ko-KR" altLang="en-US" sz="1400">
              <a:solidFill>
                <a:srgbClr val="2E3B52"/>
              </a:solidFill>
              <a:latin typeface="Calibri"/>
              <a:ea typeface="Arial" pitchFamily="34" charset="-122"/>
              <a:cs typeface="Calibri"/>
            </a:endParaRPr>
          </a:p>
          <a:p>
            <a:pPr>
              <a:lnSpc>
                <a:spcPct val="118000"/>
              </a:lnSpc>
              <a:spcAft>
                <a:spcPts val="700"/>
              </a:spcAft>
            </a:pPr>
            <a:r>
              <a:rPr lang="en-US" sz="1400">
                <a:solidFill>
                  <a:srgbClr val="2E3B52"/>
                </a:solidFill>
                <a:latin typeface="Arial"/>
                <a:ea typeface="Arial" pitchFamily="34" charset="-122"/>
                <a:cs typeface="Arial"/>
              </a:rPr>
              <a:t> </a:t>
            </a:r>
          </a:p>
          <a:p>
            <a:pPr>
              <a:lnSpc>
                <a:spcPct val="118000"/>
              </a:lnSpc>
              <a:spcAft>
                <a:spcPts val="700"/>
              </a:spcAft>
            </a:pPr>
            <a:r>
              <a:rPr lang="en-US" sz="1400">
                <a:solidFill>
                  <a:srgbClr val="2E3B52"/>
                </a:solidFill>
                <a:latin typeface="Arial"/>
                <a:ea typeface="Arial" pitchFamily="34" charset="-122"/>
                <a:cs typeface="Arial"/>
              </a:rPr>
              <a:t>• IC_UF=8 (</a:t>
            </a:r>
            <a:r>
              <a:rPr lang="en-US" sz="1400" err="1">
                <a:solidFill>
                  <a:srgbClr val="2E3B52"/>
                </a:solidFill>
                <a:latin typeface="Arial"/>
                <a:ea typeface="Arial" pitchFamily="34" charset="-122"/>
                <a:cs typeface="Arial"/>
              </a:rPr>
              <a:t>시도</a:t>
            </a:r>
            <a:r>
              <a:rPr lang="en-US" sz="1400">
                <a:solidFill>
                  <a:srgbClr val="2E3B52"/>
                </a:solidFill>
                <a:latin typeface="Arial"/>
                <a:ea typeface="Arial" pitchFamily="34" charset="-122"/>
                <a:cs typeface="Arial"/>
              </a:rPr>
              <a:t>): LUT 24,341(-23%) 더 </a:t>
            </a:r>
            <a:r>
              <a:rPr lang="en-US" sz="1400" err="1">
                <a:solidFill>
                  <a:srgbClr val="2E3B52"/>
                </a:solidFill>
                <a:latin typeface="Arial"/>
                <a:ea typeface="Arial" pitchFamily="34" charset="-122"/>
                <a:cs typeface="Arial"/>
              </a:rPr>
              <a:t>줄었지만</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latency가</a:t>
            </a:r>
            <a:r>
              <a:rPr lang="en-US" sz="1400">
                <a:solidFill>
                  <a:srgbClr val="2E3B52"/>
                </a:solidFill>
                <a:latin typeface="Arial"/>
                <a:ea typeface="Arial" pitchFamily="34" charset="-122"/>
                <a:cs typeface="Arial"/>
              </a:rPr>
              <a:t> 21배(262ms)로 </a:t>
            </a:r>
            <a:r>
              <a:rPr lang="en-US" sz="1400" err="1">
                <a:solidFill>
                  <a:srgbClr val="2E3B52"/>
                </a:solidFill>
                <a:latin typeface="Arial"/>
                <a:ea typeface="Arial" pitchFamily="34" charset="-122"/>
                <a:cs typeface="Arial"/>
              </a:rPr>
              <a:t>폭증</a:t>
            </a:r>
            <a:r>
              <a:rPr lang="en-US" sz="1400">
                <a:solidFill>
                  <a:srgbClr val="2E3B52"/>
                </a:solidFill>
                <a:latin typeface="Arial"/>
                <a:ea typeface="Arial" pitchFamily="34" charset="-122"/>
                <a:cs typeface="Arial"/>
              </a:rPr>
              <a:t> → </a:t>
            </a:r>
            <a:r>
              <a:rPr lang="en-US" sz="1400" err="1">
                <a:solidFill>
                  <a:srgbClr val="2E3B52"/>
                </a:solidFill>
                <a:latin typeface="Arial"/>
                <a:ea typeface="Arial" pitchFamily="34" charset="-122"/>
                <a:cs typeface="Arial"/>
              </a:rPr>
              <a:t>기각</a:t>
            </a:r>
            <a:endParaRPr lang="en-US" sz="1400">
              <a:solidFill>
                <a:srgbClr val="2E3B52"/>
              </a:solidFill>
              <a:latin typeface="Arial"/>
              <a:ea typeface="Arial" pitchFamily="34" charset="-122"/>
              <a:cs typeface="Arial"/>
            </a:endParaRPr>
          </a:p>
          <a:p>
            <a:pPr>
              <a:lnSpc>
                <a:spcPct val="118000"/>
              </a:lnSpc>
              <a:spcAft>
                <a:spcPts val="700"/>
              </a:spcAft>
            </a:pPr>
            <a:endParaRPr lang="en-US" sz="1400">
              <a:solidFill>
                <a:srgbClr val="2E3B52"/>
              </a:solidFill>
              <a:latin typeface="Arial"/>
              <a:ea typeface="Arial" pitchFamily="34" charset="-122"/>
              <a:cs typeface="Arial"/>
            </a:endParaRPr>
          </a:p>
          <a:p>
            <a:pPr>
              <a:lnSpc>
                <a:spcPct val="118000"/>
              </a:lnSpc>
              <a:spcAft>
                <a:spcPts val="700"/>
              </a:spcAft>
            </a:pP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결론</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자원과</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속도는</a:t>
            </a:r>
            <a:r>
              <a:rPr lang="en-US" sz="1400">
                <a:solidFill>
                  <a:srgbClr val="2E3B52"/>
                </a:solidFill>
                <a:latin typeface="Arial"/>
                <a:ea typeface="Arial" pitchFamily="34" charset="-122"/>
                <a:cs typeface="Arial"/>
              </a:rPr>
              <a:t> trade-off </a:t>
            </a:r>
            <a:r>
              <a:rPr lang="ko-KR" altLang="en-US" sz="1400">
                <a:solidFill>
                  <a:srgbClr val="2E3B52"/>
                </a:solidFill>
                <a:latin typeface="Arial"/>
                <a:ea typeface="Arial" pitchFamily="34" charset="-122"/>
                <a:cs typeface="Arial"/>
              </a:rPr>
              <a:t>관계로</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적절한 균형을 찾는게 중요하다.</a:t>
            </a:r>
            <a:endParaRPr lang="en-US" sz="1400">
              <a:solidFill>
                <a:srgbClr val="2E3B52"/>
              </a:solidFill>
              <a:latin typeface="Arial"/>
              <a:ea typeface="Arial" pitchFamily="34" charset="-122"/>
              <a:cs typeface="Arial"/>
            </a:endParaRPr>
          </a:p>
        </p:txBody>
      </p:sp>
      <p:sp>
        <p:nvSpPr>
          <p:cNvPr id="10" name="Text 10"/>
          <p:cNvSpPr/>
          <p:nvPr/>
        </p:nvSpPr>
        <p:spPr>
          <a:xfrm>
            <a:off x="6553200" y="4442460"/>
            <a:ext cx="4678680" cy="411480"/>
          </a:xfrm>
          <a:prstGeom prst="rect">
            <a:avLst/>
          </a:prstGeom>
          <a:noFill/>
          <a:ln/>
        </p:spPr>
        <p:txBody>
          <a:bodyPr wrap="square" lIns="0" tIns="0" rIns="0" bIns="0" rtlCol="0" anchor="b"/>
          <a:lstStyle/>
          <a:p>
            <a:pPr marL="0" indent="0" algn="l">
              <a:buNone/>
            </a:pPr>
            <a:r>
              <a:rPr lang="en-US" sz="1050" b="1">
                <a:solidFill>
                  <a:srgbClr val="8A929E"/>
                </a:solidFill>
                <a:latin typeface="Arial" pitchFamily="34" charset="0"/>
                <a:ea typeface="Arial" pitchFamily="34" charset="-122"/>
                <a:cs typeface="Arial" pitchFamily="34" charset="-120"/>
              </a:rPr>
              <a:t>적용: </a:t>
            </a:r>
            <a:r>
              <a:rPr lang="en-US" sz="1050">
                <a:solidFill>
                  <a:srgbClr val="8A929E"/>
                </a:solidFill>
                <a:latin typeface="Arial" pitchFamily="34" charset="0"/>
                <a:ea typeface="Arial" pitchFamily="34" charset="-122"/>
                <a:cs typeface="Arial" pitchFamily="34" charset="-120"/>
              </a:rPr>
              <a:t>conv3x3</a:t>
            </a:r>
            <a:endParaRPr lang="en-US" sz="1050"/>
          </a:p>
        </p:txBody>
      </p:sp>
    </p:spTree>
    <p:extLst>
      <p:ext uri="{BB962C8B-B14F-4D97-AF65-F5344CB8AC3E}">
        <p14:creationId xmlns:p14="http://schemas.microsoft.com/office/powerpoint/2010/main" val="892017519"/>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E3F3046-1AB8-325D-9BFE-4F1B3EF039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C14D7E7-E240-3630-90DE-BC7D0CCD5D4D}"/>
              </a:ext>
            </a:extLst>
          </p:cNvPr>
          <p:cNvSpPr/>
          <p:nvPr/>
        </p:nvSpPr>
        <p:spPr>
          <a:xfrm>
            <a:off x="547208" y="3017196"/>
            <a:ext cx="11094415" cy="822960"/>
          </a:xfrm>
          <a:prstGeom prst="rect">
            <a:avLst/>
          </a:prstGeom>
          <a:noFill/>
          <a:ln/>
        </p:spPr>
        <p:txBody>
          <a:bodyPr wrap="square" lIns="0" tIns="0" rIns="0" bIns="0" rtlCol="0" anchor="ctr"/>
          <a:lstStyle/>
          <a:p>
            <a:pPr algn="ctr"/>
            <a:r>
              <a:rPr lang="ko-KR" altLang="en-US" sz="5400" b="1">
                <a:solidFill>
                  <a:srgbClr val="1F3B66"/>
                </a:solidFill>
                <a:latin typeface="Arial"/>
                <a:ea typeface="맑은 고딕"/>
                <a:cs typeface="Arial"/>
              </a:rPr>
              <a:t>4. </a:t>
            </a:r>
            <a:r>
              <a:rPr lang="ko-KR" sz="5400" b="1">
                <a:solidFill>
                  <a:srgbClr val="1F3B66"/>
                </a:solidFill>
                <a:latin typeface="Arial"/>
                <a:ea typeface="+mn-lt"/>
                <a:cs typeface="Arial"/>
              </a:rPr>
              <a:t>구현 결과 및 검증</a:t>
            </a:r>
            <a:endParaRPr lang="ko-KR" altLang="en-US" sz="5400" b="1">
              <a:solidFill>
                <a:srgbClr val="1F3B66"/>
              </a:solidFill>
              <a:latin typeface="Arial"/>
              <a:ea typeface="맑은 고딕"/>
              <a:cs typeface="Arial"/>
            </a:endParaRPr>
          </a:p>
        </p:txBody>
      </p:sp>
    </p:spTree>
    <p:extLst>
      <p:ext uri="{BB962C8B-B14F-4D97-AF65-F5344CB8AC3E}">
        <p14:creationId xmlns:p14="http://schemas.microsoft.com/office/powerpoint/2010/main" val="1660848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6F2BD83-15E8-B70D-231C-7062EAF7CA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C237432-8552-ECE1-FD00-C61DAE584CA6}"/>
              </a:ext>
            </a:extLst>
          </p:cNvPr>
          <p:cNvSpPr/>
          <p:nvPr/>
        </p:nvSpPr>
        <p:spPr>
          <a:xfrm>
            <a:off x="457200" y="201168"/>
            <a:ext cx="11277295" cy="502920"/>
          </a:xfrm>
          <a:prstGeom prst="rect">
            <a:avLst/>
          </a:prstGeom>
          <a:noFill/>
          <a:ln/>
        </p:spPr>
        <p:txBody>
          <a:bodyPr wrap="square" lIns="0" tIns="0" rIns="0" bIns="0" rtlCol="0" anchor="ctr"/>
          <a:lstStyle/>
          <a:p>
            <a:pPr marL="0" indent="0" algn="ctr">
              <a:buNone/>
            </a:pPr>
            <a:r>
              <a:rPr lang="en-US" sz="2600" b="1">
                <a:solidFill>
                  <a:srgbClr val="1F3B66"/>
                </a:solidFill>
                <a:latin typeface="Arial"/>
                <a:ea typeface="Arial" pitchFamily="34" charset="-122"/>
                <a:cs typeface="Arial"/>
              </a:rPr>
              <a:t>HLS </a:t>
            </a:r>
            <a:r>
              <a:rPr lang="en-US" sz="2600" b="1" err="1">
                <a:solidFill>
                  <a:srgbClr val="1F3B66"/>
                </a:solidFill>
                <a:latin typeface="Arial"/>
                <a:ea typeface="Arial" pitchFamily="34" charset="-122"/>
                <a:cs typeface="Arial"/>
              </a:rPr>
              <a:t>합성</a:t>
            </a:r>
            <a:r>
              <a:rPr lang="en-US" sz="2600" b="1">
                <a:solidFill>
                  <a:srgbClr val="1F3B66"/>
                </a:solidFill>
                <a:latin typeface="Arial"/>
                <a:ea typeface="Arial" pitchFamily="34" charset="-122"/>
                <a:cs typeface="Arial"/>
              </a:rPr>
              <a:t> </a:t>
            </a:r>
            <a:r>
              <a:rPr lang="en-US" sz="2600" b="1" err="1">
                <a:solidFill>
                  <a:srgbClr val="1F3B66"/>
                </a:solidFill>
                <a:latin typeface="Arial"/>
                <a:ea typeface="Arial" pitchFamily="34" charset="-122"/>
                <a:cs typeface="Arial"/>
              </a:rPr>
              <a:t>리포트</a:t>
            </a:r>
            <a:r>
              <a:rPr lang="en-US" sz="2600" b="1">
                <a:solidFill>
                  <a:srgbClr val="1F3B66"/>
                </a:solidFill>
                <a:latin typeface="Arial"/>
                <a:ea typeface="Arial" pitchFamily="34" charset="-122"/>
                <a:cs typeface="Arial"/>
              </a:rPr>
              <a:t> </a:t>
            </a:r>
            <a:r>
              <a:rPr lang="en-US" sz="2600" b="1" err="1">
                <a:solidFill>
                  <a:srgbClr val="1F3B66"/>
                </a:solidFill>
                <a:latin typeface="Arial"/>
                <a:ea typeface="Arial" pitchFamily="34" charset="-122"/>
                <a:cs typeface="Arial"/>
              </a:rPr>
              <a:t>종합</a:t>
            </a:r>
            <a:endParaRPr lang="en-US" sz="2600" err="1">
              <a:latin typeface="Arial"/>
              <a:cs typeface="Arial"/>
            </a:endParaRPr>
          </a:p>
        </p:txBody>
      </p:sp>
      <p:graphicFrame>
        <p:nvGraphicFramePr>
          <p:cNvPr id="7" name="Table 0">
            <a:extLst>
              <a:ext uri="{FF2B5EF4-FFF2-40B4-BE49-F238E27FC236}">
                <a16:creationId xmlns:a16="http://schemas.microsoft.com/office/drawing/2014/main" id="{3124507D-070B-5C68-E34C-140F2F096A03}"/>
              </a:ext>
            </a:extLst>
          </p:cNvPr>
          <p:cNvGraphicFramePr>
            <a:graphicFrameLocks noGrp="1"/>
          </p:cNvGraphicFramePr>
          <p:nvPr>
            <p:extLst>
              <p:ext uri="{D42A27DB-BD31-4B8C-83A1-F6EECF244321}">
                <p14:modId xmlns:p14="http://schemas.microsoft.com/office/powerpoint/2010/main" val="120715781"/>
              </p:ext>
            </p:extLst>
          </p:nvPr>
        </p:nvGraphicFramePr>
        <p:xfrm>
          <a:off x="502920" y="1143000"/>
          <a:ext cx="11183112" cy="3657600"/>
        </p:xfrm>
        <a:graphic>
          <a:graphicData uri="http://schemas.openxmlformats.org/drawingml/2006/table">
            <a:tbl>
              <a:tblPr/>
              <a:tblGrid>
                <a:gridCol w="30175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536192">
                  <a:extLst>
                    <a:ext uri="{9D8B030D-6E8A-4147-A177-3AD203B41FA5}">
                      <a16:colId xmlns:a16="http://schemas.microsoft.com/office/drawing/2014/main" val="20006"/>
                    </a:ext>
                  </a:extLst>
                </a:gridCol>
              </a:tblGrid>
              <a:tr h="304800">
                <a:tc>
                  <a:txBody>
                    <a:bodyPr/>
                    <a:lstStyle/>
                    <a:p>
                      <a:pPr marL="0" indent="0" algn="ctr">
                        <a:buNone/>
                      </a:pPr>
                      <a:r>
                        <a:rPr lang="en-US" sz="1000" b="1">
                          <a:solidFill>
                            <a:srgbClr val="FFFFFF"/>
                          </a:solidFill>
                        </a:rPr>
                        <a:t>IP</a:t>
                      </a:r>
                      <a:endParaRPr lang="en-US" sz="10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000" b="1">
                          <a:solidFill>
                            <a:srgbClr val="FFFFFF"/>
                          </a:solidFill>
                        </a:rPr>
                        <a:t>재사용</a:t>
                      </a:r>
                      <a:endParaRPr lang="en-US" sz="10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000" b="1">
                          <a:solidFill>
                            <a:srgbClr val="FFFFFF"/>
                          </a:solidFill>
                        </a:rPr>
                        <a:t>Latency (1회, cycle)</a:t>
                      </a:r>
                      <a:endParaRPr lang="en-US" sz="10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000" b="1">
                          <a:solidFill>
                            <a:srgbClr val="FFFFFF"/>
                          </a:solidFill>
                        </a:rPr>
                        <a:t>LUT</a:t>
                      </a:r>
                      <a:endParaRPr lang="en-US" sz="10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000" b="1">
                          <a:solidFill>
                            <a:srgbClr val="FFFFFF"/>
                          </a:solidFill>
                        </a:rPr>
                        <a:t>BRAM</a:t>
                      </a:r>
                      <a:endParaRPr lang="en-US" sz="10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000" b="1">
                          <a:solidFill>
                            <a:srgbClr val="FFFFFF"/>
                          </a:solidFill>
                        </a:rPr>
                        <a:t>URAM</a:t>
                      </a:r>
                      <a:endParaRPr lang="en-US" sz="10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000" b="1">
                          <a:solidFill>
                            <a:srgbClr val="FFFFFF"/>
                          </a:solidFill>
                        </a:rPr>
                        <a:t>DSP</a:t>
                      </a:r>
                      <a:endParaRPr lang="en-US" sz="10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extLst>
                  <a:ext uri="{0D108BD9-81ED-4DB2-BD59-A6C34878D82A}">
                    <a16:rowId xmlns:a16="http://schemas.microsoft.com/office/drawing/2014/main" val="10000"/>
                  </a:ext>
                </a:extLst>
              </a:tr>
              <a:tr h="304800">
                <a:tc>
                  <a:txBody>
                    <a:bodyPr/>
                    <a:lstStyle/>
                    <a:p>
                      <a:pPr marL="0" indent="0" algn="l">
                        <a:buNone/>
                      </a:pPr>
                      <a:r>
                        <a:rPr lang="en-US" sz="950">
                          <a:solidFill>
                            <a:srgbClr val="2E3B52"/>
                          </a:solidFill>
                        </a:rPr>
                        <a:t>conv1x1 (cv1)</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×1</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213,004</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b="1">
                          <a:solidFill>
                            <a:srgbClr val="2E3B52"/>
                          </a:solidFill>
                        </a:rPr>
                        <a:t>18,304</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64</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pPr marL="0" indent="0" algn="l">
                        <a:buNone/>
                      </a:pPr>
                      <a:r>
                        <a:rPr lang="en-US" sz="950">
                          <a:solidFill>
                            <a:srgbClr val="2E3B52"/>
                          </a:solidFill>
                        </a:rPr>
                        <a:t>bn128_router</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×1</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6,420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b="1">
                          <a:solidFill>
                            <a:srgbClr val="2E3B52"/>
                          </a:solidFill>
                        </a:rPr>
                        <a:t>463</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2"/>
                  </a:ext>
                </a:extLst>
              </a:tr>
              <a:tr h="304800">
                <a:tc>
                  <a:txBody>
                    <a:bodyPr/>
                    <a:lstStyle/>
                    <a:p>
                      <a:pPr marL="0" indent="0" algn="l">
                        <a:buNone/>
                      </a:pPr>
                      <a:r>
                        <a:rPr lang="en-US" sz="950">
                          <a:solidFill>
                            <a:srgbClr val="2E3B52"/>
                          </a:solidFill>
                        </a:rPr>
                        <a:t>bn_silu_128</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×2</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204,862</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b="1">
                          <a:solidFill>
                            <a:srgbClr val="2E3B52"/>
                          </a:solidFill>
                        </a:rPr>
                        <a:t>13,795</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22</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3"/>
                  </a:ext>
                </a:extLst>
              </a:tr>
              <a:tr h="304800">
                <a:tc>
                  <a:txBody>
                    <a:bodyPr/>
                    <a:lstStyle/>
                    <a:p>
                      <a:pPr marL="0" indent="0" algn="l">
                        <a:buNone/>
                      </a:pPr>
                      <a:r>
                        <a:rPr lang="en-US" sz="950">
                          <a:solidFill>
                            <a:srgbClr val="2E3B52"/>
                          </a:solidFill>
                        </a:rPr>
                        <a:t>split</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×1</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1,602</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b="1">
                          <a:solidFill>
                            <a:srgbClr val="2E3B52"/>
                          </a:solidFill>
                        </a:rPr>
                        <a:t>119</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4"/>
                  </a:ext>
                </a:extLst>
              </a:tr>
              <a:tr h="304800">
                <a:tc>
                  <a:txBody>
                    <a:bodyPr/>
                    <a:lstStyle/>
                    <a:p>
                      <a:pPr marL="0" indent="0" algn="l">
                        <a:buNone/>
                      </a:pPr>
                      <a:r>
                        <a:rPr lang="en-US" sz="950">
                          <a:solidFill>
                            <a:srgbClr val="2E3B52"/>
                          </a:solidFill>
                        </a:rPr>
                        <a:t>bottleneck_router</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×1</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1,585,641</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b="1">
                          <a:solidFill>
                            <a:srgbClr val="2E3B52"/>
                          </a:solidFill>
                        </a:rPr>
                        <a:t>6,388</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8</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1</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5"/>
                  </a:ext>
                </a:extLst>
              </a:tr>
              <a:tr h="304800">
                <a:tc>
                  <a:txBody>
                    <a:bodyPr/>
                    <a:lstStyle/>
                    <a:p>
                      <a:pPr marL="0" indent="0" algn="l">
                        <a:buNone/>
                      </a:pPr>
                      <a:r>
                        <a:rPr lang="en-US" sz="950">
                          <a:solidFill>
                            <a:srgbClr val="2E3B52"/>
                          </a:solidFill>
                        </a:rPr>
                        <a:t>conv3x3</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×4</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1,249,310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b="1">
                          <a:solidFill>
                            <a:srgbClr val="2E3B52"/>
                          </a:solidFill>
                        </a:rPr>
                        <a:t>31,776</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144</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335</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6"/>
                  </a:ext>
                </a:extLst>
              </a:tr>
              <a:tr h="304800">
                <a:tc>
                  <a:txBody>
                    <a:bodyPr/>
                    <a:lstStyle/>
                    <a:p>
                      <a:pPr marL="0" indent="0" algn="l">
                        <a:buNone/>
                      </a:pPr>
                      <a:r>
                        <a:rPr lang="en-US" sz="950">
                          <a:solidFill>
                            <a:srgbClr val="2E3B52"/>
                          </a:solidFill>
                        </a:rPr>
                        <a:t>bn_silu_64</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×4</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102,460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b="1">
                          <a:solidFill>
                            <a:srgbClr val="2E3B52"/>
                          </a:solidFill>
                        </a:rPr>
                        <a:t>8,807</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25</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7"/>
                  </a:ext>
                </a:extLst>
              </a:tr>
              <a:tr h="304800">
                <a:tc>
                  <a:txBody>
                    <a:bodyPr/>
                    <a:lstStyle/>
                    <a:p>
                      <a:pPr marL="0" indent="0" algn="l">
                        <a:buNone/>
                      </a:pPr>
                      <a:r>
                        <a:rPr lang="en-US" sz="950">
                          <a:solidFill>
                            <a:srgbClr val="2E3B52"/>
                          </a:solidFill>
                        </a:rPr>
                        <a:t>residual_add</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×2</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102,433</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b="1">
                          <a:solidFill>
                            <a:srgbClr val="2E3B52"/>
                          </a:solidFill>
                        </a:rPr>
                        <a:t>5,907</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13</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8"/>
                  </a:ext>
                </a:extLst>
              </a:tr>
              <a:tr h="304800">
                <a:tc>
                  <a:txBody>
                    <a:bodyPr/>
                    <a:lstStyle/>
                    <a:p>
                      <a:pPr marL="0" indent="0" algn="l">
                        <a:buNone/>
                      </a:pPr>
                      <a:r>
                        <a:rPr lang="en-US" sz="950">
                          <a:solidFill>
                            <a:srgbClr val="2E3B52"/>
                          </a:solidFill>
                        </a:rPr>
                        <a:t>concat</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×1</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512,037</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b="1">
                          <a:solidFill>
                            <a:srgbClr val="2E3B52"/>
                          </a:solidFill>
                        </a:rPr>
                        <a:t>13,171</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12</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8</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9"/>
                  </a:ext>
                </a:extLst>
              </a:tr>
              <a:tr h="304800">
                <a:tc>
                  <a:txBody>
                    <a:bodyPr/>
                    <a:lstStyle/>
                    <a:p>
                      <a:pPr marL="0" indent="0" algn="l">
                        <a:buNone/>
                      </a:pPr>
                      <a:r>
                        <a:rPr lang="en-US" sz="950">
                          <a:solidFill>
                            <a:srgbClr val="2E3B52"/>
                          </a:solidFill>
                        </a:rPr>
                        <a:t>conv1x1 (cv2)</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×1</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8A929E"/>
                          </a:solidFill>
                        </a:rPr>
                        <a:t>221,192</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b="1">
                          <a:solidFill>
                            <a:srgbClr val="2E3B52"/>
                          </a:solidFill>
                        </a:rPr>
                        <a:t>35,740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0</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950">
                          <a:solidFill>
                            <a:srgbClr val="2E3B52"/>
                          </a:solidFill>
                        </a:rPr>
                        <a:t>128</a:t>
                      </a:r>
                      <a:endParaRPr lang="en-US" sz="95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10"/>
                  </a:ext>
                </a:extLst>
              </a:tr>
              <a:tr h="304800">
                <a:tc>
                  <a:txBody>
                    <a:bodyPr/>
                    <a:lstStyle/>
                    <a:p>
                      <a:pPr marL="0" indent="0" algn="l">
                        <a:buNone/>
                      </a:pPr>
                      <a:r>
                        <a:rPr lang="en-US" sz="1000" b="1">
                          <a:solidFill>
                            <a:srgbClr val="1F3B66"/>
                          </a:solidFill>
                        </a:rPr>
                        <a:t>합계</a:t>
                      </a:r>
                      <a:endParaRPr lang="en-US" sz="10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endParaRPr lang="en-US" sz="10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000" b="1">
                          <a:solidFill>
                            <a:srgbClr val="1F3B66"/>
                          </a:solidFill>
                        </a:rPr>
                        <a:t>8,561,566*</a:t>
                      </a:r>
                      <a:endParaRPr lang="en-US" sz="10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000" b="1">
                          <a:solidFill>
                            <a:srgbClr val="B33A3A"/>
                          </a:solidFill>
                        </a:rPr>
                        <a:t>134,470( 14.8% </a:t>
                      </a:r>
                      <a:r>
                        <a:rPr lang="ko-KR" altLang="en-US" sz="1000" b="1">
                          <a:solidFill>
                            <a:srgbClr val="B33A3A"/>
                          </a:solidFill>
                        </a:rPr>
                        <a:t>초과</a:t>
                      </a:r>
                      <a:r>
                        <a:rPr lang="en-US" sz="1000" b="1">
                          <a:solidFill>
                            <a:srgbClr val="B33A3A"/>
                          </a:solidFill>
                        </a:rPr>
                        <a:t>)</a:t>
                      </a:r>
                      <a:endParaRPr lang="ko-KR" sz="1000" b="1">
                        <a:solidFill>
                          <a:srgbClr val="B33A3A"/>
                        </a:solidFill>
                      </a:endParaRPr>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000" b="1">
                          <a:solidFill>
                            <a:srgbClr val="1F3B66"/>
                          </a:solidFill>
                        </a:rPr>
                        <a:t>144</a:t>
                      </a:r>
                      <a:endParaRPr lang="en-US" sz="10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000" b="1">
                          <a:solidFill>
                            <a:srgbClr val="1F3B66"/>
                          </a:solidFill>
                        </a:rPr>
                        <a:t>20</a:t>
                      </a:r>
                      <a:endParaRPr lang="en-US" sz="10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000" b="1">
                          <a:solidFill>
                            <a:srgbClr val="1F3B66"/>
                          </a:solidFill>
                        </a:rPr>
                        <a:t>596</a:t>
                      </a:r>
                      <a:endParaRPr lang="en-US" sz="10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5" name="Text 2">
            <a:extLst>
              <a:ext uri="{FF2B5EF4-FFF2-40B4-BE49-F238E27FC236}">
                <a16:creationId xmlns:a16="http://schemas.microsoft.com/office/drawing/2014/main" id="{FDB8E34E-997E-D383-8EC4-E99BDE4E0B79}"/>
              </a:ext>
            </a:extLst>
          </p:cNvPr>
          <p:cNvSpPr/>
          <p:nvPr/>
        </p:nvSpPr>
        <p:spPr>
          <a:xfrm>
            <a:off x="502920" y="5316129"/>
            <a:ext cx="11183112" cy="365760"/>
          </a:xfrm>
          <a:prstGeom prst="rect">
            <a:avLst/>
          </a:prstGeom>
          <a:noFill/>
          <a:ln/>
        </p:spPr>
        <p:txBody>
          <a:bodyPr wrap="square" lIns="0" tIns="0" rIns="0" bIns="0" rtlCol="0" anchor="ctr"/>
          <a:lstStyle/>
          <a:p>
            <a:pPr algn="ctr"/>
            <a:r>
              <a:rPr lang="en-US" sz="1100" b="1" i="1">
                <a:solidFill>
                  <a:srgbClr val="1F3B66"/>
                </a:solidFill>
                <a:latin typeface="Arial"/>
                <a:ea typeface="Arial" pitchFamily="34" charset="-122"/>
                <a:cs typeface="Arial"/>
              </a:rPr>
              <a:t>8,561,566 cycle × 10ns = 85.6ms/frame → 약 11.7 fps</a:t>
            </a:r>
            <a:endParaRPr lang="en-US" sz="1100">
              <a:latin typeface="Arial"/>
              <a:cs typeface="Arial"/>
            </a:endParaRPr>
          </a:p>
        </p:txBody>
      </p:sp>
      <p:sp>
        <p:nvSpPr>
          <p:cNvPr id="4" name="Text 4">
            <a:extLst>
              <a:ext uri="{FF2B5EF4-FFF2-40B4-BE49-F238E27FC236}">
                <a16:creationId xmlns:a16="http://schemas.microsoft.com/office/drawing/2014/main" id="{680A40E9-86AC-61A3-0E32-2200C4D2BA3A}"/>
              </a:ext>
            </a:extLst>
          </p:cNvPr>
          <p:cNvSpPr/>
          <p:nvPr/>
        </p:nvSpPr>
        <p:spPr>
          <a:xfrm>
            <a:off x="651986" y="4957286"/>
            <a:ext cx="10911535" cy="320040"/>
          </a:xfrm>
          <a:prstGeom prst="rect">
            <a:avLst/>
          </a:prstGeom>
          <a:noFill/>
          <a:ln/>
        </p:spPr>
        <p:txBody>
          <a:bodyPr wrap="square" lIns="0" tIns="0" rIns="0" bIns="0" rtlCol="0" anchor="ctr"/>
          <a:lstStyle/>
          <a:p>
            <a:pPr marL="0" indent="0" algn="ctr">
              <a:buNone/>
            </a:pPr>
            <a:r>
              <a:rPr lang="en-US" sz="1100" i="1">
                <a:solidFill>
                  <a:srgbClr val="8A929E"/>
                </a:solidFill>
                <a:latin typeface="Arial" pitchFamily="34" charset="0"/>
                <a:ea typeface="Arial" pitchFamily="34" charset="-122"/>
                <a:cs typeface="Arial" pitchFamily="34" charset="-120"/>
              </a:rPr>
              <a:t>KV260(XCK26) 예산 — LUT 117,120 · BRAM(RAMB36) 144 · URAM 64 · DSP 1,248</a:t>
            </a:r>
            <a:endParaRPr lang="en-US" sz="1100"/>
          </a:p>
        </p:txBody>
      </p:sp>
      <p:sp>
        <p:nvSpPr>
          <p:cNvPr id="3" name="Text 2">
            <a:extLst>
              <a:ext uri="{FF2B5EF4-FFF2-40B4-BE49-F238E27FC236}">
                <a16:creationId xmlns:a16="http://schemas.microsoft.com/office/drawing/2014/main" id="{7D5F1D79-3171-6D0F-45CF-9D6C6C2119E5}"/>
              </a:ext>
            </a:extLst>
          </p:cNvPr>
          <p:cNvSpPr/>
          <p:nvPr/>
        </p:nvSpPr>
        <p:spPr>
          <a:xfrm>
            <a:off x="511991" y="5678986"/>
            <a:ext cx="11183112" cy="365760"/>
          </a:xfrm>
          <a:prstGeom prst="rect">
            <a:avLst/>
          </a:prstGeom>
          <a:noFill/>
          <a:ln/>
        </p:spPr>
        <p:txBody>
          <a:bodyPr wrap="square" lIns="0" tIns="0" rIns="0" bIns="0" rtlCol="0" anchor="ctr"/>
          <a:lstStyle/>
          <a:p>
            <a:pPr algn="ctr"/>
            <a:r>
              <a:rPr lang="ko-KR" altLang="en-US" sz="1100" b="1" i="1">
                <a:solidFill>
                  <a:srgbClr val="FF0000"/>
                </a:solidFill>
                <a:latin typeface="Arial"/>
                <a:ea typeface="맑은 고딕"/>
                <a:cs typeface="Arial"/>
              </a:rPr>
              <a:t>하드웨어 자원 초과 문제 발생</a:t>
            </a:r>
          </a:p>
        </p:txBody>
      </p:sp>
    </p:spTree>
    <p:extLst>
      <p:ext uri="{BB962C8B-B14F-4D97-AF65-F5344CB8AC3E}">
        <p14:creationId xmlns:p14="http://schemas.microsoft.com/office/powerpoint/2010/main" val="1187502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F09DE29-B819-83C1-3107-751A3734B6CF}"/>
            </a:ext>
          </a:extLst>
        </p:cNvPr>
        <p:cNvGrpSpPr/>
        <p:nvPr/>
      </p:nvGrpSpPr>
      <p:grpSpPr>
        <a:xfrm>
          <a:off x="0" y="0"/>
          <a:ext cx="0" cy="0"/>
          <a:chOff x="0" y="0"/>
          <a:chExt cx="0" cy="0"/>
        </a:xfrm>
      </p:grpSpPr>
      <p:sp>
        <p:nvSpPr>
          <p:cNvPr id="15" name="Shape 13">
            <a:extLst>
              <a:ext uri="{FF2B5EF4-FFF2-40B4-BE49-F238E27FC236}">
                <a16:creationId xmlns:a16="http://schemas.microsoft.com/office/drawing/2014/main" id="{F90B3536-31A8-7F41-97C7-94B9D17A3DCA}"/>
              </a:ext>
            </a:extLst>
          </p:cNvPr>
          <p:cNvSpPr/>
          <p:nvPr/>
        </p:nvSpPr>
        <p:spPr>
          <a:xfrm>
            <a:off x="8235253" y="1746795"/>
            <a:ext cx="3291840" cy="3051627"/>
          </a:xfrm>
          <a:prstGeom prst="roundRect">
            <a:avLst>
              <a:gd name="adj" fmla="val 4571"/>
            </a:avLst>
          </a:prstGeom>
          <a:solidFill>
            <a:srgbClr val="EDF1F7"/>
          </a:solidFill>
          <a:ln/>
        </p:spPr>
      </p:sp>
      <p:sp>
        <p:nvSpPr>
          <p:cNvPr id="2" name="Text 0">
            <a:extLst>
              <a:ext uri="{FF2B5EF4-FFF2-40B4-BE49-F238E27FC236}">
                <a16:creationId xmlns:a16="http://schemas.microsoft.com/office/drawing/2014/main" id="{0F558B0F-C928-3841-650B-A31C9C4B720E}"/>
              </a:ext>
            </a:extLst>
          </p:cNvPr>
          <p:cNvSpPr/>
          <p:nvPr/>
        </p:nvSpPr>
        <p:spPr>
          <a:xfrm>
            <a:off x="457200" y="201168"/>
            <a:ext cx="11277295" cy="502920"/>
          </a:xfrm>
          <a:prstGeom prst="rect">
            <a:avLst/>
          </a:prstGeom>
          <a:noFill/>
          <a:ln/>
        </p:spPr>
        <p:txBody>
          <a:bodyPr wrap="square" lIns="0" tIns="0" rIns="0" bIns="0" rtlCol="0" anchor="ctr"/>
          <a:lstStyle/>
          <a:p>
            <a:pPr marL="0" indent="0" algn="ctr">
              <a:buNone/>
            </a:pPr>
            <a:r>
              <a:rPr lang="en-US" sz="2600" b="1">
                <a:solidFill>
                  <a:srgbClr val="1F3B66"/>
                </a:solidFill>
                <a:latin typeface="Arial" pitchFamily="34" charset="0"/>
                <a:ea typeface="Arial" pitchFamily="34" charset="-122"/>
                <a:cs typeface="Arial" pitchFamily="34" charset="-120"/>
              </a:rPr>
              <a:t>해결책 후보 3가지</a:t>
            </a:r>
            <a:endParaRPr lang="en-US" sz="2600"/>
          </a:p>
        </p:txBody>
      </p:sp>
      <p:sp>
        <p:nvSpPr>
          <p:cNvPr id="3" name="Shape 1">
            <a:extLst>
              <a:ext uri="{FF2B5EF4-FFF2-40B4-BE49-F238E27FC236}">
                <a16:creationId xmlns:a16="http://schemas.microsoft.com/office/drawing/2014/main" id="{C04AA479-E54F-17D7-E65E-5578BD8AB376}"/>
              </a:ext>
            </a:extLst>
          </p:cNvPr>
          <p:cNvSpPr/>
          <p:nvPr/>
        </p:nvSpPr>
        <p:spPr>
          <a:xfrm>
            <a:off x="2095348" y="1143000"/>
            <a:ext cx="502920" cy="502920"/>
          </a:xfrm>
          <a:prstGeom prst="ellipse">
            <a:avLst/>
          </a:prstGeom>
          <a:solidFill>
            <a:srgbClr val="1F3B66"/>
          </a:solidFill>
          <a:ln/>
        </p:spPr>
      </p:sp>
      <p:sp>
        <p:nvSpPr>
          <p:cNvPr id="4" name="Text 2">
            <a:extLst>
              <a:ext uri="{FF2B5EF4-FFF2-40B4-BE49-F238E27FC236}">
                <a16:creationId xmlns:a16="http://schemas.microsoft.com/office/drawing/2014/main" id="{1777F866-339F-1993-A29E-80C91CD972EE}"/>
              </a:ext>
            </a:extLst>
          </p:cNvPr>
          <p:cNvSpPr/>
          <p:nvPr/>
        </p:nvSpPr>
        <p:spPr>
          <a:xfrm>
            <a:off x="2095348" y="1143000"/>
            <a:ext cx="502920" cy="502920"/>
          </a:xfrm>
          <a:prstGeom prst="rect">
            <a:avLst/>
          </a:prstGeom>
          <a:noFill/>
          <a:ln/>
        </p:spPr>
        <p:txBody>
          <a:bodyPr wrap="square" lIns="0" tIns="0" rIns="0" bIns="0" rtlCol="0" anchor="ctr"/>
          <a:lstStyle/>
          <a:p>
            <a:pPr marL="0" indent="0" algn="ctr">
              <a:buNone/>
            </a:pPr>
            <a:r>
              <a:rPr lang="en-US" sz="1800" b="1">
                <a:solidFill>
                  <a:srgbClr val="FFFFFF"/>
                </a:solidFill>
                <a:latin typeface="Arial" pitchFamily="34" charset="0"/>
                <a:ea typeface="Arial" pitchFamily="34" charset="-122"/>
                <a:cs typeface="Arial" pitchFamily="34" charset="-120"/>
              </a:rPr>
              <a:t>1</a:t>
            </a:r>
            <a:endParaRPr lang="en-US" sz="1800"/>
          </a:p>
        </p:txBody>
      </p:sp>
      <p:sp>
        <p:nvSpPr>
          <p:cNvPr id="5" name="Shape 3">
            <a:extLst>
              <a:ext uri="{FF2B5EF4-FFF2-40B4-BE49-F238E27FC236}">
                <a16:creationId xmlns:a16="http://schemas.microsoft.com/office/drawing/2014/main" id="{5E39812E-CD23-2A43-EB82-0E9239465A4A}"/>
              </a:ext>
            </a:extLst>
          </p:cNvPr>
          <p:cNvSpPr/>
          <p:nvPr/>
        </p:nvSpPr>
        <p:spPr>
          <a:xfrm>
            <a:off x="700888" y="1737723"/>
            <a:ext cx="3291840" cy="3060699"/>
          </a:xfrm>
          <a:prstGeom prst="roundRect">
            <a:avLst>
              <a:gd name="adj" fmla="val 4571"/>
            </a:avLst>
          </a:prstGeom>
          <a:solidFill>
            <a:srgbClr val="EDF1F7"/>
          </a:solidFill>
          <a:ln/>
        </p:spPr>
      </p:sp>
      <p:sp>
        <p:nvSpPr>
          <p:cNvPr id="6" name="Text 4">
            <a:extLst>
              <a:ext uri="{FF2B5EF4-FFF2-40B4-BE49-F238E27FC236}">
                <a16:creationId xmlns:a16="http://schemas.microsoft.com/office/drawing/2014/main" id="{9F349E9B-3BE0-4406-775C-F4F8AF8CEC10}"/>
              </a:ext>
            </a:extLst>
          </p:cNvPr>
          <p:cNvSpPr/>
          <p:nvPr/>
        </p:nvSpPr>
        <p:spPr>
          <a:xfrm>
            <a:off x="883768" y="1911096"/>
            <a:ext cx="2926080" cy="365760"/>
          </a:xfrm>
          <a:prstGeom prst="rect">
            <a:avLst/>
          </a:prstGeom>
          <a:noFill/>
          <a:ln/>
        </p:spPr>
        <p:txBody>
          <a:bodyPr wrap="square" lIns="0" tIns="0" rIns="0" bIns="0" rtlCol="0" anchor="ctr"/>
          <a:lstStyle/>
          <a:p>
            <a:pPr algn="ctr"/>
            <a:r>
              <a:rPr lang="en-US" b="1">
                <a:solidFill>
                  <a:srgbClr val="1F3B66"/>
                </a:solidFill>
                <a:latin typeface="Arial"/>
                <a:ea typeface="Arial" pitchFamily="34" charset="-122"/>
                <a:cs typeface="Arial"/>
              </a:rPr>
              <a:t>Vivado 실측 </a:t>
            </a:r>
            <a:r>
              <a:rPr lang="ko-KR" altLang="en-US" b="1">
                <a:solidFill>
                  <a:srgbClr val="1F3B66"/>
                </a:solidFill>
                <a:latin typeface="Arial"/>
                <a:ea typeface="Arial" pitchFamily="34" charset="-122"/>
                <a:cs typeface="Arial"/>
              </a:rPr>
              <a:t>시도</a:t>
            </a:r>
            <a:endParaRPr lang="ko-KR" altLang="en-US" b="1">
              <a:solidFill>
                <a:srgbClr val="1F3B66"/>
              </a:solidFill>
              <a:latin typeface="Arial"/>
              <a:ea typeface="Calibri" panose="020F0502020204030204"/>
              <a:cs typeface="Arial"/>
            </a:endParaRPr>
          </a:p>
        </p:txBody>
      </p:sp>
      <p:sp>
        <p:nvSpPr>
          <p:cNvPr id="7" name="Text 5">
            <a:extLst>
              <a:ext uri="{FF2B5EF4-FFF2-40B4-BE49-F238E27FC236}">
                <a16:creationId xmlns:a16="http://schemas.microsoft.com/office/drawing/2014/main" id="{181DF82E-0FC8-0971-CCA9-3C535486066B}"/>
              </a:ext>
            </a:extLst>
          </p:cNvPr>
          <p:cNvSpPr/>
          <p:nvPr/>
        </p:nvSpPr>
        <p:spPr>
          <a:xfrm>
            <a:off x="883768" y="2276929"/>
            <a:ext cx="3007722" cy="1292737"/>
          </a:xfrm>
          <a:prstGeom prst="rect">
            <a:avLst/>
          </a:prstGeom>
          <a:noFill/>
          <a:ln/>
        </p:spPr>
        <p:txBody>
          <a:bodyPr wrap="square" lIns="0" tIns="0" rIns="0" bIns="0" rtlCol="0" anchor="t"/>
          <a:lstStyle/>
          <a:p>
            <a:pPr>
              <a:lnSpc>
                <a:spcPct val="114999"/>
              </a:lnSpc>
            </a:pPr>
            <a:r>
              <a:rPr lang="en-US" sz="1400">
                <a:solidFill>
                  <a:srgbClr val="2E3B52"/>
                </a:solidFill>
                <a:latin typeface="Arial"/>
                <a:ea typeface="Arial" pitchFamily="34" charset="-122"/>
                <a:cs typeface="Arial"/>
              </a:rPr>
              <a:t>• HLS </a:t>
            </a:r>
            <a:r>
              <a:rPr lang="en-US" sz="1400" err="1">
                <a:solidFill>
                  <a:srgbClr val="2E3B52"/>
                </a:solidFill>
                <a:latin typeface="Arial"/>
                <a:ea typeface="Arial" pitchFamily="34" charset="-122"/>
                <a:cs typeface="Arial"/>
              </a:rPr>
              <a:t>합성</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리포트</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자원</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수치는</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보수적.</a:t>
            </a:r>
            <a:r>
              <a:rPr lang="en-US" sz="1400">
                <a:solidFill>
                  <a:srgbClr val="2E3B52"/>
                </a:solidFill>
                <a:latin typeface="Arial"/>
                <a:ea typeface="Arial" pitchFamily="34" charset="-122"/>
                <a:cs typeface="Arial"/>
              </a:rPr>
              <a:t> </a:t>
            </a:r>
            <a:endParaRPr lang="en-US" sz="1400">
              <a:solidFill>
                <a:srgbClr val="000000"/>
              </a:solidFill>
              <a:latin typeface="Arial"/>
              <a:ea typeface="Arial" pitchFamily="34" charset="-122"/>
              <a:cs typeface="Arial"/>
            </a:endParaRPr>
          </a:p>
          <a:p>
            <a:pPr>
              <a:lnSpc>
                <a:spcPct val="114999"/>
              </a:lnSpc>
            </a:pPr>
            <a:br>
              <a:rPr lang="en-US" sz="1400">
                <a:latin typeface="Arial"/>
                <a:ea typeface="Arial" pitchFamily="34" charset="-122"/>
                <a:cs typeface="Arial"/>
              </a:rPr>
            </a:br>
            <a:r>
              <a:rPr lang="en-US" altLang="ko-KR"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Vivado</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Implementation을</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실행하여</a:t>
            </a:r>
            <a:r>
              <a:rPr lang="en-US" altLang="ko-KR" sz="1400">
                <a:solidFill>
                  <a:srgbClr val="2E3B52"/>
                </a:solidFill>
                <a:latin typeface="Arial"/>
                <a:ea typeface="Arial" pitchFamily="34" charset="-122"/>
                <a:cs typeface="Arial"/>
              </a:rPr>
              <a:t> </a:t>
            </a:r>
            <a:endParaRPr lang="en-US" sz="1400">
              <a:solidFill>
                <a:srgbClr val="2E3B52"/>
              </a:solidFill>
              <a:latin typeface="Arial"/>
              <a:ea typeface="Arial" pitchFamily="34" charset="-122"/>
              <a:cs typeface="Arial"/>
            </a:endParaRPr>
          </a:p>
          <a:p>
            <a:pPr>
              <a:lnSpc>
                <a:spcPct val="114999"/>
              </a:lnSpc>
            </a:pPr>
            <a:r>
              <a:rPr lang="en-US" altLang="ko-KR" sz="1400" err="1">
                <a:solidFill>
                  <a:srgbClr val="2E3B52"/>
                </a:solidFill>
                <a:latin typeface="Arial"/>
                <a:ea typeface="Arial" pitchFamily="34" charset="-122"/>
                <a:cs typeface="Arial"/>
              </a:rPr>
              <a:t>얻은</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실측치는 여유가 있을   확률이 있다.</a:t>
            </a:r>
            <a:endParaRPr lang="en-US" sz="1400">
              <a:solidFill>
                <a:srgbClr val="2E3B52"/>
              </a:solidFill>
              <a:latin typeface="Arial"/>
              <a:cs typeface="Arial"/>
            </a:endParaRPr>
          </a:p>
        </p:txBody>
      </p:sp>
      <p:sp>
        <p:nvSpPr>
          <p:cNvPr id="8" name="Shape 6">
            <a:extLst>
              <a:ext uri="{FF2B5EF4-FFF2-40B4-BE49-F238E27FC236}">
                <a16:creationId xmlns:a16="http://schemas.microsoft.com/office/drawing/2014/main" id="{E32C925F-8220-60E4-686B-7C6E583BBBC0}"/>
              </a:ext>
            </a:extLst>
          </p:cNvPr>
          <p:cNvSpPr/>
          <p:nvPr/>
        </p:nvSpPr>
        <p:spPr>
          <a:xfrm>
            <a:off x="5844388" y="1143000"/>
            <a:ext cx="502920" cy="502920"/>
          </a:xfrm>
          <a:prstGeom prst="ellipse">
            <a:avLst/>
          </a:prstGeom>
          <a:solidFill>
            <a:srgbClr val="1F3B66"/>
          </a:solidFill>
          <a:ln/>
        </p:spPr>
      </p:sp>
      <p:sp>
        <p:nvSpPr>
          <p:cNvPr id="9" name="Text 7">
            <a:extLst>
              <a:ext uri="{FF2B5EF4-FFF2-40B4-BE49-F238E27FC236}">
                <a16:creationId xmlns:a16="http://schemas.microsoft.com/office/drawing/2014/main" id="{BF7EB890-C8AE-03D7-9C5B-BA145B4D0CE8}"/>
              </a:ext>
            </a:extLst>
          </p:cNvPr>
          <p:cNvSpPr/>
          <p:nvPr/>
        </p:nvSpPr>
        <p:spPr>
          <a:xfrm>
            <a:off x="5844388" y="1143000"/>
            <a:ext cx="502920" cy="502920"/>
          </a:xfrm>
          <a:prstGeom prst="rect">
            <a:avLst/>
          </a:prstGeom>
          <a:noFill/>
          <a:ln/>
        </p:spPr>
        <p:txBody>
          <a:bodyPr wrap="square" lIns="0" tIns="0" rIns="0" bIns="0" rtlCol="0" anchor="ctr"/>
          <a:lstStyle/>
          <a:p>
            <a:pPr marL="0" indent="0" algn="ctr">
              <a:buNone/>
            </a:pPr>
            <a:r>
              <a:rPr lang="en-US" sz="1800" b="1">
                <a:solidFill>
                  <a:srgbClr val="FFFFFF"/>
                </a:solidFill>
                <a:latin typeface="Arial" pitchFamily="34" charset="0"/>
                <a:ea typeface="Arial" pitchFamily="34" charset="-122"/>
                <a:cs typeface="Arial" pitchFamily="34" charset="-120"/>
              </a:rPr>
              <a:t>2</a:t>
            </a:r>
            <a:endParaRPr lang="en-US" sz="1800"/>
          </a:p>
        </p:txBody>
      </p:sp>
      <p:sp>
        <p:nvSpPr>
          <p:cNvPr id="10" name="Shape 8">
            <a:extLst>
              <a:ext uri="{FF2B5EF4-FFF2-40B4-BE49-F238E27FC236}">
                <a16:creationId xmlns:a16="http://schemas.microsoft.com/office/drawing/2014/main" id="{67B6C6B6-FE81-4106-D2F9-E7DCBC687DB4}"/>
              </a:ext>
            </a:extLst>
          </p:cNvPr>
          <p:cNvSpPr/>
          <p:nvPr/>
        </p:nvSpPr>
        <p:spPr>
          <a:xfrm>
            <a:off x="4449928" y="1728652"/>
            <a:ext cx="3291840" cy="3060699"/>
          </a:xfrm>
          <a:prstGeom prst="roundRect">
            <a:avLst>
              <a:gd name="adj" fmla="val 4571"/>
            </a:avLst>
          </a:prstGeom>
          <a:solidFill>
            <a:srgbClr val="EDF1F7"/>
          </a:solidFill>
          <a:ln/>
        </p:spPr>
      </p:sp>
      <p:sp>
        <p:nvSpPr>
          <p:cNvPr id="11" name="Text 9">
            <a:extLst>
              <a:ext uri="{FF2B5EF4-FFF2-40B4-BE49-F238E27FC236}">
                <a16:creationId xmlns:a16="http://schemas.microsoft.com/office/drawing/2014/main" id="{19FCB554-A5F1-D79D-4A4C-A2E6A98E47B2}"/>
              </a:ext>
            </a:extLst>
          </p:cNvPr>
          <p:cNvSpPr/>
          <p:nvPr/>
        </p:nvSpPr>
        <p:spPr>
          <a:xfrm>
            <a:off x="8424665" y="1911096"/>
            <a:ext cx="2926080" cy="365760"/>
          </a:xfrm>
          <a:prstGeom prst="rect">
            <a:avLst/>
          </a:prstGeom>
          <a:noFill/>
          <a:ln/>
        </p:spPr>
        <p:txBody>
          <a:bodyPr wrap="square" lIns="0" tIns="0" rIns="0" bIns="0" rtlCol="0" anchor="ctr"/>
          <a:lstStyle/>
          <a:p>
            <a:pPr marL="0" indent="0" algn="ctr">
              <a:buNone/>
            </a:pPr>
            <a:r>
              <a:rPr lang="en-US" b="1" err="1">
                <a:solidFill>
                  <a:srgbClr val="1F3B66"/>
                </a:solidFill>
                <a:latin typeface="Arial"/>
                <a:ea typeface="Arial" pitchFamily="34" charset="-122"/>
                <a:cs typeface="Arial"/>
              </a:rPr>
              <a:t>입력</a:t>
            </a:r>
            <a:r>
              <a:rPr lang="en-US" b="1">
                <a:solidFill>
                  <a:srgbClr val="1F3B66"/>
                </a:solidFill>
                <a:latin typeface="Arial"/>
                <a:ea typeface="Arial" pitchFamily="34" charset="-122"/>
                <a:cs typeface="Arial"/>
              </a:rPr>
              <a:t> </a:t>
            </a:r>
            <a:r>
              <a:rPr lang="en-US" b="1" err="1">
                <a:solidFill>
                  <a:srgbClr val="1F3B66"/>
                </a:solidFill>
                <a:latin typeface="Arial"/>
                <a:ea typeface="Arial" pitchFamily="34" charset="-122"/>
                <a:cs typeface="Arial"/>
              </a:rPr>
              <a:t>해상도</a:t>
            </a:r>
            <a:r>
              <a:rPr lang="en-US" b="1">
                <a:solidFill>
                  <a:srgbClr val="1F3B66"/>
                </a:solidFill>
                <a:latin typeface="Arial"/>
                <a:ea typeface="Arial" pitchFamily="34" charset="-122"/>
                <a:cs typeface="Arial"/>
              </a:rPr>
              <a:t> </a:t>
            </a:r>
            <a:r>
              <a:rPr lang="en-US" b="1" err="1">
                <a:solidFill>
                  <a:srgbClr val="1F3B66"/>
                </a:solidFill>
                <a:latin typeface="Arial"/>
                <a:ea typeface="Arial" pitchFamily="34" charset="-122"/>
                <a:cs typeface="Arial"/>
              </a:rPr>
              <a:t>축소</a:t>
            </a:r>
            <a:endParaRPr lang="en-US">
              <a:latin typeface="Arial"/>
              <a:ea typeface="Calibri" panose="020F0502020204030204"/>
              <a:cs typeface="Calibri" panose="020F0502020204030204"/>
            </a:endParaRPr>
          </a:p>
        </p:txBody>
      </p:sp>
      <p:sp>
        <p:nvSpPr>
          <p:cNvPr id="12" name="Text 10">
            <a:extLst>
              <a:ext uri="{FF2B5EF4-FFF2-40B4-BE49-F238E27FC236}">
                <a16:creationId xmlns:a16="http://schemas.microsoft.com/office/drawing/2014/main" id="{35462B41-2FEA-4F03-1DEE-0867CFC685E7}"/>
              </a:ext>
            </a:extLst>
          </p:cNvPr>
          <p:cNvSpPr/>
          <p:nvPr/>
        </p:nvSpPr>
        <p:spPr>
          <a:xfrm>
            <a:off x="8424665" y="2273905"/>
            <a:ext cx="2926080" cy="1927738"/>
          </a:xfrm>
          <a:prstGeom prst="rect">
            <a:avLst/>
          </a:prstGeom>
          <a:noFill/>
          <a:ln/>
        </p:spPr>
        <p:txBody>
          <a:bodyPr wrap="square" lIns="0" tIns="0" rIns="0" bIns="0" rtlCol="0" anchor="t"/>
          <a:lstStyle/>
          <a:p>
            <a:pPr>
              <a:lnSpc>
                <a:spcPct val="114999"/>
              </a:lnSpc>
            </a:pP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가장</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직관적인</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방법</a:t>
            </a:r>
            <a:r>
              <a:rPr lang="en-US" sz="1400">
                <a:solidFill>
                  <a:srgbClr val="2E3B52"/>
                </a:solidFill>
                <a:latin typeface="Arial"/>
                <a:ea typeface="Arial" pitchFamily="34" charset="-122"/>
                <a:cs typeface="Arial"/>
              </a:rPr>
              <a:t>. </a:t>
            </a:r>
            <a:br>
              <a:rPr lang="en-US" sz="1400">
                <a:latin typeface="Arial"/>
                <a:ea typeface="Arial" pitchFamily="34" charset="-122"/>
                <a:cs typeface="Arial"/>
              </a:rPr>
            </a:br>
            <a:br>
              <a:rPr lang="en-US" sz="1400">
                <a:latin typeface="Arial"/>
                <a:ea typeface="Arial" pitchFamily="34" charset="-122"/>
                <a:cs typeface="Arial"/>
              </a:rPr>
            </a:b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연산량과</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자원</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사용량이</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함께</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줄어들</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것으로</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예상</a:t>
            </a:r>
            <a:r>
              <a:rPr lang="en-US" sz="1400">
                <a:solidFill>
                  <a:srgbClr val="2E3B52"/>
                </a:solidFill>
                <a:latin typeface="Arial"/>
                <a:ea typeface="Arial" pitchFamily="34" charset="-122"/>
                <a:cs typeface="Arial"/>
              </a:rPr>
              <a:t>.</a:t>
            </a:r>
            <a:br>
              <a:rPr lang="en-US" sz="1400">
                <a:latin typeface="Arial"/>
                <a:ea typeface="Arial" pitchFamily="34" charset="-122"/>
                <a:cs typeface="Arial"/>
              </a:rPr>
            </a:br>
            <a:br>
              <a:rPr lang="en-US" sz="1400">
                <a:latin typeface="Arial"/>
                <a:cs typeface="Arial"/>
              </a:rPr>
            </a:br>
            <a:r>
              <a:rPr lang="en-US" altLang="ko-KR" sz="1400">
                <a:solidFill>
                  <a:srgbClr val="2E3B52"/>
                </a:solidFill>
                <a:latin typeface="Arial"/>
                <a:ea typeface="맑은 고딕"/>
                <a:cs typeface="Arial"/>
              </a:rPr>
              <a:t>• </a:t>
            </a:r>
            <a:r>
              <a:rPr lang="en-US" altLang="ko-KR" sz="1400" err="1">
                <a:solidFill>
                  <a:srgbClr val="2E3B52"/>
                </a:solidFill>
                <a:latin typeface="Arial"/>
                <a:ea typeface="맑은 고딕"/>
                <a:cs typeface="Arial"/>
              </a:rPr>
              <a:t>객체</a:t>
            </a:r>
            <a:r>
              <a:rPr lang="en-US" altLang="ko-KR" sz="1400">
                <a:solidFill>
                  <a:srgbClr val="2E3B52"/>
                </a:solidFill>
                <a:latin typeface="Arial"/>
                <a:ea typeface="맑은 고딕"/>
                <a:cs typeface="Arial"/>
              </a:rPr>
              <a:t> </a:t>
            </a:r>
            <a:r>
              <a:rPr lang="en-US" altLang="ko-KR" sz="1400" err="1">
                <a:solidFill>
                  <a:srgbClr val="2E3B52"/>
                </a:solidFill>
                <a:latin typeface="Arial"/>
                <a:ea typeface="맑은 고딕"/>
                <a:cs typeface="Arial"/>
              </a:rPr>
              <a:t>인식</a:t>
            </a:r>
            <a:r>
              <a:rPr lang="en-US" altLang="ko-KR" sz="1400">
                <a:solidFill>
                  <a:srgbClr val="2E3B52"/>
                </a:solidFill>
                <a:latin typeface="Arial"/>
                <a:ea typeface="맑은 고딕"/>
                <a:cs typeface="Arial"/>
              </a:rPr>
              <a:t> </a:t>
            </a:r>
            <a:r>
              <a:rPr lang="en-US" altLang="ko-KR" sz="1400" err="1">
                <a:solidFill>
                  <a:srgbClr val="2E3B52"/>
                </a:solidFill>
                <a:latin typeface="Arial"/>
                <a:ea typeface="맑은 고딕"/>
                <a:cs typeface="Arial"/>
              </a:rPr>
              <a:t>성능</a:t>
            </a:r>
            <a:r>
              <a:rPr lang="en-US" altLang="ko-KR" sz="1400">
                <a:solidFill>
                  <a:srgbClr val="2E3B52"/>
                </a:solidFill>
                <a:latin typeface="Arial"/>
                <a:ea typeface="맑은 고딕"/>
                <a:cs typeface="Arial"/>
              </a:rPr>
              <a:t> </a:t>
            </a:r>
            <a:r>
              <a:rPr lang="en-US" altLang="ko-KR" sz="1400" err="1">
                <a:solidFill>
                  <a:srgbClr val="2E3B52"/>
                </a:solidFill>
                <a:latin typeface="Arial"/>
                <a:ea typeface="맑은 고딕"/>
                <a:cs typeface="Arial"/>
              </a:rPr>
              <a:t>크게</a:t>
            </a:r>
            <a:r>
              <a:rPr lang="en-US" altLang="ko-KR" sz="1400">
                <a:solidFill>
                  <a:srgbClr val="2E3B52"/>
                </a:solidFill>
                <a:latin typeface="Arial"/>
                <a:ea typeface="맑은 고딕"/>
                <a:cs typeface="Arial"/>
              </a:rPr>
              <a:t> </a:t>
            </a:r>
            <a:r>
              <a:rPr lang="en-US" altLang="ko-KR" sz="1400" err="1">
                <a:solidFill>
                  <a:srgbClr val="2E3B52"/>
                </a:solidFill>
                <a:latin typeface="Arial"/>
                <a:ea typeface="맑은 고딕"/>
                <a:cs typeface="Arial"/>
              </a:rPr>
              <a:t>저하</a:t>
            </a:r>
            <a:r>
              <a:rPr lang="en-US" altLang="ko-KR" sz="1400">
                <a:solidFill>
                  <a:srgbClr val="2E3B52"/>
                </a:solidFill>
                <a:latin typeface="Arial"/>
                <a:ea typeface="맑은 고딕"/>
                <a:cs typeface="Arial"/>
              </a:rPr>
              <a:t> </a:t>
            </a:r>
            <a:r>
              <a:rPr lang="en-US" altLang="ko-KR" sz="1400" err="1">
                <a:solidFill>
                  <a:srgbClr val="2E3B52"/>
                </a:solidFill>
                <a:latin typeface="Arial"/>
                <a:ea typeface="맑은 고딕"/>
                <a:cs typeface="Arial"/>
              </a:rPr>
              <a:t>예상</a:t>
            </a:r>
            <a:endParaRPr lang="en-US" altLang="ko-KR" sz="1400">
              <a:solidFill>
                <a:srgbClr val="2E3B52"/>
              </a:solidFill>
              <a:latin typeface="Arial"/>
              <a:ea typeface="맑은 고딕"/>
              <a:cs typeface="Arial"/>
            </a:endParaRPr>
          </a:p>
        </p:txBody>
      </p:sp>
      <p:sp>
        <p:nvSpPr>
          <p:cNvPr id="13" name="Shape 11">
            <a:extLst>
              <a:ext uri="{FF2B5EF4-FFF2-40B4-BE49-F238E27FC236}">
                <a16:creationId xmlns:a16="http://schemas.microsoft.com/office/drawing/2014/main" id="{111C5AF6-69C5-197E-3FB0-846E322BE95C}"/>
              </a:ext>
            </a:extLst>
          </p:cNvPr>
          <p:cNvSpPr/>
          <p:nvPr/>
        </p:nvSpPr>
        <p:spPr>
          <a:xfrm>
            <a:off x="9593428" y="1143000"/>
            <a:ext cx="502920" cy="502920"/>
          </a:xfrm>
          <a:prstGeom prst="ellipse">
            <a:avLst/>
          </a:prstGeom>
          <a:solidFill>
            <a:srgbClr val="1F3B66"/>
          </a:solidFill>
          <a:ln/>
        </p:spPr>
      </p:sp>
      <p:sp>
        <p:nvSpPr>
          <p:cNvPr id="14" name="Text 12">
            <a:extLst>
              <a:ext uri="{FF2B5EF4-FFF2-40B4-BE49-F238E27FC236}">
                <a16:creationId xmlns:a16="http://schemas.microsoft.com/office/drawing/2014/main" id="{F59D4D8B-E113-063B-9B15-0C91D40C064A}"/>
              </a:ext>
            </a:extLst>
          </p:cNvPr>
          <p:cNvSpPr/>
          <p:nvPr/>
        </p:nvSpPr>
        <p:spPr>
          <a:xfrm>
            <a:off x="9593428" y="1143000"/>
            <a:ext cx="502920" cy="502920"/>
          </a:xfrm>
          <a:prstGeom prst="rect">
            <a:avLst/>
          </a:prstGeom>
          <a:noFill/>
          <a:ln/>
        </p:spPr>
        <p:txBody>
          <a:bodyPr wrap="square" lIns="0" tIns="0" rIns="0" bIns="0" rtlCol="0" anchor="ctr"/>
          <a:lstStyle/>
          <a:p>
            <a:pPr marL="0" indent="0" algn="ctr">
              <a:buNone/>
            </a:pPr>
            <a:r>
              <a:rPr lang="en-US" sz="1800" b="1">
                <a:solidFill>
                  <a:srgbClr val="FFFFFF"/>
                </a:solidFill>
                <a:latin typeface="Arial" pitchFamily="34" charset="0"/>
                <a:ea typeface="Arial" pitchFamily="34" charset="-122"/>
                <a:cs typeface="Arial" pitchFamily="34" charset="-120"/>
              </a:rPr>
              <a:t>3</a:t>
            </a:r>
            <a:endParaRPr lang="en-US" sz="1800"/>
          </a:p>
        </p:txBody>
      </p:sp>
      <p:sp>
        <p:nvSpPr>
          <p:cNvPr id="16" name="Text 14">
            <a:extLst>
              <a:ext uri="{FF2B5EF4-FFF2-40B4-BE49-F238E27FC236}">
                <a16:creationId xmlns:a16="http://schemas.microsoft.com/office/drawing/2014/main" id="{E48BD5CF-432D-34A4-1CE1-A7A5233B10B8}"/>
              </a:ext>
            </a:extLst>
          </p:cNvPr>
          <p:cNvSpPr/>
          <p:nvPr/>
        </p:nvSpPr>
        <p:spPr>
          <a:xfrm>
            <a:off x="4635348" y="1902024"/>
            <a:ext cx="2926080" cy="365760"/>
          </a:xfrm>
          <a:prstGeom prst="rect">
            <a:avLst/>
          </a:prstGeom>
          <a:noFill/>
          <a:ln/>
        </p:spPr>
        <p:txBody>
          <a:bodyPr wrap="square" lIns="0" tIns="0" rIns="0" bIns="0" rtlCol="0" anchor="ctr"/>
          <a:lstStyle/>
          <a:p>
            <a:pPr marL="0" indent="0" algn="ctr">
              <a:buNone/>
            </a:pPr>
            <a:r>
              <a:rPr lang="en-US" b="1">
                <a:solidFill>
                  <a:srgbClr val="1F3B66"/>
                </a:solidFill>
                <a:latin typeface="Arial"/>
                <a:ea typeface="Arial" pitchFamily="34" charset="-122"/>
                <a:cs typeface="Arial"/>
              </a:rPr>
              <a:t>cv2 </a:t>
            </a:r>
            <a:r>
              <a:rPr lang="en-US" b="1" err="1">
                <a:solidFill>
                  <a:srgbClr val="1F3B66"/>
                </a:solidFill>
                <a:latin typeface="Arial"/>
                <a:ea typeface="Arial" pitchFamily="34" charset="-122"/>
                <a:cs typeface="Arial"/>
              </a:rPr>
              <a:t>연산</a:t>
            </a:r>
            <a:r>
              <a:rPr lang="en-US" b="1">
                <a:solidFill>
                  <a:srgbClr val="1F3B66"/>
                </a:solidFill>
                <a:latin typeface="Arial"/>
                <a:ea typeface="Arial" pitchFamily="34" charset="-122"/>
                <a:cs typeface="Arial"/>
              </a:rPr>
              <a:t> </a:t>
            </a:r>
            <a:r>
              <a:rPr lang="en-US" b="1" err="1">
                <a:solidFill>
                  <a:srgbClr val="1F3B66"/>
                </a:solidFill>
                <a:latin typeface="Arial"/>
                <a:ea typeface="Arial" pitchFamily="34" charset="-122"/>
                <a:cs typeface="Arial"/>
              </a:rPr>
              <a:t>제외</a:t>
            </a:r>
            <a:endParaRPr lang="en-US" err="1">
              <a:latin typeface="Arial"/>
              <a:ea typeface="Calibri"/>
              <a:cs typeface="Arial"/>
            </a:endParaRPr>
          </a:p>
        </p:txBody>
      </p:sp>
      <p:sp>
        <p:nvSpPr>
          <p:cNvPr id="17" name="Text 15">
            <a:extLst>
              <a:ext uri="{FF2B5EF4-FFF2-40B4-BE49-F238E27FC236}">
                <a16:creationId xmlns:a16="http://schemas.microsoft.com/office/drawing/2014/main" id="{8DE40409-A5F2-D48E-6853-06BFF455D6F8}"/>
              </a:ext>
            </a:extLst>
          </p:cNvPr>
          <p:cNvSpPr/>
          <p:nvPr/>
        </p:nvSpPr>
        <p:spPr>
          <a:xfrm>
            <a:off x="4617205" y="2267857"/>
            <a:ext cx="2926080" cy="1921690"/>
          </a:xfrm>
          <a:prstGeom prst="rect">
            <a:avLst/>
          </a:prstGeom>
          <a:noFill/>
          <a:ln/>
        </p:spPr>
        <p:txBody>
          <a:bodyPr wrap="square" lIns="0" tIns="0" rIns="0" bIns="0" rtlCol="0" anchor="t"/>
          <a:lstStyle/>
          <a:p>
            <a:pPr>
              <a:lnSpc>
                <a:spcPct val="114999"/>
              </a:lnSpc>
            </a:pPr>
            <a:r>
              <a:rPr lang="en-US" sz="1400">
                <a:solidFill>
                  <a:srgbClr val="2E3B52"/>
                </a:solidFill>
                <a:latin typeface="Arial"/>
                <a:ea typeface="Arial" pitchFamily="34" charset="-122"/>
                <a:cs typeface="Arial"/>
              </a:rPr>
              <a:t>• C2F </a:t>
            </a:r>
            <a:r>
              <a:rPr lang="en-US" sz="1400" err="1">
                <a:solidFill>
                  <a:srgbClr val="2E3B52"/>
                </a:solidFill>
                <a:latin typeface="Arial"/>
                <a:ea typeface="Arial" pitchFamily="34" charset="-122"/>
                <a:cs typeface="Arial"/>
              </a:rPr>
              <a:t>블록의</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마지막</a:t>
            </a:r>
            <a:r>
              <a:rPr lang="en-US" sz="1400">
                <a:solidFill>
                  <a:srgbClr val="2E3B52"/>
                </a:solidFill>
                <a:latin typeface="Arial"/>
                <a:ea typeface="Arial" pitchFamily="34" charset="-122"/>
                <a:cs typeface="Arial"/>
              </a:rPr>
              <a:t> 1×1 conv(cv2)를 </a:t>
            </a:r>
            <a:r>
              <a:rPr lang="en-US" sz="1400" err="1">
                <a:solidFill>
                  <a:srgbClr val="2E3B52"/>
                </a:solidFill>
                <a:latin typeface="Arial"/>
                <a:ea typeface="Arial" pitchFamily="34" charset="-122"/>
                <a:cs typeface="Arial"/>
              </a:rPr>
              <a:t>HW에서</a:t>
            </a:r>
            <a:r>
              <a:rPr lang="en-US"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제외</a:t>
            </a:r>
            <a:r>
              <a:rPr lang="en-US" altLang="ko-KR" sz="1400">
                <a:solidFill>
                  <a:srgbClr val="2E3B52"/>
                </a:solidFill>
                <a:latin typeface="Arial"/>
                <a:ea typeface="Arial" pitchFamily="34" charset="-122"/>
                <a:cs typeface="Arial"/>
              </a:rPr>
              <a:t> </a:t>
            </a:r>
            <a:r>
              <a:rPr lang="ko-KR" altLang="en-US" sz="1400">
                <a:solidFill>
                  <a:srgbClr val="2E3B52"/>
                </a:solidFill>
                <a:latin typeface="Arial"/>
                <a:ea typeface="Arial" pitchFamily="34" charset="-122"/>
                <a:cs typeface="Arial"/>
              </a:rPr>
              <a:t>후</a:t>
            </a:r>
            <a:r>
              <a:rPr lang="en-US" sz="1400">
                <a:solidFill>
                  <a:srgbClr val="2E3B52"/>
                </a:solidFill>
                <a:latin typeface="Arial"/>
                <a:ea typeface="Arial" pitchFamily="34" charset="-122"/>
                <a:cs typeface="Arial"/>
              </a:rPr>
              <a:t> SW(PS)로 </a:t>
            </a:r>
            <a:r>
              <a:rPr lang="en-US" sz="1400" err="1">
                <a:solidFill>
                  <a:srgbClr val="2E3B52"/>
                </a:solidFill>
                <a:latin typeface="Arial"/>
                <a:ea typeface="Arial" pitchFamily="34" charset="-122"/>
                <a:cs typeface="Arial"/>
              </a:rPr>
              <a:t>이전</a:t>
            </a:r>
            <a:r>
              <a:rPr lang="en-US" sz="1400">
                <a:solidFill>
                  <a:srgbClr val="2E3B52"/>
                </a:solidFill>
                <a:latin typeface="Arial"/>
                <a:ea typeface="Arial" pitchFamily="34" charset="-122"/>
                <a:cs typeface="Arial"/>
              </a:rPr>
              <a:t> </a:t>
            </a:r>
            <a:br>
              <a:rPr lang="en-US" sz="1400">
                <a:latin typeface="Arial"/>
                <a:ea typeface="Arial" pitchFamily="34" charset="-122"/>
                <a:cs typeface="Arial"/>
              </a:rPr>
            </a:br>
            <a:br>
              <a:rPr lang="en-US" sz="1400">
                <a:latin typeface="Arial"/>
                <a:ea typeface="Arial" pitchFamily="34" charset="-122"/>
                <a:cs typeface="Arial"/>
              </a:rPr>
            </a:br>
            <a:r>
              <a:rPr lang="en-US" sz="1400">
                <a:solidFill>
                  <a:srgbClr val="2E3B52"/>
                </a:solidFill>
                <a:latin typeface="Arial"/>
                <a:ea typeface="Arial" pitchFamily="34" charset="-122"/>
                <a:cs typeface="Arial"/>
              </a:rPr>
              <a:t>• 세 </a:t>
            </a:r>
            <a:r>
              <a:rPr lang="en-US" sz="1400" err="1">
                <a:solidFill>
                  <a:srgbClr val="2E3B52"/>
                </a:solidFill>
                <a:latin typeface="Arial"/>
                <a:ea typeface="Arial" pitchFamily="34" charset="-122"/>
                <a:cs typeface="Arial"/>
              </a:rPr>
              <a:t>방법</a:t>
            </a:r>
            <a:r>
              <a:rPr lang="en-US" sz="1400">
                <a:solidFill>
                  <a:srgbClr val="2E3B52"/>
                </a:solidFill>
                <a:latin typeface="Arial"/>
                <a:ea typeface="Arial" pitchFamily="34" charset="-122"/>
                <a:cs typeface="Arial"/>
              </a:rPr>
              <a:t> 중 </a:t>
            </a:r>
            <a:r>
              <a:rPr lang="en-US" sz="1400" err="1">
                <a:solidFill>
                  <a:srgbClr val="2E3B52"/>
                </a:solidFill>
                <a:latin typeface="Arial"/>
                <a:ea typeface="Arial" pitchFamily="34" charset="-122"/>
                <a:cs typeface="Arial"/>
              </a:rPr>
              <a:t>자원</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절감</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효과가</a:t>
            </a:r>
            <a:r>
              <a:rPr lang="en-US" sz="1400">
                <a:solidFill>
                  <a:srgbClr val="2E3B52"/>
                </a:solidFill>
                <a:latin typeface="Arial"/>
                <a:ea typeface="Arial" pitchFamily="34" charset="-122"/>
                <a:cs typeface="Arial"/>
              </a:rPr>
              <a:t> </a:t>
            </a:r>
            <a:r>
              <a:rPr lang="en-US" sz="1400" err="1">
                <a:solidFill>
                  <a:srgbClr val="2E3B52"/>
                </a:solidFill>
                <a:latin typeface="Arial"/>
                <a:ea typeface="Arial" pitchFamily="34" charset="-122"/>
                <a:cs typeface="Arial"/>
              </a:rPr>
              <a:t>가장</a:t>
            </a:r>
            <a:r>
              <a:rPr lang="en-US" sz="1400">
                <a:solidFill>
                  <a:srgbClr val="2E3B52"/>
                </a:solidFill>
                <a:latin typeface="Arial"/>
                <a:ea typeface="Arial" pitchFamily="34" charset="-122"/>
                <a:cs typeface="Arial"/>
              </a:rPr>
              <a:t> 큼.</a:t>
            </a:r>
            <a:br>
              <a:rPr lang="en-US" sz="1400">
                <a:latin typeface="Arial"/>
                <a:ea typeface="Arial" pitchFamily="34" charset="-122"/>
                <a:cs typeface="Arial"/>
              </a:rPr>
            </a:br>
            <a:br>
              <a:rPr lang="en-US" sz="1400">
                <a:latin typeface="Arial"/>
                <a:cs typeface="Arial"/>
              </a:rPr>
            </a:br>
            <a:r>
              <a:rPr lang="en-US" altLang="ko-KR" sz="1400">
                <a:solidFill>
                  <a:srgbClr val="2E3B52"/>
                </a:solidFill>
                <a:latin typeface="Arial"/>
                <a:ea typeface="맑은 고딕"/>
                <a:cs typeface="Arial"/>
              </a:rPr>
              <a:t>• </a:t>
            </a:r>
            <a:r>
              <a:rPr lang="ko-KR" altLang="en-US" sz="1400">
                <a:solidFill>
                  <a:srgbClr val="2E3B52"/>
                </a:solidFill>
                <a:latin typeface="Arial"/>
                <a:ea typeface="맑은 고딕"/>
                <a:cs typeface="Arial"/>
              </a:rPr>
              <a:t>전체</a:t>
            </a:r>
            <a:r>
              <a:rPr lang="en-US" sz="1400">
                <a:solidFill>
                  <a:srgbClr val="2E3B52"/>
                </a:solidFill>
                <a:latin typeface="Arial"/>
                <a:cs typeface="Arial"/>
              </a:rPr>
              <a:t> IP </a:t>
            </a:r>
            <a:r>
              <a:rPr lang="ko-KR" altLang="en-US" sz="1400">
                <a:solidFill>
                  <a:srgbClr val="2E3B52"/>
                </a:solidFill>
                <a:latin typeface="Arial"/>
                <a:ea typeface="맑은 고딕"/>
                <a:cs typeface="Arial"/>
              </a:rPr>
              <a:t>재합성</a:t>
            </a:r>
            <a:r>
              <a:rPr lang="en-US" sz="1400">
                <a:solidFill>
                  <a:srgbClr val="2E3B52"/>
                </a:solidFill>
                <a:latin typeface="Arial"/>
                <a:cs typeface="Arial"/>
              </a:rPr>
              <a:t> </a:t>
            </a:r>
            <a:r>
              <a:rPr lang="ko-KR" altLang="en-US" sz="1400">
                <a:solidFill>
                  <a:srgbClr val="2E3B52"/>
                </a:solidFill>
                <a:latin typeface="Arial"/>
                <a:ea typeface="맑은 고딕"/>
                <a:cs typeface="Arial"/>
              </a:rPr>
              <a:t>필요가</a:t>
            </a:r>
            <a:r>
              <a:rPr lang="en-US" sz="1400">
                <a:solidFill>
                  <a:srgbClr val="2E3B52"/>
                </a:solidFill>
                <a:latin typeface="Arial"/>
                <a:cs typeface="Arial"/>
              </a:rPr>
              <a:t> </a:t>
            </a:r>
            <a:r>
              <a:rPr lang="ko-KR" altLang="en-US" sz="1400">
                <a:solidFill>
                  <a:srgbClr val="2E3B52"/>
                </a:solidFill>
                <a:latin typeface="Arial"/>
                <a:ea typeface="맑은 고딕"/>
                <a:cs typeface="Arial"/>
              </a:rPr>
              <a:t>없음</a:t>
            </a:r>
            <a:r>
              <a:rPr lang="en-US" altLang="ko-KR" sz="1400">
                <a:solidFill>
                  <a:srgbClr val="2E3B52"/>
                </a:solidFill>
                <a:latin typeface="Arial"/>
                <a:ea typeface="맑은 고딕"/>
                <a:cs typeface="Arial"/>
              </a:rPr>
              <a:t>.</a:t>
            </a:r>
            <a:endParaRPr lang="en-US" sz="1400">
              <a:solidFill>
                <a:srgbClr val="2E3B52"/>
              </a:solidFill>
              <a:latin typeface="Arial"/>
              <a:ea typeface="맑은 고딕"/>
              <a:cs typeface="Arial"/>
            </a:endParaRPr>
          </a:p>
        </p:txBody>
      </p:sp>
    </p:spTree>
    <p:extLst>
      <p:ext uri="{BB962C8B-B14F-4D97-AF65-F5344CB8AC3E}">
        <p14:creationId xmlns:p14="http://schemas.microsoft.com/office/powerpoint/2010/main" val="2897997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6396CB1-58A3-3A07-6EB5-91520F6B7F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3B4BF7-E178-53A1-4368-C03C684A02F1}"/>
              </a:ext>
            </a:extLst>
          </p:cNvPr>
          <p:cNvSpPr/>
          <p:nvPr/>
        </p:nvSpPr>
        <p:spPr>
          <a:xfrm>
            <a:off x="457200" y="408986"/>
            <a:ext cx="11277295" cy="502920"/>
          </a:xfrm>
          <a:prstGeom prst="rect">
            <a:avLst/>
          </a:prstGeom>
          <a:noFill/>
          <a:ln/>
        </p:spPr>
        <p:txBody>
          <a:bodyPr wrap="square" lIns="0" tIns="0" rIns="0" bIns="0" rtlCol="0" anchor="ctr"/>
          <a:lstStyle/>
          <a:p>
            <a:pPr algn="ctr"/>
            <a:r>
              <a:rPr lang="ko-KR" altLang="en-US" sz="2600" b="1">
                <a:solidFill>
                  <a:srgbClr val="1F3B66"/>
                </a:solidFill>
                <a:latin typeface="Arial"/>
                <a:ea typeface="맑은 고딕"/>
                <a:cs typeface="Arial"/>
              </a:rPr>
              <a:t>해결책</a:t>
            </a:r>
            <a:r>
              <a:rPr lang="en-US" sz="2600" b="1">
                <a:solidFill>
                  <a:srgbClr val="1F3B66"/>
                </a:solidFill>
                <a:latin typeface="Arial"/>
                <a:cs typeface="Arial"/>
              </a:rPr>
              <a:t> 1: </a:t>
            </a:r>
            <a:r>
              <a:rPr lang="en-US" sz="2600" b="1" err="1">
                <a:solidFill>
                  <a:srgbClr val="1F3B66"/>
                </a:solidFill>
                <a:latin typeface="Arial"/>
                <a:cs typeface="Arial"/>
              </a:rPr>
              <a:t>Vivado</a:t>
            </a:r>
            <a:r>
              <a:rPr lang="en-US" sz="2600" b="1">
                <a:solidFill>
                  <a:srgbClr val="1F3B66"/>
                </a:solidFill>
                <a:latin typeface="Arial"/>
                <a:cs typeface="Arial"/>
              </a:rPr>
              <a:t> </a:t>
            </a:r>
            <a:r>
              <a:rPr lang="ko-KR" altLang="en-US" sz="2600" b="1" err="1">
                <a:solidFill>
                  <a:srgbClr val="1F3B66"/>
                </a:solidFill>
                <a:latin typeface="Arial"/>
                <a:ea typeface="맑은 고딕"/>
                <a:cs typeface="Arial"/>
              </a:rPr>
              <a:t>실측</a:t>
            </a:r>
            <a:endParaRPr lang="en-US" sz="2600" b="1" err="1">
              <a:solidFill>
                <a:srgbClr val="1F3B66"/>
              </a:solidFill>
              <a:latin typeface="Arial"/>
              <a:ea typeface="맑은 고딕"/>
              <a:cs typeface="Arial"/>
            </a:endParaRPr>
          </a:p>
        </p:txBody>
      </p:sp>
      <p:pic>
        <p:nvPicPr>
          <p:cNvPr id="7" name="그림 6" descr="/home/claude/vivado_diagram.png">
            <a:extLst>
              <a:ext uri="{FF2B5EF4-FFF2-40B4-BE49-F238E27FC236}">
                <a16:creationId xmlns:a16="http://schemas.microsoft.com/office/drawing/2014/main" id="{F42A43A6-43DB-110A-5432-954E38591C5D}"/>
              </a:ext>
            </a:extLst>
          </p:cNvPr>
          <p:cNvPicPr>
            <a:picLocks noChangeAspect="1"/>
          </p:cNvPicPr>
          <p:nvPr/>
        </p:nvPicPr>
        <p:blipFill>
          <a:blip r:embed="rId3"/>
          <a:stretch>
            <a:fillRect/>
          </a:stretch>
        </p:blipFill>
        <p:spPr>
          <a:xfrm>
            <a:off x="2214625" y="1455840"/>
            <a:ext cx="7604414" cy="4292683"/>
          </a:xfrm>
          <a:prstGeom prst="rect">
            <a:avLst/>
          </a:prstGeom>
        </p:spPr>
      </p:pic>
    </p:spTree>
    <p:extLst>
      <p:ext uri="{BB962C8B-B14F-4D97-AF65-F5344CB8AC3E}">
        <p14:creationId xmlns:p14="http://schemas.microsoft.com/office/powerpoint/2010/main" val="3627783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08986"/>
            <a:ext cx="11277295" cy="502920"/>
          </a:xfrm>
          <a:prstGeom prst="rect">
            <a:avLst/>
          </a:prstGeom>
          <a:noFill/>
          <a:ln/>
        </p:spPr>
        <p:txBody>
          <a:bodyPr wrap="square" lIns="0" tIns="0" rIns="0" bIns="0" rtlCol="0" anchor="ctr"/>
          <a:lstStyle/>
          <a:p>
            <a:pPr algn="ctr"/>
            <a:r>
              <a:rPr lang="ko-KR" altLang="en-US" sz="2600" b="1">
                <a:solidFill>
                  <a:srgbClr val="1F3B66"/>
                </a:solidFill>
                <a:latin typeface="Arial"/>
                <a:ea typeface="맑은 고딕"/>
                <a:cs typeface="Arial"/>
              </a:rPr>
              <a:t>해결책</a:t>
            </a:r>
            <a:r>
              <a:rPr lang="en-US" sz="2600" b="1">
                <a:solidFill>
                  <a:srgbClr val="1F3B66"/>
                </a:solidFill>
                <a:latin typeface="Arial"/>
                <a:cs typeface="Arial"/>
              </a:rPr>
              <a:t> 1: </a:t>
            </a:r>
            <a:r>
              <a:rPr lang="en-US" sz="2600" b="1" err="1">
                <a:solidFill>
                  <a:srgbClr val="1F3B66"/>
                </a:solidFill>
                <a:latin typeface="Arial"/>
                <a:cs typeface="Arial"/>
              </a:rPr>
              <a:t>Vivado</a:t>
            </a:r>
            <a:r>
              <a:rPr lang="en-US" sz="2600" b="1">
                <a:solidFill>
                  <a:srgbClr val="1F3B66"/>
                </a:solidFill>
                <a:latin typeface="Arial"/>
                <a:cs typeface="Arial"/>
              </a:rPr>
              <a:t> </a:t>
            </a:r>
            <a:r>
              <a:rPr lang="ko-KR" altLang="en-US" sz="2600" b="1" err="1">
                <a:solidFill>
                  <a:srgbClr val="1F3B66"/>
                </a:solidFill>
                <a:latin typeface="Arial"/>
                <a:ea typeface="맑은 고딕"/>
                <a:cs typeface="Arial"/>
              </a:rPr>
              <a:t>실측</a:t>
            </a:r>
            <a:endParaRPr lang="en-US" sz="2600" b="1" err="1">
              <a:solidFill>
                <a:srgbClr val="1F3B66"/>
              </a:solidFill>
              <a:latin typeface="Arial"/>
              <a:ea typeface="맑은 고딕"/>
              <a:cs typeface="Arial"/>
            </a:endParaRPr>
          </a:p>
        </p:txBody>
      </p:sp>
      <p:grpSp>
        <p:nvGrpSpPr>
          <p:cNvPr id="13" name="그룹 12">
            <a:extLst>
              <a:ext uri="{FF2B5EF4-FFF2-40B4-BE49-F238E27FC236}">
                <a16:creationId xmlns:a16="http://schemas.microsoft.com/office/drawing/2014/main" id="{F2D35B75-DF06-9B47-547B-AB17E4A06E02}"/>
              </a:ext>
            </a:extLst>
          </p:cNvPr>
          <p:cNvGrpSpPr/>
          <p:nvPr/>
        </p:nvGrpSpPr>
        <p:grpSpPr>
          <a:xfrm>
            <a:off x="1615288" y="1511135"/>
            <a:ext cx="4206240" cy="2103120"/>
            <a:chOff x="1615288" y="1511135"/>
            <a:chExt cx="4206240" cy="2103120"/>
          </a:xfrm>
        </p:grpSpPr>
        <p:sp>
          <p:nvSpPr>
            <p:cNvPr id="4" name="Shape 2"/>
            <p:cNvSpPr/>
            <p:nvPr/>
          </p:nvSpPr>
          <p:spPr>
            <a:xfrm>
              <a:off x="1615288" y="1511135"/>
              <a:ext cx="4206240" cy="2103120"/>
            </a:xfrm>
            <a:prstGeom prst="roundRect">
              <a:avLst>
                <a:gd name="adj" fmla="val 4348"/>
              </a:avLst>
            </a:prstGeom>
            <a:solidFill>
              <a:srgbClr val="FBEAE7"/>
            </a:solidFill>
            <a:ln/>
          </p:spPr>
        </p:sp>
        <p:sp>
          <p:nvSpPr>
            <p:cNvPr id="5" name="Text 3"/>
            <p:cNvSpPr/>
            <p:nvPr/>
          </p:nvSpPr>
          <p:spPr>
            <a:xfrm>
              <a:off x="1615288" y="1783080"/>
              <a:ext cx="4206240" cy="365760"/>
            </a:xfrm>
            <a:prstGeom prst="rect">
              <a:avLst/>
            </a:prstGeom>
            <a:noFill/>
            <a:ln/>
          </p:spPr>
          <p:txBody>
            <a:bodyPr wrap="square" lIns="0" tIns="0" rIns="0" bIns="0" rtlCol="0" anchor="ctr"/>
            <a:lstStyle/>
            <a:p>
              <a:pPr algn="ctr"/>
              <a:r>
                <a:rPr lang="en-US" sz="2000" b="1">
                  <a:solidFill>
                    <a:srgbClr val="B33A3A"/>
                  </a:solidFill>
                  <a:latin typeface="Arial"/>
                  <a:ea typeface="Arial" pitchFamily="34" charset="-122"/>
                  <a:cs typeface="Arial"/>
                </a:rPr>
                <a:t>LUT</a:t>
              </a:r>
              <a:endParaRPr lang="en-US" sz="2000" b="1">
                <a:solidFill>
                  <a:srgbClr val="B33A3A"/>
                </a:solidFill>
                <a:latin typeface="Arial"/>
                <a:cs typeface="Arial"/>
              </a:endParaRPr>
            </a:p>
          </p:txBody>
        </p:sp>
        <p:sp>
          <p:nvSpPr>
            <p:cNvPr id="6" name="Text 4"/>
            <p:cNvSpPr/>
            <p:nvPr/>
          </p:nvSpPr>
          <p:spPr>
            <a:xfrm>
              <a:off x="1615288" y="2145080"/>
              <a:ext cx="4206240" cy="1168333"/>
            </a:xfrm>
            <a:prstGeom prst="rect">
              <a:avLst/>
            </a:prstGeom>
            <a:noFill/>
            <a:ln/>
          </p:spPr>
          <p:txBody>
            <a:bodyPr wrap="square" lIns="0" tIns="0" rIns="0" bIns="0" rtlCol="0" anchor="ctr"/>
            <a:lstStyle/>
            <a:p>
              <a:pPr algn="ctr"/>
              <a:r>
                <a:rPr lang="en-US">
                  <a:solidFill>
                    <a:srgbClr val="B33A3A"/>
                  </a:solidFill>
                  <a:ea typeface="+mn-lt"/>
                  <a:cs typeface="+mn-lt"/>
                </a:rPr>
                <a:t>117120(budget)</a:t>
              </a:r>
            </a:p>
            <a:p>
              <a:pPr marL="0" indent="0" algn="ctr">
                <a:buNone/>
              </a:pPr>
              <a:r>
                <a:rPr lang="en-US">
                  <a:solidFill>
                    <a:srgbClr val="B33A3A"/>
                  </a:solidFill>
                  <a:ea typeface="+mn-lt"/>
                  <a:cs typeface="+mn-lt"/>
                </a:rPr>
                <a:t>106,785 (combined)</a:t>
              </a:r>
              <a:endParaRPr lang="en-US"/>
            </a:p>
            <a:p>
              <a:pPr algn="ctr"/>
              <a:r>
                <a:rPr lang="en-US">
                  <a:solidFill>
                    <a:srgbClr val="B33A3A"/>
                  </a:solidFill>
                  <a:ea typeface="+mn-lt"/>
                  <a:cs typeface="+mn-lt"/>
                </a:rPr>
                <a:t>149,953 (total)</a:t>
              </a:r>
              <a:endParaRPr lang="en-US">
                <a:ea typeface="Calibri"/>
                <a:cs typeface="Calibri"/>
              </a:endParaRPr>
            </a:p>
          </p:txBody>
        </p:sp>
      </p:grpSp>
      <p:grpSp>
        <p:nvGrpSpPr>
          <p:cNvPr id="12" name="그룹 11">
            <a:extLst>
              <a:ext uri="{FF2B5EF4-FFF2-40B4-BE49-F238E27FC236}">
                <a16:creationId xmlns:a16="http://schemas.microsoft.com/office/drawing/2014/main" id="{D2679339-45D3-C4AD-03A7-808807E3488A}"/>
              </a:ext>
            </a:extLst>
          </p:cNvPr>
          <p:cNvGrpSpPr/>
          <p:nvPr/>
        </p:nvGrpSpPr>
        <p:grpSpPr>
          <a:xfrm>
            <a:off x="6370168" y="1511135"/>
            <a:ext cx="4206240" cy="2103120"/>
            <a:chOff x="6370168" y="1511135"/>
            <a:chExt cx="4206240" cy="2103120"/>
          </a:xfrm>
        </p:grpSpPr>
        <p:sp>
          <p:nvSpPr>
            <p:cNvPr id="8" name="Shape 6"/>
            <p:cNvSpPr/>
            <p:nvPr/>
          </p:nvSpPr>
          <p:spPr>
            <a:xfrm>
              <a:off x="6370168" y="1511135"/>
              <a:ext cx="4206240" cy="2103120"/>
            </a:xfrm>
            <a:prstGeom prst="roundRect">
              <a:avLst>
                <a:gd name="adj" fmla="val 4348"/>
              </a:avLst>
            </a:prstGeom>
            <a:solidFill>
              <a:srgbClr val="EDF1F7"/>
            </a:solidFill>
            <a:ln/>
          </p:spPr>
        </p:sp>
        <p:sp>
          <p:nvSpPr>
            <p:cNvPr id="9" name="Text 7"/>
            <p:cNvSpPr/>
            <p:nvPr/>
          </p:nvSpPr>
          <p:spPr>
            <a:xfrm>
              <a:off x="6598768" y="1764792"/>
              <a:ext cx="3749040" cy="365760"/>
            </a:xfrm>
            <a:prstGeom prst="rect">
              <a:avLst/>
            </a:prstGeom>
            <a:noFill/>
            <a:ln/>
          </p:spPr>
          <p:txBody>
            <a:bodyPr wrap="square" lIns="0" tIns="0" rIns="0" bIns="0" rtlCol="0" anchor="ctr"/>
            <a:lstStyle/>
            <a:p>
              <a:pPr marL="0" indent="0" algn="ctr">
                <a:buNone/>
              </a:pPr>
              <a:r>
                <a:rPr lang="en-US" sz="2000" b="1" err="1">
                  <a:solidFill>
                    <a:srgbClr val="1F3B66"/>
                  </a:solidFill>
                  <a:latin typeface="Arial"/>
                  <a:ea typeface="Arial" pitchFamily="34" charset="-122"/>
                  <a:cs typeface="Arial"/>
                </a:rPr>
                <a:t>결과</a:t>
              </a:r>
              <a:endParaRPr lang="en-US" sz="2000" err="1">
                <a:latin typeface="Arial"/>
                <a:ea typeface="Calibri"/>
                <a:cs typeface="Arial"/>
              </a:endParaRPr>
            </a:p>
          </p:txBody>
        </p:sp>
        <p:sp>
          <p:nvSpPr>
            <p:cNvPr id="10" name="Text 8"/>
            <p:cNvSpPr/>
            <p:nvPr/>
          </p:nvSpPr>
          <p:spPr>
            <a:xfrm>
              <a:off x="6598768" y="2148840"/>
              <a:ext cx="3749040" cy="1371600"/>
            </a:xfrm>
            <a:prstGeom prst="rect">
              <a:avLst/>
            </a:prstGeom>
            <a:noFill/>
            <a:ln/>
          </p:spPr>
          <p:txBody>
            <a:bodyPr wrap="square" lIns="0" tIns="0" rIns="0" bIns="0" rtlCol="0" anchor="t"/>
            <a:lstStyle/>
            <a:p>
              <a:pPr>
                <a:lnSpc>
                  <a:spcPct val="114999"/>
                </a:lnSpc>
              </a:pPr>
              <a:r>
                <a:rPr lang="ko-KR" altLang="en-US" sz="1400">
                  <a:ea typeface="+mn-lt"/>
                  <a:cs typeface="+mn-lt"/>
                </a:rPr>
                <a:t>논리적</a:t>
              </a:r>
              <a:r>
                <a:rPr lang="en-US" sz="1400">
                  <a:ea typeface="+mn-lt"/>
                  <a:cs typeface="+mn-lt"/>
                </a:rPr>
                <a:t> </a:t>
              </a:r>
              <a:r>
                <a:rPr lang="ko-KR" altLang="en-US" sz="1400">
                  <a:ea typeface="+mn-lt"/>
                  <a:cs typeface="+mn-lt"/>
                </a:rPr>
                <a:t>필요량(combined)</a:t>
              </a:r>
              <a:r>
                <a:rPr lang="en-US" altLang="ko-KR" sz="1400">
                  <a:ea typeface="+mn-lt"/>
                  <a:cs typeface="+mn-lt"/>
                </a:rPr>
                <a:t> </a:t>
              </a:r>
              <a:r>
                <a:rPr lang="en-US" sz="1400" err="1">
                  <a:ea typeface="+mn-lt"/>
                  <a:cs typeface="+mn-lt"/>
                </a:rPr>
                <a:t>기준으로는</a:t>
              </a:r>
              <a:r>
                <a:rPr lang="en-US" sz="1400">
                  <a:ea typeface="+mn-lt"/>
                  <a:cs typeface="+mn-lt"/>
                </a:rPr>
                <a:t> </a:t>
              </a:r>
              <a:r>
                <a:rPr lang="en-US" sz="1400" err="1">
                  <a:ea typeface="+mn-lt"/>
                  <a:cs typeface="+mn-lt"/>
                </a:rPr>
                <a:t>예산</a:t>
              </a:r>
              <a:r>
                <a:rPr lang="en-US" sz="1400">
                  <a:ea typeface="+mn-lt"/>
                  <a:cs typeface="+mn-lt"/>
                </a:rPr>
                <a:t> </a:t>
              </a:r>
              <a:r>
                <a:rPr lang="ko-KR" altLang="en-US" sz="1400">
                  <a:ea typeface="+mn-lt"/>
                  <a:cs typeface="+mn-lt"/>
                </a:rPr>
                <a:t>범위</a:t>
              </a:r>
              <a:r>
                <a:rPr lang="en-US" sz="1400">
                  <a:ea typeface="+mn-lt"/>
                  <a:cs typeface="+mn-lt"/>
                </a:rPr>
                <a:t> 내</a:t>
              </a:r>
              <a:endParaRPr lang="en-US" altLang="ko-KR" sz="1400">
                <a:ea typeface="Calibri"/>
                <a:cs typeface="Calibri"/>
              </a:endParaRPr>
            </a:p>
            <a:p>
              <a:pPr>
                <a:lnSpc>
                  <a:spcPct val="114999"/>
                </a:lnSpc>
              </a:pPr>
              <a:endParaRPr lang="en-US" altLang="ko-KR" sz="1400">
                <a:ea typeface="Calibri"/>
                <a:cs typeface="Calibri"/>
              </a:endParaRPr>
            </a:p>
            <a:p>
              <a:pPr>
                <a:lnSpc>
                  <a:spcPct val="115000"/>
                </a:lnSpc>
              </a:pPr>
              <a:r>
                <a:rPr lang="ko-KR" altLang="en-US" sz="1400">
                  <a:ea typeface="+mn-lt"/>
                  <a:cs typeface="+mn-lt"/>
                </a:rPr>
                <a:t>하지만</a:t>
              </a:r>
              <a:r>
                <a:rPr lang="en-US" sz="1400">
                  <a:ea typeface="+mn-lt"/>
                  <a:cs typeface="+mn-lt"/>
                </a:rPr>
                <a:t> </a:t>
              </a:r>
              <a:r>
                <a:rPr lang="ko-KR" altLang="en-US" sz="1400">
                  <a:ea typeface="+mn-lt"/>
                  <a:cs typeface="+mn-lt"/>
                </a:rPr>
                <a:t>실제</a:t>
              </a:r>
              <a:r>
                <a:rPr lang="en-US" sz="1400">
                  <a:ea typeface="+mn-lt"/>
                  <a:cs typeface="+mn-lt"/>
                </a:rPr>
                <a:t> </a:t>
              </a:r>
              <a:r>
                <a:rPr lang="ko-KR" altLang="en-US" sz="1400">
                  <a:ea typeface="+mn-lt"/>
                  <a:cs typeface="+mn-lt"/>
                </a:rPr>
                <a:t>배치</a:t>
              </a:r>
              <a:r>
                <a:rPr lang="en-US" sz="1400">
                  <a:ea typeface="+mn-lt"/>
                  <a:cs typeface="+mn-lt"/>
                </a:rPr>
                <a:t> </a:t>
              </a:r>
              <a:r>
                <a:rPr lang="ko-KR" altLang="en-US" sz="1400">
                  <a:ea typeface="+mn-lt"/>
                  <a:cs typeface="+mn-lt"/>
                </a:rPr>
                <a:t>시</a:t>
              </a:r>
              <a:r>
                <a:rPr lang="en-US" sz="1400">
                  <a:ea typeface="+mn-lt"/>
                  <a:cs typeface="+mn-lt"/>
                </a:rPr>
                <a:t> control set</a:t>
              </a:r>
              <a:r>
                <a:rPr lang="ko-KR" altLang="en-US" sz="1400">
                  <a:ea typeface="+mn-lt"/>
                  <a:cs typeface="+mn-lt"/>
                </a:rPr>
                <a:t>을</a:t>
              </a:r>
              <a:r>
                <a:rPr lang="en-US" altLang="ko-KR" sz="1400">
                  <a:ea typeface="+mn-lt"/>
                  <a:cs typeface="+mn-lt"/>
                </a:rPr>
                <a:t> </a:t>
              </a:r>
              <a:r>
                <a:rPr lang="ko-KR" altLang="en-US" sz="1400">
                  <a:ea typeface="+mn-lt"/>
                  <a:cs typeface="+mn-lt"/>
                </a:rPr>
                <a:t>고려한</a:t>
              </a:r>
              <a:r>
                <a:rPr lang="en-US" altLang="ko-KR" sz="1400">
                  <a:ea typeface="+mn-lt"/>
                  <a:cs typeface="+mn-lt"/>
                </a:rPr>
                <a:t> total </a:t>
              </a:r>
              <a:r>
                <a:rPr lang="ko-KR" altLang="en-US" sz="1400">
                  <a:ea typeface="+mn-lt"/>
                  <a:cs typeface="+mn-lt"/>
                </a:rPr>
                <a:t> 예산 </a:t>
              </a:r>
              <a:r>
                <a:rPr lang="en-US" sz="1400">
                  <a:ea typeface="+mn-lt"/>
                  <a:cs typeface="+mn-lt"/>
                </a:rPr>
                <a:t>32,833</a:t>
              </a:r>
              <a:r>
                <a:rPr lang="ko-KR" altLang="en-US" sz="1400">
                  <a:ea typeface="+mn-lt"/>
                  <a:cs typeface="+mn-lt"/>
                </a:rPr>
                <a:t>개</a:t>
              </a:r>
              <a:r>
                <a:rPr lang="en-US" sz="1400">
                  <a:ea typeface="+mn-lt"/>
                  <a:cs typeface="+mn-lt"/>
                </a:rPr>
                <a:t> </a:t>
              </a:r>
              <a:r>
                <a:rPr lang="ko-KR" altLang="en-US" sz="1400">
                  <a:ea typeface="+mn-lt"/>
                  <a:cs typeface="+mn-lt"/>
                </a:rPr>
                <a:t>초과</a:t>
              </a:r>
              <a:r>
                <a:rPr lang="en-US" sz="1400">
                  <a:solidFill>
                    <a:srgbClr val="2E3B52"/>
                  </a:solidFill>
                  <a:ea typeface="+mn-lt"/>
                  <a:cs typeface="+mn-lt"/>
                </a:rPr>
                <a:t> (self-counting </a:t>
              </a:r>
              <a:r>
                <a:rPr lang="ko-KR" altLang="en-US" sz="1400" err="1">
                  <a:solidFill>
                    <a:srgbClr val="2E3B52"/>
                  </a:solidFill>
                  <a:ea typeface="+mn-lt"/>
                  <a:cs typeface="+mn-lt"/>
                </a:rPr>
                <a:t>방식</a:t>
              </a:r>
              <a:r>
                <a:rPr lang="en-US" sz="1400">
                  <a:solidFill>
                    <a:srgbClr val="2E3B52"/>
                  </a:solidFill>
                  <a:ea typeface="+mn-lt"/>
                  <a:cs typeface="+mn-lt"/>
                </a:rPr>
                <a:t> </a:t>
              </a:r>
              <a:r>
                <a:rPr lang="ko-KR" altLang="en-US" sz="1400" err="1">
                  <a:solidFill>
                    <a:srgbClr val="2E3B52"/>
                  </a:solidFill>
                  <a:ea typeface="+mn-lt"/>
                  <a:cs typeface="+mn-lt"/>
                </a:rPr>
                <a:t>때문</a:t>
              </a:r>
              <a:r>
                <a:rPr lang="en-US" altLang="ko-KR" sz="1400">
                  <a:solidFill>
                    <a:srgbClr val="2E3B52"/>
                  </a:solidFill>
                  <a:ea typeface="+mn-lt"/>
                  <a:cs typeface="+mn-lt"/>
                </a:rPr>
                <a:t>)</a:t>
              </a:r>
              <a:endParaRPr lang="ko-KR" altLang="en-US" sz="1400">
                <a:solidFill>
                  <a:srgbClr val="2E3B52"/>
                </a:solidFill>
                <a:latin typeface="Calibri"/>
                <a:cs typeface="Calibri"/>
              </a:endParaRPr>
            </a:p>
          </p:txBody>
        </p:sp>
      </p:grpSp>
      <p:graphicFrame>
        <p:nvGraphicFramePr>
          <p:cNvPr id="11" name="Table 0"/>
          <p:cNvGraphicFramePr>
            <a:graphicFrameLocks noGrp="1"/>
          </p:cNvGraphicFramePr>
          <p:nvPr/>
        </p:nvGraphicFramePr>
        <p:xfrm>
          <a:off x="1615288" y="3931920"/>
          <a:ext cx="8961121" cy="1874520"/>
        </p:xfrm>
        <a:graphic>
          <a:graphicData uri="http://schemas.openxmlformats.org/drawingml/2006/table">
            <a:tbl>
              <a:tblPr/>
              <a:tblGrid>
                <a:gridCol w="2509114">
                  <a:extLst>
                    <a:ext uri="{9D8B030D-6E8A-4147-A177-3AD203B41FA5}">
                      <a16:colId xmlns:a16="http://schemas.microsoft.com/office/drawing/2014/main" val="20000"/>
                    </a:ext>
                  </a:extLst>
                </a:gridCol>
                <a:gridCol w="2150669">
                  <a:extLst>
                    <a:ext uri="{9D8B030D-6E8A-4147-A177-3AD203B41FA5}">
                      <a16:colId xmlns:a16="http://schemas.microsoft.com/office/drawing/2014/main" val="20001"/>
                    </a:ext>
                  </a:extLst>
                </a:gridCol>
                <a:gridCol w="2150669">
                  <a:extLst>
                    <a:ext uri="{9D8B030D-6E8A-4147-A177-3AD203B41FA5}">
                      <a16:colId xmlns:a16="http://schemas.microsoft.com/office/drawing/2014/main" val="20002"/>
                    </a:ext>
                  </a:extLst>
                </a:gridCol>
                <a:gridCol w="2150669">
                  <a:extLst>
                    <a:ext uri="{9D8B030D-6E8A-4147-A177-3AD203B41FA5}">
                      <a16:colId xmlns:a16="http://schemas.microsoft.com/office/drawing/2014/main" val="20003"/>
                    </a:ext>
                  </a:extLst>
                </a:gridCol>
              </a:tblGrid>
              <a:tr h="312420">
                <a:tc>
                  <a:txBody>
                    <a:bodyPr/>
                    <a:lstStyle/>
                    <a:p>
                      <a:pPr marL="0" indent="0" algn="ctr">
                        <a:buNone/>
                      </a:pPr>
                      <a:r>
                        <a:rPr lang="en-US" sz="1100" b="1">
                          <a:solidFill>
                            <a:srgbClr val="FFFFFF"/>
                          </a:solidFill>
                        </a:rPr>
                        <a:t>자원</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100" b="1">
                          <a:solidFill>
                            <a:srgbClr val="FFFFFF"/>
                          </a:solidFill>
                        </a:rPr>
                        <a:t>사용량</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100" b="1">
                          <a:solidFill>
                            <a:srgbClr val="FFFFFF"/>
                          </a:solidFill>
                        </a:rPr>
                        <a:t>예산</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100" b="1">
                          <a:solidFill>
                            <a:srgbClr val="FFFFFF"/>
                          </a:solidFill>
                        </a:rPr>
                        <a:t>사용률</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extLst>
                  <a:ext uri="{0D108BD9-81ED-4DB2-BD59-A6C34878D82A}">
                    <a16:rowId xmlns:a16="http://schemas.microsoft.com/office/drawing/2014/main" val="10000"/>
                  </a:ext>
                </a:extLst>
              </a:tr>
              <a:tr h="312420">
                <a:tc>
                  <a:txBody>
                    <a:bodyPr/>
                    <a:lstStyle/>
                    <a:p>
                      <a:pPr marL="0" indent="0" algn="l">
                        <a:buNone/>
                      </a:pPr>
                      <a:r>
                        <a:rPr lang="en-US" sz="1100" b="1">
                          <a:solidFill>
                            <a:srgbClr val="B33A3A"/>
                          </a:solidFill>
                        </a:rPr>
                        <a:t>LUT</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B33A3A"/>
                          </a:solidFill>
                        </a:rPr>
                        <a:t>106,785</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117,120</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B33A3A"/>
                          </a:solidFill>
                        </a:rPr>
                        <a:t>91%</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1"/>
                  </a:ext>
                </a:extLst>
              </a:tr>
              <a:tr h="312420">
                <a:tc>
                  <a:txBody>
                    <a:bodyPr/>
                    <a:lstStyle/>
                    <a:p>
                      <a:pPr marL="0" indent="0" algn="l">
                        <a:buNone/>
                      </a:pPr>
                      <a:r>
                        <a:rPr lang="en-US" sz="1100">
                          <a:solidFill>
                            <a:srgbClr val="000000"/>
                          </a:solidFill>
                        </a:rPr>
                        <a:t>FF (CLB Registers)</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000000"/>
                          </a:solidFill>
                        </a:rPr>
                        <a:t>192,797</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234,240</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000000"/>
                          </a:solidFill>
                        </a:rPr>
                        <a:t>82%</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2"/>
                  </a:ext>
                </a:extLst>
              </a:tr>
              <a:tr h="312420">
                <a:tc>
                  <a:txBody>
                    <a:bodyPr/>
                    <a:lstStyle/>
                    <a:p>
                      <a:pPr marL="0" indent="0" algn="l">
                        <a:buNone/>
                      </a:pPr>
                      <a:r>
                        <a:rPr lang="en-US" sz="1100">
                          <a:solidFill>
                            <a:srgbClr val="000000"/>
                          </a:solidFill>
                        </a:rPr>
                        <a:t>DSP</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000000"/>
                          </a:solidFill>
                        </a:rPr>
                        <a:t>728</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1,248</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000000"/>
                          </a:solidFill>
                        </a:rPr>
                        <a:t>58%</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3"/>
                  </a:ext>
                </a:extLst>
              </a:tr>
              <a:tr h="312420">
                <a:tc>
                  <a:txBody>
                    <a:bodyPr/>
                    <a:lstStyle/>
                    <a:p>
                      <a:pPr marL="0" indent="0" algn="l">
                        <a:buNone/>
                      </a:pPr>
                      <a:r>
                        <a:rPr lang="en-US" sz="1100">
                          <a:solidFill>
                            <a:srgbClr val="000000"/>
                          </a:solidFill>
                        </a:rPr>
                        <a:t>BRAM</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000000"/>
                          </a:solidFill>
                        </a:rPr>
                        <a:t>129.5</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144</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000000"/>
                          </a:solidFill>
                        </a:rPr>
                        <a:t>90%</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4"/>
                  </a:ext>
                </a:extLst>
              </a:tr>
              <a:tr h="312420">
                <a:tc>
                  <a:txBody>
                    <a:bodyPr/>
                    <a:lstStyle/>
                    <a:p>
                      <a:pPr marL="0" indent="0" algn="l">
                        <a:buNone/>
                      </a:pPr>
                      <a:r>
                        <a:rPr lang="en-US" sz="1100">
                          <a:solidFill>
                            <a:srgbClr val="000000"/>
                          </a:solidFill>
                        </a:rPr>
                        <a:t>URAM</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000000"/>
                          </a:solidFill>
                        </a:rPr>
                        <a:t>56</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64</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000000"/>
                          </a:solidFill>
                        </a:rPr>
                        <a:t>87%</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27715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28778"/>
            <a:ext cx="11277295" cy="502920"/>
          </a:xfrm>
          <a:prstGeom prst="rect">
            <a:avLst/>
          </a:prstGeom>
          <a:noFill/>
          <a:ln/>
        </p:spPr>
        <p:txBody>
          <a:bodyPr wrap="square" lIns="0" tIns="0" rIns="0" bIns="0" rtlCol="0" anchor="ctr"/>
          <a:lstStyle/>
          <a:p>
            <a:pPr algn="ctr"/>
            <a:r>
              <a:rPr lang="ko-KR" altLang="en-US" sz="2600" b="1">
                <a:solidFill>
                  <a:srgbClr val="1F3B66"/>
                </a:solidFill>
                <a:latin typeface="Arial"/>
                <a:ea typeface="맑은 고딕"/>
                <a:cs typeface="Arial"/>
              </a:rPr>
              <a:t>해결책</a:t>
            </a:r>
            <a:r>
              <a:rPr lang="en-US" altLang="ko-KR" sz="2600" b="1">
                <a:solidFill>
                  <a:srgbClr val="1F3B66"/>
                </a:solidFill>
                <a:latin typeface="Arial"/>
                <a:ea typeface="맑은 고딕"/>
                <a:cs typeface="Arial"/>
              </a:rPr>
              <a:t> 2: </a:t>
            </a:r>
            <a:r>
              <a:rPr lang="en-US" sz="2600" b="1">
                <a:solidFill>
                  <a:srgbClr val="1F3B66"/>
                </a:solidFill>
                <a:latin typeface="Arial"/>
                <a:ea typeface="맑은 고딕"/>
                <a:cs typeface="Arial"/>
              </a:rPr>
              <a:t>cv2</a:t>
            </a:r>
            <a:r>
              <a:rPr lang="en-US" altLang="ko-KR" sz="2600" b="1">
                <a:solidFill>
                  <a:srgbClr val="1F3B66"/>
                </a:solidFill>
                <a:latin typeface="Arial"/>
                <a:ea typeface="맑은 고딕"/>
                <a:cs typeface="Arial"/>
              </a:rPr>
              <a:t> </a:t>
            </a:r>
            <a:r>
              <a:rPr lang="ko-KR" altLang="en-US" sz="2600" b="1">
                <a:solidFill>
                  <a:srgbClr val="1F3B66"/>
                </a:solidFill>
                <a:latin typeface="Arial"/>
                <a:ea typeface="맑은 고딕"/>
                <a:cs typeface="Arial"/>
              </a:rPr>
              <a:t>연산을</a:t>
            </a:r>
            <a:r>
              <a:rPr lang="en-US" sz="2600" b="1">
                <a:solidFill>
                  <a:srgbClr val="1F3B66"/>
                </a:solidFill>
                <a:latin typeface="Arial"/>
                <a:cs typeface="Arial"/>
              </a:rPr>
              <a:t> </a:t>
            </a:r>
            <a:r>
              <a:rPr lang="en-US" sz="2600" b="1" err="1">
                <a:solidFill>
                  <a:srgbClr val="1F3B66"/>
                </a:solidFill>
                <a:latin typeface="Arial"/>
                <a:cs typeface="Arial"/>
              </a:rPr>
              <a:t>SW로</a:t>
            </a:r>
            <a:r>
              <a:rPr lang="en-US" altLang="ko-KR" sz="2600" b="1">
                <a:solidFill>
                  <a:srgbClr val="1F3B66"/>
                </a:solidFill>
                <a:latin typeface="Arial"/>
                <a:ea typeface="맑은 고딕"/>
                <a:cs typeface="Arial"/>
              </a:rPr>
              <a:t> </a:t>
            </a:r>
            <a:r>
              <a:rPr lang="ko-KR" altLang="en-US" sz="2600" b="1">
                <a:solidFill>
                  <a:srgbClr val="1F3B66"/>
                </a:solidFill>
                <a:latin typeface="Arial"/>
                <a:ea typeface="맑은 고딕"/>
                <a:cs typeface="Arial"/>
              </a:rPr>
              <a:t>이전</a:t>
            </a:r>
            <a:endParaRPr lang="en-US" sz="2600">
              <a:solidFill>
                <a:srgbClr val="000000"/>
              </a:solidFill>
              <a:latin typeface="맑은 고딕"/>
              <a:ea typeface="맑은 고딕"/>
              <a:cs typeface="Calibri"/>
            </a:endParaRPr>
          </a:p>
        </p:txBody>
      </p:sp>
      <p:sp>
        <p:nvSpPr>
          <p:cNvPr id="4" name="Shape 2"/>
          <p:cNvSpPr/>
          <p:nvPr/>
        </p:nvSpPr>
        <p:spPr>
          <a:xfrm>
            <a:off x="1798168" y="1280160"/>
            <a:ext cx="3657600" cy="1783080"/>
          </a:xfrm>
          <a:prstGeom prst="roundRect">
            <a:avLst>
              <a:gd name="adj" fmla="val 5128"/>
            </a:avLst>
          </a:prstGeom>
          <a:solidFill>
            <a:srgbClr val="FBEAE7"/>
          </a:solidFill>
          <a:ln/>
        </p:spPr>
      </p:sp>
      <p:sp>
        <p:nvSpPr>
          <p:cNvPr id="5" name="Text 3"/>
          <p:cNvSpPr/>
          <p:nvPr/>
        </p:nvSpPr>
        <p:spPr>
          <a:xfrm>
            <a:off x="1798168" y="1408176"/>
            <a:ext cx="3657600" cy="274320"/>
          </a:xfrm>
          <a:prstGeom prst="rect">
            <a:avLst/>
          </a:prstGeom>
          <a:noFill/>
          <a:ln/>
        </p:spPr>
        <p:txBody>
          <a:bodyPr wrap="square" lIns="0" tIns="0" rIns="0" bIns="0" rtlCol="0" anchor="ctr"/>
          <a:lstStyle/>
          <a:p>
            <a:pPr marL="0" indent="0" algn="ctr">
              <a:buNone/>
            </a:pPr>
            <a:r>
              <a:rPr lang="en-US" sz="2000" b="1">
                <a:solidFill>
                  <a:srgbClr val="B33A3A"/>
                </a:solidFill>
                <a:latin typeface="Arial"/>
                <a:ea typeface="Arial" pitchFamily="34" charset="-122"/>
                <a:cs typeface="Arial"/>
              </a:rPr>
              <a:t>cv2 </a:t>
            </a:r>
            <a:r>
              <a:rPr lang="en-US" sz="2000" b="1" err="1">
                <a:solidFill>
                  <a:srgbClr val="B33A3A"/>
                </a:solidFill>
                <a:latin typeface="Arial"/>
                <a:ea typeface="Arial" pitchFamily="34" charset="-122"/>
                <a:cs typeface="Arial"/>
              </a:rPr>
              <a:t>포함</a:t>
            </a:r>
            <a:endParaRPr lang="en-US" sz="2000" b="1">
              <a:solidFill>
                <a:srgbClr val="B33A3A"/>
              </a:solidFill>
              <a:latin typeface="Arial"/>
              <a:cs typeface="Arial"/>
            </a:endParaRPr>
          </a:p>
        </p:txBody>
      </p:sp>
      <p:sp>
        <p:nvSpPr>
          <p:cNvPr id="6" name="Text 4"/>
          <p:cNvSpPr/>
          <p:nvPr/>
        </p:nvSpPr>
        <p:spPr>
          <a:xfrm>
            <a:off x="1743740" y="1773647"/>
            <a:ext cx="3712028" cy="938347"/>
          </a:xfrm>
          <a:prstGeom prst="rect">
            <a:avLst/>
          </a:prstGeom>
          <a:noFill/>
          <a:ln/>
        </p:spPr>
        <p:txBody>
          <a:bodyPr wrap="square" lIns="0" tIns="0" rIns="0" bIns="0" rtlCol="0" anchor="ctr"/>
          <a:lstStyle/>
          <a:p>
            <a:pPr algn="ctr"/>
            <a:r>
              <a:rPr lang="en-US">
                <a:solidFill>
                  <a:srgbClr val="B33A3A"/>
                </a:solidFill>
                <a:latin typeface="Calibri"/>
                <a:ea typeface="Calibri"/>
                <a:cs typeface="Calibri"/>
              </a:rPr>
              <a:t>117120(budget)</a:t>
            </a:r>
            <a:endParaRPr lang="en-US">
              <a:solidFill>
                <a:srgbClr val="000000"/>
              </a:solidFill>
              <a:latin typeface="Calibri"/>
              <a:ea typeface="Calibri"/>
              <a:cs typeface="Calibri"/>
            </a:endParaRPr>
          </a:p>
          <a:p>
            <a:pPr algn="ctr"/>
            <a:r>
              <a:rPr lang="en-US">
                <a:solidFill>
                  <a:srgbClr val="B33A3A"/>
                </a:solidFill>
                <a:latin typeface="Calibri"/>
                <a:ea typeface="Calibri"/>
                <a:cs typeface="Calibri"/>
              </a:rPr>
              <a:t>106,785 (combined)</a:t>
            </a:r>
            <a:endParaRPr lang="en-US">
              <a:solidFill>
                <a:srgbClr val="000000"/>
              </a:solidFill>
              <a:latin typeface="Calibri"/>
              <a:ea typeface="Calibri"/>
              <a:cs typeface="Calibri"/>
            </a:endParaRPr>
          </a:p>
          <a:p>
            <a:pPr algn="ctr"/>
            <a:r>
              <a:rPr lang="en-US">
                <a:solidFill>
                  <a:srgbClr val="B33A3A"/>
                </a:solidFill>
                <a:latin typeface="Calibri"/>
                <a:ea typeface="Calibri"/>
                <a:cs typeface="Calibri"/>
              </a:rPr>
              <a:t>149,953 (total)</a:t>
            </a:r>
            <a:endParaRPr lang="en-US">
              <a:solidFill>
                <a:srgbClr val="000000"/>
              </a:solidFill>
              <a:latin typeface="Calibri"/>
              <a:ea typeface="Calibri"/>
              <a:cs typeface="Calibri"/>
            </a:endParaRPr>
          </a:p>
        </p:txBody>
      </p:sp>
      <p:sp>
        <p:nvSpPr>
          <p:cNvPr id="9" name="Shape 7"/>
          <p:cNvSpPr/>
          <p:nvPr/>
        </p:nvSpPr>
        <p:spPr>
          <a:xfrm>
            <a:off x="5638648" y="1970532"/>
            <a:ext cx="914400" cy="402336"/>
          </a:xfrm>
          <a:prstGeom prst="rightArrow">
            <a:avLst/>
          </a:prstGeom>
          <a:solidFill>
            <a:srgbClr val="8A929E"/>
          </a:solidFill>
          <a:ln/>
        </p:spPr>
      </p:sp>
      <p:sp>
        <p:nvSpPr>
          <p:cNvPr id="10" name="Shape 8"/>
          <p:cNvSpPr/>
          <p:nvPr/>
        </p:nvSpPr>
        <p:spPr>
          <a:xfrm>
            <a:off x="6735928" y="1280160"/>
            <a:ext cx="3657600" cy="1783080"/>
          </a:xfrm>
          <a:prstGeom prst="roundRect">
            <a:avLst>
              <a:gd name="adj" fmla="val 5128"/>
            </a:avLst>
          </a:prstGeom>
          <a:solidFill>
            <a:srgbClr val="E7F3EC"/>
          </a:solidFill>
          <a:ln/>
        </p:spPr>
      </p:sp>
      <p:sp>
        <p:nvSpPr>
          <p:cNvPr id="11" name="Text 9"/>
          <p:cNvSpPr/>
          <p:nvPr/>
        </p:nvSpPr>
        <p:spPr>
          <a:xfrm>
            <a:off x="6735928" y="1408176"/>
            <a:ext cx="3657600" cy="274320"/>
          </a:xfrm>
          <a:prstGeom prst="rect">
            <a:avLst/>
          </a:prstGeom>
          <a:noFill/>
          <a:ln/>
        </p:spPr>
        <p:txBody>
          <a:bodyPr wrap="square" lIns="0" tIns="0" rIns="0" bIns="0" rtlCol="0" anchor="ctr"/>
          <a:lstStyle/>
          <a:p>
            <a:pPr marL="0" indent="0" algn="ctr">
              <a:buNone/>
            </a:pPr>
            <a:r>
              <a:rPr lang="en-US" sz="2000" b="1">
                <a:solidFill>
                  <a:srgbClr val="3E8E5A"/>
                </a:solidFill>
                <a:latin typeface="Arial"/>
                <a:ea typeface="Arial" pitchFamily="34" charset="-122"/>
                <a:cs typeface="Arial"/>
              </a:rPr>
              <a:t>cv2 </a:t>
            </a:r>
            <a:r>
              <a:rPr lang="ko-KR" altLang="en-US" sz="2000" b="1">
                <a:solidFill>
                  <a:srgbClr val="3E8E5A"/>
                </a:solidFill>
                <a:latin typeface="Arial"/>
                <a:ea typeface="Arial" pitchFamily="34" charset="-122"/>
                <a:cs typeface="Arial"/>
              </a:rPr>
              <a:t>제외</a:t>
            </a:r>
            <a:endParaRPr lang="ko-KR" altLang="en-US" sz="2000" b="1">
              <a:solidFill>
                <a:srgbClr val="3E8E5A"/>
              </a:solidFill>
              <a:latin typeface="Arial"/>
              <a:ea typeface="맑은 고딕"/>
              <a:cs typeface="Arial"/>
            </a:endParaRPr>
          </a:p>
        </p:txBody>
      </p:sp>
      <p:sp>
        <p:nvSpPr>
          <p:cNvPr id="12" name="Text 10"/>
          <p:cNvSpPr/>
          <p:nvPr/>
        </p:nvSpPr>
        <p:spPr>
          <a:xfrm>
            <a:off x="6735928" y="1909717"/>
            <a:ext cx="3657600" cy="502920"/>
          </a:xfrm>
          <a:prstGeom prst="rect">
            <a:avLst/>
          </a:prstGeom>
          <a:noFill/>
          <a:ln/>
        </p:spPr>
        <p:txBody>
          <a:bodyPr wrap="square" lIns="0" tIns="0" rIns="0" bIns="0" rtlCol="0" anchor="ctr"/>
          <a:lstStyle/>
          <a:p>
            <a:pPr marL="0" indent="0" algn="ctr">
              <a:buNone/>
            </a:pPr>
            <a:r>
              <a:rPr lang="en-US">
                <a:solidFill>
                  <a:srgbClr val="3E8E5A"/>
                </a:solidFill>
                <a:latin typeface="Arial"/>
                <a:ea typeface="Arial" pitchFamily="34" charset="-122"/>
                <a:cs typeface="Arial"/>
              </a:rPr>
              <a:t>65,659(combined)</a:t>
            </a:r>
          </a:p>
          <a:p>
            <a:pPr algn="ctr"/>
            <a:r>
              <a:rPr lang="en-US">
                <a:solidFill>
                  <a:srgbClr val="3E8E5A"/>
                </a:solidFill>
                <a:latin typeface="Arial"/>
                <a:cs typeface="Arial"/>
              </a:rPr>
              <a:t>Control set </a:t>
            </a:r>
            <a:r>
              <a:rPr lang="ko-KR" altLang="en-US" err="1">
                <a:solidFill>
                  <a:srgbClr val="3E8E5A"/>
                </a:solidFill>
                <a:latin typeface="Arial"/>
                <a:cs typeface="Arial"/>
              </a:rPr>
              <a:t>문제도</a:t>
            </a:r>
            <a:r>
              <a:rPr lang="en-US">
                <a:solidFill>
                  <a:srgbClr val="3E8E5A"/>
                </a:solidFill>
                <a:latin typeface="Arial"/>
                <a:cs typeface="Arial"/>
              </a:rPr>
              <a:t> </a:t>
            </a:r>
            <a:r>
              <a:rPr lang="ko-KR" altLang="en-US" err="1">
                <a:solidFill>
                  <a:srgbClr val="3E8E5A"/>
                </a:solidFill>
                <a:latin typeface="Arial"/>
                <a:cs typeface="Arial"/>
              </a:rPr>
              <a:t>해결</a:t>
            </a:r>
            <a:endParaRPr lang="en-US" altLang="ko-KR" err="1">
              <a:solidFill>
                <a:srgbClr val="3E8E5A"/>
              </a:solidFill>
              <a:latin typeface="Arial"/>
              <a:ea typeface="맑은 고딕"/>
              <a:cs typeface="Arial"/>
            </a:endParaRPr>
          </a:p>
        </p:txBody>
      </p:sp>
      <p:graphicFrame>
        <p:nvGraphicFramePr>
          <p:cNvPr id="15" name="Table 0"/>
          <p:cNvGraphicFramePr>
            <a:graphicFrameLocks noGrp="1"/>
          </p:cNvGraphicFramePr>
          <p:nvPr/>
        </p:nvGraphicFramePr>
        <p:xfrm>
          <a:off x="1737360" y="3337560"/>
          <a:ext cx="8705088" cy="1691640"/>
        </p:xfrm>
        <a:graphic>
          <a:graphicData uri="http://schemas.openxmlformats.org/drawingml/2006/table">
            <a:tbl>
              <a:tblPr/>
              <a:tblGrid>
                <a:gridCol w="1764792">
                  <a:extLst>
                    <a:ext uri="{9D8B030D-6E8A-4147-A177-3AD203B41FA5}">
                      <a16:colId xmlns:a16="http://schemas.microsoft.com/office/drawing/2014/main" val="20000"/>
                    </a:ext>
                  </a:extLst>
                </a:gridCol>
                <a:gridCol w="2313432">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gridCol w="2313432">
                  <a:extLst>
                    <a:ext uri="{9D8B030D-6E8A-4147-A177-3AD203B41FA5}">
                      <a16:colId xmlns:a16="http://schemas.microsoft.com/office/drawing/2014/main" val="20003"/>
                    </a:ext>
                  </a:extLst>
                </a:gridCol>
              </a:tblGrid>
              <a:tr h="281940">
                <a:tc>
                  <a:txBody>
                    <a:bodyPr/>
                    <a:lstStyle/>
                    <a:p>
                      <a:pPr marL="0" indent="0" algn="ctr">
                        <a:buNone/>
                      </a:pPr>
                      <a:r>
                        <a:rPr lang="en-US" sz="1100" b="1">
                          <a:solidFill>
                            <a:srgbClr val="FFFFFF"/>
                          </a:solidFill>
                        </a:rPr>
                        <a:t>자원</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100" b="1">
                          <a:solidFill>
                            <a:srgbClr val="FFFFFF"/>
                          </a:solidFill>
                        </a:rPr>
                        <a:t>이전 (cv2 포함)</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100" b="1">
                          <a:solidFill>
                            <a:srgbClr val="FFFFFF"/>
                          </a:solidFill>
                        </a:rPr>
                        <a:t>이후 (cv2 제외)</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100" b="1">
                          <a:solidFill>
                            <a:srgbClr val="FFFFFF"/>
                          </a:solidFill>
                        </a:rPr>
                        <a:t>예산</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extLst>
                  <a:ext uri="{0D108BD9-81ED-4DB2-BD59-A6C34878D82A}">
                    <a16:rowId xmlns:a16="http://schemas.microsoft.com/office/drawing/2014/main" val="10000"/>
                  </a:ext>
                </a:extLst>
              </a:tr>
              <a:tr h="281940">
                <a:tc>
                  <a:txBody>
                    <a:bodyPr/>
                    <a:lstStyle/>
                    <a:p>
                      <a:pPr marL="0" indent="0" algn="l">
                        <a:buNone/>
                      </a:pPr>
                      <a:r>
                        <a:rPr lang="en-US" sz="1100" b="1">
                          <a:solidFill>
                            <a:srgbClr val="000000"/>
                          </a:solidFill>
                        </a:rPr>
                        <a:t>LUT</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B33A3A"/>
                          </a:solidFill>
                        </a:rPr>
                        <a:t>106,785 (91%)</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3E8E5A"/>
                          </a:solidFill>
                        </a:rPr>
                        <a:t>65,659 (56%)</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117,120</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1"/>
                  </a:ext>
                </a:extLst>
              </a:tr>
              <a:tr h="281940">
                <a:tc>
                  <a:txBody>
                    <a:bodyPr/>
                    <a:lstStyle/>
                    <a:p>
                      <a:pPr marL="0" indent="0" algn="l">
                        <a:buNone/>
                      </a:pPr>
                      <a:r>
                        <a:rPr lang="en-US" sz="1100">
                          <a:solidFill>
                            <a:srgbClr val="000000"/>
                          </a:solidFill>
                        </a:rPr>
                        <a:t>FF</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192,797 (82%)</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3E8E5A"/>
                          </a:solidFill>
                        </a:rPr>
                        <a:t>130,945 (56%)</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234,240</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2"/>
                  </a:ext>
                </a:extLst>
              </a:tr>
              <a:tr h="281940">
                <a:tc>
                  <a:txBody>
                    <a:bodyPr/>
                    <a:lstStyle/>
                    <a:p>
                      <a:pPr marL="0" indent="0" algn="l">
                        <a:buNone/>
                      </a:pPr>
                      <a:r>
                        <a:rPr lang="en-US" sz="1100">
                          <a:solidFill>
                            <a:srgbClr val="000000"/>
                          </a:solidFill>
                        </a:rPr>
                        <a:t>BRAM</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129.5 (90%)</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3E8E5A"/>
                          </a:solidFill>
                        </a:rPr>
                        <a:t>121.5 (84%)</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144</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3"/>
                  </a:ext>
                </a:extLst>
              </a:tr>
              <a:tr h="281940">
                <a:tc>
                  <a:txBody>
                    <a:bodyPr/>
                    <a:lstStyle/>
                    <a:p>
                      <a:pPr marL="0" indent="0" algn="l">
                        <a:buNone/>
                      </a:pPr>
                      <a:r>
                        <a:rPr lang="en-US" sz="1100">
                          <a:solidFill>
                            <a:srgbClr val="000000"/>
                          </a:solidFill>
                        </a:rPr>
                        <a:t>URAM</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56 (87%)</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8A929E"/>
                          </a:solidFill>
                        </a:rPr>
                        <a:t>56 (87%)</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64</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4"/>
                  </a:ext>
                </a:extLst>
              </a:tr>
              <a:tr h="281940">
                <a:tc>
                  <a:txBody>
                    <a:bodyPr/>
                    <a:lstStyle/>
                    <a:p>
                      <a:pPr marL="0" indent="0" algn="l">
                        <a:buNone/>
                      </a:pPr>
                      <a:r>
                        <a:rPr lang="en-US" sz="1100">
                          <a:solidFill>
                            <a:srgbClr val="000000"/>
                          </a:solidFill>
                        </a:rPr>
                        <a:t>DSP</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728 (58%)</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3E8E5A"/>
                          </a:solidFill>
                        </a:rPr>
                        <a:t>472 (38%)</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1,248</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7295" cy="502920"/>
          </a:xfrm>
          <a:prstGeom prst="rect">
            <a:avLst/>
          </a:prstGeom>
          <a:noFill/>
          <a:ln/>
        </p:spPr>
        <p:txBody>
          <a:bodyPr wrap="square" lIns="0" tIns="0" rIns="0" bIns="0" rtlCol="0" anchor="ctr"/>
          <a:lstStyle/>
          <a:p>
            <a:pPr marL="0" indent="0" algn="ctr">
              <a:buNone/>
            </a:pPr>
            <a:r>
              <a:rPr lang="en-US" sz="2600" b="1">
                <a:solidFill>
                  <a:srgbClr val="1F3B66"/>
                </a:solidFill>
                <a:latin typeface="Arial"/>
                <a:ea typeface="Arial" pitchFamily="34" charset="-122"/>
                <a:cs typeface="Arial"/>
              </a:rPr>
              <a:t>Timing Report</a:t>
            </a:r>
            <a:endParaRPr lang="en-US" sz="2600" b="1">
              <a:solidFill>
                <a:srgbClr val="1F3B66"/>
              </a:solidFill>
              <a:latin typeface="Arial"/>
              <a:cs typeface="Arial"/>
            </a:endParaRPr>
          </a:p>
        </p:txBody>
      </p:sp>
      <p:sp>
        <p:nvSpPr>
          <p:cNvPr id="3" name="Text 1"/>
          <p:cNvSpPr/>
          <p:nvPr/>
        </p:nvSpPr>
        <p:spPr>
          <a:xfrm>
            <a:off x="640080" y="868680"/>
            <a:ext cx="10911535" cy="457200"/>
          </a:xfrm>
          <a:prstGeom prst="rect">
            <a:avLst/>
          </a:prstGeom>
          <a:noFill/>
          <a:ln/>
        </p:spPr>
        <p:txBody>
          <a:bodyPr wrap="square" lIns="0" tIns="0" rIns="0" bIns="0" rtlCol="0" anchor="ctr"/>
          <a:lstStyle/>
          <a:p>
            <a:pPr algn="ctr"/>
            <a:r>
              <a:rPr lang="en-US" altLang="ko-KR" sz="1300">
                <a:solidFill>
                  <a:srgbClr val="2E3B52"/>
                </a:solidFill>
                <a:latin typeface="Arial"/>
                <a:ea typeface="맑은 고딕"/>
                <a:cs typeface="Arial"/>
              </a:rPr>
              <a:t>CV2 연산 </a:t>
            </a:r>
            <a:r>
              <a:rPr lang="en-US" altLang="ko-KR" sz="1300" err="1">
                <a:solidFill>
                  <a:srgbClr val="2E3B52"/>
                </a:solidFill>
                <a:latin typeface="Arial"/>
                <a:ea typeface="맑은 고딕"/>
                <a:cs typeface="Arial"/>
              </a:rPr>
              <a:t>제외</a:t>
            </a:r>
            <a:r>
              <a:rPr lang="en-US" altLang="ko-KR" sz="1300">
                <a:solidFill>
                  <a:srgbClr val="2E3B52"/>
                </a:solidFill>
                <a:latin typeface="Arial"/>
                <a:ea typeface="맑은 고딕"/>
                <a:cs typeface="Arial"/>
              </a:rPr>
              <a:t> </a:t>
            </a:r>
            <a:r>
              <a:rPr lang="ko-KR" altLang="en-US" sz="1300" err="1">
                <a:solidFill>
                  <a:srgbClr val="2E3B52"/>
                </a:solidFill>
                <a:latin typeface="Arial"/>
                <a:ea typeface="맑은 고딕"/>
                <a:cs typeface="Arial"/>
              </a:rPr>
              <a:t>반영</a:t>
            </a:r>
            <a:r>
              <a:rPr lang="en-US" altLang="ko-KR" sz="1300">
                <a:solidFill>
                  <a:srgbClr val="2E3B52"/>
                </a:solidFill>
                <a:latin typeface="Arial"/>
                <a:ea typeface="맑은 고딕"/>
                <a:cs typeface="Arial"/>
              </a:rPr>
              <a:t> </a:t>
            </a:r>
            <a:r>
              <a:rPr lang="ko-KR" altLang="en-US" sz="1300">
                <a:solidFill>
                  <a:srgbClr val="2E3B52"/>
                </a:solidFill>
                <a:latin typeface="Arial"/>
                <a:ea typeface="맑은 고딕"/>
                <a:cs typeface="Arial"/>
              </a:rPr>
              <a:t>후</a:t>
            </a:r>
            <a:r>
              <a:rPr lang="en-US" altLang="ko-KR" sz="1300">
                <a:solidFill>
                  <a:srgbClr val="2E3B52"/>
                </a:solidFill>
                <a:latin typeface="Arial"/>
                <a:ea typeface="맑은 고딕"/>
                <a:cs typeface="Arial"/>
              </a:rPr>
              <a:t> </a:t>
            </a:r>
            <a:r>
              <a:rPr lang="ko-KR" altLang="en-US" sz="1300" err="1">
                <a:solidFill>
                  <a:srgbClr val="2E3B52"/>
                </a:solidFill>
                <a:latin typeface="Arial"/>
                <a:ea typeface="맑은 고딕"/>
                <a:cs typeface="Arial"/>
              </a:rPr>
              <a:t>재합성</a:t>
            </a:r>
            <a:r>
              <a:rPr lang="en-US" altLang="ko-KR" sz="1300">
                <a:solidFill>
                  <a:srgbClr val="2E3B52"/>
                </a:solidFill>
                <a:latin typeface="Arial"/>
                <a:ea typeface="맑은 고딕"/>
                <a:cs typeface="Arial"/>
              </a:rPr>
              <a:t> </a:t>
            </a:r>
            <a:r>
              <a:rPr lang="ko-KR" altLang="en-US" sz="1300" err="1">
                <a:solidFill>
                  <a:srgbClr val="2E3B52"/>
                </a:solidFill>
                <a:latin typeface="Arial"/>
                <a:ea typeface="맑은 고딕"/>
                <a:cs typeface="Arial"/>
              </a:rPr>
              <a:t>결과</a:t>
            </a:r>
            <a:r>
              <a:rPr lang="en-US" altLang="ko-KR" sz="1300">
                <a:solidFill>
                  <a:srgbClr val="2E3B52"/>
                </a:solidFill>
                <a:latin typeface="Arial"/>
                <a:ea typeface="맑은 고딕"/>
                <a:cs typeface="Arial"/>
              </a:rPr>
              <a:t> — Design Timing Summary (</a:t>
            </a:r>
            <a:r>
              <a:rPr lang="en-US" altLang="ko-KR" sz="1300" err="1">
                <a:solidFill>
                  <a:srgbClr val="2E3B52"/>
                </a:solidFill>
                <a:latin typeface="Arial"/>
                <a:ea typeface="맑은 고딕"/>
                <a:cs typeface="Arial"/>
              </a:rPr>
              <a:t>Vivado</a:t>
            </a:r>
            <a:r>
              <a:rPr lang="en-US" altLang="ko-KR" sz="1300">
                <a:solidFill>
                  <a:srgbClr val="2E3B52"/>
                </a:solidFill>
                <a:latin typeface="Arial"/>
                <a:ea typeface="맑은 고딕"/>
                <a:cs typeface="Arial"/>
              </a:rPr>
              <a:t> Implementation)</a:t>
            </a:r>
            <a:endParaRPr lang="en-US" sz="1300">
              <a:solidFill>
                <a:srgbClr val="000000"/>
              </a:solidFill>
              <a:latin typeface="Calibri"/>
              <a:ea typeface="Calibri"/>
              <a:cs typeface="Calibri"/>
            </a:endParaRPr>
          </a:p>
        </p:txBody>
      </p:sp>
      <p:sp>
        <p:nvSpPr>
          <p:cNvPr id="4" name="Shape 4"/>
          <p:cNvSpPr/>
          <p:nvPr/>
        </p:nvSpPr>
        <p:spPr>
          <a:xfrm>
            <a:off x="467400" y="1600200"/>
            <a:ext cx="3600000" cy="3200400"/>
          </a:xfrm>
          <a:prstGeom prst="roundRect">
            <a:avLst>
              <a:gd name="adj" fmla="val 4348"/>
            </a:avLst>
          </a:prstGeom>
          <a:solidFill>
            <a:srgbClr val="EAF0FA"/>
          </a:solidFill>
          <a:ln/>
        </p:spPr>
      </p:sp>
      <p:sp>
        <p:nvSpPr>
          <p:cNvPr id="5" name="Text 5"/>
          <p:cNvSpPr/>
          <p:nvPr/>
        </p:nvSpPr>
        <p:spPr>
          <a:xfrm>
            <a:off x="741720" y="1828800"/>
            <a:ext cx="3051360" cy="36576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Setup</a:t>
            </a:r>
            <a:endParaRPr lang="en-US" sz="1500"/>
          </a:p>
        </p:txBody>
      </p:sp>
      <p:sp>
        <p:nvSpPr>
          <p:cNvPr id="6" name="Text 6"/>
          <p:cNvSpPr/>
          <p:nvPr/>
        </p:nvSpPr>
        <p:spPr>
          <a:xfrm>
            <a:off x="741720" y="2286000"/>
            <a:ext cx="3051360" cy="2286000"/>
          </a:xfrm>
          <a:prstGeom prst="rect">
            <a:avLst/>
          </a:prstGeom>
          <a:noFill/>
          <a:ln/>
        </p:spPr>
        <p:txBody>
          <a:bodyPr wrap="square" lIns="0" tIns="0" rIns="0" bIns="0" rtlCol="0" anchor="t"/>
          <a:lstStyle/>
          <a:p>
            <a:pPr marL="0" indent="0" algn="l">
              <a:spcAft>
                <a:spcPts val="600"/>
              </a:spcAft>
              <a:buNone/>
            </a:pPr>
            <a:r>
              <a:rPr lang="en-US" sz="1100">
                <a:solidFill>
                  <a:srgbClr val="2E3B52"/>
                </a:solidFill>
                <a:latin typeface="Arial" pitchFamily="34" charset="0"/>
                <a:ea typeface="Arial" pitchFamily="34" charset="-122"/>
                <a:cs typeface="Arial" pitchFamily="34" charset="-120"/>
              </a:rPr>
              <a:t>Worst Negative Slack (WNS)</a:t>
            </a:r>
          </a:p>
          <a:p>
            <a:pPr marL="0" indent="0" algn="l">
              <a:spcAft>
                <a:spcPts val="600"/>
              </a:spcAft>
              <a:buNone/>
            </a:pPr>
            <a:r>
              <a:rPr lang="en-US" sz="1700" b="1">
                <a:solidFill>
                  <a:srgbClr val="1F3B66"/>
                </a:solidFill>
                <a:latin typeface="Arial" pitchFamily="34" charset="0"/>
                <a:ea typeface="Arial" pitchFamily="34" charset="-122"/>
                <a:cs typeface="Arial" pitchFamily="34" charset="-120"/>
              </a:rPr>
              <a:t>0.631 ns</a:t>
            </a:r>
          </a:p>
          <a:p>
            <a:pPr marL="0" indent="0" algn="l">
              <a:spcAft>
                <a:spcPts val="600"/>
              </a:spcAft>
              <a:buNone/>
            </a:pPr>
            <a:r>
              <a:rPr lang="en-US" sz="1100">
                <a:solidFill>
                  <a:srgbClr val="2E3B52"/>
                </a:solidFill>
                <a:latin typeface="Arial" pitchFamily="34" charset="0"/>
                <a:ea typeface="Arial" pitchFamily="34" charset="-122"/>
                <a:cs typeface="Arial" pitchFamily="34" charset="-120"/>
              </a:rPr>
              <a:t>Total Negative Slack (TNS)</a:t>
            </a:r>
          </a:p>
          <a:p>
            <a:pPr marL="0" indent="0" algn="l">
              <a:spcAft>
                <a:spcPts val="600"/>
              </a:spcAft>
              <a:buNone/>
            </a:pPr>
            <a:r>
              <a:rPr lang="en-US" sz="1700" b="1">
                <a:solidFill>
                  <a:srgbClr val="1F3B66"/>
                </a:solidFill>
                <a:latin typeface="Arial" pitchFamily="34" charset="0"/>
                <a:ea typeface="Arial" pitchFamily="34" charset="-122"/>
                <a:cs typeface="Arial" pitchFamily="34" charset="-120"/>
              </a:rPr>
              <a:t>0.000 ns</a:t>
            </a:r>
          </a:p>
          <a:p>
            <a:pPr marL="0" indent="0" algn="l">
              <a:spcAft>
                <a:spcPts val="600"/>
              </a:spcAft>
              <a:buNone/>
            </a:pPr>
            <a:r>
              <a:rPr lang="en-US" sz="1100">
                <a:solidFill>
                  <a:srgbClr val="2E3B52"/>
                </a:solidFill>
                <a:latin typeface="Arial" pitchFamily="34" charset="0"/>
                <a:ea typeface="Arial" pitchFamily="34" charset="-122"/>
                <a:cs typeface="Arial" pitchFamily="34" charset="-120"/>
              </a:rPr>
              <a:t>Number of Failing Endpoints</a:t>
            </a:r>
          </a:p>
          <a:p>
            <a:pPr marL="0" indent="0" algn="l">
              <a:spcAft>
                <a:spcPts val="600"/>
              </a:spcAft>
              <a:buNone/>
            </a:pPr>
            <a:r>
              <a:rPr lang="en-US" sz="1700" b="1">
                <a:solidFill>
                  <a:srgbClr val="1F3B66"/>
                </a:solidFill>
                <a:latin typeface="Arial" pitchFamily="34" charset="0"/>
                <a:ea typeface="Arial" pitchFamily="34" charset="-122"/>
                <a:cs typeface="Arial" pitchFamily="34" charset="-120"/>
              </a:rPr>
              <a:t>0</a:t>
            </a:r>
          </a:p>
          <a:p>
            <a:pPr marL="0" indent="0" algn="l">
              <a:spcAft>
                <a:spcPts val="600"/>
              </a:spcAft>
              <a:buNone/>
            </a:pPr>
            <a:r>
              <a:rPr lang="en-US" sz="1100">
                <a:solidFill>
                  <a:srgbClr val="2E3B52"/>
                </a:solidFill>
                <a:latin typeface="Arial" pitchFamily="34" charset="0"/>
                <a:ea typeface="Arial" pitchFamily="34" charset="-122"/>
                <a:cs typeface="Arial" pitchFamily="34" charset="-120"/>
              </a:rPr>
              <a:t>Total Number of Endpoints</a:t>
            </a:r>
          </a:p>
          <a:p>
            <a:pPr marL="0" indent="0" algn="l">
              <a:spcAft>
                <a:spcPts val="600"/>
              </a:spcAft>
              <a:buNone/>
            </a:pPr>
            <a:r>
              <a:rPr lang="en-US" sz="1700" b="1">
                <a:solidFill>
                  <a:srgbClr val="1F3B66"/>
                </a:solidFill>
                <a:latin typeface="Arial" pitchFamily="34" charset="0"/>
                <a:ea typeface="Arial" pitchFamily="34" charset="-122"/>
                <a:cs typeface="Arial" pitchFamily="34" charset="-120"/>
              </a:rPr>
              <a:t>419,254</a:t>
            </a:r>
          </a:p>
        </p:txBody>
      </p:sp>
      <p:sp>
        <p:nvSpPr>
          <p:cNvPr id="7" name="Shape 7"/>
          <p:cNvSpPr/>
          <p:nvPr/>
        </p:nvSpPr>
        <p:spPr>
          <a:xfrm>
            <a:off x="4296000" y="1600200"/>
            <a:ext cx="3600000" cy="3200400"/>
          </a:xfrm>
          <a:prstGeom prst="roundRect">
            <a:avLst>
              <a:gd name="adj" fmla="val 4348"/>
            </a:avLst>
          </a:prstGeom>
          <a:solidFill>
            <a:srgbClr val="EAF0FA"/>
          </a:solidFill>
          <a:ln/>
        </p:spPr>
      </p:sp>
      <p:sp>
        <p:nvSpPr>
          <p:cNvPr id="8" name="Text 8"/>
          <p:cNvSpPr/>
          <p:nvPr/>
        </p:nvSpPr>
        <p:spPr>
          <a:xfrm>
            <a:off x="4570320" y="1828800"/>
            <a:ext cx="3051360" cy="36576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Hold</a:t>
            </a:r>
            <a:endParaRPr lang="en-US" sz="1500"/>
          </a:p>
        </p:txBody>
      </p:sp>
      <p:sp>
        <p:nvSpPr>
          <p:cNvPr id="9" name="Text 9"/>
          <p:cNvSpPr/>
          <p:nvPr/>
        </p:nvSpPr>
        <p:spPr>
          <a:xfrm>
            <a:off x="4570320" y="2286000"/>
            <a:ext cx="3051360" cy="2286000"/>
          </a:xfrm>
          <a:prstGeom prst="rect">
            <a:avLst/>
          </a:prstGeom>
          <a:noFill/>
          <a:ln/>
        </p:spPr>
        <p:txBody>
          <a:bodyPr wrap="square" lIns="0" tIns="0" rIns="0" bIns="0" rtlCol="0" anchor="t"/>
          <a:lstStyle/>
          <a:p>
            <a:pPr marL="0" indent="0" algn="l">
              <a:spcAft>
                <a:spcPts val="600"/>
              </a:spcAft>
              <a:buNone/>
            </a:pPr>
            <a:r>
              <a:rPr lang="en-US" sz="1100">
                <a:solidFill>
                  <a:srgbClr val="2E3B52"/>
                </a:solidFill>
                <a:latin typeface="Arial" pitchFamily="34" charset="0"/>
                <a:ea typeface="Arial" pitchFamily="34" charset="-122"/>
                <a:cs typeface="Arial" pitchFamily="34" charset="-120"/>
              </a:rPr>
              <a:t>Worst Hold Slack (WHS)</a:t>
            </a:r>
          </a:p>
          <a:p>
            <a:pPr marL="0" indent="0" algn="l">
              <a:spcAft>
                <a:spcPts val="600"/>
              </a:spcAft>
              <a:buNone/>
            </a:pPr>
            <a:r>
              <a:rPr lang="en-US" sz="1700" b="1">
                <a:solidFill>
                  <a:srgbClr val="1F3B66"/>
                </a:solidFill>
                <a:latin typeface="Arial" pitchFamily="34" charset="0"/>
                <a:ea typeface="Arial" pitchFamily="34" charset="-122"/>
                <a:cs typeface="Arial" pitchFamily="34" charset="-120"/>
              </a:rPr>
              <a:t>0.010 ns</a:t>
            </a:r>
          </a:p>
          <a:p>
            <a:pPr marL="0" indent="0" algn="l">
              <a:spcAft>
                <a:spcPts val="600"/>
              </a:spcAft>
              <a:buNone/>
            </a:pPr>
            <a:r>
              <a:rPr lang="en-US" sz="1100">
                <a:solidFill>
                  <a:srgbClr val="2E3B52"/>
                </a:solidFill>
                <a:latin typeface="Arial" pitchFamily="34" charset="0"/>
                <a:ea typeface="Arial" pitchFamily="34" charset="-122"/>
                <a:cs typeface="Arial" pitchFamily="34" charset="-120"/>
              </a:rPr>
              <a:t>Total Hold Slack (THS)</a:t>
            </a:r>
          </a:p>
          <a:p>
            <a:pPr marL="0" indent="0" algn="l">
              <a:spcAft>
                <a:spcPts val="600"/>
              </a:spcAft>
              <a:buNone/>
            </a:pPr>
            <a:r>
              <a:rPr lang="en-US" sz="1700" b="1">
                <a:solidFill>
                  <a:srgbClr val="1F3B66"/>
                </a:solidFill>
                <a:latin typeface="Arial" pitchFamily="34" charset="0"/>
                <a:ea typeface="Arial" pitchFamily="34" charset="-122"/>
                <a:cs typeface="Arial" pitchFamily="34" charset="-120"/>
              </a:rPr>
              <a:t>0.000 ns</a:t>
            </a:r>
          </a:p>
          <a:p>
            <a:pPr marL="0" indent="0" algn="l">
              <a:spcAft>
                <a:spcPts val="600"/>
              </a:spcAft>
              <a:buNone/>
            </a:pPr>
            <a:r>
              <a:rPr lang="en-US" sz="1100">
                <a:solidFill>
                  <a:srgbClr val="2E3B52"/>
                </a:solidFill>
                <a:latin typeface="Arial" pitchFamily="34" charset="0"/>
                <a:ea typeface="Arial" pitchFamily="34" charset="-122"/>
                <a:cs typeface="Arial" pitchFamily="34" charset="-120"/>
              </a:rPr>
              <a:t>Number of Failing Endpoints</a:t>
            </a:r>
          </a:p>
          <a:p>
            <a:pPr marL="0" indent="0" algn="l">
              <a:spcAft>
                <a:spcPts val="600"/>
              </a:spcAft>
              <a:buNone/>
            </a:pPr>
            <a:r>
              <a:rPr lang="en-US" sz="1700" b="1">
                <a:solidFill>
                  <a:srgbClr val="1F3B66"/>
                </a:solidFill>
                <a:latin typeface="Arial" pitchFamily="34" charset="0"/>
                <a:ea typeface="Arial" pitchFamily="34" charset="-122"/>
                <a:cs typeface="Arial" pitchFamily="34" charset="-120"/>
              </a:rPr>
              <a:t>0</a:t>
            </a:r>
          </a:p>
          <a:p>
            <a:pPr marL="0" indent="0" algn="l">
              <a:spcAft>
                <a:spcPts val="600"/>
              </a:spcAft>
              <a:buNone/>
            </a:pPr>
            <a:r>
              <a:rPr lang="en-US" sz="1100">
                <a:solidFill>
                  <a:srgbClr val="2E3B52"/>
                </a:solidFill>
                <a:latin typeface="Arial" pitchFamily="34" charset="0"/>
                <a:ea typeface="Arial" pitchFamily="34" charset="-122"/>
                <a:cs typeface="Arial" pitchFamily="34" charset="-120"/>
              </a:rPr>
              <a:t>Total Number of Endpoints</a:t>
            </a:r>
          </a:p>
          <a:p>
            <a:pPr marL="0" indent="0" algn="l">
              <a:spcAft>
                <a:spcPts val="600"/>
              </a:spcAft>
              <a:buNone/>
            </a:pPr>
            <a:r>
              <a:rPr lang="en-US" sz="1700" b="1">
                <a:solidFill>
                  <a:srgbClr val="1F3B66"/>
                </a:solidFill>
                <a:latin typeface="Arial" pitchFamily="34" charset="0"/>
                <a:ea typeface="Arial" pitchFamily="34" charset="-122"/>
                <a:cs typeface="Arial" pitchFamily="34" charset="-120"/>
              </a:rPr>
              <a:t>419,254</a:t>
            </a:r>
          </a:p>
        </p:txBody>
      </p:sp>
      <p:sp>
        <p:nvSpPr>
          <p:cNvPr id="10" name="Shape 10"/>
          <p:cNvSpPr/>
          <p:nvPr/>
        </p:nvSpPr>
        <p:spPr>
          <a:xfrm>
            <a:off x="8124600" y="1600200"/>
            <a:ext cx="3600000" cy="3200400"/>
          </a:xfrm>
          <a:prstGeom prst="roundRect">
            <a:avLst>
              <a:gd name="adj" fmla="val 4348"/>
            </a:avLst>
          </a:prstGeom>
          <a:solidFill>
            <a:srgbClr val="EAF0FA"/>
          </a:solidFill>
          <a:ln/>
        </p:spPr>
      </p:sp>
      <p:sp>
        <p:nvSpPr>
          <p:cNvPr id="11" name="Text 11"/>
          <p:cNvSpPr/>
          <p:nvPr/>
        </p:nvSpPr>
        <p:spPr>
          <a:xfrm>
            <a:off x="8398920" y="1828800"/>
            <a:ext cx="3051360" cy="365760"/>
          </a:xfrm>
          <a:prstGeom prst="rect">
            <a:avLst/>
          </a:prstGeom>
          <a:noFill/>
          <a:ln/>
        </p:spPr>
        <p:txBody>
          <a:bodyPr wrap="square" lIns="0" tIns="0" rIns="0" bIns="0" rtlCol="0" anchor="ctr"/>
          <a:lstStyle/>
          <a:p>
            <a:pPr marL="0" indent="0" algn="l">
              <a:buNone/>
            </a:pPr>
            <a:r>
              <a:rPr lang="en-US" sz="1500" b="1">
                <a:solidFill>
                  <a:srgbClr val="1F3B66"/>
                </a:solidFill>
                <a:latin typeface="Arial" pitchFamily="34" charset="0"/>
                <a:ea typeface="Arial" pitchFamily="34" charset="-122"/>
                <a:cs typeface="Arial" pitchFamily="34" charset="-120"/>
              </a:rPr>
              <a:t>Pulse Width</a:t>
            </a:r>
            <a:endParaRPr lang="en-US" sz="1500"/>
          </a:p>
        </p:txBody>
      </p:sp>
      <p:sp>
        <p:nvSpPr>
          <p:cNvPr id="12" name="Text 12"/>
          <p:cNvSpPr/>
          <p:nvPr/>
        </p:nvSpPr>
        <p:spPr>
          <a:xfrm>
            <a:off x="8398920" y="2286000"/>
            <a:ext cx="3051360" cy="2286000"/>
          </a:xfrm>
          <a:prstGeom prst="rect">
            <a:avLst/>
          </a:prstGeom>
          <a:noFill/>
          <a:ln/>
        </p:spPr>
        <p:txBody>
          <a:bodyPr wrap="square" lIns="0" tIns="0" rIns="0" bIns="0" rtlCol="0" anchor="t"/>
          <a:lstStyle/>
          <a:p>
            <a:pPr marL="0" indent="0" algn="l">
              <a:spcAft>
                <a:spcPts val="600"/>
              </a:spcAft>
              <a:buNone/>
            </a:pPr>
            <a:r>
              <a:rPr lang="en-US" sz="1100">
                <a:solidFill>
                  <a:srgbClr val="2E3B52"/>
                </a:solidFill>
                <a:latin typeface="Arial" pitchFamily="34" charset="0"/>
                <a:ea typeface="Arial" pitchFamily="34" charset="-122"/>
                <a:cs typeface="Arial" pitchFamily="34" charset="-120"/>
              </a:rPr>
              <a:t>Worst Pulse Width Slack (WPWS)</a:t>
            </a:r>
          </a:p>
          <a:p>
            <a:pPr marL="0" indent="0" algn="l">
              <a:spcAft>
                <a:spcPts val="600"/>
              </a:spcAft>
              <a:buNone/>
            </a:pPr>
            <a:r>
              <a:rPr lang="en-US" sz="1700" b="1">
                <a:solidFill>
                  <a:srgbClr val="1F3B66"/>
                </a:solidFill>
                <a:latin typeface="Arial" pitchFamily="34" charset="0"/>
                <a:ea typeface="Arial" pitchFamily="34" charset="-122"/>
                <a:cs typeface="Arial" pitchFamily="34" charset="-120"/>
              </a:rPr>
              <a:t>3.500 ns</a:t>
            </a:r>
          </a:p>
          <a:p>
            <a:pPr marL="0" indent="0" algn="l">
              <a:spcAft>
                <a:spcPts val="600"/>
              </a:spcAft>
              <a:buNone/>
            </a:pPr>
            <a:r>
              <a:rPr lang="en-US" sz="1100">
                <a:solidFill>
                  <a:srgbClr val="2E3B52"/>
                </a:solidFill>
                <a:latin typeface="Arial" pitchFamily="34" charset="0"/>
                <a:ea typeface="Arial" pitchFamily="34" charset="-122"/>
                <a:cs typeface="Arial" pitchFamily="34" charset="-120"/>
              </a:rPr>
              <a:t>Total Pulse Width Neg. Slack (TPWS)</a:t>
            </a:r>
          </a:p>
          <a:p>
            <a:pPr marL="0" indent="0" algn="l">
              <a:spcAft>
                <a:spcPts val="600"/>
              </a:spcAft>
              <a:buNone/>
            </a:pPr>
            <a:r>
              <a:rPr lang="en-US" sz="1700" b="1">
                <a:solidFill>
                  <a:srgbClr val="1F3B66"/>
                </a:solidFill>
                <a:latin typeface="Arial" pitchFamily="34" charset="0"/>
                <a:ea typeface="Arial" pitchFamily="34" charset="-122"/>
                <a:cs typeface="Arial" pitchFamily="34" charset="-120"/>
              </a:rPr>
              <a:t>0.000 ns</a:t>
            </a:r>
          </a:p>
          <a:p>
            <a:pPr marL="0" indent="0" algn="l">
              <a:spcAft>
                <a:spcPts val="600"/>
              </a:spcAft>
              <a:buNone/>
            </a:pPr>
            <a:r>
              <a:rPr lang="en-US" sz="1100">
                <a:solidFill>
                  <a:srgbClr val="2E3B52"/>
                </a:solidFill>
                <a:latin typeface="Arial" pitchFamily="34" charset="0"/>
                <a:ea typeface="Arial" pitchFamily="34" charset="-122"/>
                <a:cs typeface="Arial" pitchFamily="34" charset="-120"/>
              </a:rPr>
              <a:t>Number of Failing Endpoints</a:t>
            </a:r>
          </a:p>
          <a:p>
            <a:pPr marL="0" indent="0" algn="l">
              <a:spcAft>
                <a:spcPts val="600"/>
              </a:spcAft>
              <a:buNone/>
            </a:pPr>
            <a:r>
              <a:rPr lang="en-US" sz="1700" b="1">
                <a:solidFill>
                  <a:srgbClr val="1F3B66"/>
                </a:solidFill>
                <a:latin typeface="Arial" pitchFamily="34" charset="0"/>
                <a:ea typeface="Arial" pitchFamily="34" charset="-122"/>
                <a:cs typeface="Arial" pitchFamily="34" charset="-120"/>
              </a:rPr>
              <a:t>0</a:t>
            </a:r>
          </a:p>
          <a:p>
            <a:pPr marL="0" indent="0" algn="l">
              <a:spcAft>
                <a:spcPts val="600"/>
              </a:spcAft>
              <a:buNone/>
            </a:pPr>
            <a:r>
              <a:rPr lang="en-US" sz="1100">
                <a:solidFill>
                  <a:srgbClr val="2E3B52"/>
                </a:solidFill>
                <a:latin typeface="Arial" pitchFamily="34" charset="0"/>
                <a:ea typeface="Arial" pitchFamily="34" charset="-122"/>
                <a:cs typeface="Arial" pitchFamily="34" charset="-120"/>
              </a:rPr>
              <a:t>Total Number of Endpoints</a:t>
            </a:r>
          </a:p>
          <a:p>
            <a:pPr marL="0" indent="0" algn="l">
              <a:spcAft>
                <a:spcPts val="600"/>
              </a:spcAft>
              <a:buNone/>
            </a:pPr>
            <a:r>
              <a:rPr lang="en-US" sz="1700" b="1">
                <a:solidFill>
                  <a:srgbClr val="1F3B66"/>
                </a:solidFill>
                <a:latin typeface="Arial" pitchFamily="34" charset="0"/>
                <a:ea typeface="Arial" pitchFamily="34" charset="-122"/>
                <a:cs typeface="Arial" pitchFamily="34" charset="-120"/>
              </a:rPr>
              <a:t>159,790</a:t>
            </a:r>
          </a:p>
        </p:txBody>
      </p:sp>
      <p:sp>
        <p:nvSpPr>
          <p:cNvPr id="13" name="Shape banner"/>
          <p:cNvSpPr/>
          <p:nvPr/>
        </p:nvSpPr>
        <p:spPr>
          <a:xfrm>
            <a:off x="467400" y="5074920"/>
            <a:ext cx="11257200" cy="502920"/>
          </a:xfrm>
          <a:prstGeom prst="roundRect">
            <a:avLst>
              <a:gd name="adj" fmla="val 4348"/>
            </a:avLst>
          </a:prstGeom>
          <a:solidFill>
            <a:srgbClr val="E7F5EC"/>
          </a:solidFill>
          <a:ln/>
        </p:spPr>
      </p:sp>
      <p:sp>
        <p:nvSpPr>
          <p:cNvPr id="14" name="Text banner"/>
          <p:cNvSpPr/>
          <p:nvPr/>
        </p:nvSpPr>
        <p:spPr>
          <a:xfrm>
            <a:off x="741720" y="5074920"/>
            <a:ext cx="10708560" cy="502920"/>
          </a:xfrm>
          <a:prstGeom prst="rect">
            <a:avLst/>
          </a:prstGeom>
          <a:noFill/>
          <a:ln/>
        </p:spPr>
        <p:txBody>
          <a:bodyPr wrap="square" lIns="0" tIns="0" rIns="0" bIns="0" rtlCol="0" anchor="ctr"/>
          <a:lstStyle/>
          <a:p>
            <a:pPr marL="0" indent="0" algn="l">
              <a:buNone/>
            </a:pPr>
            <a:r>
              <a:rPr lang="en-US" sz="1400" b="1">
                <a:solidFill>
                  <a:srgbClr val="1E7B4D"/>
                </a:solidFill>
                <a:latin typeface="Arial" pitchFamily="34" charset="0"/>
                <a:ea typeface="Arial" pitchFamily="34" charset="-122"/>
                <a:cs typeface="Arial" pitchFamily="34" charset="-120"/>
              </a:rPr>
              <a:t>✓  All user specified timing constraints are met.</a:t>
            </a:r>
            <a:endParaRPr lang="en-US" sz="1400"/>
          </a:p>
        </p:txBody>
      </p:sp>
      <p:sp>
        <p:nvSpPr>
          <p:cNvPr id="15" name="Text footnote"/>
          <p:cNvSpPr/>
          <p:nvPr/>
        </p:nvSpPr>
        <p:spPr>
          <a:xfrm>
            <a:off x="457504" y="5715000"/>
            <a:ext cx="11267096" cy="844533"/>
          </a:xfrm>
          <a:prstGeom prst="rect">
            <a:avLst/>
          </a:prstGeom>
          <a:noFill/>
          <a:ln/>
        </p:spPr>
        <p:txBody>
          <a:bodyPr wrap="square" lIns="0" tIns="0" rIns="0" bIns="0" rtlCol="0" anchor="ctr"/>
          <a:lstStyle/>
          <a:p>
            <a:r>
              <a:rPr lang="en-US" sz="1050" i="1">
                <a:solidFill>
                  <a:srgbClr val="FF0000"/>
                </a:solidFill>
                <a:latin typeface="Arial"/>
                <a:ea typeface="Arial" pitchFamily="34" charset="-122"/>
                <a:cs typeface="Arial"/>
              </a:rPr>
              <a:t>Setup </a:t>
            </a:r>
            <a:r>
              <a:rPr lang="en-US" sz="1050" i="1" err="1">
                <a:solidFill>
                  <a:srgbClr val="FF0000"/>
                </a:solidFill>
                <a:latin typeface="Arial"/>
                <a:ea typeface="Arial" pitchFamily="34" charset="-122"/>
                <a:cs typeface="Arial"/>
              </a:rPr>
              <a:t>여유</a:t>
            </a:r>
            <a:r>
              <a:rPr lang="en-US" sz="1050" i="1">
                <a:solidFill>
                  <a:srgbClr val="FF0000"/>
                </a:solidFill>
                <a:latin typeface="Arial"/>
                <a:ea typeface="Arial" pitchFamily="34" charset="-122"/>
                <a:cs typeface="Arial"/>
              </a:rPr>
              <a:t> 0.631 ns</a:t>
            </a:r>
            <a:endParaRPr lang="en-US" sz="1050" i="1">
              <a:solidFill>
                <a:srgbClr val="FF0000"/>
              </a:solidFill>
              <a:latin typeface="Arial"/>
              <a:ea typeface="Calibri"/>
              <a:cs typeface="Arial"/>
            </a:endParaRPr>
          </a:p>
          <a:p>
            <a:r>
              <a:rPr lang="en-US" sz="1050">
                <a:solidFill>
                  <a:srgbClr val="FF0000"/>
                </a:solidFill>
                <a:latin typeface="Arial"/>
                <a:ea typeface="+mn-lt"/>
                <a:cs typeface="Arial"/>
              </a:rPr>
              <a:t>10ns(</a:t>
            </a:r>
            <a:r>
              <a:rPr lang="ko-KR" altLang="en-US" sz="1050" err="1">
                <a:solidFill>
                  <a:srgbClr val="FF0000"/>
                </a:solidFill>
                <a:latin typeface="Arial"/>
                <a:ea typeface="+mn-lt"/>
                <a:cs typeface="Arial"/>
              </a:rPr>
              <a:t>목표</a:t>
            </a:r>
            <a:r>
              <a:rPr lang="en-US" altLang="ko-KR" sz="1050">
                <a:solidFill>
                  <a:srgbClr val="FF0000"/>
                </a:solidFill>
                <a:latin typeface="Arial"/>
                <a:ea typeface="+mn-lt"/>
                <a:cs typeface="Arial"/>
              </a:rPr>
              <a:t> </a:t>
            </a:r>
            <a:r>
              <a:rPr lang="ko-KR" altLang="en-US" sz="1050" err="1">
                <a:solidFill>
                  <a:srgbClr val="FF0000"/>
                </a:solidFill>
                <a:latin typeface="Arial"/>
                <a:ea typeface="+mn-lt"/>
                <a:cs typeface="Arial"/>
              </a:rPr>
              <a:t>주기</a:t>
            </a:r>
            <a:r>
              <a:rPr lang="en-US" sz="1050">
                <a:solidFill>
                  <a:srgbClr val="FF0000"/>
                </a:solidFill>
                <a:latin typeface="Arial"/>
                <a:ea typeface="+mn-lt"/>
                <a:cs typeface="Arial"/>
              </a:rPr>
              <a:t>) - 0.631ns(</a:t>
            </a:r>
            <a:r>
              <a:rPr lang="ko-KR" altLang="en-US" sz="1050" err="1">
                <a:solidFill>
                  <a:srgbClr val="FF0000"/>
                </a:solidFill>
                <a:latin typeface="Arial"/>
                <a:ea typeface="+mn-lt"/>
                <a:cs typeface="Arial"/>
              </a:rPr>
              <a:t>남은</a:t>
            </a:r>
            <a:r>
              <a:rPr lang="en-US" altLang="ko-KR" sz="1050">
                <a:solidFill>
                  <a:srgbClr val="FF0000"/>
                </a:solidFill>
                <a:latin typeface="Arial"/>
                <a:ea typeface="+mn-lt"/>
                <a:cs typeface="Arial"/>
              </a:rPr>
              <a:t> </a:t>
            </a:r>
            <a:r>
              <a:rPr lang="ko-KR" altLang="en-US" sz="1050" err="1">
                <a:solidFill>
                  <a:srgbClr val="FF0000"/>
                </a:solidFill>
                <a:latin typeface="Arial"/>
                <a:ea typeface="+mn-lt"/>
                <a:cs typeface="Arial"/>
              </a:rPr>
              <a:t>여유</a:t>
            </a:r>
            <a:r>
              <a:rPr lang="en-US" sz="1050">
                <a:solidFill>
                  <a:srgbClr val="FF0000"/>
                </a:solidFill>
                <a:latin typeface="Arial"/>
                <a:ea typeface="+mn-lt"/>
                <a:cs typeface="Arial"/>
              </a:rPr>
              <a:t>) = 9.369ns</a:t>
            </a:r>
            <a:endParaRPr lang="en-US">
              <a:solidFill>
                <a:srgbClr val="000000"/>
              </a:solidFill>
              <a:latin typeface="Arial"/>
              <a:ea typeface="+mn-lt"/>
              <a:cs typeface="Arial"/>
            </a:endParaRPr>
          </a:p>
          <a:p>
            <a:r>
              <a:rPr lang="en-US" sz="1050">
                <a:solidFill>
                  <a:srgbClr val="FF0000"/>
                </a:solidFill>
                <a:latin typeface="Arial"/>
                <a:ea typeface="+mn-lt"/>
                <a:cs typeface="Arial"/>
              </a:rPr>
              <a:t>1 / 9.369ns =</a:t>
            </a:r>
            <a:r>
              <a:rPr lang="en-US" altLang="ko-KR" sz="1050">
                <a:solidFill>
                  <a:srgbClr val="FF0000"/>
                </a:solidFill>
                <a:latin typeface="Arial"/>
                <a:ea typeface="+mn-lt"/>
                <a:cs typeface="Arial"/>
              </a:rPr>
              <a:t> </a:t>
            </a:r>
            <a:r>
              <a:rPr lang="ko-KR" altLang="en-US" sz="1050">
                <a:solidFill>
                  <a:srgbClr val="FF0000"/>
                </a:solidFill>
                <a:latin typeface="Arial"/>
                <a:ea typeface="+mn-lt"/>
                <a:cs typeface="Arial"/>
              </a:rPr>
              <a:t>약</a:t>
            </a:r>
            <a:r>
              <a:rPr lang="en-US" sz="1050">
                <a:solidFill>
                  <a:srgbClr val="FF0000"/>
                </a:solidFill>
                <a:latin typeface="Arial"/>
                <a:ea typeface="+mn-lt"/>
                <a:cs typeface="Arial"/>
              </a:rPr>
              <a:t> 106.7MHz</a:t>
            </a:r>
            <a:endParaRPr lang="en-US">
              <a:latin typeface="Arial"/>
              <a:cs typeface="Arial"/>
            </a:endParaRPr>
          </a:p>
          <a:p>
            <a:pPr marL="0" indent="0" algn="l">
              <a:buNone/>
            </a:pPr>
            <a:r>
              <a:rPr lang="en-US" sz="1050" i="1" err="1">
                <a:solidFill>
                  <a:srgbClr val="FF0000"/>
                </a:solidFill>
                <a:latin typeface="Arial"/>
                <a:ea typeface="Arial" pitchFamily="34" charset="-122"/>
                <a:cs typeface="Arial"/>
              </a:rPr>
              <a:t>기준</a:t>
            </a:r>
            <a:r>
              <a:rPr lang="en-US" sz="1050" i="1">
                <a:solidFill>
                  <a:srgbClr val="FF0000"/>
                </a:solidFill>
                <a:latin typeface="Arial"/>
                <a:ea typeface="Arial" pitchFamily="34" charset="-122"/>
                <a:cs typeface="Arial"/>
              </a:rPr>
              <a:t> </a:t>
            </a:r>
            <a:r>
              <a:rPr lang="en-US" sz="1050" i="1" err="1">
                <a:solidFill>
                  <a:srgbClr val="FF0000"/>
                </a:solidFill>
                <a:latin typeface="Arial"/>
                <a:ea typeface="Arial" pitchFamily="34" charset="-122"/>
                <a:cs typeface="Arial"/>
              </a:rPr>
              <a:t>최대</a:t>
            </a:r>
            <a:r>
              <a:rPr lang="en-US" sz="1050" i="1">
                <a:solidFill>
                  <a:srgbClr val="FF0000"/>
                </a:solidFill>
                <a:latin typeface="Arial"/>
                <a:ea typeface="Arial" pitchFamily="34" charset="-122"/>
                <a:cs typeface="Arial"/>
              </a:rPr>
              <a:t> </a:t>
            </a:r>
            <a:r>
              <a:rPr lang="en-US" sz="1050" i="1" err="1">
                <a:solidFill>
                  <a:srgbClr val="FF0000"/>
                </a:solidFill>
                <a:latin typeface="Arial"/>
                <a:ea typeface="Arial" pitchFamily="34" charset="-122"/>
                <a:cs typeface="Arial"/>
              </a:rPr>
              <a:t>도달</a:t>
            </a:r>
            <a:r>
              <a:rPr lang="en-US" sz="1050" i="1">
                <a:solidFill>
                  <a:srgbClr val="FF0000"/>
                </a:solidFill>
                <a:latin typeface="Arial"/>
                <a:ea typeface="Arial" pitchFamily="34" charset="-122"/>
                <a:cs typeface="Arial"/>
              </a:rPr>
              <a:t> </a:t>
            </a:r>
            <a:r>
              <a:rPr lang="en-US" sz="1050" i="1" err="1">
                <a:solidFill>
                  <a:srgbClr val="FF0000"/>
                </a:solidFill>
                <a:latin typeface="Arial"/>
                <a:ea typeface="Arial" pitchFamily="34" charset="-122"/>
                <a:cs typeface="Arial"/>
              </a:rPr>
              <a:t>가능</a:t>
            </a:r>
            <a:r>
              <a:rPr lang="en-US" sz="1050" i="1">
                <a:solidFill>
                  <a:srgbClr val="FF0000"/>
                </a:solidFill>
                <a:latin typeface="Arial"/>
                <a:ea typeface="Arial" pitchFamily="34" charset="-122"/>
                <a:cs typeface="Arial"/>
              </a:rPr>
              <a:t> </a:t>
            </a:r>
            <a:r>
              <a:rPr lang="en-US" sz="1050" i="1" err="1">
                <a:solidFill>
                  <a:srgbClr val="FF0000"/>
                </a:solidFill>
                <a:latin typeface="Arial"/>
                <a:ea typeface="Arial" pitchFamily="34" charset="-122"/>
                <a:cs typeface="Arial"/>
              </a:rPr>
              <a:t>클럭</a:t>
            </a:r>
            <a:r>
              <a:rPr lang="en-US" sz="1050" i="1">
                <a:solidFill>
                  <a:srgbClr val="FF0000"/>
                </a:solidFill>
                <a:latin typeface="Arial"/>
                <a:ea typeface="Arial" pitchFamily="34" charset="-122"/>
                <a:cs typeface="Arial"/>
              </a:rPr>
              <a:t> ≈ 106.7 MHz (</a:t>
            </a:r>
            <a:r>
              <a:rPr lang="en-US" sz="1050" i="1" err="1">
                <a:solidFill>
                  <a:srgbClr val="FF0000"/>
                </a:solidFill>
                <a:latin typeface="Arial"/>
                <a:ea typeface="Arial" pitchFamily="34" charset="-122"/>
                <a:cs typeface="Arial"/>
              </a:rPr>
              <a:t>목표</a:t>
            </a:r>
            <a:r>
              <a:rPr lang="en-US" sz="1050" i="1">
                <a:solidFill>
                  <a:srgbClr val="FF0000"/>
                </a:solidFill>
                <a:latin typeface="Arial"/>
                <a:ea typeface="Arial" pitchFamily="34" charset="-122"/>
                <a:cs typeface="Arial"/>
              </a:rPr>
              <a:t> 100 MHz </a:t>
            </a:r>
            <a:r>
              <a:rPr lang="en-US" sz="1050" i="1" err="1">
                <a:solidFill>
                  <a:srgbClr val="FF0000"/>
                </a:solidFill>
                <a:latin typeface="Arial"/>
                <a:ea typeface="Arial" pitchFamily="34" charset="-122"/>
                <a:cs typeface="Arial"/>
              </a:rPr>
              <a:t>대비</a:t>
            </a:r>
            <a:r>
              <a:rPr lang="en-US" sz="1050" i="1">
                <a:solidFill>
                  <a:srgbClr val="FF0000"/>
                </a:solidFill>
                <a:latin typeface="Arial"/>
                <a:ea typeface="Arial" pitchFamily="34" charset="-122"/>
                <a:cs typeface="Arial"/>
              </a:rPr>
              <a:t> </a:t>
            </a:r>
            <a:r>
              <a:rPr lang="en-US" sz="1050" i="1" err="1">
                <a:solidFill>
                  <a:srgbClr val="FF0000"/>
                </a:solidFill>
                <a:latin typeface="Arial"/>
                <a:ea typeface="Arial" pitchFamily="34" charset="-122"/>
                <a:cs typeface="Arial"/>
              </a:rPr>
              <a:t>여유</a:t>
            </a:r>
            <a:r>
              <a:rPr lang="en-US" sz="1050" i="1">
                <a:solidFill>
                  <a:srgbClr val="FF0000"/>
                </a:solidFill>
                <a:latin typeface="Arial"/>
                <a:ea typeface="Arial" pitchFamily="34" charset="-122"/>
                <a:cs typeface="Arial"/>
              </a:rPr>
              <a:t> </a:t>
            </a:r>
            <a:r>
              <a:rPr lang="en-US" sz="1050" i="1" err="1">
                <a:solidFill>
                  <a:srgbClr val="FF0000"/>
                </a:solidFill>
                <a:latin typeface="Arial"/>
                <a:ea typeface="Arial" pitchFamily="34" charset="-122"/>
                <a:cs typeface="Arial"/>
              </a:rPr>
              <a:t>확보</a:t>
            </a:r>
            <a:r>
              <a:rPr lang="en-US" sz="1050" i="1">
                <a:solidFill>
                  <a:srgbClr val="FF0000"/>
                </a:solidFill>
                <a:latin typeface="Arial"/>
                <a:ea typeface="Arial" pitchFamily="34" charset="-122"/>
                <a:cs typeface="Arial"/>
              </a:rPr>
              <a:t>)</a:t>
            </a:r>
            <a:endParaRPr lang="en-US" sz="1050">
              <a:solidFill>
                <a:srgbClr val="FF0000"/>
              </a:solidFill>
              <a:latin typeface="Arial"/>
              <a:ea typeface="Calibri"/>
              <a:cs typeface="Arial"/>
            </a:endParaRPr>
          </a:p>
        </p:txBody>
      </p:sp>
    </p:spTree>
    <p:extLst>
      <p:ext uri="{BB962C8B-B14F-4D97-AF65-F5344CB8AC3E}">
        <p14:creationId xmlns:p14="http://schemas.microsoft.com/office/powerpoint/2010/main" val="2243335637"/>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7295" cy="502920"/>
          </a:xfrm>
          <a:prstGeom prst="rect">
            <a:avLst/>
          </a:prstGeom>
          <a:noFill/>
          <a:ln/>
        </p:spPr>
        <p:txBody>
          <a:bodyPr wrap="square" lIns="0" tIns="0" rIns="0" bIns="0" rtlCol="0" anchor="ctr"/>
          <a:lstStyle/>
          <a:p>
            <a:pPr marL="0" indent="0" algn="ctr">
              <a:buNone/>
            </a:pPr>
            <a:r>
              <a:rPr lang="en-US" sz="2600" b="1">
                <a:solidFill>
                  <a:srgbClr val="1F3B66"/>
                </a:solidFill>
                <a:latin typeface="Arial" pitchFamily="34" charset="0"/>
                <a:ea typeface="Arial" pitchFamily="34" charset="-122"/>
                <a:cs typeface="Arial" pitchFamily="34" charset="-120"/>
              </a:rPr>
              <a:t>최종 결과 — Bitstream 생성 성공</a:t>
            </a:r>
            <a:endParaRPr lang="en-US" sz="2600"/>
          </a:p>
        </p:txBody>
      </p:sp>
      <p:sp>
        <p:nvSpPr>
          <p:cNvPr id="3" name="Shape 1"/>
          <p:cNvSpPr/>
          <p:nvPr/>
        </p:nvSpPr>
        <p:spPr>
          <a:xfrm>
            <a:off x="3291840" y="1737360"/>
            <a:ext cx="274320" cy="274320"/>
          </a:xfrm>
          <a:prstGeom prst="ellipse">
            <a:avLst/>
          </a:prstGeom>
          <a:solidFill>
            <a:srgbClr val="3E8E5A"/>
          </a:solidFill>
          <a:ln/>
        </p:spPr>
      </p:sp>
      <p:sp>
        <p:nvSpPr>
          <p:cNvPr id="4" name="Text 2"/>
          <p:cNvSpPr/>
          <p:nvPr/>
        </p:nvSpPr>
        <p:spPr>
          <a:xfrm>
            <a:off x="3291840" y="1737360"/>
            <a:ext cx="274320" cy="274320"/>
          </a:xfrm>
          <a:prstGeom prst="rect">
            <a:avLst/>
          </a:prstGeom>
          <a:noFill/>
          <a:ln/>
        </p:spPr>
        <p:txBody>
          <a:bodyPr wrap="square" lIns="0" tIns="0" rIns="0" bIns="0" rtlCol="0" anchor="ctr"/>
          <a:lstStyle/>
          <a:p>
            <a:pPr marL="0" indent="0" algn="ctr">
              <a:buNone/>
            </a:pPr>
            <a:r>
              <a:rPr lang="en-US" sz="1400" b="1">
                <a:solidFill>
                  <a:srgbClr val="FFFFFF"/>
                </a:solidFill>
                <a:latin typeface="Arial" pitchFamily="34" charset="0"/>
                <a:ea typeface="Arial" pitchFamily="34" charset="-122"/>
                <a:cs typeface="Arial" pitchFamily="34" charset="-120"/>
              </a:rPr>
              <a:t>✓</a:t>
            </a:r>
            <a:endParaRPr lang="en-US" sz="1400"/>
          </a:p>
        </p:txBody>
      </p:sp>
      <p:sp>
        <p:nvSpPr>
          <p:cNvPr id="5" name="Text 3"/>
          <p:cNvSpPr/>
          <p:nvPr/>
        </p:nvSpPr>
        <p:spPr>
          <a:xfrm>
            <a:off x="3703320" y="1700784"/>
            <a:ext cx="5120640" cy="365760"/>
          </a:xfrm>
          <a:prstGeom prst="rect">
            <a:avLst/>
          </a:prstGeom>
          <a:noFill/>
          <a:ln/>
        </p:spPr>
        <p:txBody>
          <a:bodyPr wrap="square" lIns="0" tIns="0" rIns="0" bIns="0" rtlCol="0" anchor="ctr"/>
          <a:lstStyle/>
          <a:p>
            <a:pPr marL="0" indent="0" algn="l">
              <a:buNone/>
            </a:pPr>
            <a:r>
              <a:rPr lang="en-US" sz="1400" b="1">
                <a:solidFill>
                  <a:srgbClr val="2E3B52"/>
                </a:solidFill>
                <a:latin typeface="Arial" pitchFamily="34" charset="0"/>
                <a:ea typeface="Arial" pitchFamily="34" charset="-122"/>
                <a:cs typeface="Arial" pitchFamily="34" charset="-120"/>
              </a:rPr>
              <a:t>Synthesis 통과</a:t>
            </a:r>
            <a:endParaRPr lang="en-US" sz="1400"/>
          </a:p>
        </p:txBody>
      </p:sp>
      <p:sp>
        <p:nvSpPr>
          <p:cNvPr id="6" name="Shape 4"/>
          <p:cNvSpPr/>
          <p:nvPr/>
        </p:nvSpPr>
        <p:spPr>
          <a:xfrm>
            <a:off x="3291840" y="2514600"/>
            <a:ext cx="274320" cy="274320"/>
          </a:xfrm>
          <a:prstGeom prst="ellipse">
            <a:avLst/>
          </a:prstGeom>
          <a:solidFill>
            <a:srgbClr val="3E8E5A"/>
          </a:solidFill>
          <a:ln/>
        </p:spPr>
      </p:sp>
      <p:sp>
        <p:nvSpPr>
          <p:cNvPr id="7" name="Text 5"/>
          <p:cNvSpPr/>
          <p:nvPr/>
        </p:nvSpPr>
        <p:spPr>
          <a:xfrm>
            <a:off x="3291840" y="2514600"/>
            <a:ext cx="274320" cy="274320"/>
          </a:xfrm>
          <a:prstGeom prst="rect">
            <a:avLst/>
          </a:prstGeom>
          <a:noFill/>
          <a:ln/>
        </p:spPr>
        <p:txBody>
          <a:bodyPr wrap="square" lIns="0" tIns="0" rIns="0" bIns="0" rtlCol="0" anchor="ctr"/>
          <a:lstStyle/>
          <a:p>
            <a:pPr marL="0" indent="0" algn="ctr">
              <a:buNone/>
            </a:pPr>
            <a:r>
              <a:rPr lang="en-US" sz="1400" b="1">
                <a:solidFill>
                  <a:srgbClr val="FFFFFF"/>
                </a:solidFill>
                <a:latin typeface="Arial" pitchFamily="34" charset="0"/>
                <a:ea typeface="Arial" pitchFamily="34" charset="-122"/>
                <a:cs typeface="Arial" pitchFamily="34" charset="-120"/>
              </a:rPr>
              <a:t>✓</a:t>
            </a:r>
            <a:endParaRPr lang="en-US" sz="1400"/>
          </a:p>
        </p:txBody>
      </p:sp>
      <p:sp>
        <p:nvSpPr>
          <p:cNvPr id="8" name="Text 6"/>
          <p:cNvSpPr/>
          <p:nvPr/>
        </p:nvSpPr>
        <p:spPr>
          <a:xfrm>
            <a:off x="3703320" y="2478024"/>
            <a:ext cx="5120640" cy="365760"/>
          </a:xfrm>
          <a:prstGeom prst="rect">
            <a:avLst/>
          </a:prstGeom>
          <a:noFill/>
          <a:ln/>
        </p:spPr>
        <p:txBody>
          <a:bodyPr wrap="square" lIns="0" tIns="0" rIns="0" bIns="0" rtlCol="0" anchor="ctr"/>
          <a:lstStyle/>
          <a:p>
            <a:pPr marL="0" indent="0" algn="l">
              <a:buNone/>
            </a:pPr>
            <a:r>
              <a:rPr lang="en-US" sz="1400" b="1">
                <a:solidFill>
                  <a:srgbClr val="2E3B52"/>
                </a:solidFill>
                <a:latin typeface="Arial" pitchFamily="34" charset="0"/>
                <a:ea typeface="Arial" pitchFamily="34" charset="-122"/>
                <a:cs typeface="Arial" pitchFamily="34" charset="-120"/>
              </a:rPr>
              <a:t>Implementation 통과 (LUT 65,659 / 56%)</a:t>
            </a:r>
            <a:endParaRPr lang="en-US" sz="1400"/>
          </a:p>
        </p:txBody>
      </p:sp>
      <p:sp>
        <p:nvSpPr>
          <p:cNvPr id="9" name="Shape 7"/>
          <p:cNvSpPr/>
          <p:nvPr/>
        </p:nvSpPr>
        <p:spPr>
          <a:xfrm>
            <a:off x="3291840" y="3291840"/>
            <a:ext cx="274320" cy="274320"/>
          </a:xfrm>
          <a:prstGeom prst="ellipse">
            <a:avLst/>
          </a:prstGeom>
          <a:solidFill>
            <a:srgbClr val="3E8E5A"/>
          </a:solidFill>
          <a:ln/>
        </p:spPr>
      </p:sp>
      <p:sp>
        <p:nvSpPr>
          <p:cNvPr id="10" name="Text 8"/>
          <p:cNvSpPr/>
          <p:nvPr/>
        </p:nvSpPr>
        <p:spPr>
          <a:xfrm>
            <a:off x="3291840" y="3291840"/>
            <a:ext cx="274320" cy="274320"/>
          </a:xfrm>
          <a:prstGeom prst="rect">
            <a:avLst/>
          </a:prstGeom>
          <a:noFill/>
          <a:ln/>
        </p:spPr>
        <p:txBody>
          <a:bodyPr wrap="square" lIns="0" tIns="0" rIns="0" bIns="0" rtlCol="0" anchor="ctr"/>
          <a:lstStyle/>
          <a:p>
            <a:pPr marL="0" indent="0" algn="ctr">
              <a:buNone/>
            </a:pPr>
            <a:r>
              <a:rPr lang="en-US" sz="1400" b="1">
                <a:solidFill>
                  <a:srgbClr val="FFFFFF"/>
                </a:solidFill>
                <a:latin typeface="Arial" pitchFamily="34" charset="0"/>
                <a:ea typeface="Arial" pitchFamily="34" charset="-122"/>
                <a:cs typeface="Arial" pitchFamily="34" charset="-120"/>
              </a:rPr>
              <a:t>✓</a:t>
            </a:r>
            <a:endParaRPr lang="en-US" sz="1400"/>
          </a:p>
        </p:txBody>
      </p:sp>
      <p:sp>
        <p:nvSpPr>
          <p:cNvPr id="11" name="Text 9"/>
          <p:cNvSpPr/>
          <p:nvPr/>
        </p:nvSpPr>
        <p:spPr>
          <a:xfrm>
            <a:off x="3703320" y="3255264"/>
            <a:ext cx="5120640" cy="365760"/>
          </a:xfrm>
          <a:prstGeom prst="rect">
            <a:avLst/>
          </a:prstGeom>
          <a:noFill/>
          <a:ln/>
        </p:spPr>
        <p:txBody>
          <a:bodyPr wrap="square" lIns="0" tIns="0" rIns="0" bIns="0" rtlCol="0" anchor="ctr"/>
          <a:lstStyle/>
          <a:p>
            <a:pPr marL="0" indent="0" algn="l">
              <a:buNone/>
            </a:pPr>
            <a:r>
              <a:rPr lang="en-US" sz="1400" b="1">
                <a:solidFill>
                  <a:srgbClr val="2E3B52"/>
                </a:solidFill>
                <a:latin typeface="Arial" pitchFamily="34" charset="0"/>
                <a:ea typeface="Arial" pitchFamily="34" charset="-122"/>
                <a:cs typeface="Arial" pitchFamily="34" charset="-120"/>
              </a:rPr>
              <a:t>Timing 통과 (WNS +0.631 ns)</a:t>
            </a:r>
            <a:endParaRPr lang="en-US" sz="1400"/>
          </a:p>
        </p:txBody>
      </p:sp>
      <p:sp>
        <p:nvSpPr>
          <p:cNvPr id="12" name="Shape 10"/>
          <p:cNvSpPr/>
          <p:nvPr/>
        </p:nvSpPr>
        <p:spPr>
          <a:xfrm>
            <a:off x="3291840" y="4069080"/>
            <a:ext cx="274320" cy="274320"/>
          </a:xfrm>
          <a:prstGeom prst="ellipse">
            <a:avLst/>
          </a:prstGeom>
          <a:solidFill>
            <a:srgbClr val="3E8E5A"/>
          </a:solidFill>
          <a:ln/>
        </p:spPr>
      </p:sp>
      <p:sp>
        <p:nvSpPr>
          <p:cNvPr id="13" name="Text 11"/>
          <p:cNvSpPr/>
          <p:nvPr/>
        </p:nvSpPr>
        <p:spPr>
          <a:xfrm>
            <a:off x="3291840" y="4069080"/>
            <a:ext cx="274320" cy="274320"/>
          </a:xfrm>
          <a:prstGeom prst="rect">
            <a:avLst/>
          </a:prstGeom>
          <a:noFill/>
          <a:ln/>
        </p:spPr>
        <p:txBody>
          <a:bodyPr wrap="square" lIns="0" tIns="0" rIns="0" bIns="0" rtlCol="0" anchor="ctr"/>
          <a:lstStyle/>
          <a:p>
            <a:pPr marL="0" indent="0" algn="ctr">
              <a:buNone/>
            </a:pPr>
            <a:r>
              <a:rPr lang="en-US" sz="1400" b="1">
                <a:solidFill>
                  <a:srgbClr val="FFFFFF"/>
                </a:solidFill>
                <a:latin typeface="Arial" pitchFamily="34" charset="0"/>
                <a:ea typeface="Arial" pitchFamily="34" charset="-122"/>
                <a:cs typeface="Arial" pitchFamily="34" charset="-120"/>
              </a:rPr>
              <a:t>✓</a:t>
            </a:r>
            <a:endParaRPr lang="en-US" sz="1400"/>
          </a:p>
        </p:txBody>
      </p:sp>
      <p:sp>
        <p:nvSpPr>
          <p:cNvPr id="14" name="Text 12"/>
          <p:cNvSpPr/>
          <p:nvPr/>
        </p:nvSpPr>
        <p:spPr>
          <a:xfrm>
            <a:off x="3703320" y="4032504"/>
            <a:ext cx="5120640" cy="365760"/>
          </a:xfrm>
          <a:prstGeom prst="rect">
            <a:avLst/>
          </a:prstGeom>
          <a:noFill/>
          <a:ln/>
        </p:spPr>
        <p:txBody>
          <a:bodyPr wrap="square" lIns="0" tIns="0" rIns="0" bIns="0" rtlCol="0" anchor="ctr"/>
          <a:lstStyle/>
          <a:p>
            <a:pPr marL="0" indent="0" algn="l">
              <a:buNone/>
            </a:pPr>
            <a:r>
              <a:rPr lang="en-US" sz="1400" b="1">
                <a:solidFill>
                  <a:srgbClr val="2E3B52"/>
                </a:solidFill>
                <a:latin typeface="Arial" pitchFamily="34" charset="0"/>
                <a:ea typeface="Arial" pitchFamily="34" charset="-122"/>
                <a:cs typeface="Arial" pitchFamily="34" charset="-120"/>
              </a:rPr>
              <a:t>Bitstream 생성 성공</a:t>
            </a:r>
            <a:endParaRPr lang="en-US" sz="1400"/>
          </a:p>
        </p:txBody>
      </p:sp>
      <p:sp>
        <p:nvSpPr>
          <p:cNvPr id="15" name="Text 13"/>
          <p:cNvSpPr/>
          <p:nvPr/>
        </p:nvSpPr>
        <p:spPr>
          <a:xfrm>
            <a:off x="640080" y="5074920"/>
            <a:ext cx="10911535" cy="457200"/>
          </a:xfrm>
          <a:prstGeom prst="rect">
            <a:avLst/>
          </a:prstGeom>
          <a:noFill/>
          <a:ln/>
        </p:spPr>
        <p:txBody>
          <a:bodyPr wrap="square" lIns="0" tIns="0" rIns="0" bIns="0" rtlCol="0" anchor="ctr"/>
          <a:lstStyle/>
          <a:p>
            <a:pPr marL="0" indent="0" algn="ctr">
              <a:buNone/>
            </a:pPr>
            <a:r>
              <a:rPr lang="en-US" sz="1400" b="1" i="1">
                <a:solidFill>
                  <a:srgbClr val="1F3B66"/>
                </a:solidFill>
                <a:latin typeface="Arial" pitchFamily="34" charset="0"/>
                <a:ea typeface="Arial" pitchFamily="34" charset="-122"/>
                <a:cs typeface="Arial" pitchFamily="34" charset="-120"/>
              </a:rPr>
              <a:t>cv2를 SW로 이전한 뒤, 4단계 모두 통과 — 하드웨어 최종 완성</a:t>
            </a:r>
            <a:endParaRPr lang="en-US" sz="1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CC9E7F-260A-C74A-99FB-300F6EBF38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77EB05B-C04C-0EE1-423D-CD3D372FC648}"/>
              </a:ext>
            </a:extLst>
          </p:cNvPr>
          <p:cNvSpPr/>
          <p:nvPr/>
        </p:nvSpPr>
        <p:spPr>
          <a:xfrm>
            <a:off x="547208" y="3017196"/>
            <a:ext cx="11094415" cy="822960"/>
          </a:xfrm>
          <a:prstGeom prst="rect">
            <a:avLst/>
          </a:prstGeom>
          <a:noFill/>
          <a:ln/>
        </p:spPr>
        <p:txBody>
          <a:bodyPr wrap="square" lIns="0" tIns="0" rIns="0" bIns="0" rtlCol="0" anchor="ctr"/>
          <a:lstStyle/>
          <a:p>
            <a:pPr algn="ctr"/>
            <a:r>
              <a:rPr lang="ko-KR" altLang="en-US" sz="5400" b="1">
                <a:solidFill>
                  <a:srgbClr val="1F3B66"/>
                </a:solidFill>
                <a:latin typeface="Arial"/>
                <a:ea typeface="맑은 고딕"/>
                <a:cs typeface="Arial"/>
              </a:rPr>
              <a:t>5. </a:t>
            </a:r>
            <a:r>
              <a:rPr lang="en-US" altLang="en-US" sz="5400" b="1">
                <a:solidFill>
                  <a:srgbClr val="1F3B66"/>
                </a:solidFill>
                <a:latin typeface="Arial"/>
                <a:ea typeface="맑은 고딕"/>
                <a:cs typeface="Arial"/>
              </a:rPr>
              <a:t>HW</a:t>
            </a:r>
            <a:r>
              <a:rPr lang="ko-KR" altLang="en-US" sz="5400" b="1">
                <a:solidFill>
                  <a:srgbClr val="1F3B66"/>
                </a:solidFill>
                <a:latin typeface="Arial"/>
                <a:ea typeface="맑은 고딕"/>
                <a:cs typeface="Arial"/>
              </a:rPr>
              <a:t> 담당 </a:t>
            </a:r>
            <a:r>
              <a:rPr lang="en-US" altLang="en-US" sz="5400" b="1">
                <a:solidFill>
                  <a:srgbClr val="1F3B66"/>
                </a:solidFill>
                <a:latin typeface="Arial"/>
                <a:ea typeface="맑은 고딕"/>
                <a:cs typeface="Arial"/>
              </a:rPr>
              <a:t>(</a:t>
            </a:r>
            <a:r>
              <a:rPr lang="ko-KR" altLang="en-US" sz="5400" b="1">
                <a:solidFill>
                  <a:srgbClr val="1F3B66"/>
                </a:solidFill>
                <a:latin typeface="Arial"/>
                <a:ea typeface="맑은 고딕"/>
                <a:cs typeface="Arial"/>
              </a:rPr>
              <a:t>성기호</a:t>
            </a:r>
            <a:r>
              <a:rPr lang="en-US" altLang="en-US" sz="5400" b="1">
                <a:solidFill>
                  <a:srgbClr val="1F3B66"/>
                </a:solidFill>
                <a:latin typeface="Arial"/>
                <a:ea typeface="맑은 고딕"/>
                <a:cs typeface="Arial"/>
              </a:rPr>
              <a:t>)</a:t>
            </a:r>
            <a:endParaRPr lang="ko-KR" altLang="en-US" sz="5400" b="1">
              <a:solidFill>
                <a:srgbClr val="1F3B66"/>
              </a:solidFill>
              <a:latin typeface="Arial"/>
              <a:ea typeface="맑은 고딕"/>
              <a:cs typeface="Arial"/>
            </a:endParaRPr>
          </a:p>
        </p:txBody>
      </p:sp>
    </p:spTree>
    <p:extLst>
      <p:ext uri="{BB962C8B-B14F-4D97-AF65-F5344CB8AC3E}">
        <p14:creationId xmlns:p14="http://schemas.microsoft.com/office/powerpoint/2010/main" val="34831561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01</a:t>
            </a:r>
          </a:p>
        </p:txBody>
      </p:sp>
      <p:sp>
        <p:nvSpPr>
          <p:cNvPr id="3" name="Rounded Rectangle 2"/>
          <p:cNvSpPr/>
          <p:nvPr/>
        </p:nvSpPr>
        <p:spPr>
          <a:xfrm>
            <a:off x="411480" y="164592"/>
            <a:ext cx="502920" cy="411480"/>
          </a:xfrm>
          <a:prstGeom prst="roundRect">
            <a:avLst>
              <a:gd name="adj" fmla="val 16667"/>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 name="TextBox 3"/>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01</a:t>
            </a:r>
          </a:p>
        </p:txBody>
      </p:sp>
      <p:sp>
        <p:nvSpPr>
          <p:cNvPr id="5" name="TextBox 4"/>
          <p:cNvSpPr txBox="1"/>
          <p:nvPr/>
        </p:nvSpPr>
        <p:spPr>
          <a:xfrm>
            <a:off x="1051560" y="109728"/>
            <a:ext cx="7557135" cy="502920"/>
          </a:xfrm>
          <a:prstGeom prst="rect">
            <a:avLst/>
          </a:prstGeom>
          <a:noFill/>
        </p:spPr>
        <p:txBody>
          <a:bodyPr wrap="none" lIns="45720" rIns="45720" anchor="ctr">
            <a:spAutoFit/>
          </a:bodyPr>
          <a:lstStyle/>
          <a:p>
            <a:pPr algn="l">
              <a:defRPr/>
            </a:pPr>
            <a:r>
              <a:rPr sz="2700" b="1">
                <a:solidFill>
                  <a:srgbClr val="0E1F35"/>
                </a:solidFill>
                <a:latin typeface="Noto Sans CJK KR"/>
              </a:rPr>
              <a:t>나의 담당 역할 — Codex와 model.6 FPGA 통합</a:t>
            </a:r>
          </a:p>
        </p:txBody>
      </p:sp>
      <p:sp>
        <p:nvSpPr>
          <p:cNvPr id="6" name="TextBox 5"/>
          <p:cNvSpPr txBox="1"/>
          <p:nvPr/>
        </p:nvSpPr>
        <p:spPr>
          <a:xfrm>
            <a:off x="1069846" y="592455"/>
            <a:ext cx="4567048" cy="267081"/>
          </a:xfrm>
          <a:prstGeom prst="rect">
            <a:avLst/>
          </a:prstGeom>
          <a:noFill/>
        </p:spPr>
        <p:txBody>
          <a:bodyPr wrap="none" lIns="45720" rIns="45720" anchor="ctr">
            <a:spAutoFit/>
          </a:bodyPr>
          <a:lstStyle/>
          <a:p>
            <a:pPr algn="l">
              <a:defRPr/>
            </a:pPr>
            <a:r>
              <a:rPr sz="1100" b="0">
                <a:solidFill>
                  <a:srgbClr val="66717C"/>
                </a:solidFill>
                <a:latin typeface="Noto Sans CJK KR"/>
              </a:rPr>
              <a:t>팀 공동 YOLOv8n 프로젝트에서 C2f 하드웨어 </a:t>
            </a:r>
            <a:r>
              <a:rPr lang="ko-KR" altLang="en-US" sz="1100" b="0">
                <a:solidFill>
                  <a:srgbClr val="66717C"/>
                </a:solidFill>
                <a:latin typeface="Noto Sans CJK KR"/>
              </a:rPr>
              <a:t>디자인블록 및 합성</a:t>
            </a:r>
            <a:r>
              <a:rPr sz="1100" b="0">
                <a:solidFill>
                  <a:srgbClr val="66717C"/>
                </a:solidFill>
                <a:latin typeface="Noto Sans CJK KR"/>
              </a:rPr>
              <a:t> 담당</a:t>
            </a:r>
          </a:p>
        </p:txBody>
      </p:sp>
      <p:sp>
        <p:nvSpPr>
          <p:cNvPr id="26" name="Rounded Rectangle 25"/>
          <p:cNvSpPr/>
          <p:nvPr/>
        </p:nvSpPr>
        <p:spPr>
          <a:xfrm>
            <a:off x="6565392" y="1869924"/>
            <a:ext cx="5394960" cy="2514600"/>
          </a:xfrm>
          <a:prstGeom prst="roundRect">
            <a:avLst>
              <a:gd name="adj" fmla="val 16667"/>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7" name="TextBox 26"/>
          <p:cNvSpPr txBox="1"/>
          <p:nvPr/>
        </p:nvSpPr>
        <p:spPr>
          <a:xfrm>
            <a:off x="6885432" y="2083284"/>
            <a:ext cx="1714500" cy="381000"/>
          </a:xfrm>
          <a:prstGeom prst="rect">
            <a:avLst/>
          </a:prstGeom>
          <a:noFill/>
        </p:spPr>
        <p:txBody>
          <a:bodyPr wrap="none" lIns="45720" rIns="45720" anchor="ctr">
            <a:spAutoFit/>
          </a:bodyPr>
          <a:lstStyle/>
          <a:p>
            <a:pPr algn="l">
              <a:defRPr/>
            </a:pPr>
            <a:r>
              <a:rPr sz="1900" b="1">
                <a:solidFill>
                  <a:srgbClr val="0E1F35"/>
                </a:solidFill>
                <a:latin typeface="Noto Sans CJK KR"/>
              </a:rPr>
              <a:t>나의 핵심 업무</a:t>
            </a:r>
          </a:p>
        </p:txBody>
      </p:sp>
      <p:sp>
        <p:nvSpPr>
          <p:cNvPr id="28" name="TextBox 27"/>
          <p:cNvSpPr txBox="1"/>
          <p:nvPr/>
        </p:nvSpPr>
        <p:spPr>
          <a:xfrm>
            <a:off x="6912864" y="2597634"/>
            <a:ext cx="3134868" cy="262890"/>
          </a:xfrm>
          <a:prstGeom prst="rect">
            <a:avLst/>
          </a:prstGeom>
          <a:noFill/>
        </p:spPr>
        <p:txBody>
          <a:bodyPr wrap="none" lIns="45720" rIns="45720" anchor="ctr">
            <a:spAutoFit/>
          </a:bodyPr>
          <a:lstStyle/>
          <a:p>
            <a:pPr algn="l">
              <a:defRPr/>
            </a:pPr>
            <a:r>
              <a:rPr sz="1100" b="0">
                <a:solidFill>
                  <a:srgbClr val="27303B"/>
                </a:solidFill>
                <a:latin typeface="Noto Sans CJK KR"/>
              </a:rPr>
              <a:t>• model.6 C2f 구조·특징맵 shape·설계 Flow 확인</a:t>
            </a:r>
          </a:p>
        </p:txBody>
      </p:sp>
      <p:sp>
        <p:nvSpPr>
          <p:cNvPr id="29" name="TextBox 28"/>
          <p:cNvSpPr txBox="1"/>
          <p:nvPr/>
        </p:nvSpPr>
        <p:spPr>
          <a:xfrm>
            <a:off x="6912864" y="2950059"/>
            <a:ext cx="2877693" cy="262890"/>
          </a:xfrm>
          <a:prstGeom prst="rect">
            <a:avLst/>
          </a:prstGeom>
          <a:noFill/>
        </p:spPr>
        <p:txBody>
          <a:bodyPr wrap="none" lIns="45720" rIns="45720" anchor="ctr">
            <a:spAutoFit/>
          </a:bodyPr>
          <a:lstStyle/>
          <a:p>
            <a:pPr algn="l">
              <a:defRPr/>
            </a:pPr>
            <a:r>
              <a:rPr sz="1100" b="0">
                <a:solidFill>
                  <a:srgbClr val="27303B"/>
                </a:solidFill>
                <a:latin typeface="Noto Sans CJK KR"/>
              </a:rPr>
              <a:t>• HLS IP 포트 및 AXI/DMA/Clock/Reset 연결</a:t>
            </a:r>
          </a:p>
        </p:txBody>
      </p:sp>
      <p:sp>
        <p:nvSpPr>
          <p:cNvPr id="30" name="TextBox 29"/>
          <p:cNvSpPr txBox="1"/>
          <p:nvPr/>
        </p:nvSpPr>
        <p:spPr>
          <a:xfrm>
            <a:off x="6912864" y="3292959"/>
            <a:ext cx="3077718" cy="262890"/>
          </a:xfrm>
          <a:prstGeom prst="rect">
            <a:avLst/>
          </a:prstGeom>
          <a:noFill/>
        </p:spPr>
        <p:txBody>
          <a:bodyPr wrap="none" lIns="45720" rIns="45720" anchor="ctr">
            <a:spAutoFit/>
          </a:bodyPr>
          <a:lstStyle/>
          <a:p>
            <a:pPr algn="l">
              <a:defRPr/>
            </a:pPr>
            <a:r>
              <a:rPr sz="1100" b="0">
                <a:solidFill>
                  <a:srgbClr val="27303B"/>
                </a:solidFill>
                <a:latin typeface="Noto Sans CJK KR"/>
              </a:rPr>
              <a:t>• Vivado 혼잡·Timing·DRC 로그 기반 반복 수정</a:t>
            </a:r>
          </a:p>
        </p:txBody>
      </p:sp>
      <p:sp>
        <p:nvSpPr>
          <p:cNvPr id="31" name="TextBox 30"/>
          <p:cNvSpPr txBox="1"/>
          <p:nvPr/>
        </p:nvSpPr>
        <p:spPr>
          <a:xfrm>
            <a:off x="6912863" y="3645384"/>
            <a:ext cx="3049143" cy="262890"/>
          </a:xfrm>
          <a:prstGeom prst="rect">
            <a:avLst/>
          </a:prstGeom>
          <a:noFill/>
        </p:spPr>
        <p:txBody>
          <a:bodyPr wrap="square" lIns="45720" rIns="45720" anchor="ctr">
            <a:spAutoFit/>
          </a:bodyPr>
          <a:lstStyle/>
          <a:p>
            <a:pPr algn="l">
              <a:defRPr/>
            </a:pPr>
            <a:r>
              <a:rPr sz="1100" b="0">
                <a:solidFill>
                  <a:srgbClr val="27303B"/>
                </a:solidFill>
                <a:latin typeface="Noto Sans CJK KR"/>
              </a:rPr>
              <a:t>• Vitis/XSCT 빌드·다운로드와 KV260 환경 검증</a:t>
            </a:r>
          </a:p>
        </p:txBody>
      </p:sp>
      <p:sp>
        <p:nvSpPr>
          <p:cNvPr id="32" name="TextBox 31"/>
          <p:cNvSpPr txBox="1"/>
          <p:nvPr/>
        </p:nvSpPr>
        <p:spPr>
          <a:xfrm>
            <a:off x="6912863" y="3988284"/>
            <a:ext cx="2972943" cy="262890"/>
          </a:xfrm>
          <a:prstGeom prst="rect">
            <a:avLst/>
          </a:prstGeom>
          <a:noFill/>
        </p:spPr>
        <p:txBody>
          <a:bodyPr wrap="square" lIns="45720" rIns="45720" anchor="ctr">
            <a:spAutoFit/>
          </a:bodyPr>
          <a:lstStyle/>
          <a:p>
            <a:pPr algn="l">
              <a:defRPr/>
            </a:pPr>
            <a:r>
              <a:rPr sz="1100" b="0">
                <a:solidFill>
                  <a:srgbClr val="27303B"/>
                </a:solidFill>
                <a:latin typeface="Noto Sans CJK KR"/>
              </a:rPr>
              <a:t>• Codex로 이미지·코드·로그·문서를 교차 분석</a:t>
            </a:r>
          </a:p>
        </p:txBody>
      </p:sp>
      <p:sp>
        <p:nvSpPr>
          <p:cNvPr id="33" name="Rounded Rectangle 32"/>
          <p:cNvSpPr/>
          <p:nvPr/>
        </p:nvSpPr>
        <p:spPr>
          <a:xfrm>
            <a:off x="669797" y="5931408"/>
            <a:ext cx="10881360" cy="713232"/>
          </a:xfrm>
          <a:prstGeom prst="roundRect">
            <a:avLst>
              <a:gd name="adj" fmla="val 16667"/>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4" name="TextBox 33"/>
          <p:cNvSpPr txBox="1"/>
          <p:nvPr/>
        </p:nvSpPr>
        <p:spPr>
          <a:xfrm>
            <a:off x="928878" y="6094097"/>
            <a:ext cx="1272540" cy="271651"/>
          </a:xfrm>
          <a:prstGeom prst="rect">
            <a:avLst/>
          </a:prstGeom>
          <a:noFill/>
        </p:spPr>
        <p:txBody>
          <a:bodyPr wrap="none" lIns="45720" rIns="45720" anchor="ctr">
            <a:spAutoFit/>
          </a:bodyPr>
          <a:lstStyle/>
          <a:p>
            <a:pPr algn="l">
              <a:defRPr/>
            </a:pPr>
            <a:r>
              <a:rPr sz="1200" b="1">
                <a:solidFill>
                  <a:srgbClr val="FFFFFF"/>
                </a:solidFill>
                <a:latin typeface="Noto Sans CJK KR"/>
              </a:rPr>
              <a:t>AI 협업 워크플로</a:t>
            </a:r>
          </a:p>
        </p:txBody>
      </p:sp>
      <p:sp>
        <p:nvSpPr>
          <p:cNvPr id="35" name="TextBox 34"/>
          <p:cNvSpPr txBox="1"/>
          <p:nvPr/>
        </p:nvSpPr>
        <p:spPr>
          <a:xfrm>
            <a:off x="3917442" y="6099048"/>
            <a:ext cx="6073140" cy="262891"/>
          </a:xfrm>
          <a:prstGeom prst="rect">
            <a:avLst/>
          </a:prstGeom>
          <a:noFill/>
        </p:spPr>
        <p:txBody>
          <a:bodyPr wrap="none" lIns="45720" rIns="45720" anchor="ctr">
            <a:spAutoFit/>
          </a:bodyPr>
          <a:lstStyle/>
          <a:p>
            <a:pPr algn="ctr">
              <a:defRPr/>
            </a:pPr>
            <a:r>
              <a:rPr sz="1100" b="1">
                <a:solidFill>
                  <a:srgbClr val="FFFFFF"/>
                </a:solidFill>
                <a:latin typeface="Noto Sans CJK KR"/>
              </a:rPr>
              <a:t>설계 이미지 + 팀 GitHub + 로컬 파일  →  Codex 분석  →  터미널 실행  →  로그 재검증·문서화</a:t>
            </a:r>
          </a:p>
        </p:txBody>
      </p:sp>
      <p:sp>
        <p:nvSpPr>
          <p:cNvPr id="36" name="TextBox 35"/>
          <p:cNvSpPr txBox="1"/>
          <p:nvPr/>
        </p:nvSpPr>
        <p:spPr>
          <a:xfrm>
            <a:off x="427481" y="6661785"/>
            <a:ext cx="2332863" cy="215265"/>
          </a:xfrm>
          <a:prstGeom prst="rect">
            <a:avLst/>
          </a:prstGeom>
          <a:noFill/>
        </p:spPr>
        <p:txBody>
          <a:bodyPr wrap="none" lIns="45720" rIns="45720" anchor="ctr">
            <a:spAutoFit/>
          </a:bodyPr>
          <a:lstStyle/>
          <a:p>
            <a:pPr algn="l">
              <a:defRPr/>
            </a:pPr>
            <a:r>
              <a:rPr sz="800" b="0">
                <a:solidFill>
                  <a:srgbClr val="66717C"/>
                </a:solidFill>
                <a:latin typeface="Noto Sans CJK KR"/>
              </a:rPr>
              <a:t>PPE Monitoring AI Hardware Accelerator | KV260</a:t>
            </a:r>
          </a:p>
        </p:txBody>
      </p:sp>
      <p:sp>
        <p:nvSpPr>
          <p:cNvPr id="37" name="TextBox 36"/>
          <p:cNvSpPr txBox="1"/>
          <p:nvPr/>
        </p:nvSpPr>
        <p:spPr>
          <a:xfrm>
            <a:off x="11210925" y="6644640"/>
            <a:ext cx="481965" cy="213360"/>
          </a:xfrm>
          <a:prstGeom prst="rect">
            <a:avLst/>
          </a:prstGeom>
          <a:noFill/>
        </p:spPr>
        <p:txBody>
          <a:bodyPr wrap="none" lIns="45720" rIns="45720" anchor="ctr">
            <a:spAutoFit/>
          </a:bodyPr>
          <a:lstStyle/>
          <a:p>
            <a:pPr algn="r">
              <a:defRPr/>
            </a:pPr>
            <a:r>
              <a:rPr sz="800" b="1">
                <a:solidFill>
                  <a:srgbClr val="236CB4"/>
                </a:solidFill>
                <a:latin typeface="Noto Sans CJK KR"/>
              </a:rPr>
              <a:t>B TEAM</a:t>
            </a:r>
          </a:p>
        </p:txBody>
      </p:sp>
      <p:pic>
        <p:nvPicPr>
          <p:cNvPr id="39" name="그림 38"/>
          <p:cNvPicPr>
            <a:picLocks noChangeAspect="1"/>
          </p:cNvPicPr>
          <p:nvPr/>
        </p:nvPicPr>
        <p:blipFill rotWithShape="1">
          <a:blip r:embed="rId3"/>
          <a:stretch>
            <a:fillRect/>
          </a:stretch>
        </p:blipFill>
        <p:spPr>
          <a:xfrm>
            <a:off x="152400" y="1289202"/>
            <a:ext cx="6412991" cy="4056923"/>
          </a:xfrm>
          <a:prstGeom prst="rect">
            <a:avLst/>
          </a:prstGeom>
        </p:spPr>
      </p:pic>
    </p:spTree>
    <p:extLst>
      <p:ext uri="{BB962C8B-B14F-4D97-AF65-F5344CB8AC3E}">
        <p14:creationId xmlns:p14="http://schemas.microsoft.com/office/powerpoint/2010/main" val="221637685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02</a:t>
            </a:r>
          </a:p>
        </p:txBody>
      </p:sp>
      <p:sp>
        <p:nvSpPr>
          <p:cNvPr id="3" name="Rounded Rectangle 2"/>
          <p:cNvSpPr/>
          <p:nvPr/>
        </p:nvSpPr>
        <p:spPr>
          <a:xfrm>
            <a:off x="411480" y="164592"/>
            <a:ext cx="502920" cy="411480"/>
          </a:xfrm>
          <a:prstGeom prst="roundRect">
            <a:avLst>
              <a:gd name="adj" fmla="val 16667"/>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 name="TextBox 3"/>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02</a:t>
            </a:r>
          </a:p>
        </p:txBody>
      </p:sp>
      <p:sp>
        <p:nvSpPr>
          <p:cNvPr id="5" name="TextBox 4"/>
          <p:cNvSpPr txBox="1"/>
          <p:nvPr/>
        </p:nvSpPr>
        <p:spPr>
          <a:xfrm>
            <a:off x="1051560" y="109728"/>
            <a:ext cx="8433435" cy="502920"/>
          </a:xfrm>
          <a:prstGeom prst="rect">
            <a:avLst/>
          </a:prstGeom>
          <a:noFill/>
        </p:spPr>
        <p:txBody>
          <a:bodyPr wrap="none" lIns="45720" rIns="45720" anchor="ctr">
            <a:spAutoFit/>
          </a:bodyPr>
          <a:lstStyle/>
          <a:p>
            <a:pPr algn="l">
              <a:defRPr/>
            </a:pPr>
            <a:r>
              <a:rPr sz="2700" b="1">
                <a:solidFill>
                  <a:srgbClr val="0E1F35"/>
                </a:solidFill>
                <a:latin typeface="Noto Sans CJK KR"/>
              </a:rPr>
              <a:t>Vivado Block Design — CPU와 FPGA를 하나로 연결</a:t>
            </a:r>
          </a:p>
        </p:txBody>
      </p:sp>
      <p:sp>
        <p:nvSpPr>
          <p:cNvPr id="6" name="TextBox 5"/>
          <p:cNvSpPr txBox="1"/>
          <p:nvPr/>
        </p:nvSpPr>
        <p:spPr>
          <a:xfrm>
            <a:off x="1069848" y="592455"/>
            <a:ext cx="4081271" cy="267081"/>
          </a:xfrm>
          <a:prstGeom prst="rect">
            <a:avLst/>
          </a:prstGeom>
          <a:noFill/>
        </p:spPr>
        <p:txBody>
          <a:bodyPr wrap="none" lIns="45720" rIns="45720" anchor="ctr">
            <a:spAutoFit/>
          </a:bodyPr>
          <a:lstStyle/>
          <a:p>
            <a:pPr algn="l">
              <a:defRPr/>
            </a:pPr>
            <a:r>
              <a:rPr sz="1100" b="0">
                <a:solidFill>
                  <a:srgbClr val="66717C"/>
                </a:solidFill>
                <a:latin typeface="Noto Sans CJK KR"/>
              </a:rPr>
              <a:t>PS는 YOLO 전·후단, PL은 model.6, DMA는 특징맵 전송을 담당</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2" name="Rounded Rectangle 11"/>
          <p:cNvSpPr/>
          <p:nvPr/>
        </p:nvSpPr>
        <p:spPr>
          <a:xfrm>
            <a:off x="8183879" y="1097280"/>
            <a:ext cx="3566160" cy="1097280"/>
          </a:xfrm>
          <a:prstGeom prst="roundRect">
            <a:avLst>
              <a:gd name="adj" fmla="val 16667"/>
            </a:avLst>
          </a:prstGeom>
          <a:solidFill>
            <a:srgbClr val="F2F6FA"/>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3" name="TextBox 12"/>
          <p:cNvSpPr txBox="1"/>
          <p:nvPr/>
        </p:nvSpPr>
        <p:spPr>
          <a:xfrm>
            <a:off x="8366760" y="1221105"/>
            <a:ext cx="2051685" cy="320040"/>
          </a:xfrm>
          <a:prstGeom prst="rect">
            <a:avLst/>
          </a:prstGeom>
          <a:noFill/>
        </p:spPr>
        <p:txBody>
          <a:bodyPr wrap="none" lIns="45720" rIns="45720" anchor="ctr">
            <a:spAutoFit/>
          </a:bodyPr>
          <a:lstStyle/>
          <a:p>
            <a:pPr algn="l">
              <a:defRPr/>
            </a:pPr>
            <a:r>
              <a:rPr sz="1500" b="1">
                <a:solidFill>
                  <a:srgbClr val="236CB4"/>
                </a:solidFill>
                <a:latin typeface="Noto Sans CJK KR"/>
              </a:rPr>
              <a:t>PS (ARM CPU + DDR)</a:t>
            </a:r>
          </a:p>
        </p:txBody>
      </p:sp>
      <p:sp>
        <p:nvSpPr>
          <p:cNvPr id="14" name="TextBox 13"/>
          <p:cNvSpPr txBox="1"/>
          <p:nvPr/>
        </p:nvSpPr>
        <p:spPr>
          <a:xfrm>
            <a:off x="8366760" y="1649730"/>
            <a:ext cx="1813560" cy="262890"/>
          </a:xfrm>
          <a:prstGeom prst="rect">
            <a:avLst/>
          </a:prstGeom>
          <a:noFill/>
        </p:spPr>
        <p:txBody>
          <a:bodyPr wrap="none" lIns="45720" rIns="45720" anchor="ctr">
            <a:spAutoFit/>
          </a:bodyPr>
          <a:lstStyle/>
          <a:p>
            <a:pPr algn="l">
              <a:defRPr/>
            </a:pPr>
            <a:r>
              <a:rPr sz="1100" b="0">
                <a:solidFill>
                  <a:srgbClr val="27303B"/>
                </a:solidFill>
                <a:latin typeface="Noto Sans CJK KR"/>
              </a:rPr>
              <a:t>model.0~5 / cv2+7~22 실행</a:t>
            </a:r>
          </a:p>
        </p:txBody>
      </p:sp>
      <p:sp>
        <p:nvSpPr>
          <p:cNvPr id="15" name="Rounded Rectangle 14"/>
          <p:cNvSpPr/>
          <p:nvPr/>
        </p:nvSpPr>
        <p:spPr>
          <a:xfrm>
            <a:off x="8183879" y="2395728"/>
            <a:ext cx="3566160" cy="1097280"/>
          </a:xfrm>
          <a:prstGeom prst="roundRect">
            <a:avLst>
              <a:gd name="adj" fmla="val 16667"/>
            </a:avLst>
          </a:prstGeom>
          <a:solidFill>
            <a:srgbClr val="F2F6FA"/>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6" name="TextBox 15"/>
          <p:cNvSpPr txBox="1"/>
          <p:nvPr/>
        </p:nvSpPr>
        <p:spPr>
          <a:xfrm>
            <a:off x="8366760" y="2526030"/>
            <a:ext cx="908685" cy="320040"/>
          </a:xfrm>
          <a:prstGeom prst="rect">
            <a:avLst/>
          </a:prstGeom>
          <a:noFill/>
        </p:spPr>
        <p:txBody>
          <a:bodyPr wrap="none" lIns="45720" rIns="45720" anchor="ctr">
            <a:spAutoFit/>
          </a:bodyPr>
          <a:lstStyle/>
          <a:p>
            <a:pPr algn="l">
              <a:defRPr/>
            </a:pPr>
            <a:r>
              <a:rPr sz="1500" b="1">
                <a:solidFill>
                  <a:srgbClr val="EB8B36"/>
                </a:solidFill>
                <a:latin typeface="Noto Sans CJK KR"/>
              </a:rPr>
              <a:t>AXI DMA</a:t>
            </a:r>
          </a:p>
        </p:txBody>
      </p:sp>
      <p:sp>
        <p:nvSpPr>
          <p:cNvPr id="17" name="TextBox 16"/>
          <p:cNvSpPr txBox="1"/>
          <p:nvPr/>
        </p:nvSpPr>
        <p:spPr>
          <a:xfrm>
            <a:off x="8366760" y="2945130"/>
            <a:ext cx="1794510" cy="262890"/>
          </a:xfrm>
          <a:prstGeom prst="rect">
            <a:avLst/>
          </a:prstGeom>
          <a:noFill/>
        </p:spPr>
        <p:txBody>
          <a:bodyPr wrap="none" lIns="45720" rIns="45720" anchor="ctr">
            <a:spAutoFit/>
          </a:bodyPr>
          <a:lstStyle/>
          <a:p>
            <a:pPr algn="l">
              <a:defRPr/>
            </a:pPr>
            <a:r>
              <a:rPr sz="1100" b="0">
                <a:solidFill>
                  <a:srgbClr val="27303B"/>
                </a:solidFill>
                <a:latin typeface="Noto Sans CJK KR"/>
              </a:rPr>
              <a:t>DDR ↔ FPGA 특징맵 전송</a:t>
            </a:r>
          </a:p>
        </p:txBody>
      </p:sp>
      <p:sp>
        <p:nvSpPr>
          <p:cNvPr id="18" name="Rounded Rectangle 17"/>
          <p:cNvSpPr/>
          <p:nvPr/>
        </p:nvSpPr>
        <p:spPr>
          <a:xfrm>
            <a:off x="8183879" y="3694176"/>
            <a:ext cx="3566160" cy="1097280"/>
          </a:xfrm>
          <a:prstGeom prst="roundRect">
            <a:avLst>
              <a:gd name="adj" fmla="val 16667"/>
            </a:avLst>
          </a:prstGeom>
          <a:solidFill>
            <a:srgbClr val="F2F6FA"/>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9" name="TextBox 18"/>
          <p:cNvSpPr txBox="1"/>
          <p:nvPr/>
        </p:nvSpPr>
        <p:spPr>
          <a:xfrm>
            <a:off x="8366760" y="3830955"/>
            <a:ext cx="1594485" cy="320040"/>
          </a:xfrm>
          <a:prstGeom prst="rect">
            <a:avLst/>
          </a:prstGeom>
          <a:noFill/>
        </p:spPr>
        <p:txBody>
          <a:bodyPr wrap="none" lIns="45720" rIns="45720" anchor="ctr">
            <a:spAutoFit/>
          </a:bodyPr>
          <a:lstStyle/>
          <a:p>
            <a:pPr algn="l">
              <a:defRPr/>
            </a:pPr>
            <a:r>
              <a:rPr sz="1500" b="1">
                <a:solidFill>
                  <a:srgbClr val="329C69"/>
                </a:solidFill>
                <a:latin typeface="Noto Sans CJK KR"/>
              </a:rPr>
              <a:t>PL (FPGA Logic)</a:t>
            </a:r>
          </a:p>
        </p:txBody>
      </p:sp>
      <p:sp>
        <p:nvSpPr>
          <p:cNvPr id="20" name="TextBox 19"/>
          <p:cNvSpPr txBox="1"/>
          <p:nvPr/>
        </p:nvSpPr>
        <p:spPr>
          <a:xfrm>
            <a:off x="8366760" y="4250055"/>
            <a:ext cx="1708785" cy="262890"/>
          </a:xfrm>
          <a:prstGeom prst="rect">
            <a:avLst/>
          </a:prstGeom>
          <a:noFill/>
        </p:spPr>
        <p:txBody>
          <a:bodyPr wrap="none" lIns="45720" rIns="45720" anchor="ctr">
            <a:spAutoFit/>
          </a:bodyPr>
          <a:lstStyle/>
          <a:p>
            <a:pPr algn="l">
              <a:defRPr/>
            </a:pPr>
            <a:r>
              <a:rPr sz="1100" b="0">
                <a:solidFill>
                  <a:srgbClr val="27303B"/>
                </a:solidFill>
                <a:latin typeface="Noto Sans CJK KR"/>
              </a:rPr>
              <a:t>model.6 cv1~Concat 실행</a:t>
            </a:r>
          </a:p>
        </p:txBody>
      </p:sp>
      <p:sp>
        <p:nvSpPr>
          <p:cNvPr id="21" name="Rounded Rectangle 20"/>
          <p:cNvSpPr/>
          <p:nvPr/>
        </p:nvSpPr>
        <p:spPr>
          <a:xfrm>
            <a:off x="8183879" y="5010912"/>
            <a:ext cx="3566160" cy="1161288"/>
          </a:xfrm>
          <a:prstGeom prst="roundRect">
            <a:avLst>
              <a:gd name="adj" fmla="val 16667"/>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2" name="Rounded Rectangle 21"/>
          <p:cNvSpPr/>
          <p:nvPr/>
        </p:nvSpPr>
        <p:spPr>
          <a:xfrm>
            <a:off x="8339327" y="5193792"/>
            <a:ext cx="960120" cy="411480"/>
          </a:xfrm>
          <a:prstGeom prst="roundRect">
            <a:avLst>
              <a:gd name="adj" fmla="val 16667"/>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3" name="TextBox 22"/>
          <p:cNvSpPr txBox="1"/>
          <p:nvPr/>
        </p:nvSpPr>
        <p:spPr>
          <a:xfrm>
            <a:off x="8498205" y="5269230"/>
            <a:ext cx="624840" cy="262890"/>
          </a:xfrm>
          <a:prstGeom prst="rect">
            <a:avLst/>
          </a:prstGeom>
          <a:noFill/>
        </p:spPr>
        <p:txBody>
          <a:bodyPr wrap="none" lIns="45720" rIns="45720" anchor="ctr">
            <a:spAutoFit/>
          </a:bodyPr>
          <a:lstStyle/>
          <a:p>
            <a:pPr algn="ctr">
              <a:defRPr/>
            </a:pPr>
            <a:r>
              <a:rPr sz="1100" b="1">
                <a:solidFill>
                  <a:srgbClr val="FFFFFF"/>
                </a:solidFill>
                <a:latin typeface="Noto Sans CJK KR"/>
              </a:rPr>
              <a:t>AXI-Lite</a:t>
            </a:r>
          </a:p>
        </p:txBody>
      </p:sp>
      <p:sp>
        <p:nvSpPr>
          <p:cNvPr id="24" name="TextBox 23"/>
          <p:cNvSpPr txBox="1"/>
          <p:nvPr/>
        </p:nvSpPr>
        <p:spPr>
          <a:xfrm>
            <a:off x="9400032" y="5278755"/>
            <a:ext cx="770763" cy="243840"/>
          </a:xfrm>
          <a:prstGeom prst="rect">
            <a:avLst/>
          </a:prstGeom>
          <a:noFill/>
        </p:spPr>
        <p:txBody>
          <a:bodyPr wrap="none" lIns="45720" rIns="45720" anchor="ctr">
            <a:spAutoFit/>
          </a:bodyPr>
          <a:lstStyle/>
          <a:p>
            <a:pPr algn="l">
              <a:defRPr/>
            </a:pPr>
            <a:r>
              <a:rPr sz="1000" b="0">
                <a:solidFill>
                  <a:srgbClr val="27303B"/>
                </a:solidFill>
                <a:latin typeface="Noto Sans CJK KR"/>
              </a:rPr>
              <a:t>제어·스케일</a:t>
            </a:r>
          </a:p>
        </p:txBody>
      </p:sp>
      <p:sp>
        <p:nvSpPr>
          <p:cNvPr id="25" name="Rounded Rectangle 24"/>
          <p:cNvSpPr/>
          <p:nvPr/>
        </p:nvSpPr>
        <p:spPr>
          <a:xfrm>
            <a:off x="8339327" y="5650992"/>
            <a:ext cx="960120" cy="411480"/>
          </a:xfrm>
          <a:prstGeom prst="roundRect">
            <a:avLst>
              <a:gd name="adj" fmla="val 16667"/>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6" name="TextBox 25"/>
          <p:cNvSpPr txBox="1"/>
          <p:nvPr/>
        </p:nvSpPr>
        <p:spPr>
          <a:xfrm>
            <a:off x="8526780" y="5726430"/>
            <a:ext cx="567690" cy="262890"/>
          </a:xfrm>
          <a:prstGeom prst="rect">
            <a:avLst/>
          </a:prstGeom>
          <a:noFill/>
        </p:spPr>
        <p:txBody>
          <a:bodyPr wrap="none" lIns="45720" rIns="45720" anchor="ctr">
            <a:spAutoFit/>
          </a:bodyPr>
          <a:lstStyle/>
          <a:p>
            <a:pPr algn="ctr">
              <a:defRPr/>
            </a:pPr>
            <a:r>
              <a:rPr sz="1100" b="1">
                <a:solidFill>
                  <a:srgbClr val="FFFFFF"/>
                </a:solidFill>
                <a:latin typeface="Noto Sans CJK KR"/>
              </a:rPr>
              <a:t>Stream</a:t>
            </a:r>
          </a:p>
        </p:txBody>
      </p:sp>
      <p:sp>
        <p:nvSpPr>
          <p:cNvPr id="27" name="TextBox 26"/>
          <p:cNvSpPr txBox="1"/>
          <p:nvPr/>
        </p:nvSpPr>
        <p:spPr>
          <a:xfrm>
            <a:off x="9400032" y="5735954"/>
            <a:ext cx="1113663" cy="243840"/>
          </a:xfrm>
          <a:prstGeom prst="rect">
            <a:avLst/>
          </a:prstGeom>
          <a:noFill/>
        </p:spPr>
        <p:txBody>
          <a:bodyPr wrap="none" lIns="45720" rIns="45720" anchor="ctr">
            <a:spAutoFit/>
          </a:bodyPr>
          <a:lstStyle/>
          <a:p>
            <a:pPr algn="l">
              <a:defRPr/>
            </a:pPr>
            <a:r>
              <a:rPr sz="1000" b="0">
                <a:solidFill>
                  <a:srgbClr val="27303B"/>
                </a:solidFill>
                <a:latin typeface="Noto Sans CJK KR"/>
              </a:rPr>
              <a:t>IP 간 연속 데이터</a:t>
            </a:r>
          </a:p>
        </p:txBody>
      </p:sp>
      <p:sp>
        <p:nvSpPr>
          <p:cNvPr id="28" name="TextBox 27"/>
          <p:cNvSpPr txBox="1"/>
          <p:nvPr/>
        </p:nvSpPr>
        <p:spPr>
          <a:xfrm>
            <a:off x="438912" y="6555105"/>
            <a:ext cx="2330958" cy="215265"/>
          </a:xfrm>
          <a:prstGeom prst="rect">
            <a:avLst/>
          </a:prstGeom>
          <a:noFill/>
        </p:spPr>
        <p:txBody>
          <a:bodyPr wrap="none" lIns="45720" rIns="45720" anchor="ctr">
            <a:spAutoFit/>
          </a:bodyPr>
          <a:lstStyle/>
          <a:p>
            <a:pPr algn="l">
              <a:defRPr/>
            </a:pPr>
            <a:r>
              <a:rPr sz="800" b="0">
                <a:solidFill>
                  <a:srgbClr val="66717C"/>
                </a:solidFill>
                <a:latin typeface="Noto Sans CJK KR"/>
              </a:rPr>
              <a:t>PPE Monitoring AI Hardware Accelerator | KV260</a:t>
            </a:r>
          </a:p>
        </p:txBody>
      </p:sp>
      <p:sp>
        <p:nvSpPr>
          <p:cNvPr id="29" name="TextBox 28"/>
          <p:cNvSpPr txBox="1"/>
          <p:nvPr/>
        </p:nvSpPr>
        <p:spPr>
          <a:xfrm>
            <a:off x="11222355" y="6537960"/>
            <a:ext cx="481965" cy="213360"/>
          </a:xfrm>
          <a:prstGeom prst="rect">
            <a:avLst/>
          </a:prstGeom>
          <a:noFill/>
        </p:spPr>
        <p:txBody>
          <a:bodyPr wrap="none" lIns="45720" rIns="45720" anchor="ctr">
            <a:spAutoFit/>
          </a:bodyPr>
          <a:lstStyle/>
          <a:p>
            <a:pPr algn="r">
              <a:defRPr/>
            </a:pPr>
            <a:r>
              <a:rPr sz="800" b="1">
                <a:solidFill>
                  <a:srgbClr val="236CB4"/>
                </a:solidFill>
                <a:latin typeface="Noto Sans CJK KR"/>
              </a:rPr>
              <a:t>B TEAM</a:t>
            </a:r>
          </a:p>
        </p:txBody>
      </p:sp>
      <p:pic>
        <p:nvPicPr>
          <p:cNvPr id="30" name="그림 29"/>
          <p:cNvPicPr>
            <a:picLocks noChangeAspect="1"/>
          </p:cNvPicPr>
          <p:nvPr/>
        </p:nvPicPr>
        <p:blipFill rotWithShape="1">
          <a:blip r:embed="rId3"/>
          <a:stretch>
            <a:fillRect/>
          </a:stretch>
        </p:blipFill>
        <p:spPr>
          <a:xfrm>
            <a:off x="506730" y="3719035"/>
            <a:ext cx="7189470" cy="2836069"/>
          </a:xfrm>
          <a:prstGeom prst="rect">
            <a:avLst/>
          </a:prstGeom>
        </p:spPr>
      </p:pic>
      <p:pic>
        <p:nvPicPr>
          <p:cNvPr id="31" name="그림 30"/>
          <p:cNvPicPr>
            <a:picLocks noChangeAspect="1"/>
          </p:cNvPicPr>
          <p:nvPr/>
        </p:nvPicPr>
        <p:blipFill rotWithShape="1">
          <a:blip r:embed="rId4"/>
          <a:stretch>
            <a:fillRect/>
          </a:stretch>
        </p:blipFill>
        <p:spPr>
          <a:xfrm>
            <a:off x="411480" y="859536"/>
            <a:ext cx="7284720" cy="2937427"/>
          </a:xfrm>
          <a:prstGeom prst="rect">
            <a:avLst/>
          </a:prstGeom>
        </p:spPr>
      </p:pic>
    </p:spTree>
    <p:extLst>
      <p:ext uri="{BB962C8B-B14F-4D97-AF65-F5344CB8AC3E}">
        <p14:creationId xmlns:p14="http://schemas.microsoft.com/office/powerpoint/2010/main" val="204634271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03</a:t>
            </a:r>
          </a:p>
        </p:txBody>
      </p:sp>
      <p:sp>
        <p:nvSpPr>
          <p:cNvPr id="3" name="Rounded Rectangle 2"/>
          <p:cNvSpPr/>
          <p:nvPr/>
        </p:nvSpPr>
        <p:spPr>
          <a:xfrm>
            <a:off x="411480" y="164592"/>
            <a:ext cx="502920" cy="411480"/>
          </a:xfrm>
          <a:prstGeom prst="roundRect">
            <a:avLst>
              <a:gd name="adj" fmla="val 16667"/>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 name="TextBox 3"/>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03</a:t>
            </a:r>
          </a:p>
        </p:txBody>
      </p:sp>
      <p:sp>
        <p:nvSpPr>
          <p:cNvPr id="5" name="TextBox 4"/>
          <p:cNvSpPr txBox="1"/>
          <p:nvPr/>
        </p:nvSpPr>
        <p:spPr>
          <a:xfrm>
            <a:off x="1051560" y="109728"/>
            <a:ext cx="6966585" cy="502920"/>
          </a:xfrm>
          <a:prstGeom prst="rect">
            <a:avLst/>
          </a:prstGeom>
          <a:noFill/>
        </p:spPr>
        <p:txBody>
          <a:bodyPr wrap="none" lIns="45720" rIns="45720" anchor="ctr">
            <a:spAutoFit/>
          </a:bodyPr>
          <a:lstStyle/>
          <a:p>
            <a:pPr algn="l">
              <a:defRPr/>
            </a:pPr>
            <a:r>
              <a:rPr sz="2700" b="1">
                <a:solidFill>
                  <a:srgbClr val="0E1F35"/>
                </a:solidFill>
                <a:latin typeface="Noto Sans CJK KR"/>
              </a:rPr>
              <a:t>실패에서 수렴까지 — 예상 밖의 병목과 판단</a:t>
            </a:r>
          </a:p>
        </p:txBody>
      </p:sp>
      <p:sp>
        <p:nvSpPr>
          <p:cNvPr id="6" name="TextBox 5"/>
          <p:cNvSpPr txBox="1"/>
          <p:nvPr/>
        </p:nvSpPr>
        <p:spPr>
          <a:xfrm>
            <a:off x="1069848" y="592455"/>
            <a:ext cx="5290946" cy="267081"/>
          </a:xfrm>
          <a:prstGeom prst="rect">
            <a:avLst/>
          </a:prstGeom>
          <a:noFill/>
        </p:spPr>
        <p:txBody>
          <a:bodyPr wrap="none" lIns="45720" rIns="45720" anchor="ctr">
            <a:spAutoFit/>
          </a:bodyPr>
          <a:lstStyle/>
          <a:p>
            <a:pPr algn="l">
              <a:defRPr/>
            </a:pPr>
            <a:r>
              <a:rPr sz="1100" b="0">
                <a:solidFill>
                  <a:srgbClr val="66717C"/>
                </a:solidFill>
                <a:latin typeface="Noto Sans CJK KR"/>
              </a:rPr>
              <a:t>Simulation PASS 이후 발생한 물리 배선·Stream·Memory·DMA 문제를 증거로 분해</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8" name="Rounded Rectangle 7"/>
          <p:cNvSpPr/>
          <p:nvPr/>
        </p:nvSpPr>
        <p:spPr>
          <a:xfrm>
            <a:off x="411480" y="1143000"/>
            <a:ext cx="2578608" cy="411480"/>
          </a:xfrm>
          <a:prstGeom prst="roundRect">
            <a:avLst>
              <a:gd name="adj" fmla="val 16667"/>
            </a:avLst>
          </a:prstGeom>
          <a:solidFill>
            <a:srgbClr val="CD4949"/>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9" name="TextBox 8"/>
          <p:cNvSpPr txBox="1"/>
          <p:nvPr/>
        </p:nvSpPr>
        <p:spPr>
          <a:xfrm>
            <a:off x="1268730" y="1211580"/>
            <a:ext cx="843915" cy="262890"/>
          </a:xfrm>
          <a:prstGeom prst="rect">
            <a:avLst/>
          </a:prstGeom>
          <a:noFill/>
        </p:spPr>
        <p:txBody>
          <a:bodyPr wrap="none" lIns="45720" rIns="45720" anchor="ctr">
            <a:spAutoFit/>
          </a:bodyPr>
          <a:lstStyle/>
          <a:p>
            <a:pPr algn="ctr">
              <a:defRPr/>
            </a:pPr>
            <a:r>
              <a:rPr sz="1100" b="1">
                <a:solidFill>
                  <a:srgbClr val="FFFFFF"/>
                </a:solidFill>
                <a:latin typeface="Noto Sans CJK KR"/>
              </a:rPr>
              <a:t>관찰된 실패</a:t>
            </a:r>
          </a:p>
        </p:txBody>
      </p:sp>
      <p:sp>
        <p:nvSpPr>
          <p:cNvPr id="10" name="Rounded Rectangle 9"/>
          <p:cNvSpPr/>
          <p:nvPr/>
        </p:nvSpPr>
        <p:spPr>
          <a:xfrm>
            <a:off x="3172968" y="1143000"/>
            <a:ext cx="3429000" cy="411480"/>
          </a:xfrm>
          <a:prstGeom prst="roundRect">
            <a:avLst>
              <a:gd name="adj" fmla="val 16667"/>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1" name="TextBox 10"/>
          <p:cNvSpPr txBox="1"/>
          <p:nvPr/>
        </p:nvSpPr>
        <p:spPr>
          <a:xfrm>
            <a:off x="4221480" y="1211580"/>
            <a:ext cx="1310640" cy="262890"/>
          </a:xfrm>
          <a:prstGeom prst="rect">
            <a:avLst/>
          </a:prstGeom>
          <a:noFill/>
        </p:spPr>
        <p:txBody>
          <a:bodyPr wrap="none" lIns="45720" rIns="45720" anchor="ctr">
            <a:spAutoFit/>
          </a:bodyPr>
          <a:lstStyle/>
          <a:p>
            <a:pPr algn="ctr">
              <a:defRPr/>
            </a:pPr>
            <a:r>
              <a:rPr sz="1100" b="1">
                <a:solidFill>
                  <a:srgbClr val="FFFFFF"/>
                </a:solidFill>
                <a:latin typeface="Noto Sans CJK KR"/>
              </a:rPr>
              <a:t>숫자로 확인한 원인</a:t>
            </a:r>
          </a:p>
        </p:txBody>
      </p:sp>
      <p:sp>
        <p:nvSpPr>
          <p:cNvPr id="12" name="Rounded Rectangle 11"/>
          <p:cNvSpPr/>
          <p:nvPr/>
        </p:nvSpPr>
        <p:spPr>
          <a:xfrm>
            <a:off x="6784848" y="1143000"/>
            <a:ext cx="4965192" cy="411480"/>
          </a:xfrm>
          <a:prstGeom prst="roundRect">
            <a:avLst>
              <a:gd name="adj" fmla="val 16667"/>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3" name="TextBox 12"/>
          <p:cNvSpPr txBox="1"/>
          <p:nvPr/>
        </p:nvSpPr>
        <p:spPr>
          <a:xfrm>
            <a:off x="8841105" y="1211580"/>
            <a:ext cx="843915" cy="262890"/>
          </a:xfrm>
          <a:prstGeom prst="rect">
            <a:avLst/>
          </a:prstGeom>
          <a:noFill/>
        </p:spPr>
        <p:txBody>
          <a:bodyPr wrap="none" lIns="45720" rIns="45720" anchor="ctr">
            <a:spAutoFit/>
          </a:bodyPr>
          <a:lstStyle/>
          <a:p>
            <a:pPr algn="ctr">
              <a:defRPr/>
            </a:pPr>
            <a:r>
              <a:rPr sz="1100" b="1">
                <a:solidFill>
                  <a:srgbClr val="FFFFFF"/>
                </a:solidFill>
                <a:latin typeface="Noto Sans CJK KR"/>
              </a:rPr>
              <a:t>조정과 결과</a:t>
            </a:r>
          </a:p>
        </p:txBody>
      </p:sp>
      <p:sp>
        <p:nvSpPr>
          <p:cNvPr id="14" name="Rectangle 13"/>
          <p:cNvSpPr/>
          <p:nvPr/>
        </p:nvSpPr>
        <p:spPr>
          <a:xfrm>
            <a:off x="411480" y="1719072"/>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5" name="TextBox 14"/>
          <p:cNvSpPr txBox="1"/>
          <p:nvPr/>
        </p:nvSpPr>
        <p:spPr>
          <a:xfrm>
            <a:off x="1278255" y="1973580"/>
            <a:ext cx="834390" cy="243840"/>
          </a:xfrm>
          <a:prstGeom prst="rect">
            <a:avLst/>
          </a:prstGeom>
          <a:noFill/>
        </p:spPr>
        <p:txBody>
          <a:bodyPr wrap="none" lIns="45720" rIns="45720" anchor="ctr">
            <a:spAutoFit/>
          </a:bodyPr>
          <a:lstStyle/>
          <a:p>
            <a:pPr algn="ctr">
              <a:defRPr/>
            </a:pPr>
            <a:r>
              <a:rPr sz="1000" b="0">
                <a:solidFill>
                  <a:srgbClr val="27303B"/>
                </a:solidFill>
                <a:latin typeface="Noto Sans CJK KR"/>
              </a:rPr>
              <a:t>Routing 불법</a:t>
            </a:r>
          </a:p>
        </p:txBody>
      </p:sp>
      <p:sp>
        <p:nvSpPr>
          <p:cNvPr id="16" name="Rectangle 15"/>
          <p:cNvSpPr/>
          <p:nvPr/>
        </p:nvSpPr>
        <p:spPr>
          <a:xfrm>
            <a:off x="3172968" y="1719072"/>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7" name="TextBox 16"/>
          <p:cNvSpPr txBox="1"/>
          <p:nvPr/>
        </p:nvSpPr>
        <p:spPr>
          <a:xfrm>
            <a:off x="4221480" y="1973580"/>
            <a:ext cx="1310640" cy="243840"/>
          </a:xfrm>
          <a:prstGeom prst="rect">
            <a:avLst/>
          </a:prstGeom>
          <a:noFill/>
        </p:spPr>
        <p:txBody>
          <a:bodyPr wrap="none" lIns="45720" rIns="45720" anchor="ctr">
            <a:spAutoFit/>
          </a:bodyPr>
          <a:lstStyle/>
          <a:p>
            <a:pPr algn="ctr">
              <a:defRPr/>
            </a:pPr>
            <a:r>
              <a:rPr sz="1000" b="0">
                <a:solidFill>
                  <a:srgbClr val="27303B"/>
                </a:solidFill>
                <a:latin typeface="Noto Sans CJK KR"/>
              </a:rPr>
              <a:t>66,590 node overlaps</a:t>
            </a:r>
          </a:p>
        </p:txBody>
      </p:sp>
      <p:sp>
        <p:nvSpPr>
          <p:cNvPr id="18" name="Rectangle 17"/>
          <p:cNvSpPr/>
          <p:nvPr/>
        </p:nvSpPr>
        <p:spPr>
          <a:xfrm>
            <a:off x="6784848" y="1719072"/>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9" name="TextBox 18"/>
          <p:cNvSpPr txBox="1"/>
          <p:nvPr/>
        </p:nvSpPr>
        <p:spPr>
          <a:xfrm>
            <a:off x="7250429" y="1897380"/>
            <a:ext cx="3872865" cy="396240"/>
          </a:xfrm>
          <a:prstGeom prst="rect">
            <a:avLst/>
          </a:prstGeom>
          <a:noFill/>
        </p:spPr>
        <p:txBody>
          <a:bodyPr wrap="none" lIns="45720" rIns="45720" anchor="ctr">
            <a:spAutoFit/>
          </a:bodyPr>
          <a:lstStyle/>
          <a:p>
            <a:pPr algn="ctr">
              <a:defRPr/>
            </a:pPr>
            <a:r>
              <a:rPr sz="1000" b="0">
                <a:solidFill>
                  <a:srgbClr val="27303B"/>
                </a:solidFill>
                <a:latin typeface="Noto Sans CJK KR"/>
              </a:rPr>
              <a:t>Handshake/병렬 구조 분석</a:t>
            </a:r>
            <a:r>
              <a:rPr lang="ko-KR" altLang="en-US" sz="1000" b="0">
                <a:solidFill>
                  <a:srgbClr val="27303B"/>
                </a:solidFill>
                <a:latin typeface="Noto Sans CJK KR"/>
              </a:rPr>
              <a:t>해 조합 경로를 줄이고 배선을 재검증해</a:t>
            </a:r>
          </a:p>
          <a:p>
            <a:pPr algn="ctr">
              <a:defRPr/>
            </a:pPr>
            <a:r>
              <a:rPr sz="1000" b="0">
                <a:solidFill>
                  <a:srgbClr val="27303B"/>
                </a:solidFill>
                <a:latin typeface="Noto Sans CJK KR"/>
              </a:rPr>
              <a:t>→ routing 오류 96%↓</a:t>
            </a:r>
          </a:p>
        </p:txBody>
      </p:sp>
      <p:sp>
        <p:nvSpPr>
          <p:cNvPr id="20" name="Rectangle 19"/>
          <p:cNvSpPr/>
          <p:nvPr/>
        </p:nvSpPr>
        <p:spPr>
          <a:xfrm>
            <a:off x="411480" y="2551176"/>
            <a:ext cx="2578608"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1" name="TextBox 20"/>
          <p:cNvSpPr txBox="1"/>
          <p:nvPr/>
        </p:nvSpPr>
        <p:spPr>
          <a:xfrm>
            <a:off x="1221105" y="2802255"/>
            <a:ext cx="948690" cy="243840"/>
          </a:xfrm>
          <a:prstGeom prst="rect">
            <a:avLst/>
          </a:prstGeom>
          <a:noFill/>
        </p:spPr>
        <p:txBody>
          <a:bodyPr wrap="none" lIns="45720" rIns="45720" anchor="ctr">
            <a:spAutoFit/>
          </a:bodyPr>
          <a:lstStyle/>
          <a:p>
            <a:pPr algn="ctr">
              <a:defRPr/>
            </a:pPr>
            <a:r>
              <a:rPr sz="1000" b="0">
                <a:solidFill>
                  <a:srgbClr val="27303B"/>
                </a:solidFill>
                <a:latin typeface="Noto Sans CJK KR"/>
              </a:rPr>
              <a:t>자원·배선 포화</a:t>
            </a:r>
          </a:p>
        </p:txBody>
      </p:sp>
      <p:sp>
        <p:nvSpPr>
          <p:cNvPr id="22" name="Rectangle 21"/>
          <p:cNvSpPr/>
          <p:nvPr/>
        </p:nvSpPr>
        <p:spPr>
          <a:xfrm>
            <a:off x="3172968" y="2551176"/>
            <a:ext cx="3429000"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3" name="TextBox 22"/>
          <p:cNvSpPr txBox="1"/>
          <p:nvPr/>
        </p:nvSpPr>
        <p:spPr>
          <a:xfrm>
            <a:off x="3630930" y="2735580"/>
            <a:ext cx="2539364" cy="396240"/>
          </a:xfrm>
          <a:prstGeom prst="rect">
            <a:avLst/>
          </a:prstGeom>
          <a:noFill/>
        </p:spPr>
        <p:txBody>
          <a:bodyPr wrap="none" lIns="45720" rIns="45720" anchor="ctr">
            <a:spAutoFit/>
          </a:bodyPr>
          <a:lstStyle/>
          <a:p>
            <a:pPr algn="ctr">
              <a:defRPr/>
            </a:pPr>
            <a:r>
              <a:rPr sz="1000" b="0">
                <a:solidFill>
                  <a:srgbClr val="27303B"/>
                </a:solidFill>
                <a:latin typeface="Noto Sans CJK KR"/>
              </a:rPr>
              <a:t>cv2</a:t>
            </a:r>
            <a:r>
              <a:rPr lang="ko-KR" altLang="en-US" sz="1000" b="0">
                <a:solidFill>
                  <a:srgbClr val="27303B"/>
                </a:solidFill>
                <a:latin typeface="Noto Sans CJK KR"/>
              </a:rPr>
              <a:t> 까지 </a:t>
            </a:r>
            <a:r>
              <a:rPr lang="en-US" altLang="ko-KR" sz="1000" b="0">
                <a:solidFill>
                  <a:srgbClr val="27303B"/>
                </a:solidFill>
                <a:latin typeface="Noto Sans CJK KR"/>
              </a:rPr>
              <a:t>FPGA</a:t>
            </a:r>
            <a:r>
              <a:rPr lang="ko-KR" altLang="en-US" sz="1000" b="0">
                <a:solidFill>
                  <a:srgbClr val="27303B"/>
                </a:solidFill>
                <a:latin typeface="Noto Sans CJK KR"/>
              </a:rPr>
              <a:t>에</a:t>
            </a:r>
            <a:r>
              <a:rPr sz="1000" b="0">
                <a:solidFill>
                  <a:srgbClr val="27303B"/>
                </a:solidFill>
                <a:latin typeface="Noto Sans CJK KR"/>
              </a:rPr>
              <a:t> 포함 LUT</a:t>
            </a:r>
            <a:r>
              <a:rPr lang="ko-KR" altLang="en-US" sz="1000" b="0">
                <a:solidFill>
                  <a:srgbClr val="27303B"/>
                </a:solidFill>
                <a:latin typeface="Noto Sans CJK KR"/>
              </a:rPr>
              <a:t> 사용률 </a:t>
            </a:r>
            <a:r>
              <a:rPr sz="1000" b="0">
                <a:solidFill>
                  <a:srgbClr val="27303B"/>
                </a:solidFill>
                <a:latin typeface="Noto Sans CJK KR"/>
              </a:rPr>
              <a:t>≈ 91%</a:t>
            </a:r>
          </a:p>
          <a:p>
            <a:pPr algn="ctr">
              <a:defRPr/>
            </a:pPr>
            <a:r>
              <a:rPr lang="en-US" altLang="ko-KR" sz="1000" b="0">
                <a:solidFill>
                  <a:srgbClr val="27303B"/>
                </a:solidFill>
                <a:latin typeface="Noto Sans CJK KR"/>
              </a:rPr>
              <a:t>(</a:t>
            </a:r>
            <a:r>
              <a:rPr lang="ko-KR" altLang="en-US" sz="1000" b="0">
                <a:solidFill>
                  <a:srgbClr val="27303B"/>
                </a:solidFill>
                <a:latin typeface="Noto Sans CJK KR"/>
              </a:rPr>
              <a:t>배선 혼잡도 증가</a:t>
            </a:r>
            <a:r>
              <a:rPr lang="en-US" altLang="ko-KR" sz="1000" b="0">
                <a:solidFill>
                  <a:srgbClr val="27303B"/>
                </a:solidFill>
                <a:latin typeface="Noto Sans CJK KR"/>
              </a:rPr>
              <a:t>)</a:t>
            </a:r>
          </a:p>
        </p:txBody>
      </p:sp>
      <p:sp>
        <p:nvSpPr>
          <p:cNvPr id="24" name="Rectangle 23"/>
          <p:cNvSpPr/>
          <p:nvPr/>
        </p:nvSpPr>
        <p:spPr>
          <a:xfrm>
            <a:off x="6784848" y="2551176"/>
            <a:ext cx="4965192"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5" name="TextBox 24"/>
          <p:cNvSpPr txBox="1"/>
          <p:nvPr/>
        </p:nvSpPr>
        <p:spPr>
          <a:xfrm>
            <a:off x="7212330" y="2687955"/>
            <a:ext cx="3863340" cy="501015"/>
          </a:xfrm>
          <a:prstGeom prst="rect">
            <a:avLst/>
          </a:prstGeom>
          <a:noFill/>
        </p:spPr>
        <p:txBody>
          <a:bodyPr wrap="none" lIns="45720" rIns="45720" anchor="ctr">
            <a:spAutoFit/>
          </a:bodyPr>
          <a:lstStyle/>
          <a:p>
            <a:pPr algn="ctr">
              <a:defRPr/>
            </a:pPr>
            <a:r>
              <a:rPr sz="1000" b="0">
                <a:solidFill>
                  <a:srgbClr val="27303B"/>
                </a:solidFill>
                <a:latin typeface="Noto Sans CJK KR"/>
              </a:rPr>
              <a:t>cv2 CPU 이전</a:t>
            </a:r>
          </a:p>
          <a:p>
            <a:pPr algn="ctr">
              <a:defRPr/>
            </a:pPr>
            <a:r>
              <a:rPr sz="1000" b="0">
                <a:solidFill>
                  <a:srgbClr val="27303B"/>
                </a:solidFill>
                <a:latin typeface="Noto Sans CJK KR"/>
              </a:rPr>
              <a:t>→ LUT ≈ 56%</a:t>
            </a:r>
          </a:p>
          <a:p>
            <a:pPr algn="ctr">
              <a:defRPr/>
            </a:pPr>
            <a:r>
              <a:rPr lang="en-US" altLang="ko-KR" sz="700" b="0">
                <a:solidFill>
                  <a:srgbClr val="27303B"/>
                </a:solidFill>
                <a:latin typeface="Noto Sans CJK KR"/>
              </a:rPr>
              <a:t>(FPGA </a:t>
            </a:r>
            <a:r>
              <a:rPr lang="ko-KR" altLang="en-US" sz="700" b="0">
                <a:solidFill>
                  <a:srgbClr val="27303B"/>
                </a:solidFill>
                <a:latin typeface="Noto Sans CJK KR"/>
              </a:rPr>
              <a:t>자원 사용량뿐 아니라 실제 배선 가능성까지 고려햐 하드웨어 경계를 다시 정했습니다</a:t>
            </a:r>
            <a:r>
              <a:rPr lang="en-US" altLang="ko-KR" sz="700" b="0">
                <a:solidFill>
                  <a:srgbClr val="27303B"/>
                </a:solidFill>
                <a:latin typeface="Noto Sans CJK KR"/>
              </a:rPr>
              <a:t>)</a:t>
            </a:r>
          </a:p>
        </p:txBody>
      </p:sp>
      <p:sp>
        <p:nvSpPr>
          <p:cNvPr id="26" name="Rectangle 25"/>
          <p:cNvSpPr/>
          <p:nvPr/>
        </p:nvSpPr>
        <p:spPr>
          <a:xfrm>
            <a:off x="411480" y="3383280"/>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7" name="TextBox 26"/>
          <p:cNvSpPr txBox="1"/>
          <p:nvPr/>
        </p:nvSpPr>
        <p:spPr>
          <a:xfrm>
            <a:off x="1287780" y="3630930"/>
            <a:ext cx="805815" cy="243840"/>
          </a:xfrm>
          <a:prstGeom prst="rect">
            <a:avLst/>
          </a:prstGeom>
          <a:noFill/>
        </p:spPr>
        <p:txBody>
          <a:bodyPr wrap="none" lIns="45720" rIns="45720" anchor="ctr">
            <a:spAutoFit/>
          </a:bodyPr>
          <a:lstStyle/>
          <a:p>
            <a:pPr algn="ctr">
              <a:defRPr/>
            </a:pPr>
            <a:r>
              <a:rPr sz="1000" b="0">
                <a:solidFill>
                  <a:srgbClr val="27303B"/>
                </a:solidFill>
                <a:latin typeface="Noto Sans CJK KR"/>
              </a:rPr>
              <a:t>Stream 교착</a:t>
            </a:r>
          </a:p>
        </p:txBody>
      </p:sp>
      <p:sp>
        <p:nvSpPr>
          <p:cNvPr id="28" name="Rectangle 27"/>
          <p:cNvSpPr/>
          <p:nvPr/>
        </p:nvSpPr>
        <p:spPr>
          <a:xfrm>
            <a:off x="3172968" y="3383280"/>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9" name="TextBox 28"/>
          <p:cNvSpPr txBox="1"/>
          <p:nvPr/>
        </p:nvSpPr>
        <p:spPr>
          <a:xfrm>
            <a:off x="3278504" y="3602355"/>
            <a:ext cx="3244216" cy="348615"/>
          </a:xfrm>
          <a:prstGeom prst="rect">
            <a:avLst/>
          </a:prstGeom>
          <a:noFill/>
        </p:spPr>
        <p:txBody>
          <a:bodyPr wrap="square" lIns="45720" rIns="45720" anchor="ctr">
            <a:spAutoFit/>
          </a:bodyPr>
          <a:lstStyle/>
          <a:p>
            <a:pPr algn="ctr">
              <a:defRPr/>
            </a:pPr>
            <a:r>
              <a:rPr lang="en-US" altLang="ko-KR" sz="1000" b="0">
                <a:solidFill>
                  <a:srgbClr val="27303B"/>
                </a:solidFill>
                <a:latin typeface="Noto Sans CJK KR"/>
              </a:rPr>
              <a:t>Simulation</a:t>
            </a:r>
            <a:r>
              <a:rPr lang="ko-KR" altLang="en-US" sz="1000" b="0">
                <a:solidFill>
                  <a:srgbClr val="27303B"/>
                </a:solidFill>
                <a:latin typeface="Noto Sans CJK KR"/>
              </a:rPr>
              <a:t>은</a:t>
            </a:r>
            <a:r>
              <a:rPr lang="en-US" altLang="ko-KR" sz="1000" b="0">
                <a:solidFill>
                  <a:srgbClr val="27303B"/>
                </a:solidFill>
                <a:latin typeface="Noto Sans CJK KR"/>
              </a:rPr>
              <a:t> PASS</a:t>
            </a:r>
            <a:r>
              <a:rPr lang="ko-KR" altLang="en-US" sz="1000" b="0">
                <a:solidFill>
                  <a:srgbClr val="27303B"/>
                </a:solidFill>
                <a:latin typeface="Noto Sans CJK KR"/>
              </a:rPr>
              <a:t> 하지만</a:t>
            </a:r>
            <a:r>
              <a:rPr lang="en-US" altLang="ko-KR" sz="1000" b="0">
                <a:solidFill>
                  <a:srgbClr val="27303B"/>
                </a:solidFill>
                <a:latin typeface="Noto Sans CJK KR"/>
              </a:rPr>
              <a:t> HW</a:t>
            </a:r>
            <a:r>
              <a:rPr lang="ko-KR" altLang="en-US" sz="1000" b="0">
                <a:solidFill>
                  <a:srgbClr val="27303B"/>
                </a:solidFill>
                <a:latin typeface="Noto Sans CJK KR"/>
              </a:rPr>
              <a:t>는 </a:t>
            </a:r>
            <a:r>
              <a:rPr sz="1000" b="0">
                <a:solidFill>
                  <a:srgbClr val="27303B"/>
                </a:solidFill>
                <a:latin typeface="Noto Sans CJK KR"/>
              </a:rPr>
              <a:t>약 82 pixel에서 정지</a:t>
            </a:r>
          </a:p>
          <a:p>
            <a:pPr algn="ctr">
              <a:defRPr/>
            </a:pPr>
            <a:r>
              <a:rPr lang="en-US" altLang="ko-KR" sz="700" b="0">
                <a:solidFill>
                  <a:srgbClr val="27303B"/>
                </a:solidFill>
                <a:latin typeface="Noto Sans CJK KR"/>
              </a:rPr>
              <a:t>(</a:t>
            </a:r>
            <a:r>
              <a:rPr lang="ko-KR" altLang="en-US" sz="700" b="0">
                <a:solidFill>
                  <a:srgbClr val="27303B"/>
                </a:solidFill>
                <a:latin typeface="Noto Sans CJK KR"/>
              </a:rPr>
              <a:t>생산자와 소비자의 데이터 처리 속도가 맞지 않아 서로 기다리는 상태</a:t>
            </a:r>
            <a:r>
              <a:rPr lang="en-US" altLang="ko-KR" sz="700" b="0">
                <a:solidFill>
                  <a:srgbClr val="27303B"/>
                </a:solidFill>
                <a:latin typeface="Noto Sans CJK KR"/>
              </a:rPr>
              <a:t>)</a:t>
            </a:r>
          </a:p>
        </p:txBody>
      </p:sp>
      <p:sp>
        <p:nvSpPr>
          <p:cNvPr id="30" name="Rectangle 29"/>
          <p:cNvSpPr/>
          <p:nvPr/>
        </p:nvSpPr>
        <p:spPr>
          <a:xfrm>
            <a:off x="6784848" y="3383280"/>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1" name="TextBox 30"/>
          <p:cNvSpPr txBox="1"/>
          <p:nvPr/>
        </p:nvSpPr>
        <p:spPr>
          <a:xfrm>
            <a:off x="7869554" y="3554730"/>
            <a:ext cx="2663191" cy="396240"/>
          </a:xfrm>
          <a:prstGeom prst="rect">
            <a:avLst/>
          </a:prstGeom>
          <a:noFill/>
        </p:spPr>
        <p:txBody>
          <a:bodyPr wrap="none" lIns="45720" rIns="45720" anchor="ctr">
            <a:spAutoFit/>
          </a:bodyPr>
          <a:lstStyle/>
          <a:p>
            <a:pPr algn="ctr">
              <a:defRPr/>
            </a:pPr>
            <a:r>
              <a:rPr sz="1000" b="0">
                <a:solidFill>
                  <a:srgbClr val="27303B"/>
                </a:solidFill>
                <a:latin typeface="Noto Sans CJK KR"/>
              </a:rPr>
              <a:t>DATAFLOW + FIFO</a:t>
            </a:r>
            <a:r>
              <a:rPr lang="ko-KR" altLang="en-US" sz="1000" b="0">
                <a:solidFill>
                  <a:srgbClr val="27303B"/>
                </a:solidFill>
                <a:latin typeface="Noto Sans CJK KR"/>
              </a:rPr>
              <a:t> 구조를 조정해 </a:t>
            </a:r>
            <a:r>
              <a:rPr lang="en-US" altLang="ko-KR" sz="1000" b="0">
                <a:solidFill>
                  <a:srgbClr val="27303B"/>
                </a:solidFill>
                <a:latin typeface="Noto Sans CJK KR"/>
              </a:rPr>
              <a:t>40x40, </a:t>
            </a:r>
            <a:r>
              <a:rPr lang="ko-KR" altLang="en-US" sz="1000" b="0">
                <a:solidFill>
                  <a:srgbClr val="27303B"/>
                </a:solidFill>
                <a:latin typeface="Noto Sans CJK KR"/>
              </a:rPr>
              <a:t>즉</a:t>
            </a:r>
          </a:p>
          <a:p>
            <a:pPr algn="ctr">
              <a:defRPr/>
            </a:pPr>
            <a:r>
              <a:rPr sz="1000" b="0">
                <a:solidFill>
                  <a:srgbClr val="27303B"/>
                </a:solidFill>
                <a:latin typeface="Noto Sans CJK KR"/>
              </a:rPr>
              <a:t>→ 1,600 pixel 처리</a:t>
            </a:r>
            <a:r>
              <a:rPr lang="ko-KR" altLang="en-US" sz="1000" b="0">
                <a:solidFill>
                  <a:srgbClr val="27303B"/>
                </a:solidFill>
                <a:latin typeface="Noto Sans CJK KR"/>
              </a:rPr>
              <a:t>하도록 개선</a:t>
            </a:r>
          </a:p>
        </p:txBody>
      </p:sp>
      <p:sp>
        <p:nvSpPr>
          <p:cNvPr id="32" name="Rectangle 31"/>
          <p:cNvSpPr/>
          <p:nvPr/>
        </p:nvSpPr>
        <p:spPr>
          <a:xfrm>
            <a:off x="411480" y="4215384"/>
            <a:ext cx="2578608"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3" name="TextBox 32"/>
          <p:cNvSpPr txBox="1"/>
          <p:nvPr/>
        </p:nvSpPr>
        <p:spPr>
          <a:xfrm>
            <a:off x="1240155" y="4469130"/>
            <a:ext cx="901065" cy="243840"/>
          </a:xfrm>
          <a:prstGeom prst="rect">
            <a:avLst/>
          </a:prstGeom>
          <a:noFill/>
        </p:spPr>
        <p:txBody>
          <a:bodyPr wrap="none" lIns="45720" rIns="45720" anchor="ctr">
            <a:spAutoFit/>
          </a:bodyPr>
          <a:lstStyle/>
          <a:p>
            <a:pPr algn="ctr">
              <a:defRPr/>
            </a:pPr>
            <a:r>
              <a:rPr sz="1000" b="0">
                <a:solidFill>
                  <a:srgbClr val="27303B"/>
                </a:solidFill>
                <a:latin typeface="Noto Sans CJK KR"/>
              </a:rPr>
              <a:t>출력값 불일치</a:t>
            </a:r>
          </a:p>
        </p:txBody>
      </p:sp>
      <p:sp>
        <p:nvSpPr>
          <p:cNvPr id="34" name="Rectangle 33"/>
          <p:cNvSpPr/>
          <p:nvPr/>
        </p:nvSpPr>
        <p:spPr>
          <a:xfrm>
            <a:off x="3172968" y="4215384"/>
            <a:ext cx="3429000"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ko-KR"/>
              <a:t>`</a:t>
            </a:r>
          </a:p>
        </p:txBody>
      </p:sp>
      <p:sp>
        <p:nvSpPr>
          <p:cNvPr id="35" name="TextBox 34"/>
          <p:cNvSpPr txBox="1"/>
          <p:nvPr/>
        </p:nvSpPr>
        <p:spPr>
          <a:xfrm>
            <a:off x="3297555" y="4402455"/>
            <a:ext cx="3101339" cy="396240"/>
          </a:xfrm>
          <a:prstGeom prst="rect">
            <a:avLst/>
          </a:prstGeom>
          <a:noFill/>
        </p:spPr>
        <p:txBody>
          <a:bodyPr wrap="none" lIns="45720" rIns="45720" anchor="ctr">
            <a:spAutoFit/>
          </a:bodyPr>
          <a:lstStyle/>
          <a:p>
            <a:pPr algn="ctr">
              <a:defRPr/>
            </a:pPr>
            <a:r>
              <a:rPr lang="en-US" altLang="ko-KR" sz="1000" b="0">
                <a:solidFill>
                  <a:srgbClr val="27303B"/>
                </a:solidFill>
                <a:latin typeface="Noto Sans CJK KR"/>
              </a:rPr>
              <a:t>CPU</a:t>
            </a:r>
            <a:r>
              <a:rPr lang="ko-KR" altLang="en-US" sz="1000" b="0">
                <a:solidFill>
                  <a:srgbClr val="27303B"/>
                </a:solidFill>
                <a:latin typeface="Noto Sans CJK KR"/>
              </a:rPr>
              <a:t>와 </a:t>
            </a:r>
            <a:r>
              <a:rPr lang="en-US" altLang="ko-KR" sz="1000" b="0">
                <a:solidFill>
                  <a:srgbClr val="27303B"/>
                </a:solidFill>
                <a:latin typeface="Noto Sans CJK KR"/>
              </a:rPr>
              <a:t>FPGA</a:t>
            </a:r>
            <a:r>
              <a:rPr lang="ko-KR" altLang="en-US" sz="1000" b="0">
                <a:solidFill>
                  <a:srgbClr val="27303B"/>
                </a:solidFill>
                <a:latin typeface="Noto Sans CJK KR"/>
              </a:rPr>
              <a:t>가 </a:t>
            </a:r>
            <a:r>
              <a:rPr sz="1000" b="0">
                <a:solidFill>
                  <a:srgbClr val="27303B"/>
                </a:solidFill>
                <a:latin typeface="Noto Sans CJK KR"/>
              </a:rPr>
              <a:t>BRAM 주소</a:t>
            </a:r>
            <a:r>
              <a:rPr lang="ko-KR" altLang="en-US" sz="1000" b="0">
                <a:solidFill>
                  <a:srgbClr val="27303B"/>
                </a:solidFill>
                <a:latin typeface="Noto Sans CJK KR"/>
              </a:rPr>
              <a:t>를 해석하는 단위가 달라</a:t>
            </a:r>
          </a:p>
          <a:p>
            <a:pPr algn="ctr">
              <a:defRPr/>
            </a:pPr>
            <a:r>
              <a:rPr sz="1000" b="0">
                <a:solidFill>
                  <a:srgbClr val="27303B"/>
                </a:solidFill>
                <a:latin typeface="Noto Sans CJK KR"/>
              </a:rPr>
              <a:t>CHW/HWC 경계 충돌</a:t>
            </a:r>
          </a:p>
        </p:txBody>
      </p:sp>
      <p:sp>
        <p:nvSpPr>
          <p:cNvPr id="36" name="Rectangle 35"/>
          <p:cNvSpPr/>
          <p:nvPr/>
        </p:nvSpPr>
        <p:spPr>
          <a:xfrm>
            <a:off x="6784848" y="4215384"/>
            <a:ext cx="4965192"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7" name="TextBox 36"/>
          <p:cNvSpPr txBox="1"/>
          <p:nvPr/>
        </p:nvSpPr>
        <p:spPr>
          <a:xfrm>
            <a:off x="8136253" y="4404360"/>
            <a:ext cx="2244092" cy="396240"/>
          </a:xfrm>
          <a:prstGeom prst="rect">
            <a:avLst/>
          </a:prstGeom>
          <a:noFill/>
        </p:spPr>
        <p:txBody>
          <a:bodyPr wrap="none" lIns="45720" rIns="45720" anchor="ctr">
            <a:spAutoFit/>
          </a:bodyPr>
          <a:lstStyle/>
          <a:p>
            <a:pPr algn="ctr">
              <a:defRPr/>
            </a:pPr>
            <a:r>
              <a:rPr sz="1000" b="0">
                <a:solidFill>
                  <a:srgbClr val="27303B"/>
                </a:solidFill>
                <a:latin typeface="Noto Sans CJK KR"/>
              </a:rPr>
              <a:t>stride-4 COE + HWC 계약</a:t>
            </a:r>
            <a:r>
              <a:rPr lang="ko-KR" altLang="en-US" sz="1000" b="0">
                <a:solidFill>
                  <a:srgbClr val="27303B"/>
                </a:solidFill>
                <a:latin typeface="Noto Sans CJK KR"/>
              </a:rPr>
              <a:t>을 적용했고</a:t>
            </a:r>
          </a:p>
          <a:p>
            <a:pPr algn="ctr">
              <a:defRPr/>
            </a:pPr>
            <a:r>
              <a:rPr sz="1000" b="0">
                <a:solidFill>
                  <a:srgbClr val="27303B"/>
                </a:solidFill>
                <a:latin typeface="Noto Sans CJK KR"/>
              </a:rPr>
              <a:t>→ 팀</a:t>
            </a:r>
            <a:r>
              <a:rPr lang="ko-KR" altLang="en-US" sz="1000" b="0">
                <a:solidFill>
                  <a:srgbClr val="27303B"/>
                </a:solidFill>
                <a:latin typeface="Noto Sans CJK KR"/>
              </a:rPr>
              <a:t>검증 구간에서 </a:t>
            </a:r>
            <a:r>
              <a:rPr sz="1000" b="0">
                <a:solidFill>
                  <a:srgbClr val="27303B"/>
                </a:solidFill>
                <a:latin typeface="Noto Sans CJK KR"/>
              </a:rPr>
              <a:t> mismatch 0</a:t>
            </a:r>
            <a:r>
              <a:rPr lang="ko-KR" altLang="en-US" sz="1000" b="0">
                <a:solidFill>
                  <a:srgbClr val="27303B"/>
                </a:solidFill>
                <a:latin typeface="Noto Sans CJK KR"/>
              </a:rPr>
              <a:t> 확인</a:t>
            </a:r>
          </a:p>
        </p:txBody>
      </p:sp>
      <p:sp>
        <p:nvSpPr>
          <p:cNvPr id="38" name="Rectangle 37"/>
          <p:cNvSpPr/>
          <p:nvPr/>
        </p:nvSpPr>
        <p:spPr>
          <a:xfrm>
            <a:off x="411480" y="5047488"/>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9" name="TextBox 38"/>
          <p:cNvSpPr txBox="1"/>
          <p:nvPr/>
        </p:nvSpPr>
        <p:spPr>
          <a:xfrm>
            <a:off x="1202055" y="5297805"/>
            <a:ext cx="977265" cy="243840"/>
          </a:xfrm>
          <a:prstGeom prst="rect">
            <a:avLst/>
          </a:prstGeom>
          <a:noFill/>
        </p:spPr>
        <p:txBody>
          <a:bodyPr wrap="none" lIns="45720" rIns="45720" anchor="ctr">
            <a:spAutoFit/>
          </a:bodyPr>
          <a:lstStyle/>
          <a:p>
            <a:pPr algn="ctr">
              <a:defRPr/>
            </a:pPr>
            <a:r>
              <a:rPr sz="1000" b="0">
                <a:solidFill>
                  <a:srgbClr val="27303B"/>
                </a:solidFill>
                <a:latin typeface="Noto Sans CJK KR"/>
              </a:rPr>
              <a:t>DMA·보드 대기</a:t>
            </a:r>
          </a:p>
        </p:txBody>
      </p:sp>
      <p:sp>
        <p:nvSpPr>
          <p:cNvPr id="40" name="Rectangle 39"/>
          <p:cNvSpPr/>
          <p:nvPr/>
        </p:nvSpPr>
        <p:spPr>
          <a:xfrm>
            <a:off x="3172968" y="5047488"/>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1" name="TextBox 40"/>
          <p:cNvSpPr txBox="1"/>
          <p:nvPr/>
        </p:nvSpPr>
        <p:spPr>
          <a:xfrm>
            <a:off x="4145280" y="5240655"/>
            <a:ext cx="1472565" cy="396240"/>
          </a:xfrm>
          <a:prstGeom prst="rect">
            <a:avLst/>
          </a:prstGeom>
          <a:noFill/>
        </p:spPr>
        <p:txBody>
          <a:bodyPr wrap="none" lIns="45720" rIns="45720" anchor="ctr">
            <a:spAutoFit/>
          </a:bodyPr>
          <a:lstStyle/>
          <a:p>
            <a:pPr algn="ctr">
              <a:defRPr/>
            </a:pPr>
            <a:r>
              <a:rPr sz="1000" b="0">
                <a:solidFill>
                  <a:srgbClr val="27303B"/>
                </a:solidFill>
                <a:latin typeface="Noto Sans CJK KR"/>
              </a:rPr>
              <a:t>14-bit length &lt; 409,600B</a:t>
            </a:r>
          </a:p>
          <a:p>
            <a:pPr algn="ctr">
              <a:defRPr/>
            </a:pPr>
            <a:r>
              <a:rPr sz="1000" b="0">
                <a:solidFill>
                  <a:srgbClr val="27303B"/>
                </a:solidFill>
                <a:latin typeface="Noto Sans CJK KR"/>
              </a:rPr>
              <a:t>MMIO kernel hang</a:t>
            </a:r>
            <a:endParaRPr lang="ko-KR" altLang="en-US" sz="1000" b="0">
              <a:solidFill>
                <a:srgbClr val="27303B"/>
              </a:solidFill>
              <a:latin typeface="Noto Sans CJK KR"/>
            </a:endParaRPr>
          </a:p>
        </p:txBody>
      </p:sp>
      <p:sp>
        <p:nvSpPr>
          <p:cNvPr id="42" name="Rectangle 41"/>
          <p:cNvSpPr/>
          <p:nvPr/>
        </p:nvSpPr>
        <p:spPr>
          <a:xfrm>
            <a:off x="6784848" y="5047488"/>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3" name="TextBox 42"/>
          <p:cNvSpPr txBox="1"/>
          <p:nvPr/>
        </p:nvSpPr>
        <p:spPr>
          <a:xfrm>
            <a:off x="8469630" y="5221605"/>
            <a:ext cx="1586865" cy="396240"/>
          </a:xfrm>
          <a:prstGeom prst="rect">
            <a:avLst/>
          </a:prstGeom>
          <a:noFill/>
        </p:spPr>
        <p:txBody>
          <a:bodyPr wrap="none" lIns="45720" rIns="45720" anchor="ctr">
            <a:spAutoFit/>
          </a:bodyPr>
          <a:lstStyle/>
          <a:p>
            <a:pPr algn="ctr">
              <a:defRPr/>
            </a:pPr>
            <a:r>
              <a:rPr sz="1000" b="0">
                <a:solidFill>
                  <a:srgbClr val="27303B"/>
                </a:solidFill>
                <a:latin typeface="Noto Sans CJK KR"/>
              </a:rPr>
              <a:t>DMA 14→26bit / IOC 판정</a:t>
            </a:r>
          </a:p>
          <a:p>
            <a:pPr algn="ctr">
              <a:defRPr/>
            </a:pPr>
            <a:r>
              <a:rPr sz="1000" b="0">
                <a:solidFill>
                  <a:srgbClr val="27303B"/>
                </a:solidFill>
                <a:latin typeface="Noto Sans CJK KR"/>
              </a:rPr>
              <a:t>→ 개인 Overlay 검증</a:t>
            </a:r>
          </a:p>
        </p:txBody>
      </p:sp>
      <p:sp>
        <p:nvSpPr>
          <p:cNvPr id="44" name="Rounded Rectangle 43"/>
          <p:cNvSpPr/>
          <p:nvPr/>
        </p:nvSpPr>
        <p:spPr>
          <a:xfrm>
            <a:off x="411480" y="5989320"/>
            <a:ext cx="11338560" cy="384048"/>
          </a:xfrm>
          <a:prstGeom prst="roundRect">
            <a:avLst>
              <a:gd name="adj" fmla="val 16667"/>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5" name="TextBox 44"/>
          <p:cNvSpPr txBox="1"/>
          <p:nvPr/>
        </p:nvSpPr>
        <p:spPr>
          <a:xfrm>
            <a:off x="3259455" y="6059805"/>
            <a:ext cx="5625465" cy="243840"/>
          </a:xfrm>
          <a:prstGeom prst="rect">
            <a:avLst/>
          </a:prstGeom>
          <a:noFill/>
        </p:spPr>
        <p:txBody>
          <a:bodyPr wrap="none" lIns="45720" rIns="45720" anchor="ctr">
            <a:spAutoFit/>
          </a:bodyPr>
          <a:lstStyle/>
          <a:p>
            <a:pPr algn="ctr">
              <a:defRPr/>
            </a:pPr>
            <a:r>
              <a:rPr sz="1000" b="1">
                <a:solidFill>
                  <a:srgbClr val="FFFFFF"/>
                </a:solidFill>
                <a:latin typeface="Noto Sans CJK KR"/>
              </a:rPr>
              <a:t>검증 범위  |  Bitstream 성공  →  KV260 Overlay 로드  ·  DMA 실데이터 End-to-End는 후속 과제</a:t>
            </a:r>
          </a:p>
        </p:txBody>
      </p:sp>
      <p:sp>
        <p:nvSpPr>
          <p:cNvPr id="46" name="TextBox 45"/>
          <p:cNvSpPr txBox="1"/>
          <p:nvPr/>
        </p:nvSpPr>
        <p:spPr>
          <a:xfrm>
            <a:off x="438912" y="6555105"/>
            <a:ext cx="2330958" cy="215265"/>
          </a:xfrm>
          <a:prstGeom prst="rect">
            <a:avLst/>
          </a:prstGeom>
          <a:noFill/>
        </p:spPr>
        <p:txBody>
          <a:bodyPr wrap="none" lIns="45720" rIns="45720" anchor="ctr">
            <a:spAutoFit/>
          </a:bodyPr>
          <a:lstStyle/>
          <a:p>
            <a:pPr algn="l">
              <a:defRPr/>
            </a:pPr>
            <a:r>
              <a:rPr sz="800" b="0">
                <a:solidFill>
                  <a:srgbClr val="66717C"/>
                </a:solidFill>
                <a:latin typeface="Noto Sans CJK KR"/>
              </a:rPr>
              <a:t>PPE Monitoring AI Hardware Accelerator | KV260</a:t>
            </a:r>
          </a:p>
        </p:txBody>
      </p:sp>
      <p:sp>
        <p:nvSpPr>
          <p:cNvPr id="47" name="TextBox 46"/>
          <p:cNvSpPr txBox="1"/>
          <p:nvPr/>
        </p:nvSpPr>
        <p:spPr>
          <a:xfrm>
            <a:off x="11222355" y="6537960"/>
            <a:ext cx="481965" cy="213360"/>
          </a:xfrm>
          <a:prstGeom prst="rect">
            <a:avLst/>
          </a:prstGeom>
          <a:noFill/>
        </p:spPr>
        <p:txBody>
          <a:bodyPr wrap="none" lIns="45720" rIns="45720" anchor="ctr">
            <a:spAutoFit/>
          </a:bodyPr>
          <a:lstStyle/>
          <a:p>
            <a:pPr algn="r">
              <a:defRPr/>
            </a:pPr>
            <a:r>
              <a:rPr sz="800" b="1">
                <a:solidFill>
                  <a:srgbClr val="236CB4"/>
                </a:solidFill>
                <a:latin typeface="Noto Sans CJK KR"/>
              </a:rPr>
              <a:t>B TEAM</a:t>
            </a:r>
          </a:p>
        </p:txBody>
      </p:sp>
    </p:spTree>
    <p:extLst>
      <p:ext uri="{BB962C8B-B14F-4D97-AF65-F5344CB8AC3E}">
        <p14:creationId xmlns:p14="http://schemas.microsoft.com/office/powerpoint/2010/main" val="236745170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실제 개발 기록 — Vivado에서 Vitis/XSCT까지</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Timing·DRC·Bitstream을 확인한 뒤 KV260에 하드웨어와 ELF를 다운로드</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vivado_terminal.png"/>
          <p:cNvPicPr>
            <a:picLocks noChangeAspect="1"/>
          </p:cNvPicPr>
          <p:nvPr/>
        </p:nvPicPr>
        <p:blipFill>
          <a:blip r:embed="rId3"/>
          <a:stretch>
            <a:fillRect/>
          </a:stretch>
        </p:blipFill>
        <p:spPr>
          <a:xfrm>
            <a:off x="411480" y="1115568"/>
            <a:ext cx="5577840" cy="4526280"/>
          </a:xfrm>
          <a:prstGeom prst="rect">
            <a:avLst/>
          </a:prstGeom>
        </p:spPr>
      </p:pic>
      <p:pic>
        <p:nvPicPr>
          <p:cNvPr id="9" name="Picture 8" descr="vitis_terminal.png"/>
          <p:cNvPicPr>
            <a:picLocks noChangeAspect="1"/>
          </p:cNvPicPr>
          <p:nvPr/>
        </p:nvPicPr>
        <p:blipFill>
          <a:blip r:embed="rId4"/>
          <a:stretch>
            <a:fillRect/>
          </a:stretch>
        </p:blipFill>
        <p:spPr>
          <a:xfrm>
            <a:off x="6199632" y="1115568"/>
            <a:ext cx="5577840" cy="4526280"/>
          </a:xfrm>
          <a:prstGeom prst="rect">
            <a:avLst/>
          </a:prstGeom>
        </p:spPr>
      </p:pic>
      <p:sp>
        <p:nvSpPr>
          <p:cNvPr id="10" name="Rounded Rectangle 9"/>
          <p:cNvSpPr/>
          <p:nvPr/>
        </p:nvSpPr>
        <p:spPr>
          <a:xfrm>
            <a:off x="658368" y="5806440"/>
            <a:ext cx="265176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5806440"/>
            <a:ext cx="2560320" cy="411480"/>
          </a:xfrm>
          <a:prstGeom prst="rect">
            <a:avLst/>
          </a:prstGeom>
          <a:noFill/>
        </p:spPr>
        <p:txBody>
          <a:bodyPr wrap="none" lIns="45720" rIns="45720" anchor="ctr">
            <a:spAutoFit/>
          </a:bodyPr>
          <a:lstStyle/>
          <a:p>
            <a:pPr algn="ctr"/>
            <a:r>
              <a:rPr sz="1100" b="1">
                <a:solidFill>
                  <a:srgbClr val="FFFFFF"/>
                </a:solidFill>
                <a:latin typeface="Noto Sans CJK KR"/>
              </a:rPr>
              <a:t>Vivado  |  WNS +0.220 ns</a:t>
            </a:r>
          </a:p>
        </p:txBody>
      </p:sp>
      <p:sp>
        <p:nvSpPr>
          <p:cNvPr id="12" name="Rounded Rectangle 11"/>
          <p:cNvSpPr/>
          <p:nvPr/>
        </p:nvSpPr>
        <p:spPr>
          <a:xfrm>
            <a:off x="3502152" y="5806440"/>
            <a:ext cx="224028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47872" y="5806440"/>
            <a:ext cx="2148840" cy="411480"/>
          </a:xfrm>
          <a:prstGeom prst="rect">
            <a:avLst/>
          </a:prstGeom>
          <a:noFill/>
        </p:spPr>
        <p:txBody>
          <a:bodyPr wrap="none" lIns="45720" rIns="45720" anchor="ctr">
            <a:spAutoFit/>
          </a:bodyPr>
          <a:lstStyle/>
          <a:p>
            <a:pPr algn="ctr"/>
            <a:r>
              <a:rPr sz="1100" b="1">
                <a:solidFill>
                  <a:srgbClr val="FFFFFF"/>
                </a:solidFill>
                <a:latin typeface="Noto Sans CJK KR"/>
              </a:rPr>
              <a:t>DRC Error 0</a:t>
            </a:r>
          </a:p>
        </p:txBody>
      </p:sp>
      <p:sp>
        <p:nvSpPr>
          <p:cNvPr id="14" name="Rounded Rectangle 13"/>
          <p:cNvSpPr/>
          <p:nvPr/>
        </p:nvSpPr>
        <p:spPr>
          <a:xfrm>
            <a:off x="6446520" y="5806440"/>
            <a:ext cx="237744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92240" y="5806440"/>
            <a:ext cx="2286000" cy="411480"/>
          </a:xfrm>
          <a:prstGeom prst="rect">
            <a:avLst/>
          </a:prstGeom>
          <a:noFill/>
        </p:spPr>
        <p:txBody>
          <a:bodyPr wrap="none" lIns="45720" rIns="45720" anchor="ctr">
            <a:spAutoFit/>
          </a:bodyPr>
          <a:lstStyle/>
          <a:p>
            <a:pPr algn="ctr"/>
            <a:r>
              <a:rPr sz="1100" b="1">
                <a:solidFill>
                  <a:srgbClr val="FFFFFF"/>
                </a:solidFill>
                <a:latin typeface="Noto Sans CJK KR"/>
              </a:rPr>
              <a:t>Vitis  |  ELF Build</a:t>
            </a:r>
          </a:p>
        </p:txBody>
      </p:sp>
      <p:sp>
        <p:nvSpPr>
          <p:cNvPr id="16" name="Rounded Rectangle 15"/>
          <p:cNvSpPr/>
          <p:nvPr/>
        </p:nvSpPr>
        <p:spPr>
          <a:xfrm>
            <a:off x="9015984" y="5806440"/>
            <a:ext cx="2487168" cy="411480"/>
          </a:xfrm>
          <a:prstGeom prst="roundRect">
            <a:avLst/>
          </a:prstGeom>
          <a:solidFill>
            <a:srgbClr val="0E1F35"/>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61704" y="5806440"/>
            <a:ext cx="2395728" cy="411480"/>
          </a:xfrm>
          <a:prstGeom prst="rect">
            <a:avLst/>
          </a:prstGeom>
          <a:noFill/>
        </p:spPr>
        <p:txBody>
          <a:bodyPr wrap="none" lIns="45720" rIns="45720" anchor="ctr">
            <a:spAutoFit/>
          </a:bodyPr>
          <a:lstStyle/>
          <a:p>
            <a:pPr algn="ctr"/>
            <a:r>
              <a:rPr sz="1100" b="1">
                <a:solidFill>
                  <a:srgbClr val="FFFFFF"/>
                </a:solidFill>
                <a:latin typeface="Noto Sans CJK KR"/>
              </a:rPr>
              <a:t>XSCT  |  Board Download</a:t>
            </a:r>
          </a:p>
        </p:txBody>
      </p:sp>
      <p:sp>
        <p:nvSpPr>
          <p:cNvPr id="18" name="TextBox 17"/>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19" name="TextBox 18"/>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05</a:t>
            </a:r>
          </a:p>
        </p:txBody>
      </p:sp>
      <p:sp>
        <p:nvSpPr>
          <p:cNvPr id="3" name="Rounded Rectangle 2"/>
          <p:cNvSpPr/>
          <p:nvPr/>
        </p:nvSpPr>
        <p:spPr>
          <a:xfrm>
            <a:off x="411480" y="164592"/>
            <a:ext cx="502920" cy="411480"/>
          </a:xfrm>
          <a:prstGeom prst="roundRect">
            <a:avLst>
              <a:gd name="adj" fmla="val 16667"/>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 name="TextBox 3"/>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05</a:t>
            </a:r>
          </a:p>
        </p:txBody>
      </p:sp>
      <p:sp>
        <p:nvSpPr>
          <p:cNvPr id="5" name="TextBox 4"/>
          <p:cNvSpPr txBox="1"/>
          <p:nvPr/>
        </p:nvSpPr>
        <p:spPr>
          <a:xfrm>
            <a:off x="1051560" y="109728"/>
            <a:ext cx="8033385" cy="502920"/>
          </a:xfrm>
          <a:prstGeom prst="rect">
            <a:avLst/>
          </a:prstGeom>
          <a:noFill/>
        </p:spPr>
        <p:txBody>
          <a:bodyPr wrap="none" lIns="45720" rIns="45720" anchor="ctr">
            <a:spAutoFit/>
          </a:bodyPr>
          <a:lstStyle/>
          <a:p>
            <a:pPr algn="l">
              <a:defRPr/>
            </a:pPr>
            <a:r>
              <a:rPr sz="2700" b="1">
                <a:solidFill>
                  <a:srgbClr val="0E1F35"/>
                </a:solidFill>
                <a:latin typeface="Noto Sans CJK KR"/>
              </a:rPr>
              <a:t>KV260 보드 검증 — 직접 확인 범위와 팀 최종 목표</a:t>
            </a:r>
          </a:p>
        </p:txBody>
      </p:sp>
      <p:sp>
        <p:nvSpPr>
          <p:cNvPr id="6" name="TextBox 5"/>
          <p:cNvSpPr txBox="1"/>
          <p:nvPr/>
        </p:nvSpPr>
        <p:spPr>
          <a:xfrm>
            <a:off x="1069848" y="592455"/>
            <a:ext cx="3519297" cy="267081"/>
          </a:xfrm>
          <a:prstGeom prst="rect">
            <a:avLst/>
          </a:prstGeom>
          <a:noFill/>
        </p:spPr>
        <p:txBody>
          <a:bodyPr wrap="none" lIns="45720" rIns="45720" anchor="ctr">
            <a:spAutoFit/>
          </a:bodyPr>
          <a:lstStyle/>
          <a:p>
            <a:pPr algn="l">
              <a:defRPr/>
            </a:pPr>
            <a:r>
              <a:rPr sz="1100" b="0">
                <a:solidFill>
                  <a:srgbClr val="66717C"/>
                </a:solidFill>
                <a:latin typeface="Noto Sans CJK KR"/>
              </a:rPr>
              <a:t>개인 검증과 팀 공동 파이프라인 결과를 구분하여 기록</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pic>
        <p:nvPicPr>
          <p:cNvPr id="8" name="Picture 7" descr="kv260_terminal.png"/>
          <p:cNvPicPr>
            <a:picLocks noChangeAspect="1"/>
          </p:cNvPicPr>
          <p:nvPr/>
        </p:nvPicPr>
        <p:blipFill rotWithShape="1">
          <a:blip r:embed="rId3"/>
          <a:stretch>
            <a:fillRect/>
          </a:stretch>
        </p:blipFill>
        <p:spPr>
          <a:xfrm>
            <a:off x="411480" y="1078992"/>
            <a:ext cx="5532120" cy="4297680"/>
          </a:xfrm>
          <a:prstGeom prst="rect">
            <a:avLst/>
          </a:prstGeom>
        </p:spPr>
      </p:pic>
      <p:sp>
        <p:nvSpPr>
          <p:cNvPr id="13" name="Rounded Rectangle 12"/>
          <p:cNvSpPr/>
          <p:nvPr/>
        </p:nvSpPr>
        <p:spPr>
          <a:xfrm>
            <a:off x="438912" y="5596128"/>
            <a:ext cx="2724912" cy="658368"/>
          </a:xfrm>
          <a:prstGeom prst="roundRect">
            <a:avLst>
              <a:gd name="adj" fmla="val 16667"/>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4" name="TextBox 13"/>
          <p:cNvSpPr txBox="1"/>
          <p:nvPr/>
        </p:nvSpPr>
        <p:spPr>
          <a:xfrm>
            <a:off x="548640" y="5650992"/>
            <a:ext cx="563880" cy="228600"/>
          </a:xfrm>
          <a:prstGeom prst="rect">
            <a:avLst/>
          </a:prstGeom>
          <a:noFill/>
        </p:spPr>
        <p:txBody>
          <a:bodyPr wrap="none" lIns="45720" rIns="45720" anchor="ctr">
            <a:spAutoFit/>
          </a:bodyPr>
          <a:lstStyle/>
          <a:p>
            <a:pPr algn="l">
              <a:defRPr/>
            </a:pPr>
            <a:r>
              <a:rPr sz="900" b="1">
                <a:solidFill>
                  <a:srgbClr val="236CB4"/>
                </a:solidFill>
                <a:latin typeface="Noto Sans CJK KR"/>
              </a:rPr>
              <a:t>Webcam</a:t>
            </a:r>
          </a:p>
        </p:txBody>
      </p:sp>
      <p:sp>
        <p:nvSpPr>
          <p:cNvPr id="15" name="TextBox 14"/>
          <p:cNvSpPr txBox="1"/>
          <p:nvPr/>
        </p:nvSpPr>
        <p:spPr>
          <a:xfrm>
            <a:off x="1621155" y="5688330"/>
            <a:ext cx="1053465" cy="262890"/>
          </a:xfrm>
          <a:prstGeom prst="rect">
            <a:avLst/>
          </a:prstGeom>
          <a:noFill/>
        </p:spPr>
        <p:txBody>
          <a:bodyPr wrap="none" lIns="45720" rIns="45720" anchor="ctr">
            <a:spAutoFit/>
          </a:bodyPr>
          <a:lstStyle/>
          <a:p>
            <a:pPr algn="ctr">
              <a:defRPr/>
            </a:pPr>
            <a:r>
              <a:rPr sz="1100" b="1">
                <a:solidFill>
                  <a:srgbClr val="0E1F35"/>
                </a:solidFill>
                <a:latin typeface="Noto Sans CJK KR"/>
              </a:rPr>
              <a:t>Logitech C270</a:t>
            </a:r>
          </a:p>
        </p:txBody>
      </p:sp>
      <p:sp>
        <p:nvSpPr>
          <p:cNvPr id="16" name="Rounded Rectangle 15"/>
          <p:cNvSpPr/>
          <p:nvPr/>
        </p:nvSpPr>
        <p:spPr>
          <a:xfrm>
            <a:off x="3273552" y="5596128"/>
            <a:ext cx="2724912" cy="658368"/>
          </a:xfrm>
          <a:prstGeom prst="roundRect">
            <a:avLst>
              <a:gd name="adj" fmla="val 16667"/>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7" name="TextBox 16"/>
          <p:cNvSpPr txBox="1"/>
          <p:nvPr/>
        </p:nvSpPr>
        <p:spPr>
          <a:xfrm>
            <a:off x="3383280" y="5650992"/>
            <a:ext cx="729615" cy="228600"/>
          </a:xfrm>
          <a:prstGeom prst="rect">
            <a:avLst/>
          </a:prstGeom>
          <a:noFill/>
        </p:spPr>
        <p:txBody>
          <a:bodyPr wrap="none" lIns="45720" rIns="45720" anchor="ctr">
            <a:spAutoFit/>
          </a:bodyPr>
          <a:lstStyle/>
          <a:p>
            <a:pPr algn="l">
              <a:defRPr/>
            </a:pPr>
            <a:r>
              <a:rPr sz="900" b="1">
                <a:solidFill>
                  <a:srgbClr val="21AABE"/>
                </a:solidFill>
                <a:latin typeface="Noto Sans CJK KR"/>
              </a:rPr>
              <a:t>Video Node</a:t>
            </a:r>
          </a:p>
        </p:txBody>
      </p:sp>
      <p:sp>
        <p:nvSpPr>
          <p:cNvPr id="18" name="TextBox 17"/>
          <p:cNvSpPr txBox="1"/>
          <p:nvPr/>
        </p:nvSpPr>
        <p:spPr>
          <a:xfrm>
            <a:off x="4488180" y="5688330"/>
            <a:ext cx="977265" cy="262890"/>
          </a:xfrm>
          <a:prstGeom prst="rect">
            <a:avLst/>
          </a:prstGeom>
          <a:noFill/>
        </p:spPr>
        <p:txBody>
          <a:bodyPr wrap="none" lIns="45720" rIns="45720" anchor="ctr">
            <a:spAutoFit/>
          </a:bodyPr>
          <a:lstStyle/>
          <a:p>
            <a:pPr algn="ctr">
              <a:defRPr/>
            </a:pPr>
            <a:r>
              <a:rPr sz="1100" b="1">
                <a:solidFill>
                  <a:srgbClr val="0E1F35"/>
                </a:solidFill>
                <a:latin typeface="Noto Sans CJK KR"/>
              </a:rPr>
              <a:t>/dev/video0·1</a:t>
            </a:r>
          </a:p>
        </p:txBody>
      </p:sp>
      <p:sp>
        <p:nvSpPr>
          <p:cNvPr id="19" name="Rounded Rectangle 18"/>
          <p:cNvSpPr/>
          <p:nvPr/>
        </p:nvSpPr>
        <p:spPr>
          <a:xfrm>
            <a:off x="6108192" y="5596128"/>
            <a:ext cx="2724912" cy="658368"/>
          </a:xfrm>
          <a:prstGeom prst="roundRect">
            <a:avLst>
              <a:gd name="adj" fmla="val 16667"/>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0" name="TextBox 19"/>
          <p:cNvSpPr txBox="1"/>
          <p:nvPr/>
        </p:nvSpPr>
        <p:spPr>
          <a:xfrm>
            <a:off x="6217920" y="5650992"/>
            <a:ext cx="514350" cy="228600"/>
          </a:xfrm>
          <a:prstGeom prst="rect">
            <a:avLst/>
          </a:prstGeom>
          <a:noFill/>
        </p:spPr>
        <p:txBody>
          <a:bodyPr wrap="none" lIns="45720" rIns="45720" anchor="ctr">
            <a:spAutoFit/>
          </a:bodyPr>
          <a:lstStyle/>
          <a:p>
            <a:pPr algn="l">
              <a:defRPr/>
            </a:pPr>
            <a:r>
              <a:rPr sz="900" b="1">
                <a:solidFill>
                  <a:srgbClr val="329C69"/>
                </a:solidFill>
                <a:latin typeface="Noto Sans CJK KR"/>
              </a:rPr>
              <a:t>Overlay</a:t>
            </a:r>
          </a:p>
        </p:txBody>
      </p:sp>
      <p:sp>
        <p:nvSpPr>
          <p:cNvPr id="21" name="TextBox 20"/>
          <p:cNvSpPr txBox="1"/>
          <p:nvPr/>
        </p:nvSpPr>
        <p:spPr>
          <a:xfrm>
            <a:off x="7279005" y="5688330"/>
            <a:ext cx="1072515" cy="262890"/>
          </a:xfrm>
          <a:prstGeom prst="rect">
            <a:avLst/>
          </a:prstGeom>
          <a:noFill/>
        </p:spPr>
        <p:txBody>
          <a:bodyPr wrap="none" lIns="45720" rIns="45720" anchor="ctr">
            <a:spAutoFit/>
          </a:bodyPr>
          <a:lstStyle/>
          <a:p>
            <a:pPr algn="ctr">
              <a:defRPr/>
            </a:pPr>
            <a:r>
              <a:rPr sz="1100" b="1">
                <a:solidFill>
                  <a:srgbClr val="0E1F35"/>
                </a:solidFill>
                <a:latin typeface="Noto Sans CJK KR"/>
              </a:rPr>
              <a:t>LOADED: True</a:t>
            </a:r>
          </a:p>
        </p:txBody>
      </p:sp>
      <p:sp>
        <p:nvSpPr>
          <p:cNvPr id="22" name="Rounded Rectangle 21"/>
          <p:cNvSpPr/>
          <p:nvPr/>
        </p:nvSpPr>
        <p:spPr>
          <a:xfrm>
            <a:off x="8942832" y="5596128"/>
            <a:ext cx="2724912" cy="658368"/>
          </a:xfrm>
          <a:prstGeom prst="roundRect">
            <a:avLst>
              <a:gd name="adj" fmla="val 16667"/>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3" name="TextBox 22"/>
          <p:cNvSpPr txBox="1"/>
          <p:nvPr/>
        </p:nvSpPr>
        <p:spPr>
          <a:xfrm>
            <a:off x="9052559" y="5650992"/>
            <a:ext cx="565786" cy="228600"/>
          </a:xfrm>
          <a:prstGeom prst="rect">
            <a:avLst/>
          </a:prstGeom>
          <a:noFill/>
        </p:spPr>
        <p:txBody>
          <a:bodyPr wrap="none" lIns="45720" rIns="45720" anchor="ctr">
            <a:spAutoFit/>
          </a:bodyPr>
          <a:lstStyle/>
          <a:p>
            <a:pPr algn="l">
              <a:defRPr/>
            </a:pPr>
            <a:r>
              <a:rPr sz="900" b="1">
                <a:solidFill>
                  <a:srgbClr val="EB8B36"/>
                </a:solidFill>
                <a:latin typeface="Noto Sans CJK KR"/>
              </a:rPr>
              <a:t>PYNQ IP</a:t>
            </a:r>
          </a:p>
        </p:txBody>
      </p:sp>
      <p:sp>
        <p:nvSpPr>
          <p:cNvPr id="24" name="TextBox 23"/>
          <p:cNvSpPr txBox="1"/>
          <p:nvPr/>
        </p:nvSpPr>
        <p:spPr>
          <a:xfrm>
            <a:off x="10174605" y="5688330"/>
            <a:ext cx="948689" cy="262890"/>
          </a:xfrm>
          <a:prstGeom prst="rect">
            <a:avLst/>
          </a:prstGeom>
          <a:noFill/>
        </p:spPr>
        <p:txBody>
          <a:bodyPr wrap="none" lIns="45720" rIns="45720" anchor="ctr">
            <a:spAutoFit/>
          </a:bodyPr>
          <a:lstStyle/>
          <a:p>
            <a:pPr algn="ctr">
              <a:defRPr/>
            </a:pPr>
            <a:r>
              <a:rPr sz="1100" b="1">
                <a:solidFill>
                  <a:srgbClr val="0E1F35"/>
                </a:solidFill>
                <a:latin typeface="Noto Sans CJK KR"/>
              </a:rPr>
              <a:t>model6_dma</a:t>
            </a:r>
          </a:p>
        </p:txBody>
      </p:sp>
      <p:sp>
        <p:nvSpPr>
          <p:cNvPr id="25" name="TextBox 24"/>
          <p:cNvSpPr txBox="1"/>
          <p:nvPr/>
        </p:nvSpPr>
        <p:spPr>
          <a:xfrm>
            <a:off x="438912" y="6555105"/>
            <a:ext cx="2330958" cy="215265"/>
          </a:xfrm>
          <a:prstGeom prst="rect">
            <a:avLst/>
          </a:prstGeom>
          <a:noFill/>
        </p:spPr>
        <p:txBody>
          <a:bodyPr wrap="none" lIns="45720" rIns="45720" anchor="ctr">
            <a:spAutoFit/>
          </a:bodyPr>
          <a:lstStyle/>
          <a:p>
            <a:pPr algn="l">
              <a:defRPr/>
            </a:pPr>
            <a:r>
              <a:rPr sz="800" b="0">
                <a:solidFill>
                  <a:srgbClr val="66717C"/>
                </a:solidFill>
                <a:latin typeface="Noto Sans CJK KR"/>
              </a:rPr>
              <a:t>PPE Monitoring AI Hardware Accelerator | KV260</a:t>
            </a:r>
          </a:p>
        </p:txBody>
      </p:sp>
      <p:sp>
        <p:nvSpPr>
          <p:cNvPr id="26" name="TextBox 25"/>
          <p:cNvSpPr txBox="1"/>
          <p:nvPr/>
        </p:nvSpPr>
        <p:spPr>
          <a:xfrm>
            <a:off x="11222355" y="6537960"/>
            <a:ext cx="481965" cy="213360"/>
          </a:xfrm>
          <a:prstGeom prst="rect">
            <a:avLst/>
          </a:prstGeom>
          <a:noFill/>
        </p:spPr>
        <p:txBody>
          <a:bodyPr wrap="none" lIns="45720" rIns="45720" anchor="ctr">
            <a:spAutoFit/>
          </a:bodyPr>
          <a:lstStyle/>
          <a:p>
            <a:pPr algn="r">
              <a:defRPr/>
            </a:pPr>
            <a:r>
              <a:rPr sz="800" b="1">
                <a:solidFill>
                  <a:srgbClr val="236CB4"/>
                </a:solidFill>
                <a:latin typeface="Noto Sans CJK KR"/>
              </a:rPr>
              <a:t>B TEAM</a:t>
            </a:r>
          </a:p>
        </p:txBody>
      </p:sp>
      <p:pic>
        <p:nvPicPr>
          <p:cNvPr id="27" name="그림 26"/>
          <p:cNvPicPr>
            <a:picLocks noChangeAspect="1"/>
          </p:cNvPicPr>
          <p:nvPr/>
        </p:nvPicPr>
        <p:blipFill rotWithShape="1">
          <a:blip r:embed="rId4"/>
          <a:stretch>
            <a:fillRect/>
          </a:stretch>
        </p:blipFill>
        <p:spPr>
          <a:xfrm>
            <a:off x="5951249" y="1078992"/>
            <a:ext cx="5763710" cy="4297680"/>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06</a:t>
            </a:r>
          </a:p>
        </p:txBody>
      </p:sp>
      <p:sp>
        <p:nvSpPr>
          <p:cNvPr id="3" name="Rounded Rectangle 2"/>
          <p:cNvSpPr/>
          <p:nvPr/>
        </p:nvSpPr>
        <p:spPr>
          <a:xfrm>
            <a:off x="411480" y="164592"/>
            <a:ext cx="502920" cy="411480"/>
          </a:xfrm>
          <a:prstGeom prst="roundRect">
            <a:avLst>
              <a:gd name="adj" fmla="val 16667"/>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 name="TextBox 3"/>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06</a:t>
            </a:r>
          </a:p>
        </p:txBody>
      </p:sp>
      <p:sp>
        <p:nvSpPr>
          <p:cNvPr id="5" name="TextBox 4"/>
          <p:cNvSpPr txBox="1"/>
          <p:nvPr/>
        </p:nvSpPr>
        <p:spPr>
          <a:xfrm>
            <a:off x="1051560" y="109728"/>
            <a:ext cx="4547235" cy="502920"/>
          </a:xfrm>
          <a:prstGeom prst="rect">
            <a:avLst/>
          </a:prstGeom>
          <a:noFill/>
        </p:spPr>
        <p:txBody>
          <a:bodyPr wrap="none" lIns="45720" rIns="45720" anchor="ctr">
            <a:spAutoFit/>
          </a:bodyPr>
          <a:lstStyle/>
          <a:p>
            <a:pPr algn="l">
              <a:defRPr/>
            </a:pPr>
            <a:r>
              <a:rPr sz="2700" b="1">
                <a:solidFill>
                  <a:srgbClr val="0E1F35"/>
                </a:solidFill>
                <a:latin typeface="Noto Sans CJK KR"/>
              </a:rPr>
              <a:t>성과, 한계, 그리고 다음 단계</a:t>
            </a:r>
          </a:p>
        </p:txBody>
      </p:sp>
      <p:sp>
        <p:nvSpPr>
          <p:cNvPr id="6" name="TextBox 5"/>
          <p:cNvSpPr txBox="1"/>
          <p:nvPr/>
        </p:nvSpPr>
        <p:spPr>
          <a:xfrm>
            <a:off x="1069848" y="592455"/>
            <a:ext cx="4624197" cy="267081"/>
          </a:xfrm>
          <a:prstGeom prst="rect">
            <a:avLst/>
          </a:prstGeom>
          <a:noFill/>
        </p:spPr>
        <p:txBody>
          <a:bodyPr wrap="none" lIns="45720" rIns="45720" anchor="ctr">
            <a:spAutoFit/>
          </a:bodyPr>
          <a:lstStyle/>
          <a:p>
            <a:pPr algn="l">
              <a:defRPr/>
            </a:pPr>
            <a:r>
              <a:rPr sz="1100" b="0">
                <a:solidFill>
                  <a:srgbClr val="66717C"/>
                </a:solidFill>
                <a:latin typeface="Noto Sans CJK KR"/>
              </a:rPr>
              <a:t>단일 IP의 속도보다 전체 연산 범위와 데이터 이동이 시스템 성능을 결정</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8" name="Rounded Rectangle 7"/>
          <p:cNvSpPr/>
          <p:nvPr/>
        </p:nvSpPr>
        <p:spPr>
          <a:xfrm>
            <a:off x="438912" y="1234440"/>
            <a:ext cx="3529584" cy="3886200"/>
          </a:xfrm>
          <a:prstGeom prst="roundRect">
            <a:avLst>
              <a:gd name="adj" fmla="val 16667"/>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9" name="Rounded Rectangle 8"/>
          <p:cNvSpPr/>
          <p:nvPr/>
        </p:nvSpPr>
        <p:spPr>
          <a:xfrm>
            <a:off x="603503" y="1417320"/>
            <a:ext cx="3200400" cy="411480"/>
          </a:xfrm>
          <a:prstGeom prst="roundRect">
            <a:avLst>
              <a:gd name="adj" fmla="val 16667"/>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0" name="TextBox 9"/>
          <p:cNvSpPr txBox="1"/>
          <p:nvPr/>
        </p:nvSpPr>
        <p:spPr>
          <a:xfrm>
            <a:off x="1678305" y="1487805"/>
            <a:ext cx="1034415" cy="262890"/>
          </a:xfrm>
          <a:prstGeom prst="rect">
            <a:avLst/>
          </a:prstGeom>
          <a:noFill/>
        </p:spPr>
        <p:txBody>
          <a:bodyPr wrap="none" lIns="45720" rIns="45720" anchor="ctr">
            <a:spAutoFit/>
          </a:bodyPr>
          <a:lstStyle/>
          <a:p>
            <a:pPr algn="ctr">
              <a:defRPr/>
            </a:pPr>
            <a:r>
              <a:rPr sz="1100" b="1">
                <a:solidFill>
                  <a:srgbClr val="FFFFFF"/>
                </a:solidFill>
                <a:latin typeface="Noto Sans CJK KR"/>
              </a:rPr>
              <a:t>나의 확인 성과</a:t>
            </a:r>
          </a:p>
        </p:txBody>
      </p:sp>
      <p:sp>
        <p:nvSpPr>
          <p:cNvPr id="11" name="TextBox 10"/>
          <p:cNvSpPr txBox="1"/>
          <p:nvPr/>
        </p:nvSpPr>
        <p:spPr>
          <a:xfrm>
            <a:off x="731519" y="2145030"/>
            <a:ext cx="1628776" cy="272415"/>
          </a:xfrm>
          <a:prstGeom prst="rect">
            <a:avLst/>
          </a:prstGeom>
          <a:noFill/>
        </p:spPr>
        <p:txBody>
          <a:bodyPr wrap="none" lIns="45720" rIns="45720" anchor="ctr">
            <a:spAutoFit/>
          </a:bodyPr>
          <a:lstStyle/>
          <a:p>
            <a:pPr algn="l">
              <a:defRPr/>
            </a:pPr>
            <a:r>
              <a:rPr sz="1200" b="0">
                <a:solidFill>
                  <a:srgbClr val="27303B"/>
                </a:solidFill>
                <a:latin typeface="Noto Sans CJK KR"/>
              </a:rPr>
              <a:t>✓ model.6 IP/BD 통합</a:t>
            </a:r>
          </a:p>
        </p:txBody>
      </p:sp>
      <p:sp>
        <p:nvSpPr>
          <p:cNvPr id="12" name="TextBox 11"/>
          <p:cNvSpPr txBox="1"/>
          <p:nvPr/>
        </p:nvSpPr>
        <p:spPr>
          <a:xfrm>
            <a:off x="731520" y="2773680"/>
            <a:ext cx="1743075" cy="272415"/>
          </a:xfrm>
          <a:prstGeom prst="rect">
            <a:avLst/>
          </a:prstGeom>
          <a:noFill/>
        </p:spPr>
        <p:txBody>
          <a:bodyPr wrap="none" lIns="45720" rIns="45720" anchor="ctr">
            <a:spAutoFit/>
          </a:bodyPr>
          <a:lstStyle/>
          <a:p>
            <a:pPr algn="l">
              <a:defRPr/>
            </a:pPr>
            <a:r>
              <a:rPr sz="1200" b="0">
                <a:solidFill>
                  <a:srgbClr val="27303B"/>
                </a:solidFill>
                <a:latin typeface="Noto Sans CJK KR"/>
              </a:rPr>
              <a:t>✓ 100 MHz Timing 만족</a:t>
            </a:r>
          </a:p>
        </p:txBody>
      </p:sp>
      <p:sp>
        <p:nvSpPr>
          <p:cNvPr id="13" name="TextBox 12"/>
          <p:cNvSpPr txBox="1"/>
          <p:nvPr/>
        </p:nvSpPr>
        <p:spPr>
          <a:xfrm>
            <a:off x="731519" y="3392805"/>
            <a:ext cx="1638300" cy="272415"/>
          </a:xfrm>
          <a:prstGeom prst="rect">
            <a:avLst/>
          </a:prstGeom>
          <a:noFill/>
        </p:spPr>
        <p:txBody>
          <a:bodyPr wrap="none" lIns="45720" rIns="45720" anchor="ctr">
            <a:spAutoFit/>
          </a:bodyPr>
          <a:lstStyle/>
          <a:p>
            <a:pPr algn="l">
              <a:defRPr/>
            </a:pPr>
            <a:r>
              <a:rPr sz="1200" b="0">
                <a:solidFill>
                  <a:srgbClr val="27303B"/>
                </a:solidFill>
                <a:latin typeface="Noto Sans CJK KR"/>
              </a:rPr>
              <a:t>✓ Bitstream·XSA 생성</a:t>
            </a:r>
          </a:p>
        </p:txBody>
      </p:sp>
      <p:sp>
        <p:nvSpPr>
          <p:cNvPr id="14" name="TextBox 13"/>
          <p:cNvSpPr txBox="1"/>
          <p:nvPr/>
        </p:nvSpPr>
        <p:spPr>
          <a:xfrm>
            <a:off x="731520" y="4011930"/>
            <a:ext cx="1666875" cy="272415"/>
          </a:xfrm>
          <a:prstGeom prst="rect">
            <a:avLst/>
          </a:prstGeom>
          <a:noFill/>
        </p:spPr>
        <p:txBody>
          <a:bodyPr wrap="none" lIns="45720" rIns="45720" anchor="ctr">
            <a:spAutoFit/>
          </a:bodyPr>
          <a:lstStyle/>
          <a:p>
            <a:pPr algn="l">
              <a:defRPr/>
            </a:pPr>
            <a:r>
              <a:rPr sz="1200" b="0">
                <a:solidFill>
                  <a:srgbClr val="27303B"/>
                </a:solidFill>
                <a:latin typeface="Noto Sans CJK KR"/>
              </a:rPr>
              <a:t>✓ KV260 Overlay 로딩</a:t>
            </a:r>
          </a:p>
        </p:txBody>
      </p:sp>
      <p:sp>
        <p:nvSpPr>
          <p:cNvPr id="15" name="Rounded Rectangle 14"/>
          <p:cNvSpPr/>
          <p:nvPr/>
        </p:nvSpPr>
        <p:spPr>
          <a:xfrm>
            <a:off x="4325112" y="1234440"/>
            <a:ext cx="3529584" cy="3886200"/>
          </a:xfrm>
          <a:prstGeom prst="roundRect">
            <a:avLst>
              <a:gd name="adj" fmla="val 16667"/>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6" name="Rounded Rectangle 15"/>
          <p:cNvSpPr/>
          <p:nvPr/>
        </p:nvSpPr>
        <p:spPr>
          <a:xfrm>
            <a:off x="4489704" y="1417320"/>
            <a:ext cx="3200400" cy="411480"/>
          </a:xfrm>
          <a:prstGeom prst="roundRect">
            <a:avLst>
              <a:gd name="adj" fmla="val 16667"/>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7" name="TextBox 16"/>
          <p:cNvSpPr txBox="1"/>
          <p:nvPr/>
        </p:nvSpPr>
        <p:spPr>
          <a:xfrm>
            <a:off x="5726430" y="1487805"/>
            <a:ext cx="701040" cy="262890"/>
          </a:xfrm>
          <a:prstGeom prst="rect">
            <a:avLst/>
          </a:prstGeom>
          <a:noFill/>
        </p:spPr>
        <p:txBody>
          <a:bodyPr wrap="none" lIns="45720" rIns="45720" anchor="ctr">
            <a:spAutoFit/>
          </a:bodyPr>
          <a:lstStyle/>
          <a:p>
            <a:pPr algn="ctr">
              <a:defRPr/>
            </a:pPr>
            <a:r>
              <a:rPr sz="1100" b="1">
                <a:solidFill>
                  <a:srgbClr val="FFFFFF"/>
                </a:solidFill>
                <a:latin typeface="Noto Sans CJK KR"/>
              </a:rPr>
              <a:t>현재 한계</a:t>
            </a:r>
          </a:p>
        </p:txBody>
      </p:sp>
      <p:sp>
        <p:nvSpPr>
          <p:cNvPr id="18" name="TextBox 17"/>
          <p:cNvSpPr txBox="1"/>
          <p:nvPr/>
        </p:nvSpPr>
        <p:spPr>
          <a:xfrm>
            <a:off x="4771072" y="2145030"/>
            <a:ext cx="2018348" cy="272415"/>
          </a:xfrm>
          <a:prstGeom prst="rect">
            <a:avLst/>
          </a:prstGeom>
          <a:noFill/>
        </p:spPr>
        <p:txBody>
          <a:bodyPr wrap="none" lIns="45720" rIns="45720" anchor="ctr">
            <a:spAutoFit/>
          </a:bodyPr>
          <a:lstStyle/>
          <a:p>
            <a:pPr algn="ctr">
              <a:defRPr/>
            </a:pPr>
            <a:r>
              <a:rPr sz="1200" b="0">
                <a:solidFill>
                  <a:srgbClr val="27303B"/>
                </a:solidFill>
                <a:latin typeface="Noto Sans CJK KR"/>
              </a:rPr>
              <a:t>✓ 실시간 PPE 직접 재현 전</a:t>
            </a:r>
          </a:p>
        </p:txBody>
      </p:sp>
      <p:sp>
        <p:nvSpPr>
          <p:cNvPr id="19" name="TextBox 18"/>
          <p:cNvSpPr txBox="1"/>
          <p:nvPr/>
        </p:nvSpPr>
        <p:spPr>
          <a:xfrm>
            <a:off x="4771072" y="2773680"/>
            <a:ext cx="3025140" cy="272415"/>
          </a:xfrm>
          <a:prstGeom prst="rect">
            <a:avLst/>
          </a:prstGeom>
          <a:noFill/>
        </p:spPr>
        <p:txBody>
          <a:bodyPr wrap="none" lIns="45720" rIns="45720" anchor="ctr">
            <a:spAutoFit/>
          </a:bodyPr>
          <a:lstStyle/>
          <a:p>
            <a:pPr algn="ctr">
              <a:defRPr/>
            </a:pPr>
            <a:r>
              <a:rPr sz="1200" b="0">
                <a:solidFill>
                  <a:srgbClr val="27303B"/>
                </a:solidFill>
                <a:latin typeface="Noto Sans CJK KR"/>
              </a:rPr>
              <a:t>✓ DMA MMIO 대기 원인 </a:t>
            </a:r>
            <a:r>
              <a:rPr lang="ko-KR" altLang="en-US" sz="1200" b="0">
                <a:solidFill>
                  <a:srgbClr val="27303B"/>
                </a:solidFill>
                <a:latin typeface="Noto Sans CJK KR"/>
              </a:rPr>
              <a:t>완전히 해결 </a:t>
            </a:r>
            <a:r>
              <a:rPr sz="1200" b="0">
                <a:solidFill>
                  <a:srgbClr val="27303B"/>
                </a:solidFill>
                <a:latin typeface="Noto Sans CJK KR"/>
              </a:rPr>
              <a:t>필요</a:t>
            </a:r>
          </a:p>
        </p:txBody>
      </p:sp>
      <p:sp>
        <p:nvSpPr>
          <p:cNvPr id="21" name="TextBox 20"/>
          <p:cNvSpPr txBox="1"/>
          <p:nvPr/>
        </p:nvSpPr>
        <p:spPr>
          <a:xfrm>
            <a:off x="4771072" y="3429000"/>
            <a:ext cx="1846898" cy="272415"/>
          </a:xfrm>
          <a:prstGeom prst="rect">
            <a:avLst/>
          </a:prstGeom>
          <a:noFill/>
        </p:spPr>
        <p:txBody>
          <a:bodyPr wrap="none" lIns="45720" rIns="45720" anchor="ctr">
            <a:spAutoFit/>
          </a:bodyPr>
          <a:lstStyle/>
          <a:p>
            <a:pPr algn="ctr">
              <a:defRPr/>
            </a:pPr>
            <a:r>
              <a:rPr sz="1200" b="0">
                <a:solidFill>
                  <a:srgbClr val="27303B"/>
                </a:solidFill>
                <a:latin typeface="Noto Sans CJK KR"/>
              </a:rPr>
              <a:t>✓ CPU·DDR 병목 가능성</a:t>
            </a:r>
          </a:p>
        </p:txBody>
      </p:sp>
      <p:sp>
        <p:nvSpPr>
          <p:cNvPr id="22" name="Rounded Rectangle 21"/>
          <p:cNvSpPr/>
          <p:nvPr/>
        </p:nvSpPr>
        <p:spPr>
          <a:xfrm>
            <a:off x="8211312" y="1234440"/>
            <a:ext cx="3529584" cy="3886200"/>
          </a:xfrm>
          <a:prstGeom prst="roundRect">
            <a:avLst>
              <a:gd name="adj" fmla="val 16667"/>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3" name="Rounded Rectangle 22"/>
          <p:cNvSpPr/>
          <p:nvPr/>
        </p:nvSpPr>
        <p:spPr>
          <a:xfrm>
            <a:off x="8375904" y="1417320"/>
            <a:ext cx="3200400" cy="411480"/>
          </a:xfrm>
          <a:prstGeom prst="roundRect">
            <a:avLst>
              <a:gd name="adj" fmla="val 16667"/>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4" name="TextBox 23"/>
          <p:cNvSpPr txBox="1"/>
          <p:nvPr/>
        </p:nvSpPr>
        <p:spPr>
          <a:xfrm>
            <a:off x="9612630" y="1487805"/>
            <a:ext cx="701040" cy="262890"/>
          </a:xfrm>
          <a:prstGeom prst="rect">
            <a:avLst/>
          </a:prstGeom>
          <a:noFill/>
        </p:spPr>
        <p:txBody>
          <a:bodyPr wrap="none" lIns="45720" rIns="45720" anchor="ctr">
            <a:spAutoFit/>
          </a:bodyPr>
          <a:lstStyle/>
          <a:p>
            <a:pPr algn="ctr">
              <a:defRPr/>
            </a:pPr>
            <a:r>
              <a:rPr sz="1100" b="1">
                <a:solidFill>
                  <a:srgbClr val="FFFFFF"/>
                </a:solidFill>
                <a:latin typeface="Noto Sans CJK KR"/>
              </a:rPr>
              <a:t>다음 단계</a:t>
            </a:r>
          </a:p>
        </p:txBody>
      </p:sp>
      <p:sp>
        <p:nvSpPr>
          <p:cNvPr id="25" name="TextBox 24"/>
          <p:cNvSpPr txBox="1"/>
          <p:nvPr/>
        </p:nvSpPr>
        <p:spPr>
          <a:xfrm>
            <a:off x="8503920" y="2145030"/>
            <a:ext cx="3057525" cy="272415"/>
          </a:xfrm>
          <a:prstGeom prst="rect">
            <a:avLst/>
          </a:prstGeom>
          <a:noFill/>
        </p:spPr>
        <p:txBody>
          <a:bodyPr wrap="none" lIns="45720" rIns="45720" anchor="ctr">
            <a:spAutoFit/>
          </a:bodyPr>
          <a:lstStyle/>
          <a:p>
            <a:pPr algn="l">
              <a:defRPr/>
            </a:pPr>
            <a:r>
              <a:rPr sz="1200" b="0">
                <a:solidFill>
                  <a:srgbClr val="27303B"/>
                </a:solidFill>
                <a:latin typeface="Noto Sans CJK KR"/>
              </a:rPr>
              <a:t>✓ DMA 단독 Loopback</a:t>
            </a:r>
            <a:r>
              <a:rPr lang="ko-KR" altLang="en-US" sz="1200" b="0">
                <a:solidFill>
                  <a:srgbClr val="27303B"/>
                </a:solidFill>
                <a:latin typeface="Noto Sans CJK KR"/>
              </a:rPr>
              <a:t>으로 전송 경로 검증</a:t>
            </a:r>
          </a:p>
        </p:txBody>
      </p:sp>
      <p:sp>
        <p:nvSpPr>
          <p:cNvPr id="26" name="TextBox 25"/>
          <p:cNvSpPr txBox="1"/>
          <p:nvPr/>
        </p:nvSpPr>
        <p:spPr>
          <a:xfrm>
            <a:off x="8503920" y="2773680"/>
            <a:ext cx="2562225" cy="272415"/>
          </a:xfrm>
          <a:prstGeom prst="rect">
            <a:avLst/>
          </a:prstGeom>
          <a:noFill/>
        </p:spPr>
        <p:txBody>
          <a:bodyPr wrap="none" lIns="45720" rIns="45720" anchor="ctr">
            <a:spAutoFit/>
          </a:bodyPr>
          <a:lstStyle/>
          <a:p>
            <a:pPr algn="l">
              <a:defRPr/>
            </a:pPr>
            <a:r>
              <a:rPr sz="1200" b="0">
                <a:solidFill>
                  <a:srgbClr val="27303B"/>
                </a:solidFill>
                <a:latin typeface="Noto Sans CJK KR"/>
              </a:rPr>
              <a:t>✓ Golden 특징맵</a:t>
            </a:r>
            <a:r>
              <a:rPr lang="ko-KR" altLang="en-US" sz="1200" b="0">
                <a:solidFill>
                  <a:srgbClr val="27303B"/>
                </a:solidFill>
                <a:latin typeface="Noto Sans CJK KR"/>
              </a:rPr>
              <a:t>과 </a:t>
            </a:r>
            <a:r>
              <a:rPr lang="en-US" altLang="ko-KR" sz="1200" b="0">
                <a:solidFill>
                  <a:srgbClr val="27303B"/>
                </a:solidFill>
                <a:latin typeface="Noto Sans CJK KR"/>
              </a:rPr>
              <a:t>FPGA</a:t>
            </a:r>
            <a:r>
              <a:rPr lang="ko-KR" altLang="en-US" sz="1200" b="0">
                <a:solidFill>
                  <a:srgbClr val="27303B"/>
                </a:solidFill>
                <a:latin typeface="Noto Sans CJK KR"/>
              </a:rPr>
              <a:t>출력</a:t>
            </a:r>
            <a:r>
              <a:rPr sz="1200" b="0">
                <a:solidFill>
                  <a:srgbClr val="27303B"/>
                </a:solidFill>
                <a:latin typeface="Noto Sans CJK KR"/>
              </a:rPr>
              <a:t> 비교</a:t>
            </a:r>
          </a:p>
        </p:txBody>
      </p:sp>
      <p:sp>
        <p:nvSpPr>
          <p:cNvPr id="27" name="TextBox 26"/>
          <p:cNvSpPr txBox="1"/>
          <p:nvPr/>
        </p:nvSpPr>
        <p:spPr>
          <a:xfrm>
            <a:off x="8503920" y="3307080"/>
            <a:ext cx="2200275" cy="453390"/>
          </a:xfrm>
          <a:prstGeom prst="rect">
            <a:avLst/>
          </a:prstGeom>
          <a:noFill/>
        </p:spPr>
        <p:txBody>
          <a:bodyPr wrap="none" lIns="45720" rIns="45720" anchor="ctr">
            <a:spAutoFit/>
          </a:bodyPr>
          <a:lstStyle/>
          <a:p>
            <a:pPr algn="l">
              <a:defRPr/>
            </a:pPr>
            <a:r>
              <a:rPr sz="1200" b="0">
                <a:solidFill>
                  <a:srgbClr val="27303B"/>
                </a:solidFill>
                <a:latin typeface="Noto Sans CJK KR"/>
              </a:rPr>
              <a:t>✓ 웹캠 전체 Pipeline</a:t>
            </a:r>
            <a:r>
              <a:rPr lang="ko-KR" altLang="en-US" sz="1200" b="0">
                <a:solidFill>
                  <a:srgbClr val="27303B"/>
                </a:solidFill>
                <a:latin typeface="Noto Sans CJK KR"/>
              </a:rPr>
              <a:t>을</a:t>
            </a:r>
            <a:r>
              <a:rPr sz="1200" b="0">
                <a:solidFill>
                  <a:srgbClr val="27303B"/>
                </a:solidFill>
                <a:latin typeface="Noto Sans CJK KR"/>
              </a:rPr>
              <a:t> </a:t>
            </a:r>
            <a:r>
              <a:rPr lang="ko-KR" altLang="en-US" sz="1200" b="0">
                <a:solidFill>
                  <a:srgbClr val="27303B"/>
                </a:solidFill>
                <a:latin typeface="Noto Sans CJK KR"/>
              </a:rPr>
              <a:t>연결해</a:t>
            </a:r>
          </a:p>
          <a:p>
            <a:pPr algn="l">
              <a:defRPr/>
            </a:pPr>
            <a:r>
              <a:rPr lang="en-US" altLang="ko-KR" sz="1200" b="0">
                <a:solidFill>
                  <a:srgbClr val="27303B"/>
                </a:solidFill>
                <a:latin typeface="Noto Sans CJK KR"/>
              </a:rPr>
              <a:t>FPS</a:t>
            </a:r>
            <a:r>
              <a:rPr lang="ko-KR" altLang="en-US" sz="1200" b="0">
                <a:solidFill>
                  <a:srgbClr val="27303B"/>
                </a:solidFill>
                <a:latin typeface="Noto Sans CJK KR"/>
              </a:rPr>
              <a:t>와 정확도를 측정</a:t>
            </a:r>
          </a:p>
        </p:txBody>
      </p:sp>
      <p:sp>
        <p:nvSpPr>
          <p:cNvPr id="29" name="Rounded Rectangle 28"/>
          <p:cNvSpPr/>
          <p:nvPr/>
        </p:nvSpPr>
        <p:spPr>
          <a:xfrm>
            <a:off x="438912" y="5285232"/>
            <a:ext cx="11301984" cy="438912"/>
          </a:xfrm>
          <a:prstGeom prst="roundRect">
            <a:avLst>
              <a:gd name="adj" fmla="val 16667"/>
            </a:avLst>
          </a:prstGeom>
          <a:solidFill>
            <a:srgbClr val="236CB4"/>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0" name="TextBox 29"/>
          <p:cNvSpPr txBox="1"/>
          <p:nvPr/>
        </p:nvSpPr>
        <p:spPr>
          <a:xfrm>
            <a:off x="3183255" y="5364480"/>
            <a:ext cx="5796915" cy="262890"/>
          </a:xfrm>
          <a:prstGeom prst="rect">
            <a:avLst/>
          </a:prstGeom>
          <a:noFill/>
        </p:spPr>
        <p:txBody>
          <a:bodyPr wrap="none" lIns="45720" rIns="45720" anchor="ctr">
            <a:spAutoFit/>
          </a:bodyPr>
          <a:lstStyle/>
          <a:p>
            <a:pPr algn="ctr">
              <a:defRPr/>
            </a:pPr>
            <a:r>
              <a:rPr sz="1100" b="1">
                <a:solidFill>
                  <a:srgbClr val="FFFFFF"/>
                </a:solidFill>
                <a:latin typeface="Noto Sans CJK KR"/>
              </a:rPr>
              <a:t>AI 활용  |  Repository 분석 · 로그 기반 디버깅 · Tcl/Python 검토 · </a:t>
            </a:r>
            <a:r>
              <a:rPr lang="ko-KR" altLang="en-US" sz="1100" b="1">
                <a:solidFill>
                  <a:srgbClr val="FFFFFF"/>
                </a:solidFill>
                <a:latin typeface="Noto Sans CJK KR"/>
              </a:rPr>
              <a:t>결과</a:t>
            </a:r>
            <a:r>
              <a:rPr sz="1100" b="1">
                <a:solidFill>
                  <a:srgbClr val="FFFFFF"/>
                </a:solidFill>
                <a:latin typeface="Noto Sans CJK KR"/>
              </a:rPr>
              <a:t> 문서화 · PPT 생성</a:t>
            </a:r>
          </a:p>
        </p:txBody>
      </p:sp>
      <p:sp>
        <p:nvSpPr>
          <p:cNvPr id="31" name="Rounded Rectangle 30"/>
          <p:cNvSpPr/>
          <p:nvPr/>
        </p:nvSpPr>
        <p:spPr>
          <a:xfrm>
            <a:off x="438912" y="5806440"/>
            <a:ext cx="11301984" cy="530352"/>
          </a:xfrm>
          <a:prstGeom prst="roundRect">
            <a:avLst>
              <a:gd name="adj" fmla="val 16667"/>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2" name="TextBox 31"/>
          <p:cNvSpPr txBox="1"/>
          <p:nvPr/>
        </p:nvSpPr>
        <p:spPr>
          <a:xfrm>
            <a:off x="3011805" y="5916930"/>
            <a:ext cx="6158865" cy="272415"/>
          </a:xfrm>
          <a:prstGeom prst="rect">
            <a:avLst/>
          </a:prstGeom>
          <a:noFill/>
        </p:spPr>
        <p:txBody>
          <a:bodyPr wrap="none" lIns="45720" rIns="45720" anchor="ctr">
            <a:spAutoFit/>
          </a:bodyPr>
          <a:lstStyle/>
          <a:p>
            <a:pPr algn="ctr">
              <a:defRPr/>
            </a:pPr>
            <a:r>
              <a:rPr sz="1200" b="1">
                <a:solidFill>
                  <a:srgbClr val="FFFFFF"/>
                </a:solidFill>
                <a:latin typeface="Noto Sans CJK KR"/>
              </a:rPr>
              <a:t>결론  |  model.6 통합·Bitstream·Overlay 로딩 완료, 다음은 DMA와 전체 추론 직접 검증</a:t>
            </a:r>
          </a:p>
        </p:txBody>
      </p:sp>
      <p:sp>
        <p:nvSpPr>
          <p:cNvPr id="33" name="TextBox 32"/>
          <p:cNvSpPr txBox="1"/>
          <p:nvPr/>
        </p:nvSpPr>
        <p:spPr>
          <a:xfrm>
            <a:off x="438912" y="6555105"/>
            <a:ext cx="2997708" cy="215265"/>
          </a:xfrm>
          <a:prstGeom prst="rect">
            <a:avLst/>
          </a:prstGeom>
          <a:noFill/>
        </p:spPr>
        <p:txBody>
          <a:bodyPr wrap="none" lIns="45720" rIns="45720" anchor="ctr">
            <a:spAutoFit/>
          </a:bodyPr>
          <a:lstStyle/>
          <a:p>
            <a:pPr algn="l">
              <a:defRPr/>
            </a:pPr>
            <a:r>
              <a:rPr sz="800" b="0">
                <a:solidFill>
                  <a:srgbClr val="66717C"/>
                </a:solidFill>
                <a:latin typeface="Noto Sans CJK KR"/>
              </a:rPr>
              <a:t>PPE Monitoring AI Hardware Accelerator | Project Retrospective</a:t>
            </a:r>
          </a:p>
        </p:txBody>
      </p:sp>
      <p:sp>
        <p:nvSpPr>
          <p:cNvPr id="34" name="TextBox 33"/>
          <p:cNvSpPr txBox="1"/>
          <p:nvPr/>
        </p:nvSpPr>
        <p:spPr>
          <a:xfrm>
            <a:off x="11222355" y="6537960"/>
            <a:ext cx="481965" cy="213360"/>
          </a:xfrm>
          <a:prstGeom prst="rect">
            <a:avLst/>
          </a:prstGeom>
          <a:noFill/>
        </p:spPr>
        <p:txBody>
          <a:bodyPr wrap="none" lIns="45720" rIns="45720" anchor="ctr">
            <a:spAutoFit/>
          </a:bodyPr>
          <a:lstStyle/>
          <a:p>
            <a:pPr algn="r">
              <a:defRPr/>
            </a:pPr>
            <a:r>
              <a:rPr sz="800" b="1">
                <a:solidFill>
                  <a:srgbClr val="236CB4"/>
                </a:solidFill>
                <a:latin typeface="Noto Sans CJK KR"/>
              </a:rPr>
              <a:t>B TEAM</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529C0F7-1C02-2B1F-0497-49C1377A96A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D2B52B-8CC4-040D-64EA-B505259EDC66}"/>
              </a:ext>
            </a:extLst>
          </p:cNvPr>
          <p:cNvSpPr/>
          <p:nvPr/>
        </p:nvSpPr>
        <p:spPr>
          <a:xfrm>
            <a:off x="547208" y="3017196"/>
            <a:ext cx="11094415" cy="822960"/>
          </a:xfrm>
          <a:prstGeom prst="rect">
            <a:avLst/>
          </a:prstGeom>
          <a:noFill/>
          <a:ln/>
        </p:spPr>
        <p:txBody>
          <a:bodyPr wrap="square" lIns="0" tIns="0" rIns="0" bIns="0" rtlCol="0" anchor="ctr"/>
          <a:lstStyle/>
          <a:p>
            <a:pPr algn="ctr"/>
            <a:r>
              <a:rPr lang="ko-KR" altLang="en-US" sz="5400" b="1">
                <a:solidFill>
                  <a:srgbClr val="1F3B66"/>
                </a:solidFill>
                <a:latin typeface="Arial"/>
                <a:ea typeface="맑은 고딕"/>
                <a:cs typeface="Arial"/>
              </a:rPr>
              <a:t>6. </a:t>
            </a:r>
            <a:r>
              <a:rPr lang="ko-KR" altLang="en-US" sz="5400" b="1">
                <a:solidFill>
                  <a:srgbClr val="1F3B66"/>
                </a:solidFill>
                <a:latin typeface="Arial"/>
                <a:ea typeface="+mn-lt"/>
                <a:cs typeface="Arial"/>
              </a:rPr>
              <a:t>소프트웨어 구현 </a:t>
            </a:r>
            <a:r>
              <a:rPr lang="ko-KR" sz="5400" b="1">
                <a:solidFill>
                  <a:srgbClr val="1F3B66"/>
                </a:solidFill>
                <a:latin typeface="Arial"/>
                <a:ea typeface="+mn-lt"/>
                <a:cs typeface="Arial"/>
              </a:rPr>
              <a:t>및 </a:t>
            </a:r>
            <a:r>
              <a:rPr lang="ko-KR" altLang="en-US" sz="5400" b="1">
                <a:solidFill>
                  <a:srgbClr val="1F3B66"/>
                </a:solidFill>
                <a:latin typeface="Arial"/>
                <a:ea typeface="+mn-lt"/>
                <a:cs typeface="Arial"/>
              </a:rPr>
              <a:t>시스템</a:t>
            </a:r>
            <a:r>
              <a:rPr lang="ko-KR" sz="5400" b="1">
                <a:solidFill>
                  <a:srgbClr val="1F3B66"/>
                </a:solidFill>
                <a:latin typeface="Arial"/>
                <a:ea typeface="+mn-lt"/>
                <a:cs typeface="Arial"/>
              </a:rPr>
              <a:t> 통합</a:t>
            </a:r>
            <a:r>
              <a:rPr lang="ko-KR" altLang="en-US" sz="5400" b="1">
                <a:solidFill>
                  <a:srgbClr val="1F3B66"/>
                </a:solidFill>
                <a:latin typeface="Arial"/>
                <a:ea typeface="+mn-lt"/>
                <a:cs typeface="Arial"/>
              </a:rPr>
              <a:t> </a:t>
            </a:r>
          </a:p>
          <a:p>
            <a:pPr algn="ctr"/>
            <a:r>
              <a:rPr lang="ko-KR" altLang="en-US" sz="5400" b="1">
                <a:solidFill>
                  <a:srgbClr val="1F3B66"/>
                </a:solidFill>
                <a:latin typeface="Arial"/>
                <a:ea typeface="맑은 고딕"/>
                <a:cs typeface="Arial"/>
              </a:rPr>
              <a:t>(오상헌, 박정원)</a:t>
            </a:r>
          </a:p>
        </p:txBody>
      </p:sp>
    </p:spTree>
    <p:extLst>
      <p:ext uri="{BB962C8B-B14F-4D97-AF65-F5344CB8AC3E}">
        <p14:creationId xmlns:p14="http://schemas.microsoft.com/office/powerpoint/2010/main" val="19448583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D2704-B189-16D5-051D-66672DC9440C}"/>
            </a:ext>
          </a:extLst>
        </p:cNvPr>
        <p:cNvGrpSpPr/>
        <p:nvPr/>
      </p:nvGrpSpPr>
      <p:grpSpPr>
        <a:xfrm>
          <a:off x="0" y="0"/>
          <a:ext cx="0" cy="0"/>
          <a:chOff x="0" y="0"/>
          <a:chExt cx="0" cy="0"/>
        </a:xfrm>
      </p:grpSpPr>
      <p:sp>
        <p:nvSpPr>
          <p:cNvPr id="8" name="사각형: 둥근 모서리 7">
            <a:extLst>
              <a:ext uri="{FF2B5EF4-FFF2-40B4-BE49-F238E27FC236}">
                <a16:creationId xmlns:a16="http://schemas.microsoft.com/office/drawing/2014/main" id="{EA6A735B-A1B4-4016-95A2-B0B747884E33}"/>
              </a:ext>
            </a:extLst>
          </p:cNvPr>
          <p:cNvSpPr/>
          <p:nvPr/>
        </p:nvSpPr>
        <p:spPr>
          <a:xfrm>
            <a:off x="1083817" y="1751735"/>
            <a:ext cx="9817769" cy="4674273"/>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 0">
            <a:extLst>
              <a:ext uri="{FF2B5EF4-FFF2-40B4-BE49-F238E27FC236}">
                <a16:creationId xmlns:a16="http://schemas.microsoft.com/office/drawing/2014/main" id="{09080851-458F-CFF8-A34F-77B16E456A6F}"/>
              </a:ext>
            </a:extLst>
          </p:cNvPr>
          <p:cNvSpPr/>
          <p:nvPr/>
        </p:nvSpPr>
        <p:spPr>
          <a:xfrm>
            <a:off x="2456745" y="412868"/>
            <a:ext cx="7278509" cy="721112"/>
          </a:xfrm>
          <a:prstGeom prst="rect">
            <a:avLst/>
          </a:prstGeom>
          <a:noFill/>
          <a:ln/>
        </p:spPr>
        <p:txBody>
          <a:bodyPr wrap="square" lIns="0" tIns="0" rIns="0" bIns="0" rtlCol="0" anchor="ctr"/>
          <a:lstStyle/>
          <a:p>
            <a:pPr algn="ctr"/>
            <a:r>
              <a:rPr lang="en-US" altLang="ko-KR" sz="2800" b="1" dirty="0">
                <a:solidFill>
                  <a:srgbClr val="1F3B66"/>
                </a:solidFill>
                <a:latin typeface="Arial"/>
                <a:ea typeface="맑은 고딕"/>
                <a:cs typeface="Arial"/>
              </a:rPr>
              <a:t>SW </a:t>
            </a:r>
            <a:r>
              <a:rPr lang="ko-KR" altLang="en-US" sz="2800" b="1" dirty="0">
                <a:solidFill>
                  <a:srgbClr val="1F3B66"/>
                </a:solidFill>
                <a:latin typeface="Arial"/>
                <a:ea typeface="맑은 고딕"/>
                <a:cs typeface="Arial"/>
              </a:rPr>
              <a:t>구현 및 시스템 통합 </a:t>
            </a:r>
          </a:p>
        </p:txBody>
      </p:sp>
      <p:pic>
        <p:nvPicPr>
          <p:cNvPr id="2" name="그림 1">
            <a:extLst>
              <a:ext uri="{FF2B5EF4-FFF2-40B4-BE49-F238E27FC236}">
                <a16:creationId xmlns:a16="http://schemas.microsoft.com/office/drawing/2014/main" id="{8C8A30DD-76FD-49C8-B3B6-C01FCB7A84D8}"/>
              </a:ext>
            </a:extLst>
          </p:cNvPr>
          <p:cNvPicPr>
            <a:picLocks noChangeAspect="1"/>
          </p:cNvPicPr>
          <p:nvPr/>
        </p:nvPicPr>
        <p:blipFill>
          <a:blip r:embed="rId3"/>
          <a:stretch>
            <a:fillRect/>
          </a:stretch>
        </p:blipFill>
        <p:spPr>
          <a:xfrm>
            <a:off x="3703409" y="2194708"/>
            <a:ext cx="4739951" cy="622135"/>
          </a:xfrm>
          <a:prstGeom prst="rect">
            <a:avLst/>
          </a:prstGeom>
        </p:spPr>
      </p:pic>
      <p:pic>
        <p:nvPicPr>
          <p:cNvPr id="5" name="그림 4">
            <a:extLst>
              <a:ext uri="{FF2B5EF4-FFF2-40B4-BE49-F238E27FC236}">
                <a16:creationId xmlns:a16="http://schemas.microsoft.com/office/drawing/2014/main" id="{2C85B983-7543-4B49-9059-A3D63CABF432}"/>
              </a:ext>
            </a:extLst>
          </p:cNvPr>
          <p:cNvPicPr>
            <a:picLocks noChangeAspect="1"/>
          </p:cNvPicPr>
          <p:nvPr/>
        </p:nvPicPr>
        <p:blipFill>
          <a:blip r:embed="rId3"/>
          <a:stretch>
            <a:fillRect/>
          </a:stretch>
        </p:blipFill>
        <p:spPr>
          <a:xfrm>
            <a:off x="3703409" y="3004812"/>
            <a:ext cx="4739951" cy="600773"/>
          </a:xfrm>
          <a:prstGeom prst="rect">
            <a:avLst/>
          </a:prstGeom>
        </p:spPr>
      </p:pic>
      <p:pic>
        <p:nvPicPr>
          <p:cNvPr id="6" name="그림 5">
            <a:extLst>
              <a:ext uri="{FF2B5EF4-FFF2-40B4-BE49-F238E27FC236}">
                <a16:creationId xmlns:a16="http://schemas.microsoft.com/office/drawing/2014/main" id="{6E4E06B9-7419-4C65-B3A7-75EF99F964CA}"/>
              </a:ext>
            </a:extLst>
          </p:cNvPr>
          <p:cNvPicPr>
            <a:picLocks noChangeAspect="1"/>
          </p:cNvPicPr>
          <p:nvPr/>
        </p:nvPicPr>
        <p:blipFill>
          <a:blip r:embed="rId3"/>
          <a:stretch>
            <a:fillRect/>
          </a:stretch>
        </p:blipFill>
        <p:spPr>
          <a:xfrm>
            <a:off x="3703409" y="3793927"/>
            <a:ext cx="4739951" cy="1415044"/>
          </a:xfrm>
          <a:prstGeom prst="rect">
            <a:avLst/>
          </a:prstGeom>
        </p:spPr>
      </p:pic>
      <p:pic>
        <p:nvPicPr>
          <p:cNvPr id="7" name="그림 6">
            <a:extLst>
              <a:ext uri="{FF2B5EF4-FFF2-40B4-BE49-F238E27FC236}">
                <a16:creationId xmlns:a16="http://schemas.microsoft.com/office/drawing/2014/main" id="{24FFB051-D972-4302-9168-93F66537AF76}"/>
              </a:ext>
            </a:extLst>
          </p:cNvPr>
          <p:cNvPicPr>
            <a:picLocks noChangeAspect="1"/>
          </p:cNvPicPr>
          <p:nvPr/>
        </p:nvPicPr>
        <p:blipFill>
          <a:blip r:embed="rId3"/>
          <a:stretch>
            <a:fillRect/>
          </a:stretch>
        </p:blipFill>
        <p:spPr>
          <a:xfrm>
            <a:off x="3703410" y="5367655"/>
            <a:ext cx="4739950" cy="600773"/>
          </a:xfrm>
          <a:prstGeom prst="rect">
            <a:avLst/>
          </a:prstGeom>
        </p:spPr>
      </p:pic>
      <p:sp>
        <p:nvSpPr>
          <p:cNvPr id="4" name="TextBox 3">
            <a:extLst>
              <a:ext uri="{FF2B5EF4-FFF2-40B4-BE49-F238E27FC236}">
                <a16:creationId xmlns:a16="http://schemas.microsoft.com/office/drawing/2014/main" id="{1F3E10EF-0AAE-47E7-8342-C1520AE67F92}"/>
              </a:ext>
            </a:extLst>
          </p:cNvPr>
          <p:cNvSpPr txBox="1"/>
          <p:nvPr/>
        </p:nvSpPr>
        <p:spPr>
          <a:xfrm>
            <a:off x="3844355" y="2311538"/>
            <a:ext cx="4458056" cy="3570208"/>
          </a:xfrm>
          <a:prstGeom prst="rect">
            <a:avLst/>
          </a:prstGeom>
          <a:noFill/>
        </p:spPr>
        <p:txBody>
          <a:bodyPr wrap="square">
            <a:spAutoFit/>
          </a:bodyPr>
          <a:lstStyle/>
          <a:p>
            <a:pPr marL="342900" indent="-342900">
              <a:buAutoNum type="arabicPeriod"/>
            </a:pPr>
            <a:r>
              <a:rPr lang="en-US" altLang="ko-KR" sz="2000" b="1" dirty="0">
                <a:solidFill>
                  <a:schemeClr val="tx2">
                    <a:lumMod val="50000"/>
                  </a:schemeClr>
                </a:solidFill>
                <a:latin typeface="+mn-ea"/>
              </a:rPr>
              <a:t>SW </a:t>
            </a:r>
            <a:r>
              <a:rPr lang="ko-KR" altLang="en-US" sz="2000" b="1" dirty="0">
                <a:solidFill>
                  <a:schemeClr val="tx2">
                    <a:lumMod val="50000"/>
                  </a:schemeClr>
                </a:solidFill>
                <a:latin typeface="+mn-ea"/>
              </a:rPr>
              <a:t>통합 및 최적화 개요</a:t>
            </a:r>
            <a:endParaRPr lang="en-US" altLang="ko-KR" sz="2000" b="1" dirty="0">
              <a:solidFill>
                <a:schemeClr val="tx2">
                  <a:lumMod val="50000"/>
                </a:schemeClr>
              </a:solidFill>
              <a:latin typeface="+mn-ea"/>
            </a:endParaRPr>
          </a:p>
          <a:p>
            <a:pPr marL="342900" indent="-342900">
              <a:buAutoNum type="arabicPeriod"/>
            </a:pPr>
            <a:endParaRPr lang="en-US" altLang="ko-KR" sz="3200" b="1" dirty="0">
              <a:solidFill>
                <a:schemeClr val="tx2">
                  <a:lumMod val="50000"/>
                </a:schemeClr>
              </a:solidFill>
              <a:latin typeface="+mn-ea"/>
            </a:endParaRPr>
          </a:p>
          <a:p>
            <a:r>
              <a:rPr lang="en-US" altLang="ko-KR" sz="2000" b="1" dirty="0">
                <a:solidFill>
                  <a:schemeClr val="tx2">
                    <a:lumMod val="50000"/>
                  </a:schemeClr>
                </a:solidFill>
                <a:latin typeface="+mn-ea"/>
              </a:rPr>
              <a:t>2. </a:t>
            </a:r>
            <a:r>
              <a:rPr lang="ko-KR" altLang="en-US" sz="2000" b="1" dirty="0">
                <a:solidFill>
                  <a:schemeClr val="tx2">
                    <a:lumMod val="50000"/>
                  </a:schemeClr>
                </a:solidFill>
                <a:latin typeface="+mn-ea"/>
              </a:rPr>
              <a:t>전체 </a:t>
            </a:r>
            <a:r>
              <a:rPr lang="en-US" altLang="ko-KR" sz="2000" b="1" dirty="0">
                <a:solidFill>
                  <a:schemeClr val="tx2">
                    <a:lumMod val="50000"/>
                  </a:schemeClr>
                </a:solidFill>
                <a:latin typeface="+mn-ea"/>
              </a:rPr>
              <a:t>SW </a:t>
            </a:r>
            <a:r>
              <a:rPr lang="ko-KR" altLang="en-US" sz="2000" b="1" dirty="0">
                <a:solidFill>
                  <a:schemeClr val="tx2">
                    <a:lumMod val="50000"/>
                  </a:schemeClr>
                </a:solidFill>
                <a:latin typeface="+mn-ea"/>
              </a:rPr>
              <a:t>구조 </a:t>
            </a:r>
            <a:r>
              <a:rPr lang="en-US" altLang="ko-KR" sz="2000" b="1" dirty="0">
                <a:solidFill>
                  <a:schemeClr val="tx2">
                    <a:lumMod val="50000"/>
                  </a:schemeClr>
                </a:solidFill>
                <a:latin typeface="+mn-ea"/>
              </a:rPr>
              <a:t>/ PS–PL </a:t>
            </a:r>
            <a:r>
              <a:rPr lang="ko-KR" altLang="en-US" sz="2000" b="1" dirty="0">
                <a:solidFill>
                  <a:schemeClr val="tx2">
                    <a:lumMod val="50000"/>
                  </a:schemeClr>
                </a:solidFill>
                <a:latin typeface="+mn-ea"/>
              </a:rPr>
              <a:t>연동</a:t>
            </a:r>
            <a:endParaRPr lang="en-US" altLang="ko-KR" sz="2000" b="1" dirty="0">
              <a:solidFill>
                <a:schemeClr val="tx2">
                  <a:lumMod val="50000"/>
                </a:schemeClr>
              </a:solidFill>
              <a:latin typeface="+mn-ea"/>
            </a:endParaRPr>
          </a:p>
          <a:p>
            <a:endParaRPr lang="en-US" altLang="ko-KR" sz="3200" b="1" dirty="0">
              <a:solidFill>
                <a:schemeClr val="tx2">
                  <a:lumMod val="50000"/>
                </a:schemeClr>
              </a:solidFill>
              <a:latin typeface="+mn-ea"/>
            </a:endParaRPr>
          </a:p>
          <a:p>
            <a:r>
              <a:rPr lang="en-US" altLang="ko-KR" sz="2000" b="1" dirty="0">
                <a:solidFill>
                  <a:schemeClr val="tx2">
                    <a:lumMod val="50000"/>
                  </a:schemeClr>
                </a:solidFill>
                <a:latin typeface="+mn-ea"/>
              </a:rPr>
              <a:t>3. </a:t>
            </a:r>
            <a:r>
              <a:rPr lang="ko-KR" altLang="en-US" sz="2000" b="1" dirty="0">
                <a:solidFill>
                  <a:schemeClr val="tx2">
                    <a:lumMod val="50000"/>
                  </a:schemeClr>
                </a:solidFill>
                <a:latin typeface="+mn-ea"/>
              </a:rPr>
              <a:t>최적화 과정</a:t>
            </a:r>
          </a:p>
          <a:p>
            <a:r>
              <a:rPr lang="en-US" altLang="ko-KR" sz="2000" b="1" dirty="0">
                <a:solidFill>
                  <a:schemeClr val="tx2">
                    <a:lumMod val="50000"/>
                  </a:schemeClr>
                </a:solidFill>
                <a:latin typeface="+mn-ea"/>
              </a:rPr>
              <a:t>  </a:t>
            </a:r>
            <a:r>
              <a:rPr lang="en-US" altLang="ko-KR" sz="1600" b="1" dirty="0">
                <a:solidFill>
                  <a:schemeClr val="tx2">
                    <a:lumMod val="50000"/>
                  </a:schemeClr>
                </a:solidFill>
                <a:latin typeface="+mn-ea"/>
              </a:rPr>
              <a:t>3.1 DMA </a:t>
            </a:r>
            <a:r>
              <a:rPr lang="ko-KR" altLang="en-US" sz="1600" b="1" dirty="0">
                <a:solidFill>
                  <a:schemeClr val="tx2">
                    <a:lumMod val="50000"/>
                  </a:schemeClr>
                </a:solidFill>
                <a:latin typeface="+mn-ea"/>
              </a:rPr>
              <a:t>문제와 해결 과정</a:t>
            </a:r>
            <a:endParaRPr lang="en-US" altLang="ko-KR" sz="1600" b="1" dirty="0">
              <a:solidFill>
                <a:schemeClr val="tx2">
                  <a:lumMod val="50000"/>
                </a:schemeClr>
              </a:solidFill>
              <a:latin typeface="+mn-ea"/>
            </a:endParaRPr>
          </a:p>
          <a:p>
            <a:r>
              <a:rPr lang="en-US" altLang="ko-KR" sz="1600" b="1" dirty="0">
                <a:solidFill>
                  <a:schemeClr val="tx2">
                    <a:lumMod val="50000"/>
                  </a:schemeClr>
                </a:solidFill>
                <a:latin typeface="+mn-ea"/>
              </a:rPr>
              <a:t>   3.2 YOLO Hybrid Pipeline </a:t>
            </a:r>
            <a:r>
              <a:rPr lang="ko-KR" altLang="en-US" sz="1600" b="1" dirty="0">
                <a:solidFill>
                  <a:schemeClr val="tx2">
                    <a:lumMod val="50000"/>
                  </a:schemeClr>
                </a:solidFill>
                <a:latin typeface="+mn-ea"/>
              </a:rPr>
              <a:t>구현</a:t>
            </a:r>
            <a:endParaRPr lang="en-US" altLang="ko-KR" sz="1600" b="1" dirty="0">
              <a:solidFill>
                <a:schemeClr val="tx2">
                  <a:lumMod val="50000"/>
                </a:schemeClr>
              </a:solidFill>
              <a:latin typeface="+mn-ea"/>
            </a:endParaRPr>
          </a:p>
          <a:p>
            <a:r>
              <a:rPr lang="en-US" altLang="ko-KR" sz="1600" b="1" dirty="0">
                <a:solidFill>
                  <a:schemeClr val="tx2">
                    <a:lumMod val="50000"/>
                  </a:schemeClr>
                </a:solidFill>
                <a:latin typeface="+mn-ea"/>
              </a:rPr>
              <a:t>   3.3 CPU–FPGA Frame Pipelining </a:t>
            </a:r>
          </a:p>
          <a:p>
            <a:endParaRPr lang="en-US" altLang="ko-KR" sz="3200" b="1" dirty="0">
              <a:solidFill>
                <a:schemeClr val="tx2">
                  <a:lumMod val="50000"/>
                </a:schemeClr>
              </a:solidFill>
              <a:latin typeface="+mn-ea"/>
            </a:endParaRPr>
          </a:p>
          <a:p>
            <a:r>
              <a:rPr lang="en-US" altLang="ko-KR" sz="2000" b="1" dirty="0">
                <a:solidFill>
                  <a:schemeClr val="tx2">
                    <a:lumMod val="50000"/>
                  </a:schemeClr>
                </a:solidFill>
                <a:latin typeface="+mn-ea"/>
              </a:rPr>
              <a:t>4. </a:t>
            </a:r>
            <a:r>
              <a:rPr lang="ko-KR" altLang="en-US" sz="2000" b="1" dirty="0">
                <a:solidFill>
                  <a:schemeClr val="tx2">
                    <a:lumMod val="50000"/>
                  </a:schemeClr>
                </a:solidFill>
                <a:latin typeface="+mn-ea"/>
              </a:rPr>
              <a:t>실제 </a:t>
            </a:r>
            <a:r>
              <a:rPr lang="en-US" altLang="ko-KR" sz="2000" b="1" dirty="0">
                <a:solidFill>
                  <a:schemeClr val="tx2">
                    <a:lumMod val="50000"/>
                  </a:schemeClr>
                </a:solidFill>
                <a:latin typeface="+mn-ea"/>
              </a:rPr>
              <a:t>Webcam </a:t>
            </a:r>
            <a:r>
              <a:rPr lang="ko-KR" altLang="en-US" sz="2000" b="1" dirty="0">
                <a:solidFill>
                  <a:schemeClr val="tx2">
                    <a:lumMod val="50000"/>
                  </a:schemeClr>
                </a:solidFill>
                <a:latin typeface="+mn-ea"/>
              </a:rPr>
              <a:t>실행 및 성능 결과</a:t>
            </a:r>
            <a:endParaRPr lang="en-US" altLang="ko-KR" sz="2000" b="1" dirty="0">
              <a:solidFill>
                <a:schemeClr val="tx2">
                  <a:lumMod val="50000"/>
                </a:schemeClr>
              </a:solidFill>
              <a:latin typeface="+mn-ea"/>
            </a:endParaRPr>
          </a:p>
        </p:txBody>
      </p:sp>
      <p:sp>
        <p:nvSpPr>
          <p:cNvPr id="11" name="TextBox 10">
            <a:extLst>
              <a:ext uri="{FF2B5EF4-FFF2-40B4-BE49-F238E27FC236}">
                <a16:creationId xmlns:a16="http://schemas.microsoft.com/office/drawing/2014/main" id="{15E33CBB-2422-44E7-8DD4-10184393D4E7}"/>
              </a:ext>
            </a:extLst>
          </p:cNvPr>
          <p:cNvSpPr txBox="1"/>
          <p:nvPr/>
        </p:nvSpPr>
        <p:spPr>
          <a:xfrm>
            <a:off x="5593656" y="1351625"/>
            <a:ext cx="1805268" cy="400110"/>
          </a:xfrm>
          <a:prstGeom prst="rect">
            <a:avLst/>
          </a:prstGeom>
          <a:noFill/>
        </p:spPr>
        <p:txBody>
          <a:bodyPr wrap="square" rtlCol="0">
            <a:spAutoFit/>
          </a:bodyPr>
          <a:lstStyle/>
          <a:p>
            <a:r>
              <a:rPr lang="en-US" altLang="ko-KR" sz="2000" b="1" dirty="0"/>
              <a:t>&lt;</a:t>
            </a:r>
            <a:r>
              <a:rPr lang="ko-KR" altLang="en-US" sz="2000" b="1" dirty="0"/>
              <a:t>목차</a:t>
            </a:r>
            <a:r>
              <a:rPr lang="en-US" altLang="ko-KR" sz="2000" b="1" dirty="0"/>
              <a:t>&gt;</a:t>
            </a:r>
            <a:endParaRPr lang="ko-KR" altLang="en-US" sz="2000" b="1" dirty="0"/>
          </a:p>
        </p:txBody>
      </p:sp>
    </p:spTree>
    <p:extLst>
      <p:ext uri="{BB962C8B-B14F-4D97-AF65-F5344CB8AC3E}">
        <p14:creationId xmlns:p14="http://schemas.microsoft.com/office/powerpoint/2010/main" val="41316402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D2704-B189-16D5-051D-66672DC9440C}"/>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9080851-458F-CFF8-A34F-77B16E456A6F}"/>
              </a:ext>
            </a:extLst>
          </p:cNvPr>
          <p:cNvSpPr/>
          <p:nvPr/>
        </p:nvSpPr>
        <p:spPr>
          <a:xfrm>
            <a:off x="466995" y="86542"/>
            <a:ext cx="11094415" cy="722949"/>
          </a:xfrm>
          <a:prstGeom prst="rect">
            <a:avLst/>
          </a:prstGeom>
          <a:noFill/>
          <a:ln/>
        </p:spPr>
        <p:txBody>
          <a:bodyPr wrap="square" lIns="0" tIns="0" rIns="0" bIns="0" rtlCol="0" anchor="ctr"/>
          <a:lstStyle/>
          <a:p>
            <a:pPr algn="ctr"/>
            <a:r>
              <a:rPr lang="en-US" altLang="ko-KR" sz="2800" b="1">
                <a:solidFill>
                  <a:srgbClr val="1F3B66"/>
                </a:solidFill>
                <a:latin typeface="Arial"/>
                <a:ea typeface="맑은 고딕"/>
                <a:cs typeface="Arial"/>
              </a:rPr>
              <a:t>SW </a:t>
            </a:r>
            <a:r>
              <a:rPr lang="ko-KR" altLang="en-US" sz="2800" b="1" dirty="0">
                <a:solidFill>
                  <a:srgbClr val="1F3B66"/>
                </a:solidFill>
                <a:latin typeface="Arial"/>
                <a:ea typeface="맑은 고딕"/>
                <a:cs typeface="Arial"/>
              </a:rPr>
              <a:t>통합 및 최적화 개요</a:t>
            </a:r>
          </a:p>
        </p:txBody>
      </p:sp>
      <p:pic>
        <p:nvPicPr>
          <p:cNvPr id="11" name="그림 10">
            <a:extLst>
              <a:ext uri="{FF2B5EF4-FFF2-40B4-BE49-F238E27FC236}">
                <a16:creationId xmlns:a16="http://schemas.microsoft.com/office/drawing/2014/main" id="{CAEC1FCF-79B1-4539-83D2-CD1AED192316}"/>
              </a:ext>
            </a:extLst>
          </p:cNvPr>
          <p:cNvPicPr>
            <a:picLocks noChangeAspect="1"/>
          </p:cNvPicPr>
          <p:nvPr/>
        </p:nvPicPr>
        <p:blipFill rotWithShape="1">
          <a:blip r:embed="rId3"/>
          <a:srcRect l="17561" t="36725" r="3982" b="26316"/>
          <a:stretch/>
        </p:blipFill>
        <p:spPr>
          <a:xfrm>
            <a:off x="928268" y="1114914"/>
            <a:ext cx="10335463" cy="5233985"/>
          </a:xfrm>
          <a:prstGeom prst="rect">
            <a:avLst/>
          </a:prstGeom>
        </p:spPr>
      </p:pic>
      <p:pic>
        <p:nvPicPr>
          <p:cNvPr id="4" name="그림 3">
            <a:extLst>
              <a:ext uri="{FF2B5EF4-FFF2-40B4-BE49-F238E27FC236}">
                <a16:creationId xmlns:a16="http://schemas.microsoft.com/office/drawing/2014/main" id="{2A6A0FE2-10C8-4CA5-8557-3866FD55202B}"/>
              </a:ext>
            </a:extLst>
          </p:cNvPr>
          <p:cNvPicPr>
            <a:picLocks noChangeAspect="1"/>
          </p:cNvPicPr>
          <p:nvPr/>
        </p:nvPicPr>
        <p:blipFill rotWithShape="1">
          <a:blip r:embed="rId4"/>
          <a:srcRect l="27620" t="52845" r="67587" b="42886"/>
          <a:stretch/>
        </p:blipFill>
        <p:spPr>
          <a:xfrm>
            <a:off x="2349304" y="4192172"/>
            <a:ext cx="351693" cy="858130"/>
          </a:xfrm>
          <a:prstGeom prst="rect">
            <a:avLst/>
          </a:prstGeom>
        </p:spPr>
      </p:pic>
    </p:spTree>
    <p:extLst>
      <p:ext uri="{BB962C8B-B14F-4D97-AF65-F5344CB8AC3E}">
        <p14:creationId xmlns:p14="http://schemas.microsoft.com/office/powerpoint/2010/main" val="17040596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D2704-B189-16D5-051D-66672DC9440C}"/>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9080851-458F-CFF8-A34F-77B16E456A6F}"/>
              </a:ext>
            </a:extLst>
          </p:cNvPr>
          <p:cNvSpPr/>
          <p:nvPr/>
        </p:nvSpPr>
        <p:spPr>
          <a:xfrm>
            <a:off x="274491" y="31614"/>
            <a:ext cx="11094415" cy="813053"/>
          </a:xfrm>
          <a:prstGeom prst="rect">
            <a:avLst/>
          </a:prstGeom>
          <a:noFill/>
          <a:ln/>
        </p:spPr>
        <p:txBody>
          <a:bodyPr wrap="square" lIns="0" tIns="0" rIns="0" bIns="0" rtlCol="0" anchor="ctr"/>
          <a:lstStyle/>
          <a:p>
            <a:pPr algn="ctr"/>
            <a:r>
              <a:rPr lang="ko-KR" altLang="en-US" sz="2800" b="1">
                <a:solidFill>
                  <a:srgbClr val="1F3B66"/>
                </a:solidFill>
                <a:latin typeface="Arial"/>
                <a:ea typeface="맑은 고딕"/>
                <a:cs typeface="Arial"/>
              </a:rPr>
              <a:t>전체 </a:t>
            </a:r>
            <a:r>
              <a:rPr lang="en-US" altLang="ko-KR" sz="2800" b="1" dirty="0">
                <a:solidFill>
                  <a:srgbClr val="1F3B66"/>
                </a:solidFill>
                <a:latin typeface="Arial"/>
                <a:ea typeface="맑은 고딕"/>
                <a:cs typeface="Arial"/>
              </a:rPr>
              <a:t>SW </a:t>
            </a:r>
            <a:r>
              <a:rPr lang="ko-KR" altLang="en-US" sz="2800" b="1" dirty="0">
                <a:solidFill>
                  <a:srgbClr val="1F3B66"/>
                </a:solidFill>
                <a:latin typeface="Arial"/>
                <a:ea typeface="맑은 고딕"/>
                <a:cs typeface="Arial"/>
              </a:rPr>
              <a:t>구조 </a:t>
            </a:r>
            <a:r>
              <a:rPr lang="en-US" altLang="ko-KR" sz="2800" b="1" dirty="0">
                <a:solidFill>
                  <a:srgbClr val="1F3B66"/>
                </a:solidFill>
                <a:latin typeface="Arial"/>
                <a:ea typeface="맑은 고딕"/>
                <a:cs typeface="Arial"/>
              </a:rPr>
              <a:t>/ PS–PL </a:t>
            </a:r>
            <a:r>
              <a:rPr lang="ko-KR" altLang="en-US" sz="2800" b="1" dirty="0">
                <a:solidFill>
                  <a:srgbClr val="1F3B66"/>
                </a:solidFill>
                <a:latin typeface="Arial"/>
                <a:ea typeface="맑은 고딕"/>
                <a:cs typeface="Arial"/>
              </a:rPr>
              <a:t>연동</a:t>
            </a:r>
          </a:p>
        </p:txBody>
      </p:sp>
      <p:pic>
        <p:nvPicPr>
          <p:cNvPr id="2" name="그림 1">
            <a:extLst>
              <a:ext uri="{FF2B5EF4-FFF2-40B4-BE49-F238E27FC236}">
                <a16:creationId xmlns:a16="http://schemas.microsoft.com/office/drawing/2014/main" id="{A8D63BB6-3CCF-41D3-9242-5339C279D30E}"/>
              </a:ext>
            </a:extLst>
          </p:cNvPr>
          <p:cNvPicPr>
            <a:picLocks noChangeAspect="1"/>
          </p:cNvPicPr>
          <p:nvPr/>
        </p:nvPicPr>
        <p:blipFill rotWithShape="1">
          <a:blip r:embed="rId3"/>
          <a:srcRect l="21977" r="18481" b="-2807"/>
          <a:stretch/>
        </p:blipFill>
        <p:spPr>
          <a:xfrm>
            <a:off x="6434" y="1153758"/>
            <a:ext cx="5815264" cy="5651021"/>
          </a:xfrm>
          <a:prstGeom prst="rect">
            <a:avLst/>
          </a:prstGeom>
        </p:spPr>
      </p:pic>
      <p:sp>
        <p:nvSpPr>
          <p:cNvPr id="7" name="TextBox 6">
            <a:extLst>
              <a:ext uri="{FF2B5EF4-FFF2-40B4-BE49-F238E27FC236}">
                <a16:creationId xmlns:a16="http://schemas.microsoft.com/office/drawing/2014/main" id="{0A1A78A4-4EB4-4F1C-A181-BDE45A5726E8}"/>
              </a:ext>
            </a:extLst>
          </p:cNvPr>
          <p:cNvSpPr txBox="1"/>
          <p:nvPr/>
        </p:nvSpPr>
        <p:spPr>
          <a:xfrm>
            <a:off x="3941545" y="6030560"/>
            <a:ext cx="984325" cy="307777"/>
          </a:xfrm>
          <a:prstGeom prst="rect">
            <a:avLst/>
          </a:prstGeom>
          <a:noFill/>
        </p:spPr>
        <p:txBody>
          <a:bodyPr wrap="square" rtlCol="0">
            <a:spAutoFit/>
          </a:bodyPr>
          <a:lstStyle/>
          <a:p>
            <a:r>
              <a:rPr lang="en-US" altLang="ko-KR" sz="1400" dirty="0"/>
              <a:t>(CV2 </a:t>
            </a:r>
            <a:r>
              <a:rPr lang="ko-KR" altLang="en-US" sz="1400" dirty="0"/>
              <a:t>제외</a:t>
            </a:r>
            <a:r>
              <a:rPr lang="en-US" altLang="ko-KR" sz="1400" dirty="0"/>
              <a:t>)</a:t>
            </a:r>
            <a:endParaRPr lang="ko-KR" altLang="en-US" sz="1400" dirty="0"/>
          </a:p>
        </p:txBody>
      </p:sp>
      <p:pic>
        <p:nvPicPr>
          <p:cNvPr id="9" name="그림 8">
            <a:extLst>
              <a:ext uri="{FF2B5EF4-FFF2-40B4-BE49-F238E27FC236}">
                <a16:creationId xmlns:a16="http://schemas.microsoft.com/office/drawing/2014/main" id="{91DABB89-D408-451B-92C8-DB53AC6A5248}"/>
              </a:ext>
            </a:extLst>
          </p:cNvPr>
          <p:cNvPicPr>
            <a:picLocks noChangeAspect="1"/>
          </p:cNvPicPr>
          <p:nvPr/>
        </p:nvPicPr>
        <p:blipFill rotWithShape="1">
          <a:blip r:embed="rId4"/>
          <a:srcRect l="27493" t="37163" r="14933" b="42529"/>
          <a:stretch/>
        </p:blipFill>
        <p:spPr>
          <a:xfrm>
            <a:off x="5821698" y="4079441"/>
            <a:ext cx="6019285" cy="1951119"/>
          </a:xfrm>
          <a:prstGeom prst="rect">
            <a:avLst/>
          </a:prstGeom>
        </p:spPr>
      </p:pic>
      <p:sp>
        <p:nvSpPr>
          <p:cNvPr id="10" name="TextBox 9">
            <a:extLst>
              <a:ext uri="{FF2B5EF4-FFF2-40B4-BE49-F238E27FC236}">
                <a16:creationId xmlns:a16="http://schemas.microsoft.com/office/drawing/2014/main" id="{640F8531-81C0-4B67-91BB-A9B881D06CF0}"/>
              </a:ext>
            </a:extLst>
          </p:cNvPr>
          <p:cNvSpPr txBox="1"/>
          <p:nvPr/>
        </p:nvSpPr>
        <p:spPr>
          <a:xfrm>
            <a:off x="5783340" y="1362305"/>
            <a:ext cx="6096000" cy="2369880"/>
          </a:xfrm>
          <a:prstGeom prst="rect">
            <a:avLst/>
          </a:prstGeom>
          <a:noFill/>
        </p:spPr>
        <p:txBody>
          <a:bodyPr wrap="square">
            <a:spAutoFit/>
          </a:bodyPr>
          <a:lstStyle/>
          <a:p>
            <a:r>
              <a:rPr lang="en-US" altLang="ko-KR" sz="2400" b="1" dirty="0"/>
              <a:t>Software–Hardware Interface</a:t>
            </a:r>
          </a:p>
          <a:p>
            <a:pPr marL="285750" indent="-285750">
              <a:buFont typeface="Arial" panose="020B0604020202020204" pitchFamily="34" charset="0"/>
              <a:buChar char="•"/>
            </a:pPr>
            <a:r>
              <a:rPr lang="en-US" altLang="ko-KR" sz="2000" dirty="0"/>
              <a:t>model.6 </a:t>
            </a:r>
            <a:r>
              <a:rPr lang="ko-KR" altLang="en-US" sz="2000" dirty="0"/>
              <a:t>연산 일부를 </a:t>
            </a:r>
            <a:r>
              <a:rPr lang="en-US" altLang="ko-KR" sz="2000" dirty="0"/>
              <a:t>FPGA</a:t>
            </a:r>
            <a:r>
              <a:rPr lang="ko-KR" altLang="en-US" sz="2000" dirty="0"/>
              <a:t>로 </a:t>
            </a:r>
            <a:r>
              <a:rPr lang="en-US" altLang="ko-KR" sz="2000" dirty="0"/>
              <a:t>Offloading</a:t>
            </a:r>
          </a:p>
          <a:p>
            <a:pPr marL="285750" indent="-285750">
              <a:buFont typeface="Arial" panose="020B0604020202020204" pitchFamily="34" charset="0"/>
              <a:buChar char="•"/>
            </a:pPr>
            <a:r>
              <a:rPr lang="en-US" altLang="ko-KR" sz="2000" dirty="0"/>
              <a:t>/dev/model6_dma Kernel Driver</a:t>
            </a:r>
            <a:r>
              <a:rPr lang="ko-KR" altLang="en-US" sz="2000" dirty="0"/>
              <a:t>를 통해 </a:t>
            </a:r>
            <a:r>
              <a:rPr lang="en-US" altLang="ko-KR" sz="2000" dirty="0"/>
              <a:t>FPGA </a:t>
            </a:r>
            <a:r>
              <a:rPr lang="ko-KR" altLang="en-US" sz="2000" dirty="0"/>
              <a:t>호출</a:t>
            </a:r>
            <a:endParaRPr lang="en-US" altLang="ko-KR" sz="2000" dirty="0"/>
          </a:p>
          <a:p>
            <a:endParaRPr lang="en-US" altLang="ko-KR" sz="2000" b="1" dirty="0"/>
          </a:p>
          <a:p>
            <a:r>
              <a:rPr lang="en-US" altLang="ko-KR" sz="2400" b="1" dirty="0"/>
              <a:t>PS–PL Data Transfer</a:t>
            </a:r>
          </a:p>
          <a:p>
            <a:pPr marL="285750" indent="-285750">
              <a:buFont typeface="Arial" panose="020B0604020202020204" pitchFamily="34" charset="0"/>
              <a:buChar char="•"/>
            </a:pPr>
            <a:r>
              <a:rPr lang="en-US" altLang="ko-KR" sz="2000" dirty="0"/>
              <a:t>MM2S : PS → FPGA </a:t>
            </a:r>
            <a:r>
              <a:rPr lang="ko-KR" altLang="en-US" sz="2000" dirty="0"/>
              <a:t>입력 전송</a:t>
            </a:r>
            <a:endParaRPr lang="en-US" altLang="ko-KR" sz="2000" dirty="0"/>
          </a:p>
          <a:p>
            <a:pPr marL="285750" indent="-285750">
              <a:buFont typeface="Arial" panose="020B0604020202020204" pitchFamily="34" charset="0"/>
              <a:buChar char="•"/>
            </a:pPr>
            <a:r>
              <a:rPr lang="en-US" altLang="ko-KR" sz="2000" dirty="0"/>
              <a:t>S2MM : FPGA → PS </a:t>
            </a:r>
            <a:r>
              <a:rPr lang="ko-KR" altLang="en-US" sz="2000" dirty="0"/>
              <a:t>출력 수신</a:t>
            </a:r>
          </a:p>
        </p:txBody>
      </p:sp>
      <p:sp>
        <p:nvSpPr>
          <p:cNvPr id="12" name="TextBox 11">
            <a:extLst>
              <a:ext uri="{FF2B5EF4-FFF2-40B4-BE49-F238E27FC236}">
                <a16:creationId xmlns:a16="http://schemas.microsoft.com/office/drawing/2014/main" id="{14ED8CC2-176D-4386-9B40-D37F00937628}"/>
              </a:ext>
            </a:extLst>
          </p:cNvPr>
          <p:cNvSpPr txBox="1"/>
          <p:nvPr/>
        </p:nvSpPr>
        <p:spPr>
          <a:xfrm>
            <a:off x="5783340" y="6200942"/>
            <a:ext cx="6096000" cy="369332"/>
          </a:xfrm>
          <a:prstGeom prst="rect">
            <a:avLst/>
          </a:prstGeom>
          <a:noFill/>
        </p:spPr>
        <p:txBody>
          <a:bodyPr wrap="square">
            <a:spAutoFit/>
          </a:bodyPr>
          <a:lstStyle/>
          <a:p>
            <a:r>
              <a:rPr lang="ko-KR" altLang="en-US" b="1" dirty="0"/>
              <a:t>→ 실제 </a:t>
            </a:r>
            <a:r>
              <a:rPr lang="en-US" altLang="ko-KR" b="1" dirty="0"/>
              <a:t>/dev/model6_dma</a:t>
            </a:r>
            <a:r>
              <a:rPr lang="ko-KR" altLang="en-US" b="1" dirty="0"/>
              <a:t>를 통한 </a:t>
            </a:r>
            <a:r>
              <a:rPr lang="en-US" altLang="ko-KR" b="1" dirty="0"/>
              <a:t>FPGA </a:t>
            </a:r>
            <a:r>
              <a:rPr lang="ko-KR" altLang="en-US" b="1" dirty="0"/>
              <a:t>연결 확인</a:t>
            </a:r>
          </a:p>
        </p:txBody>
      </p:sp>
    </p:spTree>
    <p:extLst>
      <p:ext uri="{BB962C8B-B14F-4D97-AF65-F5344CB8AC3E}">
        <p14:creationId xmlns:p14="http://schemas.microsoft.com/office/powerpoint/2010/main" val="5578677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D2704-B189-16D5-051D-66672DC9440C}"/>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9080851-458F-CFF8-A34F-77B16E456A6F}"/>
              </a:ext>
            </a:extLst>
          </p:cNvPr>
          <p:cNvSpPr/>
          <p:nvPr/>
        </p:nvSpPr>
        <p:spPr>
          <a:xfrm>
            <a:off x="466997" y="101700"/>
            <a:ext cx="11094415" cy="680451"/>
          </a:xfrm>
          <a:prstGeom prst="rect">
            <a:avLst/>
          </a:prstGeom>
          <a:noFill/>
          <a:ln/>
        </p:spPr>
        <p:txBody>
          <a:bodyPr wrap="square" lIns="0" tIns="0" rIns="0" bIns="0" rtlCol="0" anchor="ctr"/>
          <a:lstStyle/>
          <a:p>
            <a:pPr algn="ctr"/>
            <a:r>
              <a:rPr lang="en-US" altLang="ko-KR" sz="2800" b="1">
                <a:solidFill>
                  <a:srgbClr val="1F3B66"/>
                </a:solidFill>
                <a:latin typeface="Arial"/>
                <a:ea typeface="맑은 고딕"/>
                <a:cs typeface="Arial"/>
              </a:rPr>
              <a:t>DMA </a:t>
            </a:r>
            <a:r>
              <a:rPr lang="ko-KR" altLang="en-US" sz="2800" b="1" dirty="0">
                <a:solidFill>
                  <a:srgbClr val="1F3B66"/>
                </a:solidFill>
                <a:latin typeface="Arial"/>
                <a:ea typeface="맑은 고딕"/>
                <a:cs typeface="Arial"/>
              </a:rPr>
              <a:t>문제와 해결 과정</a:t>
            </a:r>
          </a:p>
        </p:txBody>
      </p:sp>
      <p:pic>
        <p:nvPicPr>
          <p:cNvPr id="4" name="그림 3">
            <a:extLst>
              <a:ext uri="{FF2B5EF4-FFF2-40B4-BE49-F238E27FC236}">
                <a16:creationId xmlns:a16="http://schemas.microsoft.com/office/drawing/2014/main" id="{503F5BE8-B0E7-429B-BF5E-D31DF35F5CB0}"/>
              </a:ext>
            </a:extLst>
          </p:cNvPr>
          <p:cNvPicPr>
            <a:picLocks noChangeAspect="1"/>
          </p:cNvPicPr>
          <p:nvPr/>
        </p:nvPicPr>
        <p:blipFill rotWithShape="1">
          <a:blip r:embed="rId3"/>
          <a:srcRect t="12737"/>
          <a:stretch/>
        </p:blipFill>
        <p:spPr>
          <a:xfrm>
            <a:off x="870704" y="771828"/>
            <a:ext cx="10287000" cy="5984472"/>
          </a:xfrm>
          <a:prstGeom prst="rect">
            <a:avLst/>
          </a:prstGeom>
        </p:spPr>
      </p:pic>
    </p:spTree>
    <p:extLst>
      <p:ext uri="{BB962C8B-B14F-4D97-AF65-F5344CB8AC3E}">
        <p14:creationId xmlns:p14="http://schemas.microsoft.com/office/powerpoint/2010/main" val="30430755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D2704-B189-16D5-051D-66672DC9440C}"/>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9080851-458F-CFF8-A34F-77B16E456A6F}"/>
              </a:ext>
            </a:extLst>
          </p:cNvPr>
          <p:cNvSpPr/>
          <p:nvPr/>
        </p:nvSpPr>
        <p:spPr>
          <a:xfrm>
            <a:off x="466997" y="156356"/>
            <a:ext cx="11094415" cy="417290"/>
          </a:xfrm>
          <a:prstGeom prst="rect">
            <a:avLst/>
          </a:prstGeom>
          <a:noFill/>
          <a:ln/>
        </p:spPr>
        <p:txBody>
          <a:bodyPr wrap="square" lIns="0" tIns="0" rIns="0" bIns="0" rtlCol="0" anchor="ctr"/>
          <a:lstStyle/>
          <a:p>
            <a:pPr algn="ctr"/>
            <a:r>
              <a:rPr lang="nn-NO" altLang="ko-KR" sz="2800" b="1">
                <a:solidFill>
                  <a:srgbClr val="1F3B66"/>
                </a:solidFill>
                <a:latin typeface="Arial"/>
                <a:ea typeface="맑은 고딕"/>
                <a:cs typeface="Arial"/>
              </a:rPr>
              <a:t>CPU–FPGA Frame Pipelining </a:t>
            </a:r>
            <a:endParaRPr lang="ko-KR" altLang="en-US" sz="2800" b="1">
              <a:solidFill>
                <a:srgbClr val="1F3B66"/>
              </a:solidFill>
              <a:latin typeface="Arial"/>
              <a:ea typeface="맑은 고딕"/>
              <a:cs typeface="Arial"/>
            </a:endParaRPr>
          </a:p>
        </p:txBody>
      </p:sp>
      <p:pic>
        <p:nvPicPr>
          <p:cNvPr id="23" name="그림 22">
            <a:extLst>
              <a:ext uri="{FF2B5EF4-FFF2-40B4-BE49-F238E27FC236}">
                <a16:creationId xmlns:a16="http://schemas.microsoft.com/office/drawing/2014/main" id="{9FF4ECB9-BD06-4F14-B18A-BBADB49A82FF}"/>
              </a:ext>
            </a:extLst>
          </p:cNvPr>
          <p:cNvPicPr>
            <a:picLocks noChangeAspect="1"/>
          </p:cNvPicPr>
          <p:nvPr/>
        </p:nvPicPr>
        <p:blipFill>
          <a:blip r:embed="rId3"/>
          <a:stretch>
            <a:fillRect/>
          </a:stretch>
        </p:blipFill>
        <p:spPr>
          <a:xfrm>
            <a:off x="869100" y="818256"/>
            <a:ext cx="10453799" cy="5883388"/>
          </a:xfrm>
          <a:prstGeom prst="rect">
            <a:avLst/>
          </a:prstGeom>
        </p:spPr>
      </p:pic>
    </p:spTree>
    <p:extLst>
      <p:ext uri="{BB962C8B-B14F-4D97-AF65-F5344CB8AC3E}">
        <p14:creationId xmlns:p14="http://schemas.microsoft.com/office/powerpoint/2010/main" val="3534720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D2704-B189-16D5-051D-66672DC9440C}"/>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9080851-458F-CFF8-A34F-77B16E456A6F}"/>
              </a:ext>
            </a:extLst>
          </p:cNvPr>
          <p:cNvSpPr/>
          <p:nvPr/>
        </p:nvSpPr>
        <p:spPr>
          <a:xfrm>
            <a:off x="352926" y="-98223"/>
            <a:ext cx="11094415" cy="974291"/>
          </a:xfrm>
          <a:prstGeom prst="rect">
            <a:avLst/>
          </a:prstGeom>
          <a:noFill/>
          <a:ln/>
        </p:spPr>
        <p:txBody>
          <a:bodyPr wrap="square" lIns="0" tIns="0" rIns="0" bIns="0" rtlCol="0" anchor="ctr"/>
          <a:lstStyle/>
          <a:p>
            <a:pPr algn="ctr"/>
            <a:r>
              <a:rPr lang="en-US" altLang="ko-KR" sz="2800" b="1">
                <a:solidFill>
                  <a:srgbClr val="1F3B66"/>
                </a:solidFill>
                <a:latin typeface="Arial"/>
                <a:ea typeface="맑은 고딕"/>
                <a:cs typeface="Arial"/>
              </a:rPr>
              <a:t>YOLOv8n FPGA </a:t>
            </a:r>
            <a:r>
              <a:rPr lang="ko-KR" altLang="en-US" sz="2800" b="1" dirty="0">
                <a:solidFill>
                  <a:srgbClr val="1F3B66"/>
                </a:solidFill>
                <a:latin typeface="Arial"/>
                <a:ea typeface="맑은 고딕"/>
                <a:cs typeface="Arial"/>
              </a:rPr>
              <a:t>적용 </a:t>
            </a:r>
            <a:r>
              <a:rPr lang="en-US" altLang="ko-KR" sz="2800" b="1" dirty="0">
                <a:solidFill>
                  <a:srgbClr val="1F3B66"/>
                </a:solidFill>
                <a:latin typeface="Arial"/>
                <a:ea typeface="맑은 고딕"/>
                <a:cs typeface="Arial"/>
              </a:rPr>
              <a:t>/ Calibration </a:t>
            </a:r>
            <a:r>
              <a:rPr lang="ko-KR" altLang="en-US" sz="2800" b="1" dirty="0">
                <a:solidFill>
                  <a:srgbClr val="1F3B66"/>
                </a:solidFill>
                <a:latin typeface="Arial"/>
                <a:ea typeface="맑은 고딕"/>
                <a:cs typeface="Arial"/>
              </a:rPr>
              <a:t>수정</a:t>
            </a:r>
          </a:p>
        </p:txBody>
      </p:sp>
      <p:pic>
        <p:nvPicPr>
          <p:cNvPr id="2" name="그림 1">
            <a:extLst>
              <a:ext uri="{FF2B5EF4-FFF2-40B4-BE49-F238E27FC236}">
                <a16:creationId xmlns:a16="http://schemas.microsoft.com/office/drawing/2014/main" id="{011B67A5-A1C2-4FD1-A6FA-0B32738C192A}"/>
              </a:ext>
            </a:extLst>
          </p:cNvPr>
          <p:cNvPicPr>
            <a:picLocks noChangeAspect="1"/>
          </p:cNvPicPr>
          <p:nvPr/>
        </p:nvPicPr>
        <p:blipFill rotWithShape="1">
          <a:blip r:embed="rId3"/>
          <a:srcRect l="5077" r="61781"/>
          <a:stretch/>
        </p:blipFill>
        <p:spPr>
          <a:xfrm>
            <a:off x="352926" y="763774"/>
            <a:ext cx="3560380" cy="6046100"/>
          </a:xfrm>
          <a:prstGeom prst="rect">
            <a:avLst/>
          </a:prstGeom>
        </p:spPr>
      </p:pic>
      <p:pic>
        <p:nvPicPr>
          <p:cNvPr id="4" name="그림 3">
            <a:extLst>
              <a:ext uri="{FF2B5EF4-FFF2-40B4-BE49-F238E27FC236}">
                <a16:creationId xmlns:a16="http://schemas.microsoft.com/office/drawing/2014/main" id="{E9322244-3DBD-422E-A92E-C449F425230C}"/>
              </a:ext>
            </a:extLst>
          </p:cNvPr>
          <p:cNvPicPr>
            <a:picLocks noChangeAspect="1"/>
          </p:cNvPicPr>
          <p:nvPr/>
        </p:nvPicPr>
        <p:blipFill rotWithShape="1">
          <a:blip r:embed="rId3"/>
          <a:srcRect l="42101"/>
          <a:stretch/>
        </p:blipFill>
        <p:spPr>
          <a:xfrm>
            <a:off x="5237074" y="880934"/>
            <a:ext cx="5467372" cy="4887058"/>
          </a:xfrm>
          <a:prstGeom prst="rect">
            <a:avLst/>
          </a:prstGeom>
        </p:spPr>
      </p:pic>
      <p:sp>
        <p:nvSpPr>
          <p:cNvPr id="10" name="TextBox 9">
            <a:extLst>
              <a:ext uri="{FF2B5EF4-FFF2-40B4-BE49-F238E27FC236}">
                <a16:creationId xmlns:a16="http://schemas.microsoft.com/office/drawing/2014/main" id="{47B87CC1-E047-43CD-8F7D-CD500151E3ED}"/>
              </a:ext>
            </a:extLst>
          </p:cNvPr>
          <p:cNvSpPr txBox="1"/>
          <p:nvPr/>
        </p:nvSpPr>
        <p:spPr>
          <a:xfrm>
            <a:off x="4513202" y="5880814"/>
            <a:ext cx="6915116" cy="707886"/>
          </a:xfrm>
          <a:prstGeom prst="rect">
            <a:avLst/>
          </a:prstGeom>
          <a:noFill/>
        </p:spPr>
        <p:txBody>
          <a:bodyPr wrap="square">
            <a:spAutoFit/>
          </a:bodyPr>
          <a:lstStyle/>
          <a:p>
            <a:pPr algn="ctr"/>
            <a:r>
              <a:rPr lang="en-US" altLang="ko-KR" sz="2000" b="1" dirty="0">
                <a:latin typeface="+mj-ea"/>
                <a:ea typeface="+mj-ea"/>
              </a:rPr>
              <a:t>YOLOv8n model.6 </a:t>
            </a:r>
            <a:r>
              <a:rPr lang="ko-KR" altLang="en-US" sz="2000" b="1" dirty="0">
                <a:latin typeface="+mj-ea"/>
                <a:ea typeface="+mj-ea"/>
              </a:rPr>
              <a:t>연산 일부를 </a:t>
            </a:r>
            <a:r>
              <a:rPr lang="en-US" altLang="ko-KR" sz="2000" b="1" dirty="0">
                <a:latin typeface="+mj-ea"/>
                <a:ea typeface="+mj-ea"/>
              </a:rPr>
              <a:t>FPGA</a:t>
            </a:r>
            <a:r>
              <a:rPr lang="ko-KR" altLang="en-US" sz="2000" b="1" dirty="0">
                <a:latin typeface="+mj-ea"/>
                <a:ea typeface="+mj-ea"/>
              </a:rPr>
              <a:t>로 </a:t>
            </a:r>
            <a:r>
              <a:rPr lang="en-US" altLang="ko-KR" sz="2000" b="1" dirty="0">
                <a:latin typeface="+mj-ea"/>
                <a:ea typeface="+mj-ea"/>
              </a:rPr>
              <a:t>Offloading</a:t>
            </a:r>
            <a:r>
              <a:rPr lang="ko-KR" altLang="en-US" sz="2000" b="1" dirty="0">
                <a:latin typeface="+mj-ea"/>
                <a:ea typeface="+mj-ea"/>
              </a:rPr>
              <a:t>하여 실제 가속기 실행 경로 구성</a:t>
            </a:r>
          </a:p>
        </p:txBody>
      </p:sp>
    </p:spTree>
    <p:extLst>
      <p:ext uri="{BB962C8B-B14F-4D97-AF65-F5344CB8AC3E}">
        <p14:creationId xmlns:p14="http://schemas.microsoft.com/office/powerpoint/2010/main" val="15714315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D2704-B189-16D5-051D-66672DC9440C}"/>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9080851-458F-CFF8-A34F-77B16E456A6F}"/>
              </a:ext>
            </a:extLst>
          </p:cNvPr>
          <p:cNvSpPr/>
          <p:nvPr/>
        </p:nvSpPr>
        <p:spPr>
          <a:xfrm>
            <a:off x="492643" y="32085"/>
            <a:ext cx="11094415" cy="845856"/>
          </a:xfrm>
          <a:prstGeom prst="rect">
            <a:avLst/>
          </a:prstGeom>
          <a:noFill/>
          <a:ln/>
        </p:spPr>
        <p:txBody>
          <a:bodyPr wrap="square" lIns="0" tIns="0" rIns="0" bIns="0" rtlCol="0" anchor="ctr"/>
          <a:lstStyle/>
          <a:p>
            <a:pPr algn="ctr"/>
            <a:r>
              <a:rPr lang="ko-KR" altLang="en-US" sz="2800" b="1">
                <a:solidFill>
                  <a:srgbClr val="1F3B66"/>
                </a:solidFill>
                <a:latin typeface="Arial"/>
                <a:ea typeface="맑은 고딕"/>
                <a:cs typeface="Arial"/>
              </a:rPr>
              <a:t>실제 </a:t>
            </a:r>
            <a:r>
              <a:rPr lang="en-US" altLang="ko-KR" sz="2800" b="1" dirty="0">
                <a:solidFill>
                  <a:srgbClr val="1F3B66"/>
                </a:solidFill>
                <a:latin typeface="Arial"/>
                <a:ea typeface="맑은 고딕"/>
                <a:cs typeface="Arial"/>
              </a:rPr>
              <a:t>Webcam </a:t>
            </a:r>
            <a:r>
              <a:rPr lang="ko-KR" altLang="en-US" sz="2800" b="1" dirty="0">
                <a:solidFill>
                  <a:srgbClr val="1F3B66"/>
                </a:solidFill>
                <a:latin typeface="Arial"/>
                <a:ea typeface="맑은 고딕"/>
                <a:cs typeface="Arial"/>
              </a:rPr>
              <a:t>실행 및 성능 결과</a:t>
            </a:r>
          </a:p>
        </p:txBody>
      </p:sp>
      <p:pic>
        <p:nvPicPr>
          <p:cNvPr id="8" name="그림 7">
            <a:extLst>
              <a:ext uri="{FF2B5EF4-FFF2-40B4-BE49-F238E27FC236}">
                <a16:creationId xmlns:a16="http://schemas.microsoft.com/office/drawing/2014/main" id="{6B7AE29A-474E-42DB-A1FC-DB215DF7D529}"/>
              </a:ext>
            </a:extLst>
          </p:cNvPr>
          <p:cNvPicPr>
            <a:picLocks noChangeAspect="1"/>
          </p:cNvPicPr>
          <p:nvPr/>
        </p:nvPicPr>
        <p:blipFill rotWithShape="1">
          <a:blip r:embed="rId3"/>
          <a:srcRect l="16250" t="35077" r="50000" b="8721"/>
          <a:stretch/>
        </p:blipFill>
        <p:spPr>
          <a:xfrm>
            <a:off x="476601" y="1193025"/>
            <a:ext cx="4929589" cy="4412286"/>
          </a:xfrm>
          <a:prstGeom prst="rect">
            <a:avLst/>
          </a:prstGeom>
        </p:spPr>
      </p:pic>
      <p:pic>
        <p:nvPicPr>
          <p:cNvPr id="10" name="그림 9">
            <a:extLst>
              <a:ext uri="{FF2B5EF4-FFF2-40B4-BE49-F238E27FC236}">
                <a16:creationId xmlns:a16="http://schemas.microsoft.com/office/drawing/2014/main" id="{95BF1472-93F9-4FD7-B52E-132CF204D0C2}"/>
              </a:ext>
            </a:extLst>
          </p:cNvPr>
          <p:cNvPicPr>
            <a:picLocks noChangeAspect="1"/>
          </p:cNvPicPr>
          <p:nvPr/>
        </p:nvPicPr>
        <p:blipFill rotWithShape="1">
          <a:blip r:embed="rId4"/>
          <a:srcRect l="27406" t="33227" r="5207" b="13862"/>
          <a:stretch/>
        </p:blipFill>
        <p:spPr>
          <a:xfrm>
            <a:off x="5694947" y="1173027"/>
            <a:ext cx="5924199" cy="4356029"/>
          </a:xfrm>
          <a:prstGeom prst="rect">
            <a:avLst/>
          </a:prstGeom>
        </p:spPr>
      </p:pic>
      <p:sp>
        <p:nvSpPr>
          <p:cNvPr id="7" name="TextBox 6">
            <a:extLst>
              <a:ext uri="{FF2B5EF4-FFF2-40B4-BE49-F238E27FC236}">
                <a16:creationId xmlns:a16="http://schemas.microsoft.com/office/drawing/2014/main" id="{F348ADDD-2A0A-43E3-A38A-4D143974A05F}"/>
              </a:ext>
            </a:extLst>
          </p:cNvPr>
          <p:cNvSpPr txBox="1"/>
          <p:nvPr/>
        </p:nvSpPr>
        <p:spPr>
          <a:xfrm>
            <a:off x="946484" y="5848266"/>
            <a:ext cx="6096000" cy="461665"/>
          </a:xfrm>
          <a:prstGeom prst="rect">
            <a:avLst/>
          </a:prstGeom>
          <a:noFill/>
        </p:spPr>
        <p:txBody>
          <a:bodyPr wrap="square">
            <a:spAutoFit/>
          </a:bodyPr>
          <a:lstStyle/>
          <a:p>
            <a:r>
              <a:rPr lang="ko-KR" altLang="en-US" sz="2400" b="1" dirty="0"/>
              <a:t>실제 </a:t>
            </a:r>
            <a:r>
              <a:rPr lang="en-US" altLang="ko-KR" sz="2400" b="1" dirty="0"/>
              <a:t>PPE Detection </a:t>
            </a:r>
            <a:r>
              <a:rPr lang="ko-KR" altLang="en-US" sz="2400" b="1" dirty="0"/>
              <a:t>동작 확인</a:t>
            </a:r>
          </a:p>
        </p:txBody>
      </p:sp>
      <p:sp>
        <p:nvSpPr>
          <p:cNvPr id="9" name="TextBox 8">
            <a:extLst>
              <a:ext uri="{FF2B5EF4-FFF2-40B4-BE49-F238E27FC236}">
                <a16:creationId xmlns:a16="http://schemas.microsoft.com/office/drawing/2014/main" id="{2BD57E5D-54C3-45DF-922D-3A3D9AE615A0}"/>
              </a:ext>
            </a:extLst>
          </p:cNvPr>
          <p:cNvSpPr txBox="1"/>
          <p:nvPr/>
        </p:nvSpPr>
        <p:spPr>
          <a:xfrm>
            <a:off x="6071937" y="5592145"/>
            <a:ext cx="6096000" cy="965457"/>
          </a:xfrm>
          <a:prstGeom prst="rect">
            <a:avLst/>
          </a:prstGeom>
          <a:noFill/>
        </p:spPr>
        <p:txBody>
          <a:bodyPr wrap="square">
            <a:spAutoFit/>
          </a:bodyPr>
          <a:lstStyle/>
          <a:p>
            <a:pPr>
              <a:lnSpc>
                <a:spcPct val="150000"/>
              </a:lnSpc>
            </a:pPr>
            <a:r>
              <a:rPr lang="en-US" altLang="ko-KR" sz="2000" b="1" dirty="0"/>
              <a:t>Webcam </a:t>
            </a:r>
            <a:r>
              <a:rPr lang="ko-KR" altLang="en-US" sz="2000" b="1" dirty="0"/>
              <a:t>기반 </a:t>
            </a:r>
            <a:r>
              <a:rPr lang="en-US" altLang="ko-KR" sz="2000" b="1" dirty="0"/>
              <a:t>End-to-End HW/SW </a:t>
            </a:r>
            <a:r>
              <a:rPr lang="ko-KR" altLang="en-US" sz="2000" b="1" dirty="0"/>
              <a:t>통합 추론 성공</a:t>
            </a:r>
            <a:endParaRPr lang="en-US" altLang="ko-KR" sz="2000" b="1" dirty="0"/>
          </a:p>
          <a:p>
            <a:pPr>
              <a:lnSpc>
                <a:spcPct val="150000"/>
              </a:lnSpc>
            </a:pPr>
            <a:r>
              <a:rPr lang="en-US" altLang="ko-KR" sz="2000" b="1" dirty="0"/>
              <a:t>FPGA </a:t>
            </a:r>
            <a:r>
              <a:rPr lang="ko-KR" altLang="en-US" sz="2000" b="1" dirty="0"/>
              <a:t>가속기와 </a:t>
            </a:r>
            <a:r>
              <a:rPr lang="en-US" altLang="ko-KR" sz="2000" b="1" dirty="0"/>
              <a:t>SW Pipeline</a:t>
            </a:r>
            <a:r>
              <a:rPr lang="ko-KR" altLang="en-US" sz="2000" b="1" dirty="0"/>
              <a:t>의 실제 연동 확인</a:t>
            </a:r>
          </a:p>
        </p:txBody>
      </p:sp>
      <p:pic>
        <p:nvPicPr>
          <p:cNvPr id="5" name="그림 4">
            <a:extLst>
              <a:ext uri="{FF2B5EF4-FFF2-40B4-BE49-F238E27FC236}">
                <a16:creationId xmlns:a16="http://schemas.microsoft.com/office/drawing/2014/main" id="{0F4CA6C1-998E-4401-8A34-A460817E58AD}"/>
              </a:ext>
            </a:extLst>
          </p:cNvPr>
          <p:cNvPicPr>
            <a:picLocks noChangeAspect="1"/>
          </p:cNvPicPr>
          <p:nvPr/>
        </p:nvPicPr>
        <p:blipFill>
          <a:blip r:embed="rId5"/>
          <a:stretch>
            <a:fillRect/>
          </a:stretch>
        </p:blipFill>
        <p:spPr>
          <a:xfrm>
            <a:off x="586789" y="5871526"/>
            <a:ext cx="359695" cy="377985"/>
          </a:xfrm>
          <a:prstGeom prst="rect">
            <a:avLst/>
          </a:prstGeom>
        </p:spPr>
      </p:pic>
      <p:sp>
        <p:nvSpPr>
          <p:cNvPr id="11" name="Shape 1">
            <a:extLst>
              <a:ext uri="{FF2B5EF4-FFF2-40B4-BE49-F238E27FC236}">
                <a16:creationId xmlns:a16="http://schemas.microsoft.com/office/drawing/2014/main" id="{C232175C-3187-4D3F-8105-ED7EF54B53B7}"/>
              </a:ext>
            </a:extLst>
          </p:cNvPr>
          <p:cNvSpPr/>
          <p:nvPr/>
        </p:nvSpPr>
        <p:spPr>
          <a:xfrm>
            <a:off x="3291840" y="1737360"/>
            <a:ext cx="274320" cy="274320"/>
          </a:xfrm>
          <a:prstGeom prst="ellipse">
            <a:avLst/>
          </a:prstGeom>
          <a:solidFill>
            <a:srgbClr val="3E8E5A"/>
          </a:solidFill>
          <a:ln/>
        </p:spPr>
      </p:sp>
      <p:sp>
        <p:nvSpPr>
          <p:cNvPr id="13" name="Text 2">
            <a:extLst>
              <a:ext uri="{FF2B5EF4-FFF2-40B4-BE49-F238E27FC236}">
                <a16:creationId xmlns:a16="http://schemas.microsoft.com/office/drawing/2014/main" id="{F73D943A-C2FB-4BD6-91C7-1E2E6DB080B6}"/>
              </a:ext>
            </a:extLst>
          </p:cNvPr>
          <p:cNvSpPr/>
          <p:nvPr/>
        </p:nvSpPr>
        <p:spPr>
          <a:xfrm>
            <a:off x="3291840" y="173736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4" name="Shape 1">
            <a:extLst>
              <a:ext uri="{FF2B5EF4-FFF2-40B4-BE49-F238E27FC236}">
                <a16:creationId xmlns:a16="http://schemas.microsoft.com/office/drawing/2014/main" id="{DB0A173A-69CA-462C-A836-067E94DC7427}"/>
              </a:ext>
            </a:extLst>
          </p:cNvPr>
          <p:cNvSpPr/>
          <p:nvPr/>
        </p:nvSpPr>
        <p:spPr>
          <a:xfrm>
            <a:off x="5734252" y="5734366"/>
            <a:ext cx="274320" cy="274320"/>
          </a:xfrm>
          <a:prstGeom prst="ellipse">
            <a:avLst/>
          </a:prstGeom>
          <a:solidFill>
            <a:srgbClr val="3E8E5A"/>
          </a:solidFill>
          <a:ln/>
        </p:spPr>
      </p:sp>
      <p:sp>
        <p:nvSpPr>
          <p:cNvPr id="15" name="Text 2">
            <a:extLst>
              <a:ext uri="{FF2B5EF4-FFF2-40B4-BE49-F238E27FC236}">
                <a16:creationId xmlns:a16="http://schemas.microsoft.com/office/drawing/2014/main" id="{3E3D9210-E99F-485D-AC48-9073E6CAE60A}"/>
              </a:ext>
            </a:extLst>
          </p:cNvPr>
          <p:cNvSpPr/>
          <p:nvPr/>
        </p:nvSpPr>
        <p:spPr>
          <a:xfrm>
            <a:off x="5734252" y="5734366"/>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6" name="Shape 1">
            <a:extLst>
              <a:ext uri="{FF2B5EF4-FFF2-40B4-BE49-F238E27FC236}">
                <a16:creationId xmlns:a16="http://schemas.microsoft.com/office/drawing/2014/main" id="{500E101C-68C2-4644-881F-38F9DD526A9F}"/>
              </a:ext>
            </a:extLst>
          </p:cNvPr>
          <p:cNvSpPr/>
          <p:nvPr/>
        </p:nvSpPr>
        <p:spPr>
          <a:xfrm>
            <a:off x="5734252" y="6231636"/>
            <a:ext cx="274320" cy="274320"/>
          </a:xfrm>
          <a:prstGeom prst="ellipse">
            <a:avLst/>
          </a:prstGeom>
          <a:solidFill>
            <a:srgbClr val="3E8E5A"/>
          </a:solidFill>
          <a:ln/>
        </p:spPr>
      </p:sp>
      <p:sp>
        <p:nvSpPr>
          <p:cNvPr id="17" name="Text 2">
            <a:extLst>
              <a:ext uri="{FF2B5EF4-FFF2-40B4-BE49-F238E27FC236}">
                <a16:creationId xmlns:a16="http://schemas.microsoft.com/office/drawing/2014/main" id="{F193B9B6-1DB4-47CB-9567-B48317954B47}"/>
              </a:ext>
            </a:extLst>
          </p:cNvPr>
          <p:cNvSpPr/>
          <p:nvPr/>
        </p:nvSpPr>
        <p:spPr>
          <a:xfrm>
            <a:off x="5734252" y="6231636"/>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Tree>
    <p:extLst>
      <p:ext uri="{BB962C8B-B14F-4D97-AF65-F5344CB8AC3E}">
        <p14:creationId xmlns:p14="http://schemas.microsoft.com/office/powerpoint/2010/main" val="20561920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28778"/>
            <a:ext cx="11277295" cy="502920"/>
          </a:xfrm>
          <a:prstGeom prst="rect">
            <a:avLst/>
          </a:prstGeom>
          <a:noFill/>
          <a:ln/>
        </p:spPr>
        <p:txBody>
          <a:bodyPr wrap="square" lIns="0" tIns="0" rIns="0" bIns="0" rtlCol="0" anchor="ctr"/>
          <a:lstStyle/>
          <a:p>
            <a:pPr algn="ctr"/>
            <a:r>
              <a:rPr lang="ko-KR" altLang="en-US" sz="2600" b="1">
                <a:solidFill>
                  <a:srgbClr val="1F3B66"/>
                </a:solidFill>
                <a:latin typeface="Arial"/>
                <a:ea typeface="맑은 고딕"/>
                <a:cs typeface="Arial"/>
              </a:rPr>
              <a:t>성능 분석 — 왜 fps 낮은가</a:t>
            </a:r>
            <a:endParaRPr lang="en-US" sz="2600">
              <a:solidFill>
                <a:srgbClr val="000000"/>
              </a:solidFill>
              <a:latin typeface="맑은 고딕"/>
              <a:ea typeface="맑은 고딕"/>
              <a:cs typeface="Calibri"/>
            </a:endParaRPr>
          </a:p>
        </p:txBody>
      </p:sp>
      <p:sp>
        <p:nvSpPr>
          <p:cNvPr id="4" name="Shape 2"/>
          <p:cNvSpPr/>
          <p:nvPr/>
        </p:nvSpPr>
        <p:spPr>
          <a:xfrm>
            <a:off x="1798168" y="1280160"/>
            <a:ext cx="3657600" cy="1783080"/>
          </a:xfrm>
          <a:prstGeom prst="roundRect">
            <a:avLst>
              <a:gd name="adj" fmla="val 5128"/>
            </a:avLst>
          </a:prstGeom>
          <a:solidFill>
            <a:srgbClr val="FBEAE7"/>
          </a:solidFill>
          <a:ln/>
        </p:spPr>
        <p:txBody>
          <a:bodyPr/>
          <a:lstStyle/>
          <a:p>
            <a:endParaRPr lang="ko-KR" altLang="en-US"/>
          </a:p>
        </p:txBody>
      </p:sp>
      <p:sp>
        <p:nvSpPr>
          <p:cNvPr id="5" name="Text 3"/>
          <p:cNvSpPr/>
          <p:nvPr/>
        </p:nvSpPr>
        <p:spPr>
          <a:xfrm>
            <a:off x="1798168" y="1408176"/>
            <a:ext cx="3657600" cy="274320"/>
          </a:xfrm>
          <a:prstGeom prst="rect">
            <a:avLst/>
          </a:prstGeom>
          <a:noFill/>
          <a:ln/>
        </p:spPr>
        <p:txBody>
          <a:bodyPr wrap="square" lIns="0" tIns="0" rIns="0" bIns="0" rtlCol="0" anchor="ctr"/>
          <a:lstStyle/>
          <a:p>
            <a:pPr marL="0" indent="0" algn="ctr">
              <a:buNone/>
            </a:pPr>
            <a:r>
              <a:rPr lang="en-US" sz="2000" b="1" dirty="0">
                <a:solidFill>
                  <a:srgbClr val="B33A3A"/>
                </a:solidFill>
                <a:latin typeface="Arial"/>
                <a:ea typeface="Arial" pitchFamily="34" charset="-122"/>
                <a:cs typeface="Arial"/>
              </a:rPr>
              <a:t>FPGA 가 맡은 몫</a:t>
            </a:r>
            <a:endParaRPr lang="en-US" sz="2000" b="1">
              <a:solidFill>
                <a:srgbClr val="B33A3A"/>
              </a:solidFill>
              <a:latin typeface="Arial"/>
              <a:cs typeface="Arial"/>
            </a:endParaRPr>
          </a:p>
        </p:txBody>
      </p:sp>
      <p:sp>
        <p:nvSpPr>
          <p:cNvPr id="6" name="Text 4"/>
          <p:cNvSpPr/>
          <p:nvPr/>
        </p:nvSpPr>
        <p:spPr>
          <a:xfrm>
            <a:off x="1743740" y="1773647"/>
            <a:ext cx="3712028" cy="938347"/>
          </a:xfrm>
          <a:prstGeom prst="rect">
            <a:avLst/>
          </a:prstGeom>
          <a:noFill/>
          <a:ln/>
        </p:spPr>
        <p:txBody>
          <a:bodyPr wrap="square" lIns="0" tIns="0" rIns="0" bIns="0" rtlCol="0" anchor="ctr"/>
          <a:lstStyle/>
          <a:p>
            <a:pPr algn="ctr"/>
            <a:r>
              <a:rPr lang="en-US">
                <a:solidFill>
                  <a:srgbClr val="B33A3A"/>
                </a:solidFill>
                <a:latin typeface="Calibri"/>
                <a:ea typeface="Calibri"/>
                <a:cs typeface="Calibri"/>
              </a:rPr>
              <a:t>0.055 초</a:t>
            </a:r>
            <a:endParaRPr lang="en-US">
              <a:solidFill>
                <a:srgbClr val="000000"/>
              </a:solidFill>
              <a:latin typeface="Calibri"/>
              <a:ea typeface="Calibri"/>
              <a:cs typeface="Calibri"/>
            </a:endParaRPr>
          </a:p>
          <a:p>
            <a:pPr algn="ctr"/>
            <a:r>
              <a:rPr lang="en-US">
                <a:solidFill>
                  <a:srgbClr val="B33A3A"/>
                </a:solidFill>
                <a:latin typeface="Calibri"/>
                <a:ea typeface="Calibri"/>
                <a:cs typeface="Calibri"/>
              </a:rPr>
              <a:t>전체의 4 %</a:t>
            </a:r>
            <a:endParaRPr lang="en-US">
              <a:solidFill>
                <a:srgbClr val="000000"/>
              </a:solidFill>
              <a:latin typeface="Calibri"/>
              <a:ea typeface="Calibri"/>
              <a:cs typeface="Calibri"/>
            </a:endParaRPr>
          </a:p>
        </p:txBody>
      </p:sp>
      <p:sp>
        <p:nvSpPr>
          <p:cNvPr id="9" name="Shape 7"/>
          <p:cNvSpPr/>
          <p:nvPr/>
        </p:nvSpPr>
        <p:spPr>
          <a:xfrm>
            <a:off x="5638648" y="1970532"/>
            <a:ext cx="914400" cy="402336"/>
          </a:xfrm>
          <a:prstGeom prst="rightArrow">
            <a:avLst/>
          </a:prstGeom>
          <a:solidFill>
            <a:srgbClr val="8A929E"/>
          </a:solidFill>
          <a:ln/>
        </p:spPr>
        <p:txBody>
          <a:bodyPr/>
          <a:lstStyle/>
          <a:p>
            <a:endParaRPr lang="ko-KR" altLang="en-US"/>
          </a:p>
        </p:txBody>
      </p:sp>
      <p:sp>
        <p:nvSpPr>
          <p:cNvPr id="10" name="Shape 8"/>
          <p:cNvSpPr/>
          <p:nvPr/>
        </p:nvSpPr>
        <p:spPr>
          <a:xfrm>
            <a:off x="6735928" y="1280160"/>
            <a:ext cx="3657600" cy="1783080"/>
          </a:xfrm>
          <a:prstGeom prst="roundRect">
            <a:avLst>
              <a:gd name="adj" fmla="val 5128"/>
            </a:avLst>
          </a:prstGeom>
          <a:solidFill>
            <a:srgbClr val="E7F3EC"/>
          </a:solidFill>
          <a:ln/>
        </p:spPr>
        <p:txBody>
          <a:bodyPr/>
          <a:lstStyle/>
          <a:p>
            <a:endParaRPr lang="ko-KR" altLang="en-US"/>
          </a:p>
        </p:txBody>
      </p:sp>
      <p:sp>
        <p:nvSpPr>
          <p:cNvPr id="11" name="Text 9"/>
          <p:cNvSpPr/>
          <p:nvPr/>
        </p:nvSpPr>
        <p:spPr>
          <a:xfrm>
            <a:off x="6735928" y="1408176"/>
            <a:ext cx="3657600" cy="274320"/>
          </a:xfrm>
          <a:prstGeom prst="rect">
            <a:avLst/>
          </a:prstGeom>
          <a:noFill/>
          <a:ln/>
        </p:spPr>
        <p:txBody>
          <a:bodyPr wrap="square" lIns="0" tIns="0" rIns="0" bIns="0" rtlCol="0" anchor="ctr"/>
          <a:lstStyle/>
          <a:p>
            <a:pPr marL="0" indent="0" algn="ctr">
              <a:buNone/>
            </a:pPr>
            <a:r>
              <a:rPr lang="en-US" sz="2000" b="1">
                <a:solidFill>
                  <a:srgbClr val="3E8E5A"/>
                </a:solidFill>
                <a:latin typeface="Arial"/>
                <a:ea typeface="Arial" pitchFamily="34" charset="-122"/>
                <a:cs typeface="Arial"/>
              </a:rPr>
              <a:t>CPU 가 맡은 몫</a:t>
            </a:r>
            <a:endParaRPr lang="ko-KR" altLang="en-US" sz="2000" b="1">
              <a:solidFill>
                <a:srgbClr val="3E8E5A"/>
              </a:solidFill>
              <a:latin typeface="Arial"/>
              <a:ea typeface="맑은 고딕"/>
              <a:cs typeface="Arial"/>
            </a:endParaRPr>
          </a:p>
        </p:txBody>
      </p:sp>
      <p:sp>
        <p:nvSpPr>
          <p:cNvPr id="12" name="Text 10"/>
          <p:cNvSpPr/>
          <p:nvPr/>
        </p:nvSpPr>
        <p:spPr>
          <a:xfrm>
            <a:off x="6735928" y="1909717"/>
            <a:ext cx="3657600" cy="502920"/>
          </a:xfrm>
          <a:prstGeom prst="rect">
            <a:avLst/>
          </a:prstGeom>
          <a:noFill/>
          <a:ln/>
        </p:spPr>
        <p:txBody>
          <a:bodyPr wrap="square" lIns="0" tIns="0" rIns="0" bIns="0" rtlCol="0" anchor="ctr"/>
          <a:lstStyle/>
          <a:p>
            <a:pPr marL="0" indent="0" algn="ctr">
              <a:buNone/>
            </a:pPr>
            <a:r>
              <a:rPr lang="en-US">
                <a:solidFill>
                  <a:srgbClr val="3E8E5A"/>
                </a:solidFill>
                <a:latin typeface="Arial"/>
                <a:ea typeface="Arial" pitchFamily="34" charset="-122"/>
                <a:cs typeface="Arial"/>
              </a:rPr>
              <a:t>1.21 초</a:t>
            </a:r>
          </a:p>
          <a:p>
            <a:pPr marL="0" indent="0" algn="ctr">
              <a:buNone/>
            </a:pPr>
            <a:r>
              <a:rPr lang="en-US">
                <a:solidFill>
                  <a:srgbClr val="3E8E5A"/>
                </a:solidFill>
                <a:latin typeface="Arial"/>
                <a:ea typeface="Arial" pitchFamily="34" charset="-122"/>
                <a:cs typeface="Arial"/>
              </a:rPr>
              <a:t>전체의 96 %</a:t>
            </a:r>
          </a:p>
        </p:txBody>
      </p:sp>
      <p:graphicFrame>
        <p:nvGraphicFramePr>
          <p:cNvPr id="15" name="Table 0"/>
          <p:cNvGraphicFramePr>
            <a:graphicFrameLocks noGrp="1"/>
          </p:cNvGraphicFramePr>
          <p:nvPr/>
        </p:nvGraphicFramePr>
        <p:xfrm>
          <a:off x="1737360" y="3337560"/>
          <a:ext cx="8705088" cy="1691640"/>
        </p:xfrm>
        <a:graphic>
          <a:graphicData uri="http://schemas.openxmlformats.org/drawingml/2006/table">
            <a:tbl>
              <a:tblPr/>
              <a:tblGrid>
                <a:gridCol w="1764792">
                  <a:extLst>
                    <a:ext uri="{9D8B030D-6E8A-4147-A177-3AD203B41FA5}">
                      <a16:colId xmlns:a16="http://schemas.microsoft.com/office/drawing/2014/main" val="20000"/>
                    </a:ext>
                  </a:extLst>
                </a:gridCol>
                <a:gridCol w="2313432">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gridCol w="2313432">
                  <a:extLst>
                    <a:ext uri="{9D8B030D-6E8A-4147-A177-3AD203B41FA5}">
                      <a16:colId xmlns:a16="http://schemas.microsoft.com/office/drawing/2014/main" val="20003"/>
                    </a:ext>
                  </a:extLst>
                </a:gridCol>
              </a:tblGrid>
              <a:tr h="281940">
                <a:tc>
                  <a:txBody>
                    <a:bodyPr/>
                    <a:lstStyle/>
                    <a:p>
                      <a:pPr marL="0" indent="0" algn="ctr">
                        <a:buNone/>
                      </a:pPr>
                      <a:r>
                        <a:rPr lang="en-US" sz="1100" b="1">
                          <a:solidFill>
                            <a:srgbClr val="FFFFFF"/>
                          </a:solidFill>
                        </a:rPr>
                        <a:t>단계</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100" b="1">
                          <a:solidFill>
                            <a:srgbClr val="FFFFFF"/>
                          </a:solidFill>
                        </a:rPr>
                        <a:t>하는 일</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100" b="1">
                          <a:solidFill>
                            <a:srgbClr val="FFFFFF"/>
                          </a:solidFill>
                        </a:rPr>
                        <a:t>걸린 시간</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tc>
                  <a:txBody>
                    <a:bodyPr/>
                    <a:lstStyle/>
                    <a:p>
                      <a:pPr marL="0" indent="0" algn="ctr">
                        <a:buNone/>
                      </a:pPr>
                      <a:r>
                        <a:rPr lang="en-US" sz="1100" b="1">
                          <a:solidFill>
                            <a:srgbClr val="FFFFFF"/>
                          </a:solidFill>
                        </a:rPr>
                        <a:t>비중</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2E3B52"/>
                    </a:solidFill>
                  </a:tcPr>
                </a:tc>
                <a:extLst>
                  <a:ext uri="{0D108BD9-81ED-4DB2-BD59-A6C34878D82A}">
                    <a16:rowId xmlns:a16="http://schemas.microsoft.com/office/drawing/2014/main" val="10000"/>
                  </a:ext>
                </a:extLst>
              </a:tr>
              <a:tr h="281940">
                <a:tc>
                  <a:txBody>
                    <a:bodyPr/>
                    <a:lstStyle/>
                    <a:p>
                      <a:pPr marL="0" indent="0" algn="l">
                        <a:buNone/>
                      </a:pPr>
                      <a:r>
                        <a:rPr lang="en-US" sz="1100" b="1">
                          <a:solidFill>
                            <a:srgbClr val="000000"/>
                          </a:solidFill>
                        </a:rPr>
                        <a:t>전처리</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B33A3A"/>
                          </a:solidFill>
                        </a:rPr>
                        <a:t>사진 크기 맞추기</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b="1">
                          <a:solidFill>
                            <a:srgbClr val="3E8E5A"/>
                          </a:solidFill>
                        </a:rPr>
                        <a:t>0.027 초</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2 %</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1"/>
                  </a:ext>
                </a:extLst>
              </a:tr>
              <a:tr h="281940">
                <a:tc>
                  <a:txBody>
                    <a:bodyPr/>
                    <a:lstStyle/>
                    <a:p>
                      <a:pPr marL="0" indent="0" algn="l">
                        <a:buNone/>
                      </a:pPr>
                      <a:r>
                        <a:rPr lang="en-US" sz="1100">
                          <a:solidFill>
                            <a:srgbClr val="000000"/>
                          </a:solidFill>
                        </a:rPr>
                        <a:t>앞부분 model.0~5</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CPU 가 계산</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3E8E5A"/>
                          </a:solidFill>
                        </a:rPr>
                        <a:t>0.441 초</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35 %</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2"/>
                  </a:ext>
                </a:extLst>
              </a:tr>
              <a:tr h="281940">
                <a:tc>
                  <a:txBody>
                    <a:bodyPr/>
                    <a:lstStyle/>
                    <a:p>
                      <a:pPr marL="0" indent="0" algn="l">
                        <a:buNone/>
                      </a:pPr>
                      <a:r>
                        <a:rPr lang="en-US" sz="1100">
                          <a:solidFill>
                            <a:srgbClr val="000000"/>
                          </a:solidFill>
                        </a:rPr>
                        <a:t>model.6</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FPGA 가 계산</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3E8E5A"/>
                          </a:solidFill>
                        </a:rPr>
                        <a:t>0.055 초</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4 %</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3"/>
                  </a:ext>
                </a:extLst>
              </a:tr>
              <a:tr h="281940">
                <a:tc>
                  <a:txBody>
                    <a:bodyPr/>
                    <a:lstStyle/>
                    <a:p>
                      <a:pPr marL="0" indent="0" algn="l">
                        <a:buNone/>
                      </a:pPr>
                      <a:r>
                        <a:rPr lang="en-US" sz="1100">
                          <a:solidFill>
                            <a:srgbClr val="000000"/>
                          </a:solidFill>
                        </a:rPr>
                        <a:t>뒷부분 model.7~22</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CPU 가 계산</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8A929E"/>
                          </a:solidFill>
                        </a:rPr>
                        <a:t>0.719 초</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57 %</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4"/>
                  </a:ext>
                </a:extLst>
              </a:tr>
              <a:tr h="281940">
                <a:tc>
                  <a:txBody>
                    <a:bodyPr/>
                    <a:lstStyle/>
                    <a:p>
                      <a:pPr marL="0" indent="0" algn="l">
                        <a:buNone/>
                      </a:pPr>
                      <a:r>
                        <a:rPr lang="en-US" sz="1100">
                          <a:solidFill>
                            <a:srgbClr val="000000"/>
                          </a:solidFill>
                        </a:rPr>
                        <a:t>합계</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사진 한 장당</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3E8E5A"/>
                          </a:solidFill>
                        </a:rPr>
                        <a:t>1.265 초</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tc>
                  <a:txBody>
                    <a:bodyPr/>
                    <a:lstStyle/>
                    <a:p>
                      <a:pPr marL="0" indent="0" algn="ctr">
                        <a:buNone/>
                      </a:pPr>
                      <a:r>
                        <a:rPr lang="en-US" sz="1100">
                          <a:solidFill>
                            <a:srgbClr val="000000"/>
                          </a:solidFill>
                        </a:rPr>
                        <a:t>0.79 fps</a:t>
                      </a:r>
                      <a:endParaRPr lang="en-US" sz="1100"/>
                    </a:p>
                  </a:txBody>
                  <a:tcP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701044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F09DE29-B819-83C1-3107-751A3734B6C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F558B0F-C928-3841-650B-A31C9C4B720E}"/>
              </a:ext>
            </a:extLst>
          </p:cNvPr>
          <p:cNvSpPr/>
          <p:nvPr/>
        </p:nvSpPr>
        <p:spPr>
          <a:xfrm>
            <a:off x="457200" y="201168"/>
            <a:ext cx="11277295" cy="502920"/>
          </a:xfrm>
          <a:prstGeom prst="rect">
            <a:avLst/>
          </a:prstGeom>
          <a:noFill/>
          <a:ln/>
        </p:spPr>
        <p:txBody>
          <a:bodyPr wrap="square" lIns="0" tIns="0" rIns="0" bIns="0" rtlCol="0" anchor="ctr"/>
          <a:lstStyle/>
          <a:p>
            <a:pPr marL="0" indent="0" algn="ctr">
              <a:buNone/>
            </a:pPr>
            <a:r>
              <a:rPr lang="en-US" sz="2600" b="1">
                <a:solidFill>
                  <a:srgbClr val="1F3B66"/>
                </a:solidFill>
                <a:latin typeface="Arial" pitchFamily="34" charset="0"/>
                <a:ea typeface="Arial" pitchFamily="34" charset="-122"/>
                <a:cs typeface="Arial" pitchFamily="34" charset="-120"/>
              </a:rPr>
              <a:t>향후 과제 — 어떻게 해야 빨라지는가</a:t>
            </a:r>
            <a:endParaRPr lang="en-US" sz="2600"/>
          </a:p>
        </p:txBody>
      </p:sp>
      <p:sp>
        <p:nvSpPr>
          <p:cNvPr id="3" name="Shape 1">
            <a:extLst>
              <a:ext uri="{FF2B5EF4-FFF2-40B4-BE49-F238E27FC236}">
                <a16:creationId xmlns:a16="http://schemas.microsoft.com/office/drawing/2014/main" id="{C04AA479-E54F-17D7-E65E-5578BD8AB376}"/>
              </a:ext>
            </a:extLst>
          </p:cNvPr>
          <p:cNvSpPr/>
          <p:nvPr/>
        </p:nvSpPr>
        <p:spPr>
          <a:xfrm>
            <a:off x="2095348" y="1143000"/>
            <a:ext cx="502920" cy="502920"/>
          </a:xfrm>
          <a:prstGeom prst="ellipse">
            <a:avLst/>
          </a:prstGeom>
          <a:solidFill>
            <a:srgbClr val="1F3B66"/>
          </a:solidFill>
          <a:ln/>
        </p:spPr>
        <p:txBody>
          <a:bodyPr/>
          <a:lstStyle/>
          <a:p>
            <a:endParaRPr lang="ko-KR" altLang="en-US"/>
          </a:p>
        </p:txBody>
      </p:sp>
      <p:sp>
        <p:nvSpPr>
          <p:cNvPr id="4" name="Text 2">
            <a:extLst>
              <a:ext uri="{FF2B5EF4-FFF2-40B4-BE49-F238E27FC236}">
                <a16:creationId xmlns:a16="http://schemas.microsoft.com/office/drawing/2014/main" id="{1777F866-339F-1993-A29E-80C91CD972EE}"/>
              </a:ext>
            </a:extLst>
          </p:cNvPr>
          <p:cNvSpPr/>
          <p:nvPr/>
        </p:nvSpPr>
        <p:spPr>
          <a:xfrm>
            <a:off x="2095348" y="1143000"/>
            <a:ext cx="502920" cy="502920"/>
          </a:xfrm>
          <a:prstGeom prst="rect">
            <a:avLst/>
          </a:prstGeom>
          <a:noFill/>
          <a:ln/>
        </p:spPr>
        <p:txBody>
          <a:bodyPr wrap="square" lIns="0" tIns="0" rIns="0" bIns="0" rtlCol="0" anchor="ctr"/>
          <a:lstStyle/>
          <a:p>
            <a:pPr marL="0" indent="0" algn="ctr">
              <a:buNone/>
            </a:pPr>
            <a:r>
              <a:rPr lang="en-US" sz="1800" b="1">
                <a:solidFill>
                  <a:srgbClr val="FFFFFF"/>
                </a:solidFill>
                <a:latin typeface="Arial" pitchFamily="34" charset="0"/>
                <a:ea typeface="Arial" pitchFamily="34" charset="-122"/>
                <a:cs typeface="Arial" pitchFamily="34" charset="-120"/>
              </a:rPr>
              <a:t>1</a:t>
            </a:r>
            <a:endParaRPr lang="en-US" sz="1800"/>
          </a:p>
        </p:txBody>
      </p:sp>
      <p:sp>
        <p:nvSpPr>
          <p:cNvPr id="5" name="Shape 3">
            <a:extLst>
              <a:ext uri="{FF2B5EF4-FFF2-40B4-BE49-F238E27FC236}">
                <a16:creationId xmlns:a16="http://schemas.microsoft.com/office/drawing/2014/main" id="{5E39812E-CD23-2A43-EB82-0E9239465A4A}"/>
              </a:ext>
            </a:extLst>
          </p:cNvPr>
          <p:cNvSpPr/>
          <p:nvPr/>
        </p:nvSpPr>
        <p:spPr>
          <a:xfrm>
            <a:off x="700888" y="1737723"/>
            <a:ext cx="3291840" cy="3060699"/>
          </a:xfrm>
          <a:prstGeom prst="roundRect">
            <a:avLst>
              <a:gd name="adj" fmla="val 4571"/>
            </a:avLst>
          </a:prstGeom>
          <a:solidFill>
            <a:srgbClr val="EDF1F7"/>
          </a:solidFill>
          <a:ln/>
        </p:spPr>
        <p:txBody>
          <a:bodyPr/>
          <a:lstStyle/>
          <a:p>
            <a:endParaRPr lang="ko-KR" altLang="en-US"/>
          </a:p>
        </p:txBody>
      </p:sp>
      <p:sp>
        <p:nvSpPr>
          <p:cNvPr id="6" name="Text 4">
            <a:extLst>
              <a:ext uri="{FF2B5EF4-FFF2-40B4-BE49-F238E27FC236}">
                <a16:creationId xmlns:a16="http://schemas.microsoft.com/office/drawing/2014/main" id="{9F349E9B-3BE0-4406-775C-F4F8AF8CEC10}"/>
              </a:ext>
            </a:extLst>
          </p:cNvPr>
          <p:cNvSpPr/>
          <p:nvPr/>
        </p:nvSpPr>
        <p:spPr>
          <a:xfrm>
            <a:off x="883768" y="1911096"/>
            <a:ext cx="2926080" cy="365760"/>
          </a:xfrm>
          <a:prstGeom prst="rect">
            <a:avLst/>
          </a:prstGeom>
          <a:noFill/>
          <a:ln/>
        </p:spPr>
        <p:txBody>
          <a:bodyPr wrap="square" lIns="0" tIns="0" rIns="0" bIns="0" rtlCol="0" anchor="ctr"/>
          <a:lstStyle/>
          <a:p>
            <a:pPr algn="ctr"/>
            <a:r>
              <a:rPr lang="en-US" sz="1400" b="1">
                <a:solidFill>
                  <a:srgbClr val="1F3B66"/>
                </a:solidFill>
                <a:latin typeface="Arial"/>
                <a:ea typeface="Arial" pitchFamily="34" charset="-122"/>
                <a:cs typeface="Arial"/>
              </a:rPr>
              <a:t>지금 구조의 한계</a:t>
            </a:r>
            <a:endParaRPr lang="ko-KR" altLang="en-US" sz="1400" b="1">
              <a:solidFill>
                <a:srgbClr val="1F3B66"/>
              </a:solidFill>
              <a:latin typeface="Arial"/>
              <a:ea typeface="Calibri" panose="020F0502020204030204"/>
              <a:cs typeface="Arial"/>
            </a:endParaRPr>
          </a:p>
        </p:txBody>
      </p:sp>
      <p:sp>
        <p:nvSpPr>
          <p:cNvPr id="7" name="Text 5">
            <a:extLst>
              <a:ext uri="{FF2B5EF4-FFF2-40B4-BE49-F238E27FC236}">
                <a16:creationId xmlns:a16="http://schemas.microsoft.com/office/drawing/2014/main" id="{181DF82E-0FC8-0971-CCA9-3C535486066B}"/>
              </a:ext>
            </a:extLst>
          </p:cNvPr>
          <p:cNvSpPr/>
          <p:nvPr/>
        </p:nvSpPr>
        <p:spPr>
          <a:xfrm>
            <a:off x="883768" y="2276929"/>
            <a:ext cx="2926080" cy="1292737"/>
          </a:xfrm>
          <a:prstGeom prst="rect">
            <a:avLst/>
          </a:prstGeom>
          <a:noFill/>
          <a:ln/>
        </p:spPr>
        <p:txBody>
          <a:bodyPr wrap="square" lIns="0" tIns="0" rIns="0" bIns="0" rtlCol="0" anchor="t"/>
          <a:lstStyle/>
          <a:p>
            <a:pPr>
              <a:lnSpc>
                <a:spcPct val="115000"/>
              </a:lnSpc>
            </a:pPr>
            <a:r>
              <a:rPr lang="en-US" sz="1400">
                <a:solidFill>
                  <a:srgbClr val="2E3B52"/>
                </a:solidFill>
                <a:latin typeface="Arial"/>
                <a:ea typeface="Arial" pitchFamily="34" charset="-122"/>
                <a:cs typeface="Arial"/>
              </a:rPr>
              <a:t>model.6 은 전체의 6.5 % 다.</a:t>
            </a:r>
            <a:endParaRPr lang="en-US" sz="1400">
              <a:solidFill>
                <a:srgbClr val="000000"/>
              </a:solidFill>
              <a:latin typeface="Arial"/>
              <a:ea typeface="Arial" pitchFamily="34" charset="-122"/>
              <a:cs typeface="Arial"/>
            </a:endParaRPr>
          </a:p>
          <a:p>
            <a:pPr>
              <a:lnSpc>
                <a:spcPct val="115000"/>
              </a:lnSpc>
            </a:pPr>
            <a:r>
              <a:rPr lang="en-US" sz="1400">
                <a:solidFill>
                  <a:srgbClr val="2E3B52"/>
                </a:solidFill>
                <a:latin typeface="Arial"/>
                <a:ea typeface="Arial" pitchFamily="34" charset="-122"/>
                <a:cs typeface="Arial"/>
              </a:rPr>
              <a:t>아무리 빠르게 만들어도</a:t>
            </a:r>
            <a:endParaRPr lang="en-US" sz="1400">
              <a:solidFill>
                <a:srgbClr val="000000"/>
              </a:solidFill>
              <a:latin typeface="Arial"/>
              <a:ea typeface="Arial" pitchFamily="34" charset="-122"/>
              <a:cs typeface="Arial"/>
            </a:endParaRPr>
          </a:p>
          <a:p>
            <a:pPr>
              <a:lnSpc>
                <a:spcPct val="115000"/>
              </a:lnSpc>
            </a:pPr>
            <a:r>
              <a:rPr lang="en-US" sz="1400">
                <a:solidFill>
                  <a:srgbClr val="2E3B52"/>
                </a:solidFill>
                <a:latin typeface="Arial"/>
                <a:ea typeface="Arial" pitchFamily="34" charset="-122"/>
                <a:cs typeface="Arial"/>
              </a:rPr>
              <a:t>전체는 7 % 만 줄어든다.</a:t>
            </a:r>
            <a:endParaRPr lang="en-US" sz="1400">
              <a:solidFill>
                <a:srgbClr val="000000"/>
              </a:solidFill>
              <a:latin typeface="Arial"/>
              <a:ea typeface="Arial" pitchFamily="34" charset="-122"/>
              <a:cs typeface="Arial"/>
            </a:endParaRPr>
          </a:p>
          <a:p>
            <a:pPr>
              <a:lnSpc>
                <a:spcPct val="115000"/>
              </a:lnSpc>
            </a:pPr>
            <a:r>
              <a:rPr lang="en-US" sz="1400">
                <a:solidFill>
                  <a:srgbClr val="2E3B52"/>
                </a:solidFill>
                <a:latin typeface="Arial"/>
                <a:ea typeface="Arial" pitchFamily="34" charset="-122"/>
                <a:cs typeface="Arial"/>
              </a:rPr>
              <a:t>실제로는 1.7 % 였다.</a:t>
            </a:r>
            <a:endParaRPr lang="en-US" sz="1400">
              <a:solidFill>
                <a:srgbClr val="000000"/>
              </a:solidFill>
              <a:latin typeface="Arial"/>
              <a:ea typeface="Arial" pitchFamily="34" charset="-122"/>
              <a:cs typeface="Arial"/>
            </a:endParaRPr>
          </a:p>
        </p:txBody>
      </p:sp>
      <p:sp>
        <p:nvSpPr>
          <p:cNvPr id="8" name="Shape 6">
            <a:extLst>
              <a:ext uri="{FF2B5EF4-FFF2-40B4-BE49-F238E27FC236}">
                <a16:creationId xmlns:a16="http://schemas.microsoft.com/office/drawing/2014/main" id="{E32C925F-8220-60E4-686B-7C6E583BBBC0}"/>
              </a:ext>
            </a:extLst>
          </p:cNvPr>
          <p:cNvSpPr/>
          <p:nvPr/>
        </p:nvSpPr>
        <p:spPr>
          <a:xfrm>
            <a:off x="5844388" y="1143000"/>
            <a:ext cx="502920" cy="502920"/>
          </a:xfrm>
          <a:prstGeom prst="ellipse">
            <a:avLst/>
          </a:prstGeom>
          <a:solidFill>
            <a:srgbClr val="1F3B66"/>
          </a:solidFill>
          <a:ln/>
        </p:spPr>
        <p:txBody>
          <a:bodyPr/>
          <a:lstStyle/>
          <a:p>
            <a:endParaRPr lang="ko-KR" altLang="en-US"/>
          </a:p>
        </p:txBody>
      </p:sp>
      <p:sp>
        <p:nvSpPr>
          <p:cNvPr id="9" name="Text 7">
            <a:extLst>
              <a:ext uri="{FF2B5EF4-FFF2-40B4-BE49-F238E27FC236}">
                <a16:creationId xmlns:a16="http://schemas.microsoft.com/office/drawing/2014/main" id="{BF7EB890-C8AE-03D7-9C5B-BA145B4D0CE8}"/>
              </a:ext>
            </a:extLst>
          </p:cNvPr>
          <p:cNvSpPr/>
          <p:nvPr/>
        </p:nvSpPr>
        <p:spPr>
          <a:xfrm>
            <a:off x="5844388" y="1143000"/>
            <a:ext cx="502920" cy="502920"/>
          </a:xfrm>
          <a:prstGeom prst="rect">
            <a:avLst/>
          </a:prstGeom>
          <a:noFill/>
          <a:ln/>
        </p:spPr>
        <p:txBody>
          <a:bodyPr wrap="square" lIns="0" tIns="0" rIns="0" bIns="0" rtlCol="0" anchor="ctr"/>
          <a:lstStyle/>
          <a:p>
            <a:pPr marL="0" indent="0" algn="ctr">
              <a:buNone/>
            </a:pPr>
            <a:r>
              <a:rPr lang="en-US" sz="1800" b="1">
                <a:solidFill>
                  <a:srgbClr val="FFFFFF"/>
                </a:solidFill>
                <a:latin typeface="Arial" pitchFamily="34" charset="0"/>
                <a:ea typeface="Arial" pitchFamily="34" charset="-122"/>
                <a:cs typeface="Arial" pitchFamily="34" charset="-120"/>
              </a:rPr>
              <a:t>2</a:t>
            </a:r>
            <a:endParaRPr lang="en-US" sz="1800"/>
          </a:p>
        </p:txBody>
      </p:sp>
      <p:sp>
        <p:nvSpPr>
          <p:cNvPr id="10" name="Shape 8">
            <a:extLst>
              <a:ext uri="{FF2B5EF4-FFF2-40B4-BE49-F238E27FC236}">
                <a16:creationId xmlns:a16="http://schemas.microsoft.com/office/drawing/2014/main" id="{67B6C6B6-FE81-4106-D2F9-E7DCBC687DB4}"/>
              </a:ext>
            </a:extLst>
          </p:cNvPr>
          <p:cNvSpPr/>
          <p:nvPr/>
        </p:nvSpPr>
        <p:spPr>
          <a:xfrm>
            <a:off x="4449928" y="1728652"/>
            <a:ext cx="3291840" cy="3060699"/>
          </a:xfrm>
          <a:prstGeom prst="roundRect">
            <a:avLst>
              <a:gd name="adj" fmla="val 4571"/>
            </a:avLst>
          </a:prstGeom>
          <a:solidFill>
            <a:srgbClr val="EDF1F7"/>
          </a:solidFill>
          <a:ln/>
        </p:spPr>
        <p:txBody>
          <a:bodyPr/>
          <a:lstStyle/>
          <a:p>
            <a:endParaRPr lang="ko-KR" altLang="en-US"/>
          </a:p>
        </p:txBody>
      </p:sp>
      <p:sp>
        <p:nvSpPr>
          <p:cNvPr id="11" name="Text 9">
            <a:extLst>
              <a:ext uri="{FF2B5EF4-FFF2-40B4-BE49-F238E27FC236}">
                <a16:creationId xmlns:a16="http://schemas.microsoft.com/office/drawing/2014/main" id="{19FCB554-A5F1-D79D-4A4C-A2E6A98E47B2}"/>
              </a:ext>
            </a:extLst>
          </p:cNvPr>
          <p:cNvSpPr/>
          <p:nvPr/>
        </p:nvSpPr>
        <p:spPr>
          <a:xfrm>
            <a:off x="4632808" y="1911096"/>
            <a:ext cx="2926080" cy="365760"/>
          </a:xfrm>
          <a:prstGeom prst="rect">
            <a:avLst/>
          </a:prstGeom>
          <a:noFill/>
          <a:ln/>
        </p:spPr>
        <p:txBody>
          <a:bodyPr wrap="square" lIns="0" tIns="0" rIns="0" bIns="0" rtlCol="0" anchor="ctr"/>
          <a:lstStyle/>
          <a:p>
            <a:pPr marL="0" indent="0" algn="ctr">
              <a:buNone/>
            </a:pPr>
            <a:r>
              <a:rPr lang="en-US" sz="1400" b="1" err="1">
                <a:solidFill>
                  <a:srgbClr val="1F3B66"/>
                </a:solidFill>
                <a:latin typeface="Arial"/>
                <a:ea typeface="Arial" pitchFamily="34" charset="-122"/>
                <a:cs typeface="Arial"/>
              </a:rPr>
              <a:t>더 많은 블록을 옮기기</a:t>
            </a:r>
            <a:endParaRPr lang="en-US" sz="1400">
              <a:latin typeface="Arial"/>
              <a:ea typeface="Calibri" panose="020F0502020204030204"/>
              <a:cs typeface="Calibri" panose="020F0502020204030204"/>
            </a:endParaRPr>
          </a:p>
        </p:txBody>
      </p:sp>
      <p:sp>
        <p:nvSpPr>
          <p:cNvPr id="12" name="Text 10">
            <a:extLst>
              <a:ext uri="{FF2B5EF4-FFF2-40B4-BE49-F238E27FC236}">
                <a16:creationId xmlns:a16="http://schemas.microsoft.com/office/drawing/2014/main" id="{35462B41-2FEA-4F03-1DEE-0867CFC685E7}"/>
              </a:ext>
            </a:extLst>
          </p:cNvPr>
          <p:cNvSpPr/>
          <p:nvPr/>
        </p:nvSpPr>
        <p:spPr>
          <a:xfrm>
            <a:off x="4632808" y="2273905"/>
            <a:ext cx="2926080" cy="1927738"/>
          </a:xfrm>
          <a:prstGeom prst="rect">
            <a:avLst/>
          </a:prstGeom>
          <a:noFill/>
          <a:ln/>
        </p:spPr>
        <p:txBody>
          <a:bodyPr wrap="square" lIns="0" tIns="0" rIns="0" bIns="0" rtlCol="0" anchor="t"/>
          <a:lstStyle/>
          <a:p>
            <a:pPr>
              <a:lnSpc>
                <a:spcPct val="115000"/>
              </a:lnSpc>
            </a:pPr>
            <a:r>
              <a:rPr lang="en-US" sz="1400" dirty="0">
                <a:solidFill>
                  <a:srgbClr val="2E3B52"/>
                </a:solidFill>
                <a:latin typeface="Arial"/>
                <a:ea typeface="Arial" pitchFamily="34" charset="-122"/>
                <a:cs typeface="Arial"/>
              </a:rPr>
              <a:t>C2f </a:t>
            </a:r>
            <a:r>
              <a:rPr lang="en-US" sz="1400" dirty="0" err="1">
                <a:solidFill>
                  <a:srgbClr val="2E3B52"/>
                </a:solidFill>
                <a:latin typeface="Arial"/>
                <a:ea typeface="Arial" pitchFamily="34" charset="-122"/>
                <a:cs typeface="Arial"/>
              </a:rPr>
              <a:t>블록</a:t>
            </a:r>
            <a:r>
              <a:rPr lang="en-US" sz="1400" dirty="0">
                <a:solidFill>
                  <a:srgbClr val="2E3B52"/>
                </a:solidFill>
                <a:latin typeface="Arial"/>
                <a:ea typeface="Arial" pitchFamily="34" charset="-122"/>
                <a:cs typeface="Arial"/>
              </a:rPr>
              <a:t> 8개를 </a:t>
            </a:r>
            <a:r>
              <a:rPr lang="en-US" sz="1400" dirty="0" err="1">
                <a:solidFill>
                  <a:srgbClr val="2E3B52"/>
                </a:solidFill>
                <a:latin typeface="Arial"/>
                <a:ea typeface="Arial" pitchFamily="34" charset="-122"/>
                <a:cs typeface="Arial"/>
              </a:rPr>
              <a:t>합치면</a:t>
            </a:r>
            <a:br>
              <a:rPr lang="en-US" sz="1400" dirty="0">
                <a:latin typeface="Arial"/>
                <a:ea typeface="Arial" pitchFamily="34" charset="-122"/>
                <a:cs typeface="Arial"/>
              </a:rPr>
            </a:br>
            <a:r>
              <a:rPr lang="en-US" sz="1400" dirty="0" err="1">
                <a:solidFill>
                  <a:srgbClr val="2E3B52"/>
                </a:solidFill>
                <a:latin typeface="Arial"/>
                <a:ea typeface="Arial" pitchFamily="34" charset="-122"/>
                <a:cs typeface="Arial"/>
              </a:rPr>
              <a:t>전체</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계산의</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절반이</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된다</a:t>
            </a:r>
            <a:r>
              <a:rPr lang="en-US" sz="1400" dirty="0">
                <a:solidFill>
                  <a:srgbClr val="2E3B52"/>
                </a:solidFill>
                <a:latin typeface="Arial"/>
                <a:ea typeface="Arial" pitchFamily="34" charset="-122"/>
                <a:cs typeface="Arial"/>
              </a:rPr>
              <a:t>.</a:t>
            </a:r>
            <a:br>
              <a:rPr lang="en-US" sz="1400" dirty="0">
                <a:latin typeface="Arial"/>
                <a:ea typeface="Arial" pitchFamily="34" charset="-122"/>
                <a:cs typeface="Arial"/>
              </a:rPr>
            </a:br>
            <a:r>
              <a:rPr lang="en-US" sz="1400" dirty="0" err="1">
                <a:solidFill>
                  <a:srgbClr val="2E3B52"/>
                </a:solidFill>
                <a:latin typeface="Arial"/>
                <a:ea typeface="Arial" pitchFamily="34" charset="-122"/>
                <a:cs typeface="Arial"/>
              </a:rPr>
              <a:t>구조는</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같고</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채널만</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다르다</a:t>
            </a:r>
            <a:r>
              <a:rPr lang="en-US" sz="1400" dirty="0">
                <a:solidFill>
                  <a:srgbClr val="2E3B52"/>
                </a:solidFill>
                <a:latin typeface="Arial"/>
                <a:ea typeface="Arial" pitchFamily="34" charset="-122"/>
                <a:cs typeface="Arial"/>
              </a:rPr>
              <a:t>.</a:t>
            </a:r>
            <a:br>
              <a:rPr lang="en-US" sz="1400" dirty="0">
                <a:latin typeface="Arial"/>
                <a:ea typeface="Arial" pitchFamily="34" charset="-122"/>
                <a:cs typeface="Arial"/>
              </a:rPr>
            </a:br>
            <a:r>
              <a:rPr lang="en-US" sz="1400" dirty="0" err="1">
                <a:solidFill>
                  <a:srgbClr val="2E3B52"/>
                </a:solidFill>
                <a:latin typeface="Arial"/>
                <a:ea typeface="Arial" pitchFamily="34" charset="-122"/>
                <a:cs typeface="Arial"/>
              </a:rPr>
              <a:t>다만</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한</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블록이</a:t>
            </a:r>
            <a:r>
              <a:rPr lang="en-US" sz="1400" dirty="0">
                <a:solidFill>
                  <a:srgbClr val="2E3B52"/>
                </a:solidFill>
                <a:latin typeface="Arial"/>
                <a:ea typeface="Arial" pitchFamily="34" charset="-122"/>
                <a:cs typeface="Arial"/>
              </a:rPr>
              <a:t> URAM </a:t>
            </a:r>
            <a:r>
              <a:rPr lang="en-US" sz="1400" dirty="0" err="1">
                <a:solidFill>
                  <a:srgbClr val="2E3B52"/>
                </a:solidFill>
                <a:latin typeface="Arial"/>
                <a:ea typeface="Arial" pitchFamily="34" charset="-122"/>
                <a:cs typeface="Arial"/>
              </a:rPr>
              <a:t>을</a:t>
            </a:r>
            <a:endParaRPr lang="en-US" sz="1400" dirty="0">
              <a:solidFill>
                <a:srgbClr val="2E3B52"/>
              </a:solidFill>
              <a:latin typeface="Arial"/>
              <a:cs typeface="Arial"/>
            </a:endParaRPr>
          </a:p>
          <a:p>
            <a:pPr>
              <a:lnSpc>
                <a:spcPct val="115000"/>
              </a:lnSpc>
            </a:pPr>
            <a:r>
              <a:rPr lang="en-US" sz="1400" dirty="0">
                <a:solidFill>
                  <a:srgbClr val="2E3B52"/>
                </a:solidFill>
                <a:latin typeface="Arial"/>
                <a:ea typeface="Arial" pitchFamily="34" charset="-122"/>
                <a:cs typeface="Arial"/>
              </a:rPr>
              <a:t>94 % </a:t>
            </a:r>
            <a:r>
              <a:rPr lang="en-US" sz="1400" dirty="0" err="1">
                <a:solidFill>
                  <a:srgbClr val="2E3B52"/>
                </a:solidFill>
                <a:latin typeface="Arial"/>
                <a:ea typeface="Arial" pitchFamily="34" charset="-122"/>
                <a:cs typeface="Arial"/>
              </a:rPr>
              <a:t>써서</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두</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개는</a:t>
            </a:r>
            <a:endParaRPr lang="en-US" sz="1400" dirty="0">
              <a:solidFill>
                <a:srgbClr val="2E3B52"/>
              </a:solidFill>
              <a:latin typeface="Arial"/>
              <a:cs typeface="Arial"/>
            </a:endParaRPr>
          </a:p>
          <a:p>
            <a:pPr>
              <a:lnSpc>
                <a:spcPct val="115000"/>
              </a:lnSpc>
            </a:pPr>
            <a:r>
              <a:rPr lang="en-US" sz="1400" dirty="0" err="1">
                <a:solidFill>
                  <a:srgbClr val="2E3B52"/>
                </a:solidFill>
                <a:latin typeface="Arial"/>
                <a:ea typeface="Arial" pitchFamily="34" charset="-122"/>
                <a:cs typeface="Arial"/>
              </a:rPr>
              <a:t>넣을</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수</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없다</a:t>
            </a:r>
            <a:r>
              <a:rPr lang="en-US" sz="1400" dirty="0">
                <a:solidFill>
                  <a:srgbClr val="2E3B52"/>
                </a:solidFill>
                <a:latin typeface="Arial"/>
                <a:ea typeface="Arial" pitchFamily="34" charset="-122"/>
                <a:cs typeface="Arial"/>
              </a:rPr>
              <a:t>.</a:t>
            </a:r>
            <a:br>
              <a:rPr lang="en-US" sz="1400" dirty="0">
                <a:latin typeface="Arial"/>
                <a:ea typeface="Arial" pitchFamily="34" charset="-122"/>
                <a:cs typeface="Arial"/>
              </a:rPr>
            </a:br>
            <a:br>
              <a:rPr lang="en-US" sz="1400" dirty="0">
                <a:latin typeface="Arial"/>
                <a:ea typeface="Arial" pitchFamily="34" charset="-122"/>
                <a:cs typeface="Arial"/>
              </a:rPr>
            </a:br>
            <a:br>
              <a:rPr lang="en-US" sz="1400" dirty="0">
                <a:latin typeface="Arial"/>
                <a:ea typeface="Arial" pitchFamily="34" charset="-122"/>
                <a:cs typeface="Arial"/>
              </a:rPr>
            </a:br>
            <a:br>
              <a:rPr lang="en-US" sz="1400" dirty="0">
                <a:solidFill>
                  <a:srgbClr val="2E3B52"/>
                </a:solidFill>
                <a:latin typeface="Arial"/>
                <a:cs typeface="Arial"/>
              </a:rPr>
            </a:br>
            <a:endParaRPr lang="en-US" sz="1400" dirty="0">
              <a:solidFill>
                <a:srgbClr val="2E3B52"/>
              </a:solidFill>
              <a:latin typeface="Arial"/>
              <a:cs typeface="Arial"/>
            </a:endParaRPr>
          </a:p>
        </p:txBody>
      </p:sp>
      <p:sp>
        <p:nvSpPr>
          <p:cNvPr id="13" name="Shape 11">
            <a:extLst>
              <a:ext uri="{FF2B5EF4-FFF2-40B4-BE49-F238E27FC236}">
                <a16:creationId xmlns:a16="http://schemas.microsoft.com/office/drawing/2014/main" id="{111C5AF6-69C5-197E-3FB0-846E322BE95C}"/>
              </a:ext>
            </a:extLst>
          </p:cNvPr>
          <p:cNvSpPr/>
          <p:nvPr/>
        </p:nvSpPr>
        <p:spPr>
          <a:xfrm>
            <a:off x="9593428" y="1143000"/>
            <a:ext cx="502920" cy="502920"/>
          </a:xfrm>
          <a:prstGeom prst="ellipse">
            <a:avLst/>
          </a:prstGeom>
          <a:solidFill>
            <a:srgbClr val="1F3B66"/>
          </a:solidFill>
          <a:ln/>
        </p:spPr>
        <p:txBody>
          <a:bodyPr/>
          <a:lstStyle/>
          <a:p>
            <a:endParaRPr lang="ko-KR" altLang="en-US"/>
          </a:p>
        </p:txBody>
      </p:sp>
      <p:sp>
        <p:nvSpPr>
          <p:cNvPr id="14" name="Text 12">
            <a:extLst>
              <a:ext uri="{FF2B5EF4-FFF2-40B4-BE49-F238E27FC236}">
                <a16:creationId xmlns:a16="http://schemas.microsoft.com/office/drawing/2014/main" id="{F59D4D8B-E113-063B-9B15-0C91D40C064A}"/>
              </a:ext>
            </a:extLst>
          </p:cNvPr>
          <p:cNvSpPr/>
          <p:nvPr/>
        </p:nvSpPr>
        <p:spPr>
          <a:xfrm>
            <a:off x="9593428" y="1143000"/>
            <a:ext cx="502920" cy="502920"/>
          </a:xfrm>
          <a:prstGeom prst="rect">
            <a:avLst/>
          </a:prstGeom>
          <a:noFill/>
          <a:ln/>
        </p:spPr>
        <p:txBody>
          <a:bodyPr wrap="square" lIns="0" tIns="0" rIns="0" bIns="0" rtlCol="0" anchor="ctr"/>
          <a:lstStyle/>
          <a:p>
            <a:pPr marL="0" indent="0" algn="ctr">
              <a:buNone/>
            </a:pPr>
            <a:r>
              <a:rPr lang="en-US" sz="1800" b="1">
                <a:solidFill>
                  <a:srgbClr val="FFFFFF"/>
                </a:solidFill>
                <a:latin typeface="Arial" pitchFamily="34" charset="0"/>
                <a:ea typeface="Arial" pitchFamily="34" charset="-122"/>
                <a:cs typeface="Arial" pitchFamily="34" charset="-120"/>
              </a:rPr>
              <a:t>3</a:t>
            </a:r>
            <a:endParaRPr lang="en-US" sz="1800"/>
          </a:p>
        </p:txBody>
      </p:sp>
      <p:sp>
        <p:nvSpPr>
          <p:cNvPr id="15" name="Shape 13">
            <a:extLst>
              <a:ext uri="{FF2B5EF4-FFF2-40B4-BE49-F238E27FC236}">
                <a16:creationId xmlns:a16="http://schemas.microsoft.com/office/drawing/2014/main" id="{F90B3536-31A8-7F41-97C7-94B9D17A3DCA}"/>
              </a:ext>
            </a:extLst>
          </p:cNvPr>
          <p:cNvSpPr/>
          <p:nvPr/>
        </p:nvSpPr>
        <p:spPr>
          <a:xfrm>
            <a:off x="8198968" y="1746795"/>
            <a:ext cx="3291840" cy="3051627"/>
          </a:xfrm>
          <a:prstGeom prst="roundRect">
            <a:avLst>
              <a:gd name="adj" fmla="val 4571"/>
            </a:avLst>
          </a:prstGeom>
          <a:solidFill>
            <a:srgbClr val="EDF1F7"/>
          </a:solidFill>
          <a:ln/>
        </p:spPr>
        <p:txBody>
          <a:bodyPr/>
          <a:lstStyle/>
          <a:p>
            <a:endParaRPr lang="ko-KR" altLang="en-US"/>
          </a:p>
        </p:txBody>
      </p:sp>
      <p:sp>
        <p:nvSpPr>
          <p:cNvPr id="16" name="Text 14">
            <a:extLst>
              <a:ext uri="{FF2B5EF4-FFF2-40B4-BE49-F238E27FC236}">
                <a16:creationId xmlns:a16="http://schemas.microsoft.com/office/drawing/2014/main" id="{E48BD5CF-432D-34A4-1CE1-A7A5233B10B8}"/>
              </a:ext>
            </a:extLst>
          </p:cNvPr>
          <p:cNvSpPr/>
          <p:nvPr/>
        </p:nvSpPr>
        <p:spPr>
          <a:xfrm>
            <a:off x="8381848" y="1911096"/>
            <a:ext cx="2926080" cy="365760"/>
          </a:xfrm>
          <a:prstGeom prst="rect">
            <a:avLst/>
          </a:prstGeom>
          <a:noFill/>
          <a:ln/>
        </p:spPr>
        <p:txBody>
          <a:bodyPr wrap="square" lIns="0" tIns="0" rIns="0" bIns="0" rtlCol="0" anchor="ctr"/>
          <a:lstStyle/>
          <a:p>
            <a:pPr marL="0" indent="0" algn="ctr">
              <a:buNone/>
            </a:pPr>
            <a:r>
              <a:rPr lang="en-US" sz="1600" b="1">
                <a:solidFill>
                  <a:srgbClr val="1F3B66"/>
                </a:solidFill>
                <a:latin typeface="Arial"/>
                <a:ea typeface="Arial" pitchFamily="34" charset="-122"/>
                <a:cs typeface="Arial"/>
              </a:rPr>
              <a:t>중간 결과를 되돌리지 않기</a:t>
            </a:r>
            <a:endParaRPr lang="en-US" sz="1600" err="1">
              <a:latin typeface="Arial"/>
              <a:ea typeface="Calibri"/>
              <a:cs typeface="Arial"/>
            </a:endParaRPr>
          </a:p>
        </p:txBody>
      </p:sp>
      <p:sp>
        <p:nvSpPr>
          <p:cNvPr id="17" name="Text 15">
            <a:extLst>
              <a:ext uri="{FF2B5EF4-FFF2-40B4-BE49-F238E27FC236}">
                <a16:creationId xmlns:a16="http://schemas.microsoft.com/office/drawing/2014/main" id="{8DE40409-A5F2-D48E-6853-06BFF455D6F8}"/>
              </a:ext>
            </a:extLst>
          </p:cNvPr>
          <p:cNvSpPr/>
          <p:nvPr/>
        </p:nvSpPr>
        <p:spPr>
          <a:xfrm>
            <a:off x="8381848" y="2276929"/>
            <a:ext cx="2926080" cy="1921690"/>
          </a:xfrm>
          <a:prstGeom prst="rect">
            <a:avLst/>
          </a:prstGeom>
          <a:noFill/>
          <a:ln/>
        </p:spPr>
        <p:txBody>
          <a:bodyPr wrap="square" lIns="0" tIns="0" rIns="0" bIns="0" rtlCol="0" anchor="t"/>
          <a:lstStyle/>
          <a:p>
            <a:pPr>
              <a:lnSpc>
                <a:spcPct val="115000"/>
              </a:lnSpc>
            </a:pPr>
            <a:r>
              <a:rPr lang="en-US" sz="1400" dirty="0" err="1">
                <a:solidFill>
                  <a:srgbClr val="2E3B52"/>
                </a:solidFill>
                <a:latin typeface="Arial"/>
                <a:ea typeface="Arial" pitchFamily="34" charset="-122"/>
                <a:cs typeface="Arial"/>
              </a:rPr>
              <a:t>블록마다</a:t>
            </a:r>
            <a:r>
              <a:rPr lang="en-US" sz="1400" dirty="0">
                <a:solidFill>
                  <a:srgbClr val="2E3B52"/>
                </a:solidFill>
                <a:latin typeface="Arial"/>
                <a:ea typeface="Arial" pitchFamily="34" charset="-122"/>
                <a:cs typeface="Arial"/>
              </a:rPr>
              <a:t> CPU </a:t>
            </a:r>
            <a:r>
              <a:rPr lang="en-US" sz="1400" dirty="0" err="1">
                <a:solidFill>
                  <a:srgbClr val="2E3B52"/>
                </a:solidFill>
                <a:latin typeface="Arial"/>
                <a:ea typeface="Arial" pitchFamily="34" charset="-122"/>
                <a:cs typeface="Arial"/>
              </a:rPr>
              <a:t>로</a:t>
            </a:r>
            <a:endParaRPr lang="en-US" sz="1400" dirty="0">
              <a:solidFill>
                <a:srgbClr val="2E3B52"/>
              </a:solidFill>
              <a:latin typeface="Arial"/>
              <a:ea typeface="Arial" pitchFamily="34" charset="-122"/>
              <a:cs typeface="Arial"/>
            </a:endParaRPr>
          </a:p>
          <a:p>
            <a:pPr>
              <a:lnSpc>
                <a:spcPct val="115000"/>
              </a:lnSpc>
            </a:pPr>
            <a:r>
              <a:rPr lang="en-US" sz="1400" dirty="0" err="1">
                <a:solidFill>
                  <a:srgbClr val="2E3B52"/>
                </a:solidFill>
                <a:latin typeface="Arial"/>
                <a:ea typeface="Arial" pitchFamily="34" charset="-122"/>
                <a:cs typeface="Arial"/>
              </a:rPr>
              <a:t>보냈다</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받으면</a:t>
            </a:r>
            <a:br>
              <a:rPr lang="en-US" sz="1400" dirty="0">
                <a:latin typeface="Arial"/>
                <a:ea typeface="Arial" pitchFamily="34" charset="-122"/>
                <a:cs typeface="Arial"/>
              </a:rPr>
            </a:br>
            <a:r>
              <a:rPr lang="en-US" sz="1400" dirty="0" err="1">
                <a:solidFill>
                  <a:srgbClr val="2E3B52"/>
                </a:solidFill>
                <a:latin typeface="Arial"/>
                <a:ea typeface="Arial" pitchFamily="34" charset="-122"/>
                <a:cs typeface="Arial"/>
              </a:rPr>
              <a:t>한</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번에</a:t>
            </a:r>
            <a:r>
              <a:rPr lang="en-US" sz="1400" dirty="0">
                <a:solidFill>
                  <a:srgbClr val="2E3B52"/>
                </a:solidFill>
                <a:latin typeface="Arial"/>
                <a:ea typeface="Arial" pitchFamily="34" charset="-122"/>
                <a:cs typeface="Arial"/>
              </a:rPr>
              <a:t> 0.05 </a:t>
            </a:r>
            <a:r>
              <a:rPr lang="en-US" sz="1400" dirty="0" err="1">
                <a:solidFill>
                  <a:srgbClr val="2E3B52"/>
                </a:solidFill>
                <a:latin typeface="Arial"/>
                <a:ea typeface="Arial" pitchFamily="34" charset="-122"/>
                <a:cs typeface="Arial"/>
              </a:rPr>
              <a:t>초가</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든다</a:t>
            </a:r>
            <a:r>
              <a:rPr lang="en-US" sz="1400" dirty="0">
                <a:solidFill>
                  <a:srgbClr val="2E3B52"/>
                </a:solidFill>
                <a:latin typeface="Arial"/>
                <a:ea typeface="Arial" pitchFamily="34" charset="-122"/>
                <a:cs typeface="Arial"/>
              </a:rPr>
              <a:t>.</a:t>
            </a:r>
            <a:br>
              <a:rPr lang="en-US" sz="1400" dirty="0">
                <a:latin typeface="Arial"/>
                <a:ea typeface="Arial" pitchFamily="34" charset="-122"/>
                <a:cs typeface="Arial"/>
              </a:rPr>
            </a:br>
            <a:r>
              <a:rPr lang="en-US" sz="1400" dirty="0">
                <a:solidFill>
                  <a:srgbClr val="2E3B52"/>
                </a:solidFill>
                <a:latin typeface="Arial"/>
                <a:ea typeface="Arial" pitchFamily="34" charset="-122"/>
                <a:cs typeface="Arial"/>
              </a:rPr>
              <a:t>8개면 0.4 </a:t>
            </a:r>
            <a:r>
              <a:rPr lang="en-US" sz="1400" dirty="0" err="1">
                <a:solidFill>
                  <a:srgbClr val="2E3B52"/>
                </a:solidFill>
                <a:latin typeface="Arial"/>
                <a:ea typeface="Arial" pitchFamily="34" charset="-122"/>
                <a:cs typeface="Arial"/>
              </a:rPr>
              <a:t>초</a:t>
            </a:r>
            <a:r>
              <a:rPr lang="en-US" sz="1400" dirty="0">
                <a:solidFill>
                  <a:srgbClr val="2E3B52"/>
                </a:solidFill>
                <a:latin typeface="Arial"/>
                <a:ea typeface="Arial" pitchFamily="34" charset="-122"/>
                <a:cs typeface="Arial"/>
              </a:rPr>
              <a:t> —</a:t>
            </a:r>
            <a:br>
              <a:rPr lang="en-US" sz="1400" dirty="0">
                <a:latin typeface="Arial"/>
                <a:ea typeface="Arial" pitchFamily="34" charset="-122"/>
                <a:cs typeface="Arial"/>
              </a:rPr>
            </a:br>
            <a:r>
              <a:rPr lang="en-US" sz="1400" dirty="0" err="1">
                <a:solidFill>
                  <a:srgbClr val="2E3B52"/>
                </a:solidFill>
                <a:latin typeface="Arial"/>
                <a:ea typeface="Arial" pitchFamily="34" charset="-122"/>
                <a:cs typeface="Arial"/>
              </a:rPr>
              <a:t>아낀</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시간을</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다</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쓴다</a:t>
            </a:r>
            <a:r>
              <a:rPr lang="en-US" sz="1400" dirty="0">
                <a:solidFill>
                  <a:srgbClr val="2E3B52"/>
                </a:solidFill>
                <a:latin typeface="Arial"/>
                <a:ea typeface="Arial" pitchFamily="34" charset="-122"/>
                <a:cs typeface="Arial"/>
              </a:rPr>
              <a:t>.</a:t>
            </a:r>
            <a:br>
              <a:rPr lang="en-US" sz="1400" dirty="0">
                <a:latin typeface="Arial"/>
                <a:ea typeface="Arial" pitchFamily="34" charset="-122"/>
                <a:cs typeface="Arial"/>
              </a:rPr>
            </a:br>
            <a:r>
              <a:rPr lang="en-US" sz="1400" dirty="0">
                <a:solidFill>
                  <a:srgbClr val="2E3B52"/>
                </a:solidFill>
                <a:latin typeface="Arial"/>
                <a:ea typeface="Arial" pitchFamily="34" charset="-122"/>
                <a:cs typeface="Arial"/>
              </a:rPr>
              <a:t>FPGA </a:t>
            </a:r>
            <a:r>
              <a:rPr lang="en-US" sz="1400" dirty="0" err="1">
                <a:solidFill>
                  <a:srgbClr val="2E3B52"/>
                </a:solidFill>
                <a:latin typeface="Arial"/>
                <a:ea typeface="Arial" pitchFamily="34" charset="-122"/>
                <a:cs typeface="Arial"/>
              </a:rPr>
              <a:t>안에서</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이어야</a:t>
            </a:r>
            <a:r>
              <a:rPr lang="en-US" sz="1400" dirty="0">
                <a:solidFill>
                  <a:srgbClr val="2E3B52"/>
                </a:solidFill>
                <a:latin typeface="Arial"/>
                <a:ea typeface="Arial" pitchFamily="34" charset="-122"/>
                <a:cs typeface="Arial"/>
              </a:rPr>
              <a:t> </a:t>
            </a:r>
            <a:r>
              <a:rPr lang="en-US" sz="1400" dirty="0" err="1">
                <a:solidFill>
                  <a:srgbClr val="2E3B52"/>
                </a:solidFill>
                <a:latin typeface="Arial"/>
                <a:ea typeface="Arial" pitchFamily="34" charset="-122"/>
                <a:cs typeface="Arial"/>
              </a:rPr>
              <a:t>한다</a:t>
            </a:r>
            <a:r>
              <a:rPr lang="en-US" sz="1400" dirty="0">
                <a:solidFill>
                  <a:srgbClr val="2E3B52"/>
                </a:solidFill>
                <a:latin typeface="Arial"/>
                <a:ea typeface="Arial" pitchFamily="34" charset="-122"/>
                <a:cs typeface="Arial"/>
              </a:rPr>
              <a:t>.</a:t>
            </a:r>
            <a:br>
              <a:rPr lang="en-US" sz="1400" dirty="0">
                <a:latin typeface="Arial"/>
                <a:ea typeface="Arial" pitchFamily="34" charset="-122"/>
                <a:cs typeface="Arial"/>
              </a:rPr>
            </a:br>
            <a:br>
              <a:rPr lang="en-US" sz="1400" dirty="0">
                <a:latin typeface="Arial"/>
                <a:ea typeface="Arial" pitchFamily="34" charset="-122"/>
                <a:cs typeface="Arial"/>
              </a:rPr>
            </a:br>
            <a:br>
              <a:rPr lang="en-US" sz="1400" dirty="0">
                <a:latin typeface="Arial"/>
                <a:ea typeface="Arial" pitchFamily="34" charset="-122"/>
                <a:cs typeface="Arial"/>
              </a:rPr>
            </a:br>
            <a:br>
              <a:rPr lang="en-US" sz="1400" dirty="0">
                <a:solidFill>
                  <a:srgbClr val="2E3B52"/>
                </a:solidFill>
                <a:latin typeface="Arial"/>
                <a:cs typeface="Arial"/>
              </a:rPr>
            </a:br>
            <a:endParaRPr lang="en-US" sz="1400" dirty="0">
              <a:solidFill>
                <a:srgbClr val="2E3B52"/>
              </a:solidFill>
              <a:latin typeface="Arial"/>
              <a:ea typeface="맑은 고딕"/>
              <a:cs typeface="Arial"/>
            </a:endParaRPr>
          </a:p>
        </p:txBody>
      </p:sp>
    </p:spTree>
    <p:extLst>
      <p:ext uri="{BB962C8B-B14F-4D97-AF65-F5344CB8AC3E}">
        <p14:creationId xmlns:p14="http://schemas.microsoft.com/office/powerpoint/2010/main" val="12300656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8882"/>
            <a:ext cx="11277295" cy="502920"/>
          </a:xfrm>
          <a:prstGeom prst="rect">
            <a:avLst/>
          </a:prstGeom>
          <a:noFill/>
          <a:ln/>
        </p:spPr>
        <p:txBody>
          <a:bodyPr wrap="square" lIns="0" tIns="0" rIns="0" bIns="0" rtlCol="0" anchor="ctr"/>
          <a:lstStyle/>
          <a:p>
            <a:pPr marL="0" indent="0" algn="ctr">
              <a:buNone/>
            </a:pPr>
            <a:r>
              <a:rPr lang="ko-KR" altLang="en-US" sz="2600" b="1" dirty="0">
                <a:solidFill>
                  <a:srgbClr val="1F3B66"/>
                </a:solidFill>
                <a:latin typeface="Arial" pitchFamily="34" charset="0"/>
                <a:ea typeface="Arial" pitchFamily="34" charset="-122"/>
                <a:cs typeface="Arial" pitchFamily="34" charset="-120"/>
              </a:rPr>
              <a:t>개인적인 이번 </a:t>
            </a:r>
            <a:r>
              <a:rPr lang="ko-KR" altLang="en-US" sz="2600" b="1" dirty="0" err="1">
                <a:solidFill>
                  <a:srgbClr val="1F3B66"/>
                </a:solidFill>
                <a:latin typeface="Arial" pitchFamily="34" charset="0"/>
                <a:ea typeface="Arial" pitchFamily="34" charset="-122"/>
                <a:cs typeface="Arial" pitchFamily="34" charset="-120"/>
              </a:rPr>
              <a:t>프로잭트에서</a:t>
            </a:r>
            <a:r>
              <a:rPr lang="ko-KR" altLang="en-US" sz="2600" b="1" dirty="0">
                <a:solidFill>
                  <a:srgbClr val="1F3B66"/>
                </a:solidFill>
                <a:latin typeface="Arial" pitchFamily="34" charset="0"/>
                <a:ea typeface="Arial" pitchFamily="34" charset="-122"/>
                <a:cs typeface="Arial" pitchFamily="34" charset="-120"/>
              </a:rPr>
              <a:t> </a:t>
            </a:r>
            <a:r>
              <a:rPr lang="en-US" sz="2600" b="1" dirty="0">
                <a:solidFill>
                  <a:srgbClr val="1F3B66"/>
                </a:solidFill>
                <a:latin typeface="Arial" pitchFamily="34" charset="0"/>
                <a:ea typeface="Arial" pitchFamily="34" charset="-122"/>
                <a:cs typeface="Arial" pitchFamily="34" charset="-120"/>
              </a:rPr>
              <a:t>AI</a:t>
            </a:r>
            <a:r>
              <a:rPr lang="ko-KR" altLang="en-US" sz="2600" b="1" dirty="0">
                <a:solidFill>
                  <a:srgbClr val="1F3B66"/>
                </a:solidFill>
                <a:latin typeface="Arial" pitchFamily="34" charset="0"/>
                <a:ea typeface="Arial" pitchFamily="34" charset="-122"/>
                <a:cs typeface="Arial" pitchFamily="34" charset="-120"/>
              </a:rPr>
              <a:t>사용 방법</a:t>
            </a:r>
            <a:endParaRPr lang="en-US" sz="2600" dirty="0"/>
          </a:p>
        </p:txBody>
      </p:sp>
      <p:sp>
        <p:nvSpPr>
          <p:cNvPr id="3" name="Shape 1"/>
          <p:cNvSpPr/>
          <p:nvPr/>
        </p:nvSpPr>
        <p:spPr>
          <a:xfrm>
            <a:off x="3291840" y="1737360"/>
            <a:ext cx="274320" cy="274320"/>
          </a:xfrm>
          <a:prstGeom prst="ellipse">
            <a:avLst/>
          </a:prstGeom>
          <a:solidFill>
            <a:srgbClr val="3E8E5A"/>
          </a:solidFill>
          <a:ln/>
        </p:spPr>
        <p:txBody>
          <a:bodyPr/>
          <a:lstStyle/>
          <a:p>
            <a:endParaRPr lang="ko-KR" altLang="en-US"/>
          </a:p>
        </p:txBody>
      </p:sp>
      <p:sp>
        <p:nvSpPr>
          <p:cNvPr id="4" name="Text 2"/>
          <p:cNvSpPr/>
          <p:nvPr/>
        </p:nvSpPr>
        <p:spPr>
          <a:xfrm>
            <a:off x="3291840" y="173736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5" name="Text 3"/>
          <p:cNvSpPr/>
          <p:nvPr/>
        </p:nvSpPr>
        <p:spPr>
          <a:xfrm>
            <a:off x="3703320" y="1700784"/>
            <a:ext cx="5120640" cy="365760"/>
          </a:xfrm>
          <a:prstGeom prst="rect">
            <a:avLst/>
          </a:prstGeom>
          <a:noFill/>
          <a:ln/>
        </p:spPr>
        <p:txBody>
          <a:bodyPr wrap="square" lIns="0" tIns="0" rIns="0" bIns="0" rtlCol="0" anchor="ctr"/>
          <a:lstStyle/>
          <a:p>
            <a:pPr marL="0" indent="0" algn="l">
              <a:buNone/>
            </a:pPr>
            <a:r>
              <a:rPr lang="en-US" sz="1400" b="1" dirty="0">
                <a:solidFill>
                  <a:srgbClr val="2E3B52"/>
                </a:solidFill>
                <a:latin typeface="Arial" pitchFamily="34" charset="0"/>
                <a:ea typeface="Arial" pitchFamily="34" charset="-122"/>
                <a:cs typeface="Arial" pitchFamily="34" charset="-120"/>
              </a:rPr>
              <a:t>재기 전에 예상 숫자를 먼저 적게 한다</a:t>
            </a:r>
            <a:endParaRPr lang="en-US" sz="1400" dirty="0"/>
          </a:p>
        </p:txBody>
      </p:sp>
      <p:sp>
        <p:nvSpPr>
          <p:cNvPr id="6" name="Shape 4"/>
          <p:cNvSpPr/>
          <p:nvPr/>
        </p:nvSpPr>
        <p:spPr>
          <a:xfrm>
            <a:off x="3291840" y="2514600"/>
            <a:ext cx="274320" cy="274320"/>
          </a:xfrm>
          <a:prstGeom prst="ellipse">
            <a:avLst/>
          </a:prstGeom>
          <a:solidFill>
            <a:srgbClr val="3E8E5A"/>
          </a:solidFill>
          <a:ln/>
        </p:spPr>
        <p:txBody>
          <a:bodyPr/>
          <a:lstStyle/>
          <a:p>
            <a:endParaRPr lang="ko-KR" altLang="en-US"/>
          </a:p>
        </p:txBody>
      </p:sp>
      <p:sp>
        <p:nvSpPr>
          <p:cNvPr id="7" name="Text 5"/>
          <p:cNvSpPr/>
          <p:nvPr/>
        </p:nvSpPr>
        <p:spPr>
          <a:xfrm>
            <a:off x="3291840" y="251460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8" name="Text 6"/>
          <p:cNvSpPr/>
          <p:nvPr/>
        </p:nvSpPr>
        <p:spPr>
          <a:xfrm>
            <a:off x="3703320" y="2478024"/>
            <a:ext cx="5120640" cy="365760"/>
          </a:xfrm>
          <a:prstGeom prst="rect">
            <a:avLst/>
          </a:prstGeom>
          <a:noFill/>
          <a:ln/>
        </p:spPr>
        <p:txBody>
          <a:bodyPr wrap="square" lIns="0" tIns="0" rIns="0" bIns="0" rtlCol="0" anchor="ctr"/>
          <a:lstStyle/>
          <a:p>
            <a:pPr marL="0" indent="0" algn="l">
              <a:buNone/>
            </a:pPr>
            <a:r>
              <a:rPr lang="en-US" sz="1400" b="1" dirty="0">
                <a:solidFill>
                  <a:srgbClr val="2E3B52"/>
                </a:solidFill>
                <a:latin typeface="Arial" pitchFamily="34" charset="0"/>
                <a:ea typeface="Arial" pitchFamily="34" charset="-122"/>
                <a:cs typeface="Arial" pitchFamily="34" charset="-120"/>
              </a:rPr>
              <a:t>숫자가 어긋나면 설명을 붙이지 않고 버린다</a:t>
            </a:r>
            <a:endParaRPr lang="en-US" sz="1400" dirty="0"/>
          </a:p>
        </p:txBody>
      </p:sp>
      <p:sp>
        <p:nvSpPr>
          <p:cNvPr id="9" name="Shape 7"/>
          <p:cNvSpPr/>
          <p:nvPr/>
        </p:nvSpPr>
        <p:spPr>
          <a:xfrm>
            <a:off x="3291840" y="3291840"/>
            <a:ext cx="274320" cy="274320"/>
          </a:xfrm>
          <a:prstGeom prst="ellipse">
            <a:avLst/>
          </a:prstGeom>
          <a:solidFill>
            <a:srgbClr val="3E8E5A"/>
          </a:solidFill>
          <a:ln/>
        </p:spPr>
        <p:txBody>
          <a:bodyPr/>
          <a:lstStyle/>
          <a:p>
            <a:endParaRPr lang="ko-KR" altLang="en-US"/>
          </a:p>
        </p:txBody>
      </p:sp>
      <p:sp>
        <p:nvSpPr>
          <p:cNvPr id="10" name="Text 8"/>
          <p:cNvSpPr/>
          <p:nvPr/>
        </p:nvSpPr>
        <p:spPr>
          <a:xfrm>
            <a:off x="3291840" y="329184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1" name="Text 9"/>
          <p:cNvSpPr/>
          <p:nvPr/>
        </p:nvSpPr>
        <p:spPr>
          <a:xfrm>
            <a:off x="3703320" y="3255264"/>
            <a:ext cx="5120640" cy="365760"/>
          </a:xfrm>
          <a:prstGeom prst="rect">
            <a:avLst/>
          </a:prstGeom>
          <a:noFill/>
          <a:ln/>
        </p:spPr>
        <p:txBody>
          <a:bodyPr wrap="square" lIns="0" tIns="0" rIns="0" bIns="0" rtlCol="0" anchor="ctr"/>
          <a:lstStyle/>
          <a:p>
            <a:pPr marL="0" indent="0" algn="l">
              <a:buNone/>
            </a:pPr>
            <a:r>
              <a:rPr lang="en-US" sz="1400" b="1" dirty="0">
                <a:solidFill>
                  <a:srgbClr val="2E3B52"/>
                </a:solidFill>
                <a:latin typeface="Arial" pitchFamily="34" charset="0"/>
                <a:ea typeface="Arial" pitchFamily="34" charset="-122"/>
                <a:cs typeface="Arial" pitchFamily="34" charset="-120"/>
              </a:rPr>
              <a:t>결과가 잘 나올수록 더 의심한다</a:t>
            </a:r>
            <a:endParaRPr lang="en-US" sz="1400" dirty="0"/>
          </a:p>
        </p:txBody>
      </p:sp>
      <p:sp>
        <p:nvSpPr>
          <p:cNvPr id="12" name="Shape 10"/>
          <p:cNvSpPr/>
          <p:nvPr/>
        </p:nvSpPr>
        <p:spPr>
          <a:xfrm>
            <a:off x="3291840" y="4069080"/>
            <a:ext cx="274320" cy="274320"/>
          </a:xfrm>
          <a:prstGeom prst="ellipse">
            <a:avLst/>
          </a:prstGeom>
          <a:solidFill>
            <a:srgbClr val="3E8E5A"/>
          </a:solidFill>
          <a:ln/>
        </p:spPr>
        <p:txBody>
          <a:bodyPr/>
          <a:lstStyle/>
          <a:p>
            <a:endParaRPr lang="ko-KR" altLang="en-US"/>
          </a:p>
        </p:txBody>
      </p:sp>
      <p:sp>
        <p:nvSpPr>
          <p:cNvPr id="13" name="Text 11"/>
          <p:cNvSpPr/>
          <p:nvPr/>
        </p:nvSpPr>
        <p:spPr>
          <a:xfrm>
            <a:off x="3291840" y="406908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4" name="Text 12"/>
          <p:cNvSpPr/>
          <p:nvPr/>
        </p:nvSpPr>
        <p:spPr>
          <a:xfrm>
            <a:off x="3703320" y="4032504"/>
            <a:ext cx="5120640" cy="365760"/>
          </a:xfrm>
          <a:prstGeom prst="rect">
            <a:avLst/>
          </a:prstGeom>
          <a:noFill/>
          <a:ln/>
        </p:spPr>
        <p:txBody>
          <a:bodyPr wrap="square" lIns="0" tIns="0" rIns="0" bIns="0" rtlCol="0" anchor="ctr"/>
          <a:lstStyle/>
          <a:p>
            <a:pPr marL="0" indent="0" algn="l">
              <a:buNone/>
            </a:pPr>
            <a:r>
              <a:rPr lang="en-US" sz="1400" b="1" dirty="0">
                <a:solidFill>
                  <a:srgbClr val="2E3B52"/>
                </a:solidFill>
                <a:latin typeface="Arial" pitchFamily="34" charset="0"/>
                <a:ea typeface="Arial" pitchFamily="34" charset="-122"/>
                <a:cs typeface="Arial" pitchFamily="34" charset="-120"/>
              </a:rPr>
              <a:t>틀린 가설도 기록으로 남긴다</a:t>
            </a:r>
            <a:endParaRPr lang="en-US" sz="1400" dirty="0"/>
          </a:p>
        </p:txBody>
      </p:sp>
    </p:spTree>
    <p:extLst>
      <p:ext uri="{BB962C8B-B14F-4D97-AF65-F5344CB8AC3E}">
        <p14:creationId xmlns:p14="http://schemas.microsoft.com/office/powerpoint/2010/main" val="2142761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3F48BE0-D032-D5A1-E9D1-80C4189DCA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8BDC03E-7ABA-8F63-A999-3BE236EDAD27}"/>
              </a:ext>
            </a:extLst>
          </p:cNvPr>
          <p:cNvSpPr/>
          <p:nvPr/>
        </p:nvSpPr>
        <p:spPr>
          <a:xfrm>
            <a:off x="547208" y="3017196"/>
            <a:ext cx="11094415" cy="822960"/>
          </a:xfrm>
          <a:prstGeom prst="rect">
            <a:avLst/>
          </a:prstGeom>
          <a:noFill/>
          <a:ln/>
        </p:spPr>
        <p:txBody>
          <a:bodyPr wrap="square" lIns="0" tIns="0" rIns="0" bIns="0" rtlCol="0" anchor="ctr"/>
          <a:lstStyle/>
          <a:p>
            <a:pPr algn="ctr"/>
            <a:r>
              <a:rPr lang="ko-KR" altLang="en-US" sz="5400" b="1">
                <a:solidFill>
                  <a:srgbClr val="1F3B66"/>
                </a:solidFill>
                <a:latin typeface="Arial"/>
                <a:ea typeface="맑은 고딕"/>
                <a:cs typeface="Arial"/>
              </a:rPr>
              <a:t>7. 결과 분석 및 향후 과제</a:t>
            </a:r>
            <a:endParaRPr lang="ko-KR" altLang="en-US" sz="5400" b="1">
              <a:latin typeface="Arial"/>
              <a:ea typeface="맑은 고딕"/>
              <a:cs typeface="Arial"/>
            </a:endParaRPr>
          </a:p>
        </p:txBody>
      </p:sp>
    </p:spTree>
    <p:extLst>
      <p:ext uri="{BB962C8B-B14F-4D97-AF65-F5344CB8AC3E}">
        <p14:creationId xmlns:p14="http://schemas.microsoft.com/office/powerpoint/2010/main" val="34281246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219456"/>
            <a:ext cx="11094720" cy="6705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1F3B66"/>
                </a:solidFill>
                <a:latin typeface="Arial" pitchFamily="34" charset="0"/>
                <a:ea typeface="Arial" pitchFamily="34" charset="-122"/>
                <a:cs typeface="Arial" pitchFamily="34" charset="-120"/>
              </a:rPr>
              <a:t>탐지 성능 검증 파이프라인</a:t>
            </a:r>
            <a:endParaRPr lang="en-US" sz="2933" dirty="0"/>
          </a:p>
        </p:txBody>
      </p:sp>
      <p:sp>
        <p:nvSpPr>
          <p:cNvPr id="3" name="Shape 1"/>
          <p:cNvSpPr/>
          <p:nvPr/>
        </p:nvSpPr>
        <p:spPr>
          <a:xfrm>
            <a:off x="548640" y="950976"/>
            <a:ext cx="11094720" cy="0"/>
          </a:xfrm>
          <a:prstGeom prst="line">
            <a:avLst/>
          </a:prstGeom>
          <a:noFill/>
          <a:ln w="12700">
            <a:solidFill>
              <a:srgbClr val="C9CDD4"/>
            </a:solidFill>
            <a:prstDash val="solid"/>
          </a:ln>
        </p:spPr>
      </p:sp>
      <p:sp>
        <p:nvSpPr>
          <p:cNvPr id="4" name="Shape 2"/>
          <p:cNvSpPr/>
          <p:nvPr/>
        </p:nvSpPr>
        <p:spPr>
          <a:xfrm>
            <a:off x="548640" y="1121664"/>
            <a:ext cx="5181600" cy="1889760"/>
          </a:xfrm>
          <a:prstGeom prst="roundRect">
            <a:avLst>
              <a:gd name="adj" fmla="val 5161"/>
            </a:avLst>
          </a:prstGeom>
          <a:solidFill>
            <a:srgbClr val="E0EEFF"/>
          </a:solidFill>
          <a:ln w="19050">
            <a:solidFill>
              <a:srgbClr val="AAC4EE"/>
            </a:solidFill>
            <a:prstDash val="solid"/>
          </a:ln>
        </p:spPr>
      </p:sp>
      <p:sp>
        <p:nvSpPr>
          <p:cNvPr id="5" name="Text 3"/>
          <p:cNvSpPr/>
          <p:nvPr/>
        </p:nvSpPr>
        <p:spPr>
          <a:xfrm>
            <a:off x="731520" y="1182624"/>
            <a:ext cx="4876800" cy="39014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dirty="0">
                <a:solidFill>
                  <a:srgbClr val="1F3B66"/>
                </a:solidFill>
                <a:latin typeface="Arial" pitchFamily="34" charset="0"/>
                <a:ea typeface="Arial" pitchFamily="34" charset="-122"/>
                <a:cs typeface="Arial" pitchFamily="34" charset="-120"/>
              </a:rPr>
              <a:t>float_ref 모드 (기준값)</a:t>
            </a:r>
            <a:endParaRPr lang="en-US" sz="1600" dirty="0"/>
          </a:p>
        </p:txBody>
      </p:sp>
      <p:sp>
        <p:nvSpPr>
          <p:cNvPr id="6" name="Text 4"/>
          <p:cNvSpPr/>
          <p:nvPr/>
        </p:nvSpPr>
        <p:spPr>
          <a:xfrm>
            <a:off x="731520" y="1584960"/>
            <a:ext cx="4876800" cy="134112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1F3B66"/>
                </a:solidFill>
                <a:latin typeface="Arial" pitchFamily="34" charset="0"/>
                <a:ea typeface="Arial" pitchFamily="34" charset="-122"/>
                <a:cs typeface="Arial" pitchFamily="34" charset="-120"/>
              </a:rPr>
              <a:t>model.0~5 → model.6 (SW) → model.7~22</a:t>
            </a:r>
            <a:endParaRPr lang="en-US" sz="1400" dirty="0"/>
          </a:p>
          <a:p>
            <a:pPr marL="0" indent="0">
              <a:buNone/>
            </a:pPr>
            <a:endParaRPr lang="en-US" sz="1400" dirty="0"/>
          </a:p>
          <a:p>
            <a:pPr marL="0" indent="0">
              <a:buNone/>
            </a:pPr>
            <a:r>
              <a:rPr lang="en-US" sz="1400" dirty="0">
                <a:solidFill>
                  <a:srgbClr val="1F3B66"/>
                </a:solidFill>
                <a:latin typeface="Arial" pitchFamily="34" charset="0"/>
                <a:ea typeface="Arial" pitchFamily="34" charset="-122"/>
                <a:cs typeface="Arial" pitchFamily="34" charset="-120"/>
              </a:rPr>
              <a:t>양자화 없음. 순수 PyTorch float32.</a:t>
            </a:r>
            <a:endParaRPr lang="en-US" sz="1400" dirty="0"/>
          </a:p>
          <a:p>
            <a:pPr marL="0" indent="0">
              <a:buNone/>
            </a:pPr>
            <a:r>
              <a:rPr lang="en-US" sz="1400" dirty="0">
                <a:solidFill>
                  <a:srgbClr val="1F3B66"/>
                </a:solidFill>
                <a:latin typeface="Arial" pitchFamily="34" charset="0"/>
                <a:ea typeface="Arial" pitchFamily="34" charset="-122"/>
                <a:cs typeface="Arial" pitchFamily="34" charset="-120"/>
              </a:rPr>
              <a:t>탐지 결과 A (기준)</a:t>
            </a:r>
            <a:endParaRPr lang="en-US" sz="1400" dirty="0"/>
          </a:p>
        </p:txBody>
      </p:sp>
      <p:sp>
        <p:nvSpPr>
          <p:cNvPr id="7" name="Text 5"/>
          <p:cNvSpPr/>
          <p:nvPr/>
        </p:nvSpPr>
        <p:spPr>
          <a:xfrm>
            <a:off x="5547360" y="1584960"/>
            <a:ext cx="1097280" cy="7315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667" b="1" dirty="0">
                <a:solidFill>
                  <a:srgbClr val="C9CDD4"/>
                </a:solidFill>
                <a:latin typeface="Arial" pitchFamily="34" charset="0"/>
                <a:ea typeface="Arial" pitchFamily="34" charset="-122"/>
                <a:cs typeface="Arial" pitchFamily="34" charset="-120"/>
              </a:rPr>
              <a:t>vs</a:t>
            </a:r>
            <a:endParaRPr lang="en-US" sz="2667" dirty="0"/>
          </a:p>
        </p:txBody>
      </p:sp>
      <p:sp>
        <p:nvSpPr>
          <p:cNvPr id="8" name="Shape 6"/>
          <p:cNvSpPr/>
          <p:nvPr/>
        </p:nvSpPr>
        <p:spPr>
          <a:xfrm>
            <a:off x="6461760" y="1121664"/>
            <a:ext cx="5181600" cy="1889760"/>
          </a:xfrm>
          <a:prstGeom prst="roundRect">
            <a:avLst>
              <a:gd name="adj" fmla="val 5161"/>
            </a:avLst>
          </a:prstGeom>
          <a:solidFill>
            <a:srgbClr val="E0F5E0"/>
          </a:solidFill>
          <a:ln w="19050">
            <a:solidFill>
              <a:srgbClr val="90C4A0"/>
            </a:solidFill>
            <a:prstDash val="solid"/>
          </a:ln>
        </p:spPr>
      </p:sp>
      <p:sp>
        <p:nvSpPr>
          <p:cNvPr id="9" name="Text 7"/>
          <p:cNvSpPr/>
          <p:nvPr/>
        </p:nvSpPr>
        <p:spPr>
          <a:xfrm>
            <a:off x="6644640" y="1182624"/>
            <a:ext cx="4876800" cy="39014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dirty="0">
                <a:solidFill>
                  <a:srgbClr val="1A5E3A"/>
                </a:solidFill>
                <a:latin typeface="Arial" pitchFamily="34" charset="0"/>
                <a:ea typeface="Arial" pitchFamily="34" charset="-122"/>
                <a:cs typeface="Arial" pitchFamily="34" charset="-120"/>
              </a:rPr>
              <a:t>hw_readback 모드 (실제 HW)</a:t>
            </a:r>
            <a:endParaRPr lang="en-US" sz="1600" dirty="0"/>
          </a:p>
        </p:txBody>
      </p:sp>
      <p:sp>
        <p:nvSpPr>
          <p:cNvPr id="10" name="Text 8"/>
          <p:cNvSpPr/>
          <p:nvPr/>
        </p:nvSpPr>
        <p:spPr>
          <a:xfrm>
            <a:off x="6644640" y="1584960"/>
            <a:ext cx="4876800" cy="134112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1A5E3A"/>
                </a:solidFill>
                <a:latin typeface="Arial" pitchFamily="34" charset="0"/>
                <a:ea typeface="Arial" pitchFamily="34" charset="-122"/>
                <a:cs typeface="Arial" pitchFamily="34" charset="-120"/>
              </a:rPr>
              <a:t>model.0~5 → FPGA (model.6) → model.7~22</a:t>
            </a:r>
            <a:endParaRPr lang="en-US" sz="1400" dirty="0"/>
          </a:p>
          <a:p>
            <a:pPr marL="0" indent="0">
              <a:buNone/>
            </a:pPr>
            <a:endParaRPr lang="en-US" sz="1400" dirty="0"/>
          </a:p>
          <a:p>
            <a:pPr marL="0" indent="0">
              <a:buNone/>
            </a:pPr>
            <a:r>
              <a:rPr lang="en-US" sz="1400" dirty="0">
                <a:solidFill>
                  <a:srgbClr val="1A5E3A"/>
                </a:solidFill>
                <a:latin typeface="Arial" pitchFamily="34" charset="0"/>
                <a:ea typeface="Arial" pitchFamily="34" charset="-122"/>
                <a:cs typeface="Arial" pitchFamily="34" charset="-120"/>
              </a:rPr>
              <a:t>FPGA 출력 .bin → S_cat 역양자화</a:t>
            </a:r>
            <a:endParaRPr lang="en-US" sz="1400" dirty="0"/>
          </a:p>
          <a:p>
            <a:pPr marL="0" indent="0">
              <a:buNone/>
            </a:pPr>
            <a:r>
              <a:rPr lang="en-US" sz="1400" dirty="0">
                <a:solidFill>
                  <a:srgbClr val="1A5E3A"/>
                </a:solidFill>
                <a:latin typeface="Arial" pitchFamily="34" charset="0"/>
                <a:ea typeface="Arial" pitchFamily="34" charset="-122"/>
                <a:cs typeface="Arial" pitchFamily="34" charset="-120"/>
              </a:rPr>
              <a:t>→ cv2 입력에 hook 주입 → 탐지 결과 B</a:t>
            </a:r>
            <a:endParaRPr lang="en-US" sz="1400" dirty="0"/>
          </a:p>
        </p:txBody>
      </p:sp>
      <p:sp>
        <p:nvSpPr>
          <p:cNvPr id="11" name="Shape 9"/>
          <p:cNvSpPr/>
          <p:nvPr/>
        </p:nvSpPr>
        <p:spPr>
          <a:xfrm>
            <a:off x="548640" y="3169920"/>
            <a:ext cx="11094720" cy="1072896"/>
          </a:xfrm>
          <a:prstGeom prst="roundRect">
            <a:avLst>
              <a:gd name="adj" fmla="val 7955"/>
            </a:avLst>
          </a:prstGeom>
          <a:solidFill>
            <a:srgbClr val="EEF4FF"/>
          </a:solidFill>
          <a:ln w="15240">
            <a:solidFill>
              <a:srgbClr val="AAC4EE"/>
            </a:solidFill>
            <a:prstDash val="solid"/>
          </a:ln>
        </p:spPr>
      </p:sp>
      <p:sp>
        <p:nvSpPr>
          <p:cNvPr id="12" name="Text 10"/>
          <p:cNvSpPr/>
          <p:nvPr/>
        </p:nvSpPr>
        <p:spPr>
          <a:xfrm>
            <a:off x="731520" y="3230880"/>
            <a:ext cx="10728960" cy="341376"/>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dirty="0">
                <a:solidFill>
                  <a:srgbClr val="1F3B66"/>
                </a:solidFill>
                <a:latin typeface="Arial" pitchFamily="34" charset="0"/>
                <a:ea typeface="Arial" pitchFamily="34" charset="-122"/>
                <a:cs typeface="Arial" pitchFamily="34" charset="-120"/>
              </a:rPr>
              <a:t>💡  왜 float_ref에는 양자화를 적용하지 않는가?</a:t>
            </a:r>
            <a:endParaRPr lang="en-US" sz="1467" dirty="0"/>
          </a:p>
        </p:txBody>
      </p:sp>
      <p:sp>
        <p:nvSpPr>
          <p:cNvPr id="13" name="Text 11"/>
          <p:cNvSpPr/>
          <p:nvPr/>
        </p:nvSpPr>
        <p:spPr>
          <a:xfrm>
            <a:off x="731520" y="3596640"/>
            <a:ext cx="10728960" cy="585216"/>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dirty="0">
                <a:solidFill>
                  <a:srgbClr val="5A6472"/>
                </a:solidFill>
                <a:latin typeface="Arial" pitchFamily="34" charset="0"/>
                <a:ea typeface="Arial" pitchFamily="34" charset="-122"/>
                <a:cs typeface="Arial" pitchFamily="34" charset="-120"/>
              </a:rPr>
              <a:t>비교 목적: "INT8 양자화를 거친 FPGA가 순수 SW와 얼마나 비슷한가" 를 보는 것.</a:t>
            </a:r>
            <a:endParaRPr lang="en-US" sz="1333" dirty="0"/>
          </a:p>
          <a:p>
            <a:pPr marL="0" indent="0">
              <a:buNone/>
            </a:pPr>
            <a:r>
              <a:rPr lang="en-US" sz="1333" dirty="0">
                <a:solidFill>
                  <a:srgbClr val="5A6472"/>
                </a:solidFill>
                <a:latin typeface="Arial" pitchFamily="34" charset="0"/>
                <a:ea typeface="Arial" pitchFamily="34" charset="-122"/>
                <a:cs typeface="Arial" pitchFamily="34" charset="-120"/>
              </a:rPr>
              <a:t>float_ref에도 양자화를 넣으면 양쪽에 양자화 오차가 섞여 FPGA 하드웨어가 제대로 계산했는지를 순수하게 판단하기 어려워짐.</a:t>
            </a:r>
            <a:endParaRPr lang="en-US" sz="1333" dirty="0"/>
          </a:p>
        </p:txBody>
      </p:sp>
      <p:sp>
        <p:nvSpPr>
          <p:cNvPr id="14" name="Shape 12"/>
          <p:cNvSpPr/>
          <p:nvPr/>
        </p:nvSpPr>
        <p:spPr>
          <a:xfrm>
            <a:off x="548640" y="4352544"/>
            <a:ext cx="11094720" cy="1072896"/>
          </a:xfrm>
          <a:prstGeom prst="roundRect">
            <a:avLst>
              <a:gd name="adj" fmla="val 7955"/>
            </a:avLst>
          </a:prstGeom>
          <a:solidFill>
            <a:srgbClr val="EAFAF0"/>
          </a:solidFill>
          <a:ln w="15240">
            <a:solidFill>
              <a:srgbClr val="90C4A0"/>
            </a:solidFill>
            <a:prstDash val="solid"/>
          </a:ln>
        </p:spPr>
      </p:sp>
      <p:sp>
        <p:nvSpPr>
          <p:cNvPr id="15" name="Text 13"/>
          <p:cNvSpPr/>
          <p:nvPr/>
        </p:nvSpPr>
        <p:spPr>
          <a:xfrm>
            <a:off x="731520" y="4413504"/>
            <a:ext cx="10728960" cy="341376"/>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dirty="0">
                <a:solidFill>
                  <a:srgbClr val="1A5E3A"/>
                </a:solidFill>
                <a:latin typeface="Arial" pitchFamily="34" charset="0"/>
                <a:ea typeface="Arial" pitchFamily="34" charset="-122"/>
                <a:cs typeface="Arial" pitchFamily="34" charset="-120"/>
              </a:rPr>
              <a:t>🔬  단일 이미지 사전 검증 — FPGA 정상 동작 확인</a:t>
            </a:r>
            <a:endParaRPr lang="en-US" sz="1467" dirty="0"/>
          </a:p>
        </p:txBody>
      </p:sp>
      <p:sp>
        <p:nvSpPr>
          <p:cNvPr id="16" name="Text 14"/>
          <p:cNvSpPr/>
          <p:nvPr/>
        </p:nvSpPr>
        <p:spPr>
          <a:xfrm>
            <a:off x="731520" y="4779264"/>
            <a:ext cx="10728960" cy="585216"/>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dirty="0">
                <a:solidFill>
                  <a:srgbClr val="1A5E3A"/>
                </a:solidFill>
                <a:latin typeface="Arial" pitchFamily="34" charset="0"/>
                <a:ea typeface="Arial" pitchFamily="34" charset="-122"/>
                <a:cs typeface="Arial" pitchFamily="34" charset="-120"/>
              </a:rPr>
              <a:t>concat scale 설정 후 단일 이미지로 FPGA 출력과 SW concat 출력을 int8 단위로 직접 비교</a:t>
            </a:r>
            <a:endParaRPr lang="en-US" sz="1333" dirty="0"/>
          </a:p>
          <a:p>
            <a:pPr marL="0" indent="0">
              <a:buNone/>
            </a:pPr>
            <a:r>
              <a:rPr lang="en-US" sz="1333" dirty="0">
                <a:solidFill>
                  <a:srgbClr val="1A5E3A"/>
                </a:solidFill>
                <a:latin typeface="Arial" pitchFamily="34" charset="0"/>
                <a:ea typeface="Arial" pitchFamily="34" charset="-122"/>
                <a:cs typeface="Arial" pitchFamily="34" charset="-120"/>
              </a:rPr>
              <a:t>→  int8 완전일치 62.9%  /  ±1 이내 95.1%  /  최대차 14 LSB   ✅  SW 에뮬레이션 기댓값과 일치 → 정상 동작 확인</a:t>
            </a:r>
            <a:endParaRPr lang="en-US" sz="1333" dirty="0"/>
          </a:p>
        </p:txBody>
      </p:sp>
      <p:sp>
        <p:nvSpPr>
          <p:cNvPr id="17" name="Text 15"/>
          <p:cNvSpPr/>
          <p:nvPr/>
        </p:nvSpPr>
        <p:spPr>
          <a:xfrm>
            <a:off x="548640" y="5547360"/>
            <a:ext cx="2438400" cy="341376"/>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dirty="0">
                <a:solidFill>
                  <a:srgbClr val="1F3B66"/>
                </a:solidFill>
                <a:latin typeface="Arial" pitchFamily="34" charset="0"/>
                <a:ea typeface="Arial" pitchFamily="34" charset="-122"/>
                <a:cs typeface="Arial" pitchFamily="34" charset="-120"/>
              </a:rPr>
              <a:t>비교 지표</a:t>
            </a:r>
            <a:endParaRPr lang="en-US" sz="1467" dirty="0"/>
          </a:p>
        </p:txBody>
      </p:sp>
      <p:sp>
        <p:nvSpPr>
          <p:cNvPr id="18" name="Shape 16"/>
          <p:cNvSpPr/>
          <p:nvPr/>
        </p:nvSpPr>
        <p:spPr>
          <a:xfrm>
            <a:off x="548640" y="5913120"/>
            <a:ext cx="2657856" cy="829056"/>
          </a:xfrm>
          <a:prstGeom prst="roundRect">
            <a:avLst>
              <a:gd name="adj" fmla="val 8824"/>
            </a:avLst>
          </a:prstGeom>
          <a:solidFill>
            <a:srgbClr val="F7F9FC"/>
          </a:solidFill>
          <a:ln w="12700">
            <a:solidFill>
              <a:srgbClr val="C9CDD4"/>
            </a:solidFill>
            <a:prstDash val="solid"/>
          </a:ln>
        </p:spPr>
      </p:sp>
      <p:sp>
        <p:nvSpPr>
          <p:cNvPr id="19" name="Text 17"/>
          <p:cNvSpPr/>
          <p:nvPr/>
        </p:nvSpPr>
        <p:spPr>
          <a:xfrm>
            <a:off x="670560" y="5974080"/>
            <a:ext cx="2438400" cy="31699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1F3B66"/>
                </a:solidFill>
                <a:latin typeface="Arial" pitchFamily="34" charset="0"/>
                <a:ea typeface="Arial" pitchFamily="34" charset="-122"/>
                <a:cs typeface="Arial" pitchFamily="34" charset="-120"/>
              </a:rPr>
              <a:t>📦  객체 수 일치율</a:t>
            </a:r>
            <a:endParaRPr lang="en-US" sz="1333" dirty="0"/>
          </a:p>
        </p:txBody>
      </p:sp>
      <p:sp>
        <p:nvSpPr>
          <p:cNvPr id="20" name="Text 18"/>
          <p:cNvSpPr/>
          <p:nvPr/>
        </p:nvSpPr>
        <p:spPr>
          <a:xfrm>
            <a:off x="670560" y="6303264"/>
            <a:ext cx="2438400" cy="390144"/>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dirty="0">
                <a:solidFill>
                  <a:srgbClr val="5A6472"/>
                </a:solidFill>
                <a:latin typeface="Arial" pitchFamily="34" charset="0"/>
                <a:ea typeface="Arial" pitchFamily="34" charset="-122"/>
                <a:cs typeface="Arial" pitchFamily="34" charset="-120"/>
              </a:rPr>
              <a:t>이미지별 탐지 객체 수가 동일한 비율</a:t>
            </a:r>
            <a:endParaRPr lang="en-US" sz="1133" dirty="0"/>
          </a:p>
        </p:txBody>
      </p:sp>
      <p:sp>
        <p:nvSpPr>
          <p:cNvPr id="21" name="Shape 19"/>
          <p:cNvSpPr/>
          <p:nvPr/>
        </p:nvSpPr>
        <p:spPr>
          <a:xfrm>
            <a:off x="3352800" y="5913120"/>
            <a:ext cx="2657856" cy="829056"/>
          </a:xfrm>
          <a:prstGeom prst="roundRect">
            <a:avLst>
              <a:gd name="adj" fmla="val 8824"/>
            </a:avLst>
          </a:prstGeom>
          <a:solidFill>
            <a:srgbClr val="F7F9FC"/>
          </a:solidFill>
          <a:ln w="12700">
            <a:solidFill>
              <a:srgbClr val="C9CDD4"/>
            </a:solidFill>
            <a:prstDash val="solid"/>
          </a:ln>
        </p:spPr>
      </p:sp>
      <p:sp>
        <p:nvSpPr>
          <p:cNvPr id="22" name="Text 20"/>
          <p:cNvSpPr/>
          <p:nvPr/>
        </p:nvSpPr>
        <p:spPr>
          <a:xfrm>
            <a:off x="3474720" y="5974080"/>
            <a:ext cx="2438400" cy="31699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1F3B66"/>
                </a:solidFill>
                <a:latin typeface="Arial" pitchFamily="34" charset="0"/>
                <a:ea typeface="Arial" pitchFamily="34" charset="-122"/>
                <a:cs typeface="Arial" pitchFamily="34" charset="-120"/>
              </a:rPr>
              <a:t>🎯  클래스 판정 일치율</a:t>
            </a:r>
            <a:endParaRPr lang="en-US" sz="1333" dirty="0"/>
          </a:p>
        </p:txBody>
      </p:sp>
      <p:sp>
        <p:nvSpPr>
          <p:cNvPr id="23" name="Text 21"/>
          <p:cNvSpPr/>
          <p:nvPr/>
        </p:nvSpPr>
        <p:spPr>
          <a:xfrm>
            <a:off x="3474720" y="6303264"/>
            <a:ext cx="2438400" cy="390144"/>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dirty="0">
                <a:solidFill>
                  <a:srgbClr val="5A6472"/>
                </a:solidFill>
                <a:latin typeface="Arial" pitchFamily="34" charset="0"/>
                <a:ea typeface="Arial" pitchFamily="34" charset="-122"/>
                <a:cs typeface="Arial" pitchFamily="34" charset="-120"/>
              </a:rPr>
              <a:t>IoU ≥ 0.5 매칭 후 클래스가 동일한 비율</a:t>
            </a:r>
            <a:endParaRPr lang="en-US" sz="1133" dirty="0"/>
          </a:p>
        </p:txBody>
      </p:sp>
      <p:sp>
        <p:nvSpPr>
          <p:cNvPr id="24" name="Shape 22"/>
          <p:cNvSpPr/>
          <p:nvPr/>
        </p:nvSpPr>
        <p:spPr>
          <a:xfrm>
            <a:off x="6156960" y="5913120"/>
            <a:ext cx="2657856" cy="829056"/>
          </a:xfrm>
          <a:prstGeom prst="roundRect">
            <a:avLst>
              <a:gd name="adj" fmla="val 8824"/>
            </a:avLst>
          </a:prstGeom>
          <a:solidFill>
            <a:srgbClr val="F7F9FC"/>
          </a:solidFill>
          <a:ln w="12700">
            <a:solidFill>
              <a:srgbClr val="C9CDD4"/>
            </a:solidFill>
            <a:prstDash val="solid"/>
          </a:ln>
        </p:spPr>
      </p:sp>
      <p:sp>
        <p:nvSpPr>
          <p:cNvPr id="25" name="Text 23"/>
          <p:cNvSpPr/>
          <p:nvPr/>
        </p:nvSpPr>
        <p:spPr>
          <a:xfrm>
            <a:off x="6278880" y="5974080"/>
            <a:ext cx="2438400" cy="31699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1F3B66"/>
                </a:solidFill>
                <a:latin typeface="Arial" pitchFamily="34" charset="0"/>
                <a:ea typeface="Arial" pitchFamily="34" charset="-122"/>
                <a:cs typeface="Arial" pitchFamily="34" charset="-120"/>
              </a:rPr>
              <a:t>⚠  FN — 미착용 관련</a:t>
            </a:r>
            <a:endParaRPr lang="en-US" sz="1333" dirty="0"/>
          </a:p>
        </p:txBody>
      </p:sp>
      <p:sp>
        <p:nvSpPr>
          <p:cNvPr id="26" name="Text 24"/>
          <p:cNvSpPr/>
          <p:nvPr/>
        </p:nvSpPr>
        <p:spPr>
          <a:xfrm>
            <a:off x="6278880" y="6303264"/>
            <a:ext cx="2438400" cy="390144"/>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dirty="0">
                <a:solidFill>
                  <a:srgbClr val="5A6472"/>
                </a:solidFill>
                <a:latin typeface="Arial" pitchFamily="34" charset="0"/>
                <a:ea typeface="Arial" pitchFamily="34" charset="-122"/>
                <a:cs typeface="Arial" pitchFamily="34" charset="-120"/>
              </a:rPr>
              <a:t>SW는 탐지했으나 HW가 놓친 헬멧/조끼 미착용 → 안전 직결 지표</a:t>
            </a:r>
            <a:endParaRPr lang="en-US" sz="1133" dirty="0"/>
          </a:p>
        </p:txBody>
      </p:sp>
      <p:sp>
        <p:nvSpPr>
          <p:cNvPr id="27" name="Shape 25"/>
          <p:cNvSpPr/>
          <p:nvPr/>
        </p:nvSpPr>
        <p:spPr>
          <a:xfrm>
            <a:off x="8961120" y="5913120"/>
            <a:ext cx="2657856" cy="829056"/>
          </a:xfrm>
          <a:prstGeom prst="roundRect">
            <a:avLst>
              <a:gd name="adj" fmla="val 8824"/>
            </a:avLst>
          </a:prstGeom>
          <a:solidFill>
            <a:srgbClr val="F7F9FC"/>
          </a:solidFill>
          <a:ln w="12700">
            <a:solidFill>
              <a:srgbClr val="C9CDD4"/>
            </a:solidFill>
            <a:prstDash val="solid"/>
          </a:ln>
        </p:spPr>
      </p:sp>
      <p:sp>
        <p:nvSpPr>
          <p:cNvPr id="28" name="Text 26"/>
          <p:cNvSpPr/>
          <p:nvPr/>
        </p:nvSpPr>
        <p:spPr>
          <a:xfrm>
            <a:off x="9083040" y="5974080"/>
            <a:ext cx="2438400" cy="31699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1F3B66"/>
                </a:solidFill>
                <a:latin typeface="Arial" pitchFamily="34" charset="0"/>
                <a:ea typeface="Arial" pitchFamily="34" charset="-122"/>
                <a:cs typeface="Arial" pitchFamily="34" charset="-120"/>
              </a:rPr>
              <a:t>📊  Confidence 변화량</a:t>
            </a:r>
            <a:endParaRPr lang="en-US" sz="1333" dirty="0"/>
          </a:p>
        </p:txBody>
      </p:sp>
      <p:sp>
        <p:nvSpPr>
          <p:cNvPr id="29" name="Text 27"/>
          <p:cNvSpPr/>
          <p:nvPr/>
        </p:nvSpPr>
        <p:spPr>
          <a:xfrm>
            <a:off x="9083040" y="6303264"/>
            <a:ext cx="2438400" cy="390144"/>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dirty="0">
                <a:solidFill>
                  <a:srgbClr val="5A6472"/>
                </a:solidFill>
                <a:latin typeface="Arial" pitchFamily="34" charset="0"/>
                <a:ea typeface="Arial" pitchFamily="34" charset="-122"/>
                <a:cs typeface="Arial" pitchFamily="34" charset="-120"/>
              </a:rPr>
              <a:t>HW vs SW confidence 평균 차이 (Δconf)</a:t>
            </a:r>
            <a:endParaRPr lang="en-US" sz="1133" dirty="0"/>
          </a:p>
        </p:txBody>
      </p:sp>
    </p:spTree>
    <p:extLst>
      <p:ext uri="{BB962C8B-B14F-4D97-AF65-F5344CB8AC3E}">
        <p14:creationId xmlns:p14="http://schemas.microsoft.com/office/powerpoint/2010/main" val="42555041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19456"/>
            <a:ext cx="11094720" cy="6705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1F3B66"/>
                </a:solidFill>
                <a:latin typeface="Arial" pitchFamily="34" charset="0"/>
                <a:ea typeface="Arial" pitchFamily="34" charset="-122"/>
                <a:cs typeface="Arial" pitchFamily="34" charset="-120"/>
              </a:rPr>
              <a:t>탐지 성능 검증 결과 — 114장 (valid_dataset)</a:t>
            </a:r>
            <a:endParaRPr lang="en-US" sz="2933" dirty="0"/>
          </a:p>
        </p:txBody>
      </p:sp>
      <p:sp>
        <p:nvSpPr>
          <p:cNvPr id="3" name="Shape 1"/>
          <p:cNvSpPr/>
          <p:nvPr/>
        </p:nvSpPr>
        <p:spPr>
          <a:xfrm>
            <a:off x="548640" y="950976"/>
            <a:ext cx="11094720" cy="0"/>
          </a:xfrm>
          <a:prstGeom prst="line">
            <a:avLst/>
          </a:prstGeom>
          <a:noFill/>
          <a:ln w="12700">
            <a:solidFill>
              <a:srgbClr val="C9CDD4"/>
            </a:solidFill>
            <a:prstDash val="solid"/>
          </a:ln>
        </p:spPr>
      </p:sp>
      <p:sp>
        <p:nvSpPr>
          <p:cNvPr id="4" name="Shape 2"/>
          <p:cNvSpPr/>
          <p:nvPr/>
        </p:nvSpPr>
        <p:spPr>
          <a:xfrm>
            <a:off x="548640" y="1158240"/>
            <a:ext cx="2621280" cy="1524000"/>
          </a:xfrm>
          <a:prstGeom prst="roundRect">
            <a:avLst>
              <a:gd name="adj" fmla="val 6400"/>
            </a:avLst>
          </a:prstGeom>
          <a:solidFill>
            <a:srgbClr val="E0F5E0"/>
          </a:solidFill>
          <a:ln w="12700">
            <a:solidFill>
              <a:srgbClr val="C9CDD4"/>
            </a:solidFill>
            <a:prstDash val="solid"/>
          </a:ln>
        </p:spPr>
      </p:sp>
      <p:sp>
        <p:nvSpPr>
          <p:cNvPr id="5" name="Text 3"/>
          <p:cNvSpPr/>
          <p:nvPr/>
        </p:nvSpPr>
        <p:spPr>
          <a:xfrm>
            <a:off x="548640" y="1280160"/>
            <a:ext cx="2621280" cy="7315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467" b="1" dirty="0">
                <a:solidFill>
                  <a:srgbClr val="1A5E3A"/>
                </a:solidFill>
                <a:latin typeface="Arial" pitchFamily="34" charset="0"/>
                <a:ea typeface="Arial" pitchFamily="34" charset="-122"/>
                <a:cs typeface="Arial" pitchFamily="34" charset="-120"/>
              </a:rPr>
              <a:t>91.2%</a:t>
            </a:r>
            <a:endParaRPr lang="en-US" sz="3467" dirty="0"/>
          </a:p>
        </p:txBody>
      </p:sp>
      <p:sp>
        <p:nvSpPr>
          <p:cNvPr id="6" name="Text 4"/>
          <p:cNvSpPr/>
          <p:nvPr/>
        </p:nvSpPr>
        <p:spPr>
          <a:xfrm>
            <a:off x="548640" y="2011680"/>
            <a:ext cx="2621280" cy="585216"/>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dirty="0">
                <a:solidFill>
                  <a:srgbClr val="1A5E3A"/>
                </a:solidFill>
                <a:latin typeface="Arial" pitchFamily="34" charset="0"/>
                <a:ea typeface="Arial" pitchFamily="34" charset="-122"/>
                <a:cs typeface="Arial" pitchFamily="34" charset="-120"/>
              </a:rPr>
              <a:t>객체 수</a:t>
            </a:r>
            <a:endParaRPr lang="en-US" sz="1333" dirty="0"/>
          </a:p>
          <a:p>
            <a:pPr marL="0" indent="0" algn="ctr">
              <a:buNone/>
            </a:pPr>
            <a:r>
              <a:rPr lang="en-US" sz="1333" dirty="0">
                <a:solidFill>
                  <a:srgbClr val="1A5E3A"/>
                </a:solidFill>
                <a:latin typeface="Arial" pitchFamily="34" charset="0"/>
                <a:ea typeface="Arial" pitchFamily="34" charset="-122"/>
                <a:cs typeface="Arial" pitchFamily="34" charset="-120"/>
              </a:rPr>
              <a:t>일치 이미지</a:t>
            </a:r>
            <a:endParaRPr lang="en-US" sz="1333" dirty="0"/>
          </a:p>
        </p:txBody>
      </p:sp>
      <p:sp>
        <p:nvSpPr>
          <p:cNvPr id="7" name="Shape 5"/>
          <p:cNvSpPr/>
          <p:nvPr/>
        </p:nvSpPr>
        <p:spPr>
          <a:xfrm>
            <a:off x="3413760" y="1158240"/>
            <a:ext cx="2621280" cy="1524000"/>
          </a:xfrm>
          <a:prstGeom prst="roundRect">
            <a:avLst>
              <a:gd name="adj" fmla="val 6400"/>
            </a:avLst>
          </a:prstGeom>
          <a:solidFill>
            <a:srgbClr val="E0F5E0"/>
          </a:solidFill>
          <a:ln w="12700">
            <a:solidFill>
              <a:srgbClr val="C9CDD4"/>
            </a:solidFill>
            <a:prstDash val="solid"/>
          </a:ln>
        </p:spPr>
      </p:sp>
      <p:sp>
        <p:nvSpPr>
          <p:cNvPr id="8" name="Text 6"/>
          <p:cNvSpPr/>
          <p:nvPr/>
        </p:nvSpPr>
        <p:spPr>
          <a:xfrm>
            <a:off x="3413760" y="1280160"/>
            <a:ext cx="2621280" cy="7315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467" b="1" dirty="0">
                <a:solidFill>
                  <a:srgbClr val="1A5E3A"/>
                </a:solidFill>
                <a:latin typeface="Arial" pitchFamily="34" charset="0"/>
                <a:ea typeface="Arial" pitchFamily="34" charset="-122"/>
                <a:cs typeface="Arial" pitchFamily="34" charset="-120"/>
              </a:rPr>
              <a:t>100%</a:t>
            </a:r>
            <a:endParaRPr lang="en-US" sz="3467" dirty="0"/>
          </a:p>
        </p:txBody>
      </p:sp>
      <p:sp>
        <p:nvSpPr>
          <p:cNvPr id="9" name="Text 7"/>
          <p:cNvSpPr/>
          <p:nvPr/>
        </p:nvSpPr>
        <p:spPr>
          <a:xfrm>
            <a:off x="3413760" y="2011680"/>
            <a:ext cx="2621280" cy="585216"/>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dirty="0">
                <a:solidFill>
                  <a:srgbClr val="1A5E3A"/>
                </a:solidFill>
                <a:latin typeface="Arial" pitchFamily="34" charset="0"/>
                <a:ea typeface="Arial" pitchFamily="34" charset="-122"/>
                <a:cs typeface="Arial" pitchFamily="34" charset="-120"/>
              </a:rPr>
              <a:t>클래스</a:t>
            </a:r>
            <a:endParaRPr lang="en-US" sz="1333" dirty="0"/>
          </a:p>
          <a:p>
            <a:pPr marL="0" indent="0" algn="ctr">
              <a:buNone/>
            </a:pPr>
            <a:r>
              <a:rPr lang="en-US" sz="1333" dirty="0">
                <a:solidFill>
                  <a:srgbClr val="1A5E3A"/>
                </a:solidFill>
                <a:latin typeface="Arial" pitchFamily="34" charset="0"/>
                <a:ea typeface="Arial" pitchFamily="34" charset="-122"/>
                <a:cs typeface="Arial" pitchFamily="34" charset="-120"/>
              </a:rPr>
              <a:t>판정 일치율</a:t>
            </a:r>
            <a:endParaRPr lang="en-US" sz="1333" dirty="0"/>
          </a:p>
        </p:txBody>
      </p:sp>
      <p:sp>
        <p:nvSpPr>
          <p:cNvPr id="10" name="Shape 8"/>
          <p:cNvSpPr/>
          <p:nvPr/>
        </p:nvSpPr>
        <p:spPr>
          <a:xfrm>
            <a:off x="6278880" y="1158240"/>
            <a:ext cx="2621280" cy="1524000"/>
          </a:xfrm>
          <a:prstGeom prst="roundRect">
            <a:avLst>
              <a:gd name="adj" fmla="val 6400"/>
            </a:avLst>
          </a:prstGeom>
          <a:solidFill>
            <a:srgbClr val="E0F5E0"/>
          </a:solidFill>
          <a:ln w="12700">
            <a:solidFill>
              <a:srgbClr val="C9CDD4"/>
            </a:solidFill>
            <a:prstDash val="solid"/>
          </a:ln>
        </p:spPr>
      </p:sp>
      <p:sp>
        <p:nvSpPr>
          <p:cNvPr id="11" name="Text 9"/>
          <p:cNvSpPr/>
          <p:nvPr/>
        </p:nvSpPr>
        <p:spPr>
          <a:xfrm>
            <a:off x="6278880" y="1280160"/>
            <a:ext cx="2621280" cy="7315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467" b="1" dirty="0">
                <a:solidFill>
                  <a:srgbClr val="1A5E3A"/>
                </a:solidFill>
                <a:latin typeface="Arial" pitchFamily="34" charset="0"/>
                <a:ea typeface="Arial" pitchFamily="34" charset="-122"/>
                <a:cs typeface="Arial" pitchFamily="34" charset="-120"/>
              </a:rPr>
              <a:t>0건</a:t>
            </a:r>
            <a:endParaRPr lang="en-US" sz="3467" dirty="0"/>
          </a:p>
        </p:txBody>
      </p:sp>
      <p:sp>
        <p:nvSpPr>
          <p:cNvPr id="12" name="Text 10"/>
          <p:cNvSpPr/>
          <p:nvPr/>
        </p:nvSpPr>
        <p:spPr>
          <a:xfrm>
            <a:off x="6278880" y="2011680"/>
            <a:ext cx="2621280" cy="585216"/>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dirty="0">
                <a:solidFill>
                  <a:srgbClr val="1A5E3A"/>
                </a:solidFill>
                <a:latin typeface="Arial" pitchFamily="34" charset="0"/>
                <a:ea typeface="Arial" pitchFamily="34" charset="-122"/>
                <a:cs typeface="Arial" pitchFamily="34" charset="-120"/>
              </a:rPr>
              <a:t>★ FN</a:t>
            </a:r>
            <a:endParaRPr lang="en-US" sz="1333" dirty="0"/>
          </a:p>
          <a:p>
            <a:pPr marL="0" indent="0" algn="ctr">
              <a:buNone/>
            </a:pPr>
            <a:r>
              <a:rPr lang="en-US" sz="1333" dirty="0">
                <a:solidFill>
                  <a:srgbClr val="1A5E3A"/>
                </a:solidFill>
                <a:latin typeface="Arial" pitchFamily="34" charset="0"/>
                <a:ea typeface="Arial" pitchFamily="34" charset="-122"/>
                <a:cs typeface="Arial" pitchFamily="34" charset="-120"/>
              </a:rPr>
              <a:t>(미착용 관련)</a:t>
            </a:r>
            <a:endParaRPr lang="en-US" sz="1333" dirty="0"/>
          </a:p>
        </p:txBody>
      </p:sp>
      <p:sp>
        <p:nvSpPr>
          <p:cNvPr id="13" name="Shape 11"/>
          <p:cNvSpPr/>
          <p:nvPr/>
        </p:nvSpPr>
        <p:spPr>
          <a:xfrm>
            <a:off x="9144000" y="1158240"/>
            <a:ext cx="2621280" cy="1524000"/>
          </a:xfrm>
          <a:prstGeom prst="roundRect">
            <a:avLst>
              <a:gd name="adj" fmla="val 6400"/>
            </a:avLst>
          </a:prstGeom>
          <a:solidFill>
            <a:srgbClr val="E0EEFF"/>
          </a:solidFill>
          <a:ln w="12700">
            <a:solidFill>
              <a:srgbClr val="C9CDD4"/>
            </a:solidFill>
            <a:prstDash val="solid"/>
          </a:ln>
        </p:spPr>
      </p:sp>
      <p:sp>
        <p:nvSpPr>
          <p:cNvPr id="14" name="Text 12"/>
          <p:cNvSpPr/>
          <p:nvPr/>
        </p:nvSpPr>
        <p:spPr>
          <a:xfrm>
            <a:off x="9144000" y="1280160"/>
            <a:ext cx="2621280" cy="7315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467" b="1" dirty="0">
                <a:solidFill>
                  <a:srgbClr val="1F3B66"/>
                </a:solidFill>
                <a:latin typeface="Arial" pitchFamily="34" charset="0"/>
                <a:ea typeface="Arial" pitchFamily="34" charset="-122"/>
                <a:cs typeface="Arial" pitchFamily="34" charset="-120"/>
              </a:rPr>
              <a:t>−0.001</a:t>
            </a:r>
            <a:endParaRPr lang="en-US" sz="3467" dirty="0"/>
          </a:p>
        </p:txBody>
      </p:sp>
      <p:sp>
        <p:nvSpPr>
          <p:cNvPr id="15" name="Text 13"/>
          <p:cNvSpPr/>
          <p:nvPr/>
        </p:nvSpPr>
        <p:spPr>
          <a:xfrm>
            <a:off x="9144000" y="2011680"/>
            <a:ext cx="2621280" cy="585216"/>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dirty="0">
                <a:solidFill>
                  <a:srgbClr val="1F3B66"/>
                </a:solidFill>
                <a:latin typeface="Arial" pitchFamily="34" charset="0"/>
                <a:ea typeface="Arial" pitchFamily="34" charset="-122"/>
                <a:cs typeface="Arial" pitchFamily="34" charset="-120"/>
              </a:rPr>
              <a:t>Confidence</a:t>
            </a:r>
            <a:endParaRPr lang="en-US" sz="1333" dirty="0"/>
          </a:p>
          <a:p>
            <a:pPr marL="0" indent="0" algn="ctr">
              <a:buNone/>
            </a:pPr>
            <a:r>
              <a:rPr lang="en-US" sz="1333" dirty="0">
                <a:solidFill>
                  <a:srgbClr val="1F3B66"/>
                </a:solidFill>
                <a:latin typeface="Arial" pitchFamily="34" charset="0"/>
                <a:ea typeface="Arial" pitchFamily="34" charset="-122"/>
                <a:cs typeface="Arial" pitchFamily="34" charset="-120"/>
              </a:rPr>
              <a:t>평균 변화량</a:t>
            </a:r>
            <a:endParaRPr lang="en-US" sz="1333" dirty="0"/>
          </a:p>
        </p:txBody>
      </p:sp>
      <p:sp>
        <p:nvSpPr>
          <p:cNvPr id="16" name="Text 14"/>
          <p:cNvSpPr/>
          <p:nvPr/>
        </p:nvSpPr>
        <p:spPr>
          <a:xfrm>
            <a:off x="548640" y="2901696"/>
            <a:ext cx="4876800" cy="39014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dirty="0">
                <a:solidFill>
                  <a:srgbClr val="1F3B66"/>
                </a:solidFill>
                <a:latin typeface="Arial" pitchFamily="34" charset="0"/>
                <a:ea typeface="Arial" pitchFamily="34" charset="-122"/>
                <a:cs typeface="Arial" pitchFamily="34" charset="-120"/>
              </a:rPr>
              <a:t>상세 비교 (114장 집계)</a:t>
            </a:r>
            <a:endParaRPr lang="en-US" sz="1600" dirty="0"/>
          </a:p>
        </p:txBody>
      </p:sp>
      <p:sp>
        <p:nvSpPr>
          <p:cNvPr id="17" name="Shape 15"/>
          <p:cNvSpPr/>
          <p:nvPr/>
        </p:nvSpPr>
        <p:spPr>
          <a:xfrm>
            <a:off x="548640" y="3352800"/>
            <a:ext cx="2926080" cy="414528"/>
          </a:xfrm>
          <a:prstGeom prst="rect">
            <a:avLst/>
          </a:prstGeom>
          <a:solidFill>
            <a:srgbClr val="1F3B66"/>
          </a:solidFill>
          <a:ln w="6350">
            <a:solidFill>
              <a:srgbClr val="C9CDD4"/>
            </a:solidFill>
            <a:prstDash val="solid"/>
          </a:ln>
        </p:spPr>
      </p:sp>
      <p:sp>
        <p:nvSpPr>
          <p:cNvPr id="18" name="Text 16"/>
          <p:cNvSpPr/>
          <p:nvPr/>
        </p:nvSpPr>
        <p:spPr>
          <a:xfrm>
            <a:off x="670560" y="3377184"/>
            <a:ext cx="27432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dirty="0">
                <a:solidFill>
                  <a:srgbClr val="FFFFFF"/>
                </a:solidFill>
                <a:latin typeface="Arial" pitchFamily="34" charset="0"/>
                <a:ea typeface="Arial" pitchFamily="34" charset="-122"/>
                <a:cs typeface="Arial" pitchFamily="34" charset="-120"/>
              </a:rPr>
              <a:t>지표</a:t>
            </a:r>
            <a:endParaRPr lang="en-US" sz="1400" dirty="0"/>
          </a:p>
        </p:txBody>
      </p:sp>
      <p:sp>
        <p:nvSpPr>
          <p:cNvPr id="19" name="Shape 17"/>
          <p:cNvSpPr/>
          <p:nvPr/>
        </p:nvSpPr>
        <p:spPr>
          <a:xfrm>
            <a:off x="3474720" y="3352800"/>
            <a:ext cx="2316480" cy="414528"/>
          </a:xfrm>
          <a:prstGeom prst="rect">
            <a:avLst/>
          </a:prstGeom>
          <a:solidFill>
            <a:srgbClr val="1F3B66"/>
          </a:solidFill>
          <a:ln w="6350">
            <a:solidFill>
              <a:srgbClr val="C9CDD4"/>
            </a:solidFill>
            <a:prstDash val="solid"/>
          </a:ln>
        </p:spPr>
      </p:sp>
      <p:sp>
        <p:nvSpPr>
          <p:cNvPr id="20" name="Text 18"/>
          <p:cNvSpPr/>
          <p:nvPr/>
        </p:nvSpPr>
        <p:spPr>
          <a:xfrm>
            <a:off x="3596640" y="3377184"/>
            <a:ext cx="21336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dirty="0">
                <a:solidFill>
                  <a:srgbClr val="FFFFFF"/>
                </a:solidFill>
                <a:latin typeface="Arial" pitchFamily="34" charset="0"/>
                <a:ea typeface="Arial" pitchFamily="34" charset="-122"/>
                <a:cs typeface="Arial" pitchFamily="34" charset="-120"/>
              </a:rPr>
              <a:t>값</a:t>
            </a:r>
            <a:endParaRPr lang="en-US" sz="1400" dirty="0"/>
          </a:p>
        </p:txBody>
      </p:sp>
      <p:sp>
        <p:nvSpPr>
          <p:cNvPr id="21" name="Shape 19"/>
          <p:cNvSpPr/>
          <p:nvPr/>
        </p:nvSpPr>
        <p:spPr>
          <a:xfrm>
            <a:off x="5791200" y="3352800"/>
            <a:ext cx="2804160" cy="414528"/>
          </a:xfrm>
          <a:prstGeom prst="rect">
            <a:avLst/>
          </a:prstGeom>
          <a:solidFill>
            <a:srgbClr val="1F3B66"/>
          </a:solidFill>
          <a:ln w="6350">
            <a:solidFill>
              <a:srgbClr val="C9CDD4"/>
            </a:solidFill>
            <a:prstDash val="solid"/>
          </a:ln>
        </p:spPr>
      </p:sp>
      <p:sp>
        <p:nvSpPr>
          <p:cNvPr id="22" name="Text 20"/>
          <p:cNvSpPr/>
          <p:nvPr/>
        </p:nvSpPr>
        <p:spPr>
          <a:xfrm>
            <a:off x="5913120" y="3377184"/>
            <a:ext cx="262128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dirty="0">
                <a:solidFill>
                  <a:srgbClr val="FFFFFF"/>
                </a:solidFill>
                <a:latin typeface="Arial" pitchFamily="34" charset="0"/>
                <a:ea typeface="Arial" pitchFamily="34" charset="-122"/>
                <a:cs typeface="Arial" pitchFamily="34" charset="-120"/>
              </a:rPr>
              <a:t>비고</a:t>
            </a:r>
            <a:endParaRPr lang="en-US" sz="1400" dirty="0"/>
          </a:p>
        </p:txBody>
      </p:sp>
      <p:sp>
        <p:nvSpPr>
          <p:cNvPr id="23" name="Shape 21"/>
          <p:cNvSpPr/>
          <p:nvPr/>
        </p:nvSpPr>
        <p:spPr>
          <a:xfrm>
            <a:off x="548640" y="3791712"/>
            <a:ext cx="2926080" cy="414528"/>
          </a:xfrm>
          <a:prstGeom prst="rect">
            <a:avLst/>
          </a:prstGeom>
          <a:solidFill>
            <a:srgbClr val="FFFFFF"/>
          </a:solidFill>
          <a:ln w="6350">
            <a:solidFill>
              <a:srgbClr val="C9CDD4"/>
            </a:solidFill>
            <a:prstDash val="solid"/>
          </a:ln>
        </p:spPr>
      </p:sp>
      <p:sp>
        <p:nvSpPr>
          <p:cNvPr id="24" name="Text 22"/>
          <p:cNvSpPr/>
          <p:nvPr/>
        </p:nvSpPr>
        <p:spPr>
          <a:xfrm>
            <a:off x="670560" y="3816096"/>
            <a:ext cx="27432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평가 이미지</a:t>
            </a:r>
            <a:endParaRPr lang="en-US" sz="1267" dirty="0"/>
          </a:p>
        </p:txBody>
      </p:sp>
      <p:sp>
        <p:nvSpPr>
          <p:cNvPr id="25" name="Shape 23"/>
          <p:cNvSpPr/>
          <p:nvPr/>
        </p:nvSpPr>
        <p:spPr>
          <a:xfrm>
            <a:off x="3474720" y="3791712"/>
            <a:ext cx="2316480" cy="414528"/>
          </a:xfrm>
          <a:prstGeom prst="rect">
            <a:avLst/>
          </a:prstGeom>
          <a:solidFill>
            <a:srgbClr val="FFFFFF"/>
          </a:solidFill>
          <a:ln w="6350">
            <a:solidFill>
              <a:srgbClr val="C9CDD4"/>
            </a:solidFill>
            <a:prstDash val="solid"/>
          </a:ln>
        </p:spPr>
      </p:sp>
      <p:sp>
        <p:nvSpPr>
          <p:cNvPr id="26" name="Text 24"/>
          <p:cNvSpPr/>
          <p:nvPr/>
        </p:nvSpPr>
        <p:spPr>
          <a:xfrm>
            <a:off x="3596640" y="3816096"/>
            <a:ext cx="21336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114장</a:t>
            </a:r>
            <a:endParaRPr lang="en-US" sz="1267" dirty="0"/>
          </a:p>
        </p:txBody>
      </p:sp>
      <p:sp>
        <p:nvSpPr>
          <p:cNvPr id="27" name="Shape 25"/>
          <p:cNvSpPr/>
          <p:nvPr/>
        </p:nvSpPr>
        <p:spPr>
          <a:xfrm>
            <a:off x="5791200" y="3791712"/>
            <a:ext cx="2804160" cy="414528"/>
          </a:xfrm>
          <a:prstGeom prst="rect">
            <a:avLst/>
          </a:prstGeom>
          <a:solidFill>
            <a:srgbClr val="FFFFFF"/>
          </a:solidFill>
          <a:ln w="6350">
            <a:solidFill>
              <a:srgbClr val="C9CDD4"/>
            </a:solidFill>
            <a:prstDash val="solid"/>
          </a:ln>
        </p:spPr>
      </p:sp>
      <p:sp>
        <p:nvSpPr>
          <p:cNvPr id="28" name="Text 26"/>
          <p:cNvSpPr/>
          <p:nvPr/>
        </p:nvSpPr>
        <p:spPr>
          <a:xfrm>
            <a:off x="5913120" y="3816096"/>
            <a:ext cx="262128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valid_dataset 전체</a:t>
            </a:r>
            <a:endParaRPr lang="en-US" sz="1267" dirty="0"/>
          </a:p>
        </p:txBody>
      </p:sp>
      <p:sp>
        <p:nvSpPr>
          <p:cNvPr id="29" name="Shape 27"/>
          <p:cNvSpPr/>
          <p:nvPr/>
        </p:nvSpPr>
        <p:spPr>
          <a:xfrm>
            <a:off x="548640" y="4230624"/>
            <a:ext cx="2926080" cy="414528"/>
          </a:xfrm>
          <a:prstGeom prst="rect">
            <a:avLst/>
          </a:prstGeom>
          <a:solidFill>
            <a:srgbClr val="F0F4FA"/>
          </a:solidFill>
          <a:ln w="6350">
            <a:solidFill>
              <a:srgbClr val="C9CDD4"/>
            </a:solidFill>
            <a:prstDash val="solid"/>
          </a:ln>
        </p:spPr>
      </p:sp>
      <p:sp>
        <p:nvSpPr>
          <p:cNvPr id="30" name="Text 28"/>
          <p:cNvSpPr/>
          <p:nvPr/>
        </p:nvSpPr>
        <p:spPr>
          <a:xfrm>
            <a:off x="670560" y="4255008"/>
            <a:ext cx="27432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총 FN</a:t>
            </a:r>
            <a:endParaRPr lang="en-US" sz="1267" dirty="0"/>
          </a:p>
        </p:txBody>
      </p:sp>
      <p:sp>
        <p:nvSpPr>
          <p:cNvPr id="31" name="Shape 29"/>
          <p:cNvSpPr/>
          <p:nvPr/>
        </p:nvSpPr>
        <p:spPr>
          <a:xfrm>
            <a:off x="3474720" y="4230624"/>
            <a:ext cx="2316480" cy="414528"/>
          </a:xfrm>
          <a:prstGeom prst="rect">
            <a:avLst/>
          </a:prstGeom>
          <a:solidFill>
            <a:srgbClr val="F0F4FA"/>
          </a:solidFill>
          <a:ln w="6350">
            <a:solidFill>
              <a:srgbClr val="C9CDD4"/>
            </a:solidFill>
            <a:prstDash val="solid"/>
          </a:ln>
        </p:spPr>
      </p:sp>
      <p:sp>
        <p:nvSpPr>
          <p:cNvPr id="32" name="Text 30"/>
          <p:cNvSpPr/>
          <p:nvPr/>
        </p:nvSpPr>
        <p:spPr>
          <a:xfrm>
            <a:off x="3596640" y="4255008"/>
            <a:ext cx="21336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5건 (0.84%)</a:t>
            </a:r>
            <a:endParaRPr lang="en-US" sz="1267" dirty="0"/>
          </a:p>
        </p:txBody>
      </p:sp>
      <p:sp>
        <p:nvSpPr>
          <p:cNvPr id="33" name="Shape 31"/>
          <p:cNvSpPr/>
          <p:nvPr/>
        </p:nvSpPr>
        <p:spPr>
          <a:xfrm>
            <a:off x="5791200" y="4230624"/>
            <a:ext cx="2804160" cy="414528"/>
          </a:xfrm>
          <a:prstGeom prst="rect">
            <a:avLst/>
          </a:prstGeom>
          <a:solidFill>
            <a:srgbClr val="F0F4FA"/>
          </a:solidFill>
          <a:ln w="6350">
            <a:solidFill>
              <a:srgbClr val="C9CDD4"/>
            </a:solidFill>
            <a:prstDash val="solid"/>
          </a:ln>
        </p:spPr>
      </p:sp>
      <p:sp>
        <p:nvSpPr>
          <p:cNvPr id="34" name="Text 32"/>
          <p:cNvSpPr/>
          <p:nvPr/>
        </p:nvSpPr>
        <p:spPr>
          <a:xfrm>
            <a:off x="5913120" y="4255008"/>
            <a:ext cx="262128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INT8 양자화 경계값 차이</a:t>
            </a:r>
            <a:endParaRPr lang="en-US" sz="1267" dirty="0"/>
          </a:p>
        </p:txBody>
      </p:sp>
      <p:sp>
        <p:nvSpPr>
          <p:cNvPr id="35" name="Shape 33"/>
          <p:cNvSpPr/>
          <p:nvPr/>
        </p:nvSpPr>
        <p:spPr>
          <a:xfrm>
            <a:off x="548640" y="4669536"/>
            <a:ext cx="2926080" cy="414528"/>
          </a:xfrm>
          <a:prstGeom prst="rect">
            <a:avLst/>
          </a:prstGeom>
          <a:solidFill>
            <a:srgbClr val="FFFFFF"/>
          </a:solidFill>
          <a:ln w="6350">
            <a:solidFill>
              <a:srgbClr val="C9CDD4"/>
            </a:solidFill>
            <a:prstDash val="solid"/>
          </a:ln>
        </p:spPr>
      </p:sp>
      <p:sp>
        <p:nvSpPr>
          <p:cNvPr id="36" name="Text 34"/>
          <p:cNvSpPr/>
          <p:nvPr/>
        </p:nvSpPr>
        <p:spPr>
          <a:xfrm>
            <a:off x="670560" y="4693920"/>
            <a:ext cx="27432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총 FP</a:t>
            </a:r>
            <a:endParaRPr lang="en-US" sz="1267" dirty="0"/>
          </a:p>
        </p:txBody>
      </p:sp>
      <p:sp>
        <p:nvSpPr>
          <p:cNvPr id="37" name="Shape 35"/>
          <p:cNvSpPr/>
          <p:nvPr/>
        </p:nvSpPr>
        <p:spPr>
          <a:xfrm>
            <a:off x="3474720" y="4669536"/>
            <a:ext cx="2316480" cy="414528"/>
          </a:xfrm>
          <a:prstGeom prst="rect">
            <a:avLst/>
          </a:prstGeom>
          <a:solidFill>
            <a:srgbClr val="FFFFFF"/>
          </a:solidFill>
          <a:ln w="6350">
            <a:solidFill>
              <a:srgbClr val="C9CDD4"/>
            </a:solidFill>
            <a:prstDash val="solid"/>
          </a:ln>
        </p:spPr>
      </p:sp>
      <p:sp>
        <p:nvSpPr>
          <p:cNvPr id="38" name="Text 36"/>
          <p:cNvSpPr/>
          <p:nvPr/>
        </p:nvSpPr>
        <p:spPr>
          <a:xfrm>
            <a:off x="3596640" y="4693920"/>
            <a:ext cx="21336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7건 (1.17%)</a:t>
            </a:r>
            <a:endParaRPr lang="en-US" sz="1267" dirty="0"/>
          </a:p>
        </p:txBody>
      </p:sp>
      <p:sp>
        <p:nvSpPr>
          <p:cNvPr id="39" name="Shape 37"/>
          <p:cNvSpPr/>
          <p:nvPr/>
        </p:nvSpPr>
        <p:spPr>
          <a:xfrm>
            <a:off x="5791200" y="4669536"/>
            <a:ext cx="2804160" cy="414528"/>
          </a:xfrm>
          <a:prstGeom prst="rect">
            <a:avLst/>
          </a:prstGeom>
          <a:solidFill>
            <a:srgbClr val="FFFFFF"/>
          </a:solidFill>
          <a:ln w="6350">
            <a:solidFill>
              <a:srgbClr val="C9CDD4"/>
            </a:solidFill>
            <a:prstDash val="solid"/>
          </a:ln>
        </p:spPr>
      </p:sp>
      <p:sp>
        <p:nvSpPr>
          <p:cNvPr id="40" name="Text 38"/>
          <p:cNvSpPr/>
          <p:nvPr/>
        </p:nvSpPr>
        <p:spPr>
          <a:xfrm>
            <a:off x="5913120" y="4693920"/>
            <a:ext cx="262128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NMS confidence 경계</a:t>
            </a:r>
            <a:endParaRPr lang="en-US" sz="1267" dirty="0"/>
          </a:p>
        </p:txBody>
      </p:sp>
      <p:sp>
        <p:nvSpPr>
          <p:cNvPr id="41" name="Shape 39"/>
          <p:cNvSpPr/>
          <p:nvPr/>
        </p:nvSpPr>
        <p:spPr>
          <a:xfrm>
            <a:off x="548640" y="5108448"/>
            <a:ext cx="2926080" cy="414528"/>
          </a:xfrm>
          <a:prstGeom prst="rect">
            <a:avLst/>
          </a:prstGeom>
          <a:solidFill>
            <a:srgbClr val="F0F4FA"/>
          </a:solidFill>
          <a:ln w="6350">
            <a:solidFill>
              <a:srgbClr val="C9CDD4"/>
            </a:solidFill>
            <a:prstDash val="solid"/>
          </a:ln>
        </p:spPr>
      </p:sp>
      <p:sp>
        <p:nvSpPr>
          <p:cNvPr id="42" name="Text 40"/>
          <p:cNvSpPr/>
          <p:nvPr/>
        </p:nvSpPr>
        <p:spPr>
          <a:xfrm>
            <a:off x="670560" y="5132832"/>
            <a:ext cx="27432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FN — 미착용 관련</a:t>
            </a:r>
            <a:endParaRPr lang="en-US" sz="1267" dirty="0"/>
          </a:p>
        </p:txBody>
      </p:sp>
      <p:sp>
        <p:nvSpPr>
          <p:cNvPr id="43" name="Shape 41"/>
          <p:cNvSpPr/>
          <p:nvPr/>
        </p:nvSpPr>
        <p:spPr>
          <a:xfrm>
            <a:off x="3474720" y="5108448"/>
            <a:ext cx="2316480" cy="414528"/>
          </a:xfrm>
          <a:prstGeom prst="rect">
            <a:avLst/>
          </a:prstGeom>
          <a:solidFill>
            <a:srgbClr val="F0F4FA"/>
          </a:solidFill>
          <a:ln w="6350">
            <a:solidFill>
              <a:srgbClr val="C9CDD4"/>
            </a:solidFill>
            <a:prstDash val="solid"/>
          </a:ln>
        </p:spPr>
      </p:sp>
      <p:sp>
        <p:nvSpPr>
          <p:cNvPr id="44" name="Text 42"/>
          <p:cNvSpPr/>
          <p:nvPr/>
        </p:nvSpPr>
        <p:spPr>
          <a:xfrm>
            <a:off x="3596640" y="5132832"/>
            <a:ext cx="21336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0건 ✅</a:t>
            </a:r>
            <a:endParaRPr lang="en-US" sz="1267" dirty="0"/>
          </a:p>
        </p:txBody>
      </p:sp>
      <p:sp>
        <p:nvSpPr>
          <p:cNvPr id="45" name="Shape 43"/>
          <p:cNvSpPr/>
          <p:nvPr/>
        </p:nvSpPr>
        <p:spPr>
          <a:xfrm>
            <a:off x="5791200" y="5108448"/>
            <a:ext cx="2804160" cy="414528"/>
          </a:xfrm>
          <a:prstGeom prst="rect">
            <a:avLst/>
          </a:prstGeom>
          <a:solidFill>
            <a:srgbClr val="F0F4FA"/>
          </a:solidFill>
          <a:ln w="6350">
            <a:solidFill>
              <a:srgbClr val="C9CDD4"/>
            </a:solidFill>
            <a:prstDash val="solid"/>
          </a:ln>
        </p:spPr>
      </p:sp>
      <p:sp>
        <p:nvSpPr>
          <p:cNvPr id="46" name="Text 44"/>
          <p:cNvSpPr/>
          <p:nvPr/>
        </p:nvSpPr>
        <p:spPr>
          <a:xfrm>
            <a:off x="5913120" y="5132832"/>
            <a:ext cx="262128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안전 직결 지표</a:t>
            </a:r>
            <a:endParaRPr lang="en-US" sz="1267" dirty="0"/>
          </a:p>
        </p:txBody>
      </p:sp>
      <p:sp>
        <p:nvSpPr>
          <p:cNvPr id="47" name="Shape 45"/>
          <p:cNvSpPr/>
          <p:nvPr/>
        </p:nvSpPr>
        <p:spPr>
          <a:xfrm>
            <a:off x="548640" y="5547360"/>
            <a:ext cx="2926080" cy="414528"/>
          </a:xfrm>
          <a:prstGeom prst="rect">
            <a:avLst/>
          </a:prstGeom>
          <a:solidFill>
            <a:srgbClr val="FFFFFF"/>
          </a:solidFill>
          <a:ln w="6350">
            <a:solidFill>
              <a:srgbClr val="C9CDD4"/>
            </a:solidFill>
            <a:prstDash val="solid"/>
          </a:ln>
        </p:spPr>
      </p:sp>
      <p:sp>
        <p:nvSpPr>
          <p:cNvPr id="48" name="Text 46"/>
          <p:cNvSpPr/>
          <p:nvPr/>
        </p:nvSpPr>
        <p:spPr>
          <a:xfrm>
            <a:off x="670560" y="5571744"/>
            <a:ext cx="27432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Δconf (평균)</a:t>
            </a:r>
            <a:endParaRPr lang="en-US" sz="1267" dirty="0"/>
          </a:p>
        </p:txBody>
      </p:sp>
      <p:sp>
        <p:nvSpPr>
          <p:cNvPr id="49" name="Shape 47"/>
          <p:cNvSpPr/>
          <p:nvPr/>
        </p:nvSpPr>
        <p:spPr>
          <a:xfrm>
            <a:off x="3474720" y="5547360"/>
            <a:ext cx="2316480" cy="414528"/>
          </a:xfrm>
          <a:prstGeom prst="rect">
            <a:avLst/>
          </a:prstGeom>
          <a:solidFill>
            <a:srgbClr val="FFFFFF"/>
          </a:solidFill>
          <a:ln w="6350">
            <a:solidFill>
              <a:srgbClr val="C9CDD4"/>
            </a:solidFill>
            <a:prstDash val="solid"/>
          </a:ln>
        </p:spPr>
      </p:sp>
      <p:sp>
        <p:nvSpPr>
          <p:cNvPr id="50" name="Text 48"/>
          <p:cNvSpPr/>
          <p:nvPr/>
        </p:nvSpPr>
        <p:spPr>
          <a:xfrm>
            <a:off x="3596640" y="5571744"/>
            <a:ext cx="21336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−0.0012</a:t>
            </a:r>
            <a:endParaRPr lang="en-US" sz="1267" dirty="0"/>
          </a:p>
        </p:txBody>
      </p:sp>
      <p:sp>
        <p:nvSpPr>
          <p:cNvPr id="51" name="Shape 49"/>
          <p:cNvSpPr/>
          <p:nvPr/>
        </p:nvSpPr>
        <p:spPr>
          <a:xfrm>
            <a:off x="5791200" y="5547360"/>
            <a:ext cx="2804160" cy="414528"/>
          </a:xfrm>
          <a:prstGeom prst="rect">
            <a:avLst/>
          </a:prstGeom>
          <a:solidFill>
            <a:srgbClr val="FFFFFF"/>
          </a:solidFill>
          <a:ln w="6350">
            <a:solidFill>
              <a:srgbClr val="C9CDD4"/>
            </a:solidFill>
            <a:prstDash val="solid"/>
          </a:ln>
        </p:spPr>
      </p:sp>
      <p:sp>
        <p:nvSpPr>
          <p:cNvPr id="52" name="Text 50"/>
          <p:cNvSpPr/>
          <p:nvPr/>
        </p:nvSpPr>
        <p:spPr>
          <a:xfrm>
            <a:off x="5913120" y="5571744"/>
            <a:ext cx="262128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 0 (무시 가능)</a:t>
            </a:r>
            <a:endParaRPr lang="en-US" sz="1267" dirty="0"/>
          </a:p>
        </p:txBody>
      </p:sp>
      <p:sp>
        <p:nvSpPr>
          <p:cNvPr id="53" name="Shape 51"/>
          <p:cNvSpPr/>
          <p:nvPr/>
        </p:nvSpPr>
        <p:spPr>
          <a:xfrm>
            <a:off x="548640" y="5986272"/>
            <a:ext cx="2926080" cy="414528"/>
          </a:xfrm>
          <a:prstGeom prst="rect">
            <a:avLst/>
          </a:prstGeom>
          <a:solidFill>
            <a:srgbClr val="F0F4FA"/>
          </a:solidFill>
          <a:ln w="6350">
            <a:solidFill>
              <a:srgbClr val="C9CDD4"/>
            </a:solidFill>
            <a:prstDash val="solid"/>
          </a:ln>
        </p:spPr>
      </p:sp>
      <p:sp>
        <p:nvSpPr>
          <p:cNvPr id="54" name="Text 52"/>
          <p:cNvSpPr/>
          <p:nvPr/>
        </p:nvSpPr>
        <p:spPr>
          <a:xfrm>
            <a:off x="670560" y="6010656"/>
            <a:ext cx="27432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Δconf (표준편차)</a:t>
            </a:r>
            <a:endParaRPr lang="en-US" sz="1267" dirty="0"/>
          </a:p>
        </p:txBody>
      </p:sp>
      <p:sp>
        <p:nvSpPr>
          <p:cNvPr id="55" name="Shape 53"/>
          <p:cNvSpPr/>
          <p:nvPr/>
        </p:nvSpPr>
        <p:spPr>
          <a:xfrm>
            <a:off x="3474720" y="5986272"/>
            <a:ext cx="2316480" cy="414528"/>
          </a:xfrm>
          <a:prstGeom prst="rect">
            <a:avLst/>
          </a:prstGeom>
          <a:solidFill>
            <a:srgbClr val="F0F4FA"/>
          </a:solidFill>
          <a:ln w="6350">
            <a:solidFill>
              <a:srgbClr val="C9CDD4"/>
            </a:solidFill>
            <a:prstDash val="solid"/>
          </a:ln>
        </p:spPr>
      </p:sp>
      <p:sp>
        <p:nvSpPr>
          <p:cNvPr id="56" name="Text 54"/>
          <p:cNvSpPr/>
          <p:nvPr/>
        </p:nvSpPr>
        <p:spPr>
          <a:xfrm>
            <a:off x="3596640" y="6010656"/>
            <a:ext cx="21336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±0.0063</a:t>
            </a:r>
            <a:endParaRPr lang="en-US" sz="1267" dirty="0"/>
          </a:p>
        </p:txBody>
      </p:sp>
      <p:sp>
        <p:nvSpPr>
          <p:cNvPr id="57" name="Shape 55"/>
          <p:cNvSpPr/>
          <p:nvPr/>
        </p:nvSpPr>
        <p:spPr>
          <a:xfrm>
            <a:off x="5791200" y="5986272"/>
            <a:ext cx="2804160" cy="414528"/>
          </a:xfrm>
          <a:prstGeom prst="rect">
            <a:avLst/>
          </a:prstGeom>
          <a:solidFill>
            <a:srgbClr val="F0F4FA"/>
          </a:solidFill>
          <a:ln w="6350">
            <a:solidFill>
              <a:srgbClr val="C9CDD4"/>
            </a:solidFill>
            <a:prstDash val="solid"/>
          </a:ln>
        </p:spPr>
      </p:sp>
      <p:sp>
        <p:nvSpPr>
          <p:cNvPr id="58" name="Text 56"/>
          <p:cNvSpPr/>
          <p:nvPr/>
        </p:nvSpPr>
        <p:spPr>
          <a:xfrm>
            <a:off x="5913120" y="6010656"/>
            <a:ext cx="262128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매우 안정적</a:t>
            </a:r>
            <a:endParaRPr lang="en-US" sz="1267" dirty="0"/>
          </a:p>
        </p:txBody>
      </p:sp>
      <p:sp>
        <p:nvSpPr>
          <p:cNvPr id="59" name="Shape 57"/>
          <p:cNvSpPr/>
          <p:nvPr/>
        </p:nvSpPr>
        <p:spPr>
          <a:xfrm>
            <a:off x="8778240" y="2901696"/>
            <a:ext cx="2865120" cy="3657600"/>
          </a:xfrm>
          <a:prstGeom prst="roundRect">
            <a:avLst>
              <a:gd name="adj" fmla="val 4255"/>
            </a:avLst>
          </a:prstGeom>
          <a:solidFill>
            <a:srgbClr val="EAFAF0"/>
          </a:solidFill>
          <a:ln w="25400">
            <a:solidFill>
              <a:srgbClr val="4CAF80"/>
            </a:solidFill>
            <a:prstDash val="solid"/>
          </a:ln>
        </p:spPr>
      </p:sp>
      <p:sp>
        <p:nvSpPr>
          <p:cNvPr id="60" name="Text 58"/>
          <p:cNvSpPr/>
          <p:nvPr/>
        </p:nvSpPr>
        <p:spPr>
          <a:xfrm>
            <a:off x="8778240" y="3048000"/>
            <a:ext cx="2865120" cy="10972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dirty="0">
                <a:solidFill>
                  <a:srgbClr val="1A7A4A"/>
                </a:solidFill>
                <a:latin typeface="Arial" pitchFamily="34" charset="0"/>
                <a:ea typeface="Arial" pitchFamily="34" charset="-122"/>
                <a:cs typeface="Arial" pitchFamily="34" charset="-120"/>
              </a:rPr>
              <a:t>✅</a:t>
            </a:r>
            <a:endParaRPr lang="en-US" sz="3733" dirty="0"/>
          </a:p>
          <a:p>
            <a:pPr marL="0" indent="0" algn="ctr">
              <a:buNone/>
            </a:pPr>
            <a:r>
              <a:rPr lang="en-US" sz="3733" b="1" dirty="0">
                <a:solidFill>
                  <a:srgbClr val="1A7A4A"/>
                </a:solidFill>
                <a:latin typeface="Arial" pitchFamily="34" charset="0"/>
                <a:ea typeface="Arial" pitchFamily="34" charset="-122"/>
                <a:cs typeface="Arial" pitchFamily="34" charset="-120"/>
              </a:rPr>
              <a:t>PASS</a:t>
            </a:r>
            <a:endParaRPr lang="en-US" sz="3733" dirty="0"/>
          </a:p>
        </p:txBody>
      </p:sp>
      <p:sp>
        <p:nvSpPr>
          <p:cNvPr id="61" name="Text 59"/>
          <p:cNvSpPr/>
          <p:nvPr/>
        </p:nvSpPr>
        <p:spPr>
          <a:xfrm>
            <a:off x="8778240" y="4145280"/>
            <a:ext cx="2865120" cy="6705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dirty="0">
                <a:solidFill>
                  <a:srgbClr val="1A7A4A"/>
                </a:solidFill>
                <a:latin typeface="Arial" pitchFamily="34" charset="0"/>
                <a:ea typeface="Arial" pitchFamily="34" charset="-122"/>
                <a:cs typeface="Arial" pitchFamily="34" charset="-120"/>
              </a:rPr>
              <a:t>안전 관련</a:t>
            </a:r>
            <a:endParaRPr lang="en-US" sz="1867" dirty="0"/>
          </a:p>
          <a:p>
            <a:pPr marL="0" indent="0" algn="ctr">
              <a:buNone/>
            </a:pPr>
            <a:r>
              <a:rPr lang="en-US" sz="1867" b="1" dirty="0">
                <a:solidFill>
                  <a:srgbClr val="1A7A4A"/>
                </a:solidFill>
                <a:latin typeface="Arial" pitchFamily="34" charset="0"/>
                <a:ea typeface="Arial" pitchFamily="34" charset="-122"/>
                <a:cs typeface="Arial" pitchFamily="34" charset="-120"/>
              </a:rPr>
              <a:t>FN 0건</a:t>
            </a:r>
            <a:endParaRPr lang="en-US" sz="1867" dirty="0"/>
          </a:p>
        </p:txBody>
      </p:sp>
      <p:sp>
        <p:nvSpPr>
          <p:cNvPr id="62" name="Text 60"/>
          <p:cNvSpPr/>
          <p:nvPr/>
        </p:nvSpPr>
        <p:spPr>
          <a:xfrm>
            <a:off x="8778240" y="4852416"/>
            <a:ext cx="2865120" cy="85344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dirty="0">
                <a:solidFill>
                  <a:srgbClr val="1A5E3A"/>
                </a:solidFill>
                <a:latin typeface="Arial" pitchFamily="34" charset="0"/>
                <a:ea typeface="Arial" pitchFamily="34" charset="-122"/>
                <a:cs typeface="Arial" pitchFamily="34" charset="-120"/>
              </a:rPr>
              <a:t>FPGA가 SW와</a:t>
            </a:r>
            <a:endParaRPr lang="en-US" sz="1400" dirty="0"/>
          </a:p>
          <a:p>
            <a:pPr marL="0" indent="0" algn="ctr">
              <a:buNone/>
            </a:pPr>
            <a:r>
              <a:rPr lang="en-US" sz="1400" dirty="0">
                <a:solidFill>
                  <a:srgbClr val="1A5E3A"/>
                </a:solidFill>
                <a:latin typeface="Arial" pitchFamily="34" charset="0"/>
                <a:ea typeface="Arial" pitchFamily="34" charset="-122"/>
                <a:cs typeface="Arial" pitchFamily="34" charset="-120"/>
              </a:rPr>
              <a:t>동등한 탐지</a:t>
            </a:r>
            <a:endParaRPr lang="en-US" sz="1400" dirty="0"/>
          </a:p>
          <a:p>
            <a:pPr marL="0" indent="0" algn="ctr">
              <a:buNone/>
            </a:pPr>
            <a:r>
              <a:rPr lang="en-US" sz="1400" dirty="0">
                <a:solidFill>
                  <a:srgbClr val="1A5E3A"/>
                </a:solidFill>
                <a:latin typeface="Arial" pitchFamily="34" charset="0"/>
                <a:ea typeface="Arial" pitchFamily="34" charset="-122"/>
                <a:cs typeface="Arial" pitchFamily="34" charset="-120"/>
              </a:rPr>
              <a:t>성능 달성</a:t>
            </a:r>
            <a:endParaRPr lang="en-US" sz="1400" dirty="0"/>
          </a:p>
        </p:txBody>
      </p:sp>
      <p:sp>
        <p:nvSpPr>
          <p:cNvPr id="63" name="Text 61"/>
          <p:cNvSpPr/>
          <p:nvPr/>
        </p:nvSpPr>
        <p:spPr>
          <a:xfrm>
            <a:off x="8778240" y="5730240"/>
            <a:ext cx="2865120" cy="7315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00" dirty="0">
                <a:solidFill>
                  <a:srgbClr val="3A8A5A"/>
                </a:solidFill>
                <a:latin typeface="Arial" pitchFamily="34" charset="0"/>
                <a:ea typeface="Arial" pitchFamily="34" charset="-122"/>
                <a:cs typeface="Arial" pitchFamily="34" charset="-120"/>
              </a:rPr>
              <a:t>남은 FN/FP는</a:t>
            </a:r>
            <a:endParaRPr lang="en-US" sz="1200" dirty="0"/>
          </a:p>
          <a:p>
            <a:pPr marL="0" indent="0" algn="ctr">
              <a:buNone/>
            </a:pPr>
            <a:r>
              <a:rPr lang="en-US" sz="1200" dirty="0">
                <a:solidFill>
                  <a:srgbClr val="3A8A5A"/>
                </a:solidFill>
                <a:latin typeface="Arial" pitchFamily="34" charset="0"/>
                <a:ea typeface="Arial" pitchFamily="34" charset="-122"/>
                <a:cs typeface="Arial" pitchFamily="34" charset="-120"/>
              </a:rPr>
              <a:t>INT8 양자화</a:t>
            </a:r>
            <a:endParaRPr lang="en-US" sz="1200" dirty="0"/>
          </a:p>
          <a:p>
            <a:pPr marL="0" indent="0" algn="ctr">
              <a:buNone/>
            </a:pPr>
            <a:r>
              <a:rPr lang="en-US" sz="1200" dirty="0">
                <a:solidFill>
                  <a:srgbClr val="3A8A5A"/>
                </a:solidFill>
                <a:latin typeface="Arial" pitchFamily="34" charset="0"/>
                <a:ea typeface="Arial" pitchFamily="34" charset="-122"/>
                <a:cs typeface="Arial" pitchFamily="34" charset="-120"/>
              </a:rPr>
              <a:t>경계값 차이</a:t>
            </a:r>
            <a:endParaRPr lang="en-US" sz="1200" dirty="0"/>
          </a:p>
          <a:p>
            <a:pPr marL="0" indent="0" algn="ctr">
              <a:buNone/>
            </a:pPr>
            <a:r>
              <a:rPr lang="en-US" sz="1200" dirty="0">
                <a:solidFill>
                  <a:srgbClr val="3A8A5A"/>
                </a:solidFill>
                <a:latin typeface="Arial" pitchFamily="34" charset="0"/>
                <a:ea typeface="Arial" pitchFamily="34" charset="-122"/>
                <a:cs typeface="Arial" pitchFamily="34" charset="-120"/>
              </a:rPr>
              <a:t>(정상 범위)</a:t>
            </a:r>
            <a:endParaRPr lang="en-US" sz="1200" dirty="0"/>
          </a:p>
        </p:txBody>
      </p:sp>
    </p:spTree>
    <p:extLst>
      <p:ext uri="{BB962C8B-B14F-4D97-AF65-F5344CB8AC3E}">
        <p14:creationId xmlns:p14="http://schemas.microsoft.com/office/powerpoint/2010/main" val="21324111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19456"/>
            <a:ext cx="11094720" cy="6705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1F3B66"/>
                </a:solidFill>
                <a:latin typeface="Arial" pitchFamily="34" charset="0"/>
                <a:ea typeface="Arial" pitchFamily="34" charset="-122"/>
                <a:cs typeface="Arial" pitchFamily="34" charset="-120"/>
              </a:rPr>
              <a:t>PS 통합 과정 — 주요 트러블슈팅</a:t>
            </a:r>
            <a:endParaRPr lang="en-US" sz="2933" dirty="0"/>
          </a:p>
        </p:txBody>
      </p:sp>
      <p:sp>
        <p:nvSpPr>
          <p:cNvPr id="3" name="Shape 1"/>
          <p:cNvSpPr/>
          <p:nvPr/>
        </p:nvSpPr>
        <p:spPr>
          <a:xfrm>
            <a:off x="548640" y="950976"/>
            <a:ext cx="11094720" cy="0"/>
          </a:xfrm>
          <a:prstGeom prst="line">
            <a:avLst/>
          </a:prstGeom>
          <a:noFill/>
          <a:ln w="12700">
            <a:solidFill>
              <a:srgbClr val="C9CDD4"/>
            </a:solidFill>
            <a:prstDash val="solid"/>
          </a:ln>
        </p:spPr>
      </p:sp>
      <p:sp>
        <p:nvSpPr>
          <p:cNvPr id="4" name="Shape 2"/>
          <p:cNvSpPr/>
          <p:nvPr/>
        </p:nvSpPr>
        <p:spPr>
          <a:xfrm>
            <a:off x="548640" y="1158240"/>
            <a:ext cx="5405120" cy="2560320"/>
          </a:xfrm>
          <a:prstGeom prst="roundRect">
            <a:avLst>
              <a:gd name="adj" fmla="val 3810"/>
            </a:avLst>
          </a:prstGeom>
          <a:solidFill>
            <a:srgbClr val="FFE0E0"/>
          </a:solidFill>
          <a:ln w="12700">
            <a:solidFill>
              <a:srgbClr val="C9CDD4"/>
            </a:solidFill>
            <a:prstDash val="solid"/>
          </a:ln>
        </p:spPr>
      </p:sp>
      <p:sp>
        <p:nvSpPr>
          <p:cNvPr id="5" name="Shape 3"/>
          <p:cNvSpPr/>
          <p:nvPr/>
        </p:nvSpPr>
        <p:spPr>
          <a:xfrm>
            <a:off x="694944" y="1280160"/>
            <a:ext cx="390144" cy="390144"/>
          </a:xfrm>
          <a:prstGeom prst="ellipse">
            <a:avLst/>
          </a:prstGeom>
          <a:solidFill>
            <a:srgbClr val="1F3B66"/>
          </a:solidFill>
          <a:ln w="12700">
            <a:solidFill>
              <a:srgbClr val="1F3B66"/>
            </a:solidFill>
            <a:prstDash val="solid"/>
          </a:ln>
        </p:spPr>
      </p:sp>
      <p:sp>
        <p:nvSpPr>
          <p:cNvPr id="6" name="Text 4"/>
          <p:cNvSpPr/>
          <p:nvPr/>
        </p:nvSpPr>
        <p:spPr>
          <a:xfrm>
            <a:off x="694944" y="1280160"/>
            <a:ext cx="390144" cy="39014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dirty="0">
                <a:solidFill>
                  <a:srgbClr val="FFFFFF"/>
                </a:solidFill>
                <a:latin typeface="Arial" pitchFamily="34" charset="0"/>
                <a:ea typeface="Arial" pitchFamily="34" charset="-122"/>
                <a:cs typeface="Arial" pitchFamily="34" charset="-120"/>
              </a:rPr>
              <a:t>1</a:t>
            </a:r>
            <a:endParaRPr lang="en-US" sz="1467" dirty="0"/>
          </a:p>
        </p:txBody>
      </p:sp>
      <p:sp>
        <p:nvSpPr>
          <p:cNvPr id="7" name="Text 5"/>
          <p:cNvSpPr/>
          <p:nvPr/>
        </p:nvSpPr>
        <p:spPr>
          <a:xfrm>
            <a:off x="1158240" y="1280160"/>
            <a:ext cx="4815840" cy="414528"/>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dirty="0">
                <a:solidFill>
                  <a:srgbClr val="1F3B66"/>
                </a:solidFill>
                <a:latin typeface="Arial" pitchFamily="34" charset="0"/>
                <a:ea typeface="Arial" pitchFamily="34" charset="-122"/>
                <a:cs typeface="Arial" pitchFamily="34" charset="-120"/>
              </a:rPr>
              <a:t>model6_dma.ko 빌드 불일치</a:t>
            </a:r>
            <a:endParaRPr lang="en-US" sz="1467" dirty="0"/>
          </a:p>
        </p:txBody>
      </p:sp>
      <p:sp>
        <p:nvSpPr>
          <p:cNvPr id="8" name="Text 6"/>
          <p:cNvSpPr/>
          <p:nvPr/>
        </p:nvSpPr>
        <p:spPr>
          <a:xfrm>
            <a:off x="694944" y="1767840"/>
            <a:ext cx="609600" cy="26822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dirty="0">
                <a:solidFill>
                  <a:srgbClr val="C25A1E"/>
                </a:solidFill>
                <a:latin typeface="Arial" pitchFamily="34" charset="0"/>
                <a:ea typeface="Arial" pitchFamily="34" charset="-122"/>
                <a:cs typeface="Arial" pitchFamily="34" charset="-120"/>
              </a:rPr>
              <a:t>문제</a:t>
            </a:r>
            <a:endParaRPr lang="en-US" sz="1200" dirty="0"/>
          </a:p>
        </p:txBody>
      </p:sp>
      <p:sp>
        <p:nvSpPr>
          <p:cNvPr id="9" name="Text 7"/>
          <p:cNvSpPr/>
          <p:nvPr/>
        </p:nvSpPr>
        <p:spPr>
          <a:xfrm>
            <a:off x="1280160" y="1767840"/>
            <a:ext cx="4669536" cy="79248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x86 PC에서 빌드된 .ko 파일 → KV260(aarch64)에서 insmod 실패</a:t>
            </a:r>
            <a:endParaRPr lang="en-US" sz="1267" dirty="0"/>
          </a:p>
          <a:p>
            <a:pPr marL="0" indent="0">
              <a:buNone/>
            </a:pPr>
            <a:r>
              <a:rPr lang="en-US" sz="1267" dirty="0">
                <a:solidFill>
                  <a:srgbClr val="5A6472"/>
                </a:solidFill>
                <a:latin typeface="Arial" pitchFamily="34" charset="0"/>
                <a:ea typeface="Arial" pitchFamily="34" charset="-122"/>
                <a:cs typeface="Arial" pitchFamily="34" charset="-120"/>
              </a:rPr>
              <a:t>vermagic: 6.8.0-136-generic vs 5.15.0-1027-xilinx-zynqmp</a:t>
            </a:r>
            <a:endParaRPr lang="en-US" sz="1267" dirty="0"/>
          </a:p>
        </p:txBody>
      </p:sp>
      <p:sp>
        <p:nvSpPr>
          <p:cNvPr id="10" name="Text 8"/>
          <p:cNvSpPr/>
          <p:nvPr/>
        </p:nvSpPr>
        <p:spPr>
          <a:xfrm>
            <a:off x="694944" y="2621280"/>
            <a:ext cx="609600" cy="26822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dirty="0">
                <a:solidFill>
                  <a:srgbClr val="1A7A4A"/>
                </a:solidFill>
                <a:latin typeface="Arial" pitchFamily="34" charset="0"/>
                <a:ea typeface="Arial" pitchFamily="34" charset="-122"/>
                <a:cs typeface="Arial" pitchFamily="34" charset="-120"/>
              </a:rPr>
              <a:t>해결</a:t>
            </a:r>
            <a:endParaRPr lang="en-US" sz="1200" dirty="0"/>
          </a:p>
        </p:txBody>
      </p:sp>
      <p:sp>
        <p:nvSpPr>
          <p:cNvPr id="11" name="Text 9"/>
          <p:cNvSpPr/>
          <p:nvPr/>
        </p:nvSpPr>
        <p:spPr>
          <a:xfrm>
            <a:off x="1280160" y="2621280"/>
            <a:ext cx="4669536" cy="950976"/>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model6_dma.h (git 누락) 직접 생성 후 KV260에서 네이티브 재빌드</a:t>
            </a:r>
            <a:endParaRPr lang="en-US" sz="1267" dirty="0"/>
          </a:p>
        </p:txBody>
      </p:sp>
      <p:sp>
        <p:nvSpPr>
          <p:cNvPr id="12" name="Shape 10"/>
          <p:cNvSpPr/>
          <p:nvPr/>
        </p:nvSpPr>
        <p:spPr>
          <a:xfrm>
            <a:off x="6400800" y="1158240"/>
            <a:ext cx="5547360" cy="2560320"/>
          </a:xfrm>
          <a:prstGeom prst="roundRect">
            <a:avLst>
              <a:gd name="adj" fmla="val 3810"/>
            </a:avLst>
          </a:prstGeom>
          <a:solidFill>
            <a:srgbClr val="FFE0E0"/>
          </a:solidFill>
          <a:ln w="12700">
            <a:solidFill>
              <a:srgbClr val="C9CDD4"/>
            </a:solidFill>
            <a:prstDash val="solid"/>
          </a:ln>
        </p:spPr>
      </p:sp>
      <p:sp>
        <p:nvSpPr>
          <p:cNvPr id="13" name="Shape 11"/>
          <p:cNvSpPr/>
          <p:nvPr/>
        </p:nvSpPr>
        <p:spPr>
          <a:xfrm>
            <a:off x="6547104" y="1280160"/>
            <a:ext cx="390144" cy="390144"/>
          </a:xfrm>
          <a:prstGeom prst="ellipse">
            <a:avLst/>
          </a:prstGeom>
          <a:solidFill>
            <a:srgbClr val="1F3B66"/>
          </a:solidFill>
          <a:ln w="12700">
            <a:solidFill>
              <a:srgbClr val="1F3B66"/>
            </a:solidFill>
            <a:prstDash val="solid"/>
          </a:ln>
        </p:spPr>
      </p:sp>
      <p:sp>
        <p:nvSpPr>
          <p:cNvPr id="14" name="Text 12"/>
          <p:cNvSpPr/>
          <p:nvPr/>
        </p:nvSpPr>
        <p:spPr>
          <a:xfrm>
            <a:off x="6547104" y="1280160"/>
            <a:ext cx="390144" cy="39014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dirty="0">
                <a:solidFill>
                  <a:srgbClr val="FFFFFF"/>
                </a:solidFill>
                <a:latin typeface="Arial" pitchFamily="34" charset="0"/>
                <a:ea typeface="Arial" pitchFamily="34" charset="-122"/>
                <a:cs typeface="Arial" pitchFamily="34" charset="-120"/>
              </a:rPr>
              <a:t>2</a:t>
            </a:r>
            <a:endParaRPr lang="en-US" sz="1467" dirty="0"/>
          </a:p>
        </p:txBody>
      </p:sp>
      <p:sp>
        <p:nvSpPr>
          <p:cNvPr id="15" name="Text 13"/>
          <p:cNvSpPr/>
          <p:nvPr/>
        </p:nvSpPr>
        <p:spPr>
          <a:xfrm>
            <a:off x="7010400" y="1280160"/>
            <a:ext cx="4815840" cy="414528"/>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dirty="0">
                <a:solidFill>
                  <a:srgbClr val="1F3B66"/>
                </a:solidFill>
                <a:latin typeface="Arial" pitchFamily="34" charset="0"/>
                <a:ea typeface="Arial" pitchFamily="34" charset="-122"/>
                <a:cs typeface="Arial" pitchFamily="34" charset="-120"/>
              </a:rPr>
              <a:t>libmodel6_hw_driver.so 아키텍처 불일치</a:t>
            </a:r>
            <a:endParaRPr lang="en-US" sz="1467" dirty="0"/>
          </a:p>
        </p:txBody>
      </p:sp>
      <p:sp>
        <p:nvSpPr>
          <p:cNvPr id="16" name="Text 14"/>
          <p:cNvSpPr/>
          <p:nvPr/>
        </p:nvSpPr>
        <p:spPr>
          <a:xfrm>
            <a:off x="6547104" y="1767840"/>
            <a:ext cx="609600" cy="26822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dirty="0">
                <a:solidFill>
                  <a:srgbClr val="C25A1E"/>
                </a:solidFill>
                <a:latin typeface="Arial" pitchFamily="34" charset="0"/>
                <a:ea typeface="Arial" pitchFamily="34" charset="-122"/>
                <a:cs typeface="Arial" pitchFamily="34" charset="-120"/>
              </a:rPr>
              <a:t>문제</a:t>
            </a:r>
            <a:endParaRPr lang="en-US" sz="1200" dirty="0"/>
          </a:p>
        </p:txBody>
      </p:sp>
      <p:sp>
        <p:nvSpPr>
          <p:cNvPr id="17" name="Text 15"/>
          <p:cNvSpPr/>
          <p:nvPr/>
        </p:nvSpPr>
        <p:spPr>
          <a:xfrm>
            <a:off x="7132320" y="1767840"/>
            <a:ext cx="4669536" cy="792480"/>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ELF 64-bit x86-64 형식 → KV260에서 dlopen 실패</a:t>
            </a:r>
            <a:endParaRPr lang="en-US" sz="1267" dirty="0"/>
          </a:p>
        </p:txBody>
      </p:sp>
      <p:sp>
        <p:nvSpPr>
          <p:cNvPr id="18" name="Text 16"/>
          <p:cNvSpPr/>
          <p:nvPr/>
        </p:nvSpPr>
        <p:spPr>
          <a:xfrm>
            <a:off x="6547104" y="2621280"/>
            <a:ext cx="609600" cy="26822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dirty="0">
                <a:solidFill>
                  <a:srgbClr val="1A7A4A"/>
                </a:solidFill>
                <a:latin typeface="Arial" pitchFamily="34" charset="0"/>
                <a:ea typeface="Arial" pitchFamily="34" charset="-122"/>
                <a:cs typeface="Arial" pitchFamily="34" charset="-120"/>
              </a:rPr>
              <a:t>해결</a:t>
            </a:r>
            <a:endParaRPr lang="en-US" sz="1200" dirty="0"/>
          </a:p>
        </p:txBody>
      </p:sp>
      <p:sp>
        <p:nvSpPr>
          <p:cNvPr id="19" name="Text 17"/>
          <p:cNvSpPr/>
          <p:nvPr/>
        </p:nvSpPr>
        <p:spPr>
          <a:xfrm>
            <a:off x="7132320" y="2621280"/>
            <a:ext cx="4669536" cy="950976"/>
          </a:xfrm>
          <a:prstGeom prst="rect">
            <a:avLst/>
          </a:prstGeom>
          <a:no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5A6472"/>
                </a:solidFill>
                <a:latin typeface="Arial" pitchFamily="34" charset="0"/>
                <a:ea typeface="Arial" pitchFamily="34" charset="-122"/>
                <a:cs typeface="Arial" pitchFamily="34" charset="-120"/>
              </a:rPr>
              <a:t>KV260에서 gcc -shared -fPIC로 aarch64용 재빌드</a:t>
            </a:r>
            <a:endParaRPr lang="en-US" sz="1267" dirty="0"/>
          </a:p>
        </p:txBody>
      </p:sp>
    </p:spTree>
    <p:extLst>
      <p:ext uri="{BB962C8B-B14F-4D97-AF65-F5344CB8AC3E}">
        <p14:creationId xmlns:p14="http://schemas.microsoft.com/office/powerpoint/2010/main" val="709604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와이드스크린</PresentationFormat>
  <Slides>50</Slides>
  <Notes>41</Notes>
  <HiddenSlides>0</HiddenSlides>
  <ScaleCrop>false</ScaleCrop>
  <HeadingPairs>
    <vt:vector size="4" baseType="variant">
      <vt:variant>
        <vt:lpstr>테마</vt:lpstr>
      </vt:variant>
      <vt:variant>
        <vt:i4>1</vt:i4>
      </vt:variant>
      <vt:variant>
        <vt:lpstr>슬라이드 제목</vt:lpstr>
      </vt:variant>
      <vt:variant>
        <vt:i4>50</vt:i4>
      </vt:variant>
    </vt:vector>
  </HeadingPairs>
  <TitlesOfParts>
    <vt:vector size="51" baseType="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49</cp:revision>
  <dcterms:created xsi:type="dcterms:W3CDTF">2026-08-10T01:47:46Z</dcterms:created>
  <dcterms:modified xsi:type="dcterms:W3CDTF">2026-08-13T02:41:08Z</dcterms:modified>
</cp:coreProperties>
</file>