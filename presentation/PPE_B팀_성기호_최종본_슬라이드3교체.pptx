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autoCompressPictures="0">
  <p:sldMasterIdLst>
    <p:sldMasterId id="2147483655"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8072"/>
    <p:restoredTop sz="90000"/>
  </p:normalViewPr>
  <p:slideViewPr>
    <p:cSldViewPr snapToObjects="1">
      <p:cViewPr>
        <p:scale>
          <a:sx n="100" d="100"/>
          <a:sy n="100" d="100"/>
        </p:scale>
        <p:origin x="0" y="0"/>
      </p:cViewPr>
      <p:guideLst>
        <p:guide orient="horz" pos="2159"/>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6111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a:lstStyle>
            <a:lvl1pPr algn="r">
              <a:defRPr sz="1200"/>
            </a:lvl1pPr>
          </a:lstStyle>
          <a:p>
            <a:pPr lvl="0">
              <a:defRPr/>
            </a:pPr>
            <a:fld id="{104E1288-EED4-444D-99D3-DD43526BC351}" type="datetime1">
              <a:rPr lang="ko-KR" altLang="en-US"/>
              <a:pPr lvl="0">
                <a:defRPr/>
              </a:pPr>
              <a:t>2026-08-12</a:t>
            </a:fld>
            <a:endParaRPr lang="ko-KR" altLang="en-US"/>
          </a:p>
        </p:txBody>
      </p:sp>
      <p:sp>
        <p:nvSpPr>
          <p:cNvPr id="4" name="슬라이드 이미지 개체 틀 3"/>
          <p:cNvSpPr>
            <a:spLocks noGrp="1" noRot="1" noChangeAspect="1" noTextEdi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a:lstStyle/>
          <a:p>
            <a:pPr lvl="0">
              <a:defRPr/>
            </a:pPr>
            <a:r>
              <a:rPr lang="ko-KR" altLang="en-US"/>
              <a:t>마스터 텍스트 스타일을 편집하려면 클릭</a:t>
            </a:r>
            <a:endParaRPr lang="ko-KR" altLang="en-US"/>
          </a:p>
          <a:p>
            <a:pPr lvl="1">
              <a:defRPr/>
            </a:pPr>
            <a:r>
              <a:rPr lang="ko-KR" altLang="en-US"/>
              <a:t>두 번째 수준</a:t>
            </a:r>
            <a:endParaRPr lang="ko-KR" altLang="en-US"/>
          </a:p>
          <a:p>
            <a:pPr lvl="2">
              <a:defRPr/>
            </a:pPr>
            <a:r>
              <a:rPr lang="ko-KR" altLang="en-US"/>
              <a:t>세 번째 수준</a:t>
            </a:r>
            <a:endParaRPr lang="ko-KR" altLang="en-US"/>
          </a:p>
          <a:p>
            <a:pPr lvl="3">
              <a:defRPr/>
            </a:pPr>
            <a:r>
              <a:rPr lang="ko-KR" altLang="en-US"/>
              <a:t>네 번째 수준</a:t>
            </a:r>
            <a:endParaRPr lang="ko-KR" altLang="en-US"/>
          </a:p>
          <a:p>
            <a:pPr lvl="4">
              <a:defRPr/>
            </a:pPr>
            <a:r>
              <a:rPr lang="ko-KR" altLang="en-US"/>
              <a:t>다섯 번째 수준</a:t>
            </a:r>
            <a:endParaRPr lang="ko-KR" altLang="en-US"/>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anchor="b"/>
          <a:lstStyle>
            <a:lvl1pPr algn="r">
              <a:defRPr sz="1200"/>
            </a:lvl1pPr>
          </a:lstStyle>
          <a:p>
            <a:pPr lvl="0">
              <a:defRPr/>
            </a:pPr>
            <a:fld id="{08E92029-F171-4FE6-AED7-3AF13C61E2E4}"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어려웠던 점은 단위 IP의 simulation 성공이 전체 FPGA 성공을 보장하지 않았다는 것입니다. 전체 통합에서는 최대 6만6천590개의 node overlap과 congestion level 6이 발생했습니다. 조합 handshake를 끊고 병렬도와 LUTRAM 집중을 분석했으며, cv2를 CPU로 이동해 하드웨어 경계를 다시 정했습니다. C Simulation에서는 보이지 않던 Stream 교착은 DATAFLOW와 FIFO로 해결했고, BRAM byte와 word 주소 차이는 입력을 0으로 만든 실험으로 4c 규칙을 찾아냈습니다. DMA 길이와 HWC 배열까지 수정했지만 제 개인 보드에서는 MMIO 전체 실행이 남았습니다. 그래서 성공과 미완료 범위를 분리해 기록했습니다.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제 개인 성과는 model.6 HLS IP와 Block Design 통합, 100메가헤르츠 Timing 만족, DRC 오류 0, Bitstream과 XSA 생성, KV260 Overlay 로딩까지입니다. 팀 전체 저장소와 실시간 PPE 파이프라인은 다섯 명의 공동 결과이며 개인 기여와 구분해 설명합니다. Codex는 단순 답변기가 아니라 설계 이미지, GitHub와 로컬 소스, component XML, 로그와 리포트를 함께 분석하는 협업 도구로 사용했습니다. 그러나 모든 제안은 제가 실제 터미널에서 실행하고 결과를 다시 확인했습니다. 다음 단계는 DMA 단독 Loopback, Golden 특징맵 비교, 웹캠 전체 파이프라인 직접 재현과 FPS 측정입니다.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1.xml"  /><Relationship Id="rId3" Type="http://schemas.openxmlformats.org/officeDocument/2006/relationships/image" Target="../media/image1.png"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1.xml"  /><Relationship Id="rId3" Type="http://schemas.openxmlformats.org/officeDocument/2006/relationships/image" Target="../media/image2.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1.xml"  /><Relationship Id="rId3" Type="http://schemas.openxmlformats.org/officeDocument/2006/relationships/image" Target="../media/image6.png"  /><Relationship Id="rId4" Type="http://schemas.openxmlformats.org/officeDocument/2006/relationships/image" Target="../media/image7.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01</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01</a:t>
            </a:r>
            <a:endParaRPr sz="1500" b="1">
              <a:solidFill>
                <a:srgbClr val="ffffff"/>
              </a:solidFill>
              <a:latin typeface="Noto Sans CJK KR"/>
            </a:endParaRPr>
          </a:p>
        </p:txBody>
      </p:sp>
      <p:sp>
        <p:nvSpPr>
          <p:cNvPr id="5" name="TextBox 4"/>
          <p:cNvSpPr txBox="1"/>
          <p:nvPr/>
        </p:nvSpPr>
        <p:spPr>
          <a:xfrm>
            <a:off x="1051560" y="109728"/>
            <a:ext cx="7557135" cy="502920"/>
          </a:xfrm>
          <a:prstGeom prst="rect">
            <a:avLst/>
          </a:prstGeom>
          <a:noFill/>
        </p:spPr>
        <p:txBody>
          <a:bodyPr wrap="none" lIns="45720" rIns="45720" anchor="ctr">
            <a:spAutoFit/>
          </a:bodyPr>
          <a:lstStyle/>
          <a:p>
            <a:pPr algn="l">
              <a:defRPr/>
            </a:pPr>
            <a:r>
              <a:rPr sz="2700" b="1">
                <a:solidFill>
                  <a:srgbClr val="0e1f35"/>
                </a:solidFill>
                <a:latin typeface="Noto Sans CJK KR"/>
              </a:rPr>
              <a:t>나의 담당 역할 — Codex와 model.6 FPGA 통합</a:t>
            </a:r>
            <a:endParaRPr sz="2700" b="1">
              <a:solidFill>
                <a:srgbClr val="0e1f35"/>
              </a:solidFill>
              <a:latin typeface="Noto Sans CJK KR"/>
            </a:endParaRPr>
          </a:p>
        </p:txBody>
      </p:sp>
      <p:sp>
        <p:nvSpPr>
          <p:cNvPr id="6" name="TextBox 5"/>
          <p:cNvSpPr txBox="1"/>
          <p:nvPr/>
        </p:nvSpPr>
        <p:spPr>
          <a:xfrm>
            <a:off x="1069846" y="592455"/>
            <a:ext cx="4567048" cy="267081"/>
          </a:xfrm>
          <a:prstGeom prst="rect">
            <a:avLst/>
          </a:prstGeom>
          <a:noFill/>
        </p:spPr>
        <p:txBody>
          <a:bodyPr wrap="none" lIns="45720" rIns="45720" anchor="ctr">
            <a:spAutoFit/>
          </a:bodyPr>
          <a:lstStyle/>
          <a:p>
            <a:pPr algn="l">
              <a:defRPr/>
            </a:pPr>
            <a:r>
              <a:rPr sz="1100" b="0">
                <a:solidFill>
                  <a:srgbClr val="66717c"/>
                </a:solidFill>
                <a:latin typeface="Noto Sans CJK KR"/>
              </a:rPr>
              <a:t>팀 공동 YOLOv8n 프로젝트에서 C2f 하드웨어 </a:t>
            </a:r>
            <a:r>
              <a:rPr lang="ko-KR" altLang="en-US" sz="1100" b="0">
                <a:solidFill>
                  <a:srgbClr val="66717c"/>
                </a:solidFill>
                <a:latin typeface="Noto Sans CJK KR"/>
              </a:rPr>
              <a:t>디자인블록 및 합성</a:t>
            </a:r>
            <a:r>
              <a:rPr sz="1100" b="0">
                <a:solidFill>
                  <a:srgbClr val="66717c"/>
                </a:solidFill>
                <a:latin typeface="Noto Sans CJK KR"/>
              </a:rPr>
              <a:t> 담당</a:t>
            </a:r>
            <a:endParaRPr sz="1100" b="0">
              <a:solidFill>
                <a:srgbClr val="66717c"/>
              </a:solidFill>
              <a:latin typeface="Noto Sans CJK KR"/>
            </a:endParaRPr>
          </a:p>
        </p:txBody>
      </p:sp>
      <p:sp>
        <p:nvSpPr>
          <p:cNvPr id="8" name="Rounded Rectangle 7"/>
          <p:cNvSpPr/>
          <p:nvPr/>
        </p:nvSpPr>
        <p:spPr>
          <a:xfrm>
            <a:off x="492252" y="891540"/>
            <a:ext cx="1508760" cy="960120"/>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9" name="TextBox 8"/>
          <p:cNvSpPr txBox="1"/>
          <p:nvPr/>
        </p:nvSpPr>
        <p:spPr>
          <a:xfrm>
            <a:off x="686562" y="1095375"/>
            <a:ext cx="1110615" cy="548640"/>
          </a:xfrm>
          <a:prstGeom prst="rect">
            <a:avLst/>
          </a:prstGeom>
          <a:noFill/>
        </p:spPr>
        <p:txBody>
          <a:bodyPr wrap="none" lIns="45720" rIns="45720" anchor="ctr">
            <a:spAutoFit/>
          </a:bodyPr>
          <a:lstStyle/>
          <a:p>
            <a:pPr algn="ctr">
              <a:defRPr/>
            </a:pPr>
            <a:r>
              <a:rPr sz="1500" b="1">
                <a:solidFill>
                  <a:srgbClr val="236cb4"/>
                </a:solidFill>
                <a:latin typeface="Noto Sans CJK KR"/>
              </a:rPr>
              <a:t>구조·설계도</a:t>
            </a:r>
            <a:endParaRPr sz="1500" b="1">
              <a:solidFill>
                <a:srgbClr val="236cb4"/>
              </a:solidFill>
              <a:latin typeface="Noto Sans CJK KR"/>
            </a:endParaRPr>
          </a:p>
          <a:p>
            <a:pPr algn="ctr">
              <a:defRPr/>
            </a:pPr>
            <a:r>
              <a:rPr sz="1500" b="1">
                <a:solidFill>
                  <a:srgbClr val="236cb4"/>
                </a:solidFill>
                <a:latin typeface="Noto Sans CJK KR"/>
              </a:rPr>
              <a:t>AI 분석</a:t>
            </a:r>
            <a:endParaRPr sz="1500" b="1">
              <a:solidFill>
                <a:srgbClr val="236cb4"/>
              </a:solidFill>
              <a:latin typeface="Noto Sans CJK KR"/>
            </a:endParaRPr>
          </a:p>
        </p:txBody>
      </p:sp>
      <p:sp>
        <p:nvSpPr>
          <p:cNvPr id="10" name="Right Arrow 9"/>
          <p:cNvSpPr/>
          <p:nvPr/>
        </p:nvSpPr>
        <p:spPr>
          <a:xfrm>
            <a:off x="2055875"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1" name="Rounded Rectangle 10"/>
          <p:cNvSpPr/>
          <p:nvPr/>
        </p:nvSpPr>
        <p:spPr>
          <a:xfrm>
            <a:off x="2394204" y="891540"/>
            <a:ext cx="1508760" cy="960120"/>
          </a:xfrm>
          <a:prstGeom prst="roundRect">
            <a:avLst>
              <a:gd name="adj" fmla="val 16667"/>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2" name="TextBox 11"/>
          <p:cNvSpPr txBox="1"/>
          <p:nvPr/>
        </p:nvSpPr>
        <p:spPr>
          <a:xfrm>
            <a:off x="2610612" y="1095375"/>
            <a:ext cx="1053465" cy="548640"/>
          </a:xfrm>
          <a:prstGeom prst="rect">
            <a:avLst/>
          </a:prstGeom>
          <a:noFill/>
        </p:spPr>
        <p:txBody>
          <a:bodyPr wrap="none" lIns="45720" rIns="45720" anchor="ctr">
            <a:spAutoFit/>
          </a:bodyPr>
          <a:lstStyle/>
          <a:p>
            <a:pPr algn="ctr">
              <a:defRPr/>
            </a:pPr>
            <a:r>
              <a:rPr sz="1500" b="1">
                <a:solidFill>
                  <a:srgbClr val="21aabe"/>
                </a:solidFill>
                <a:latin typeface="Noto Sans CJK KR"/>
              </a:rPr>
              <a:t>HLS IP</a:t>
            </a:r>
            <a:endParaRPr sz="1500" b="1">
              <a:solidFill>
                <a:srgbClr val="21aabe"/>
              </a:solidFill>
              <a:latin typeface="Noto Sans CJK KR"/>
            </a:endParaRPr>
          </a:p>
          <a:p>
            <a:pPr algn="ctr">
              <a:defRPr/>
            </a:pPr>
            <a:r>
              <a:rPr sz="1500" b="1">
                <a:solidFill>
                  <a:srgbClr val="21aabe"/>
                </a:solidFill>
                <a:latin typeface="Noto Sans CJK KR"/>
              </a:rPr>
              <a:t>인터페이스</a:t>
            </a:r>
            <a:endParaRPr sz="1500" b="1">
              <a:solidFill>
                <a:srgbClr val="21aabe"/>
              </a:solidFill>
              <a:latin typeface="Noto Sans CJK KR"/>
            </a:endParaRPr>
          </a:p>
        </p:txBody>
      </p:sp>
      <p:sp>
        <p:nvSpPr>
          <p:cNvPr id="13" name="Right Arrow 12"/>
          <p:cNvSpPr/>
          <p:nvPr/>
        </p:nvSpPr>
        <p:spPr>
          <a:xfrm>
            <a:off x="3957828"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4" name="Rounded Rectangle 13"/>
          <p:cNvSpPr/>
          <p:nvPr/>
        </p:nvSpPr>
        <p:spPr>
          <a:xfrm>
            <a:off x="4296156" y="891540"/>
            <a:ext cx="1508760" cy="960120"/>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5" name="TextBox 14"/>
          <p:cNvSpPr txBox="1"/>
          <p:nvPr/>
        </p:nvSpPr>
        <p:spPr>
          <a:xfrm>
            <a:off x="4525137" y="1095375"/>
            <a:ext cx="1043940" cy="548640"/>
          </a:xfrm>
          <a:prstGeom prst="rect">
            <a:avLst/>
          </a:prstGeom>
          <a:noFill/>
        </p:spPr>
        <p:txBody>
          <a:bodyPr wrap="none" lIns="45720" rIns="45720" anchor="ctr">
            <a:spAutoFit/>
          </a:bodyPr>
          <a:lstStyle/>
          <a:p>
            <a:pPr algn="ctr">
              <a:defRPr/>
            </a:pPr>
            <a:r>
              <a:rPr sz="1500" b="1">
                <a:solidFill>
                  <a:srgbClr val="329c69"/>
                </a:solidFill>
                <a:latin typeface="Noto Sans CJK KR"/>
              </a:rPr>
              <a:t>Vivado BD</a:t>
            </a:r>
            <a:endParaRPr sz="1500" b="1">
              <a:solidFill>
                <a:srgbClr val="329c69"/>
              </a:solidFill>
              <a:latin typeface="Noto Sans CJK KR"/>
            </a:endParaRPr>
          </a:p>
          <a:p>
            <a:pPr algn="ctr">
              <a:defRPr/>
            </a:pPr>
            <a:r>
              <a:rPr sz="1500" b="1">
                <a:solidFill>
                  <a:srgbClr val="329c69"/>
                </a:solidFill>
                <a:latin typeface="Noto Sans CJK KR"/>
              </a:rPr>
              <a:t>통합</a:t>
            </a:r>
            <a:endParaRPr sz="1500" b="1">
              <a:solidFill>
                <a:srgbClr val="329c69"/>
              </a:solidFill>
              <a:latin typeface="Noto Sans CJK KR"/>
            </a:endParaRPr>
          </a:p>
        </p:txBody>
      </p:sp>
      <p:sp>
        <p:nvSpPr>
          <p:cNvPr id="16" name="Right Arrow 15"/>
          <p:cNvSpPr/>
          <p:nvPr/>
        </p:nvSpPr>
        <p:spPr>
          <a:xfrm>
            <a:off x="5859780"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Rounded Rectangle 16"/>
          <p:cNvSpPr/>
          <p:nvPr/>
        </p:nvSpPr>
        <p:spPr>
          <a:xfrm>
            <a:off x="6198108" y="891540"/>
            <a:ext cx="1508760" cy="960120"/>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8" name="TextBox 17"/>
          <p:cNvSpPr txBox="1"/>
          <p:nvPr/>
        </p:nvSpPr>
        <p:spPr>
          <a:xfrm>
            <a:off x="6487286" y="1095375"/>
            <a:ext cx="911734" cy="548640"/>
          </a:xfrm>
          <a:prstGeom prst="rect">
            <a:avLst/>
          </a:prstGeom>
          <a:noFill/>
        </p:spPr>
        <p:txBody>
          <a:bodyPr wrap="none" lIns="45720" rIns="45720" anchor="ctr">
            <a:spAutoFit/>
          </a:bodyPr>
          <a:lstStyle/>
          <a:p>
            <a:pPr algn="ctr">
              <a:defRPr/>
            </a:pPr>
            <a:r>
              <a:rPr sz="1500" b="1">
                <a:solidFill>
                  <a:srgbClr val="eb8b36"/>
                </a:solidFill>
                <a:latin typeface="Noto Sans CJK KR"/>
              </a:rPr>
              <a:t>병목·오류</a:t>
            </a:r>
            <a:endParaRPr sz="1500" b="1">
              <a:solidFill>
                <a:srgbClr val="eb8b36"/>
              </a:solidFill>
              <a:latin typeface="Noto Sans CJK KR"/>
            </a:endParaRPr>
          </a:p>
          <a:p>
            <a:pPr algn="ctr">
              <a:defRPr/>
            </a:pPr>
            <a:r>
              <a:rPr sz="1500" b="1">
                <a:solidFill>
                  <a:srgbClr val="eb8b36"/>
                </a:solidFill>
                <a:latin typeface="Noto Sans CJK KR"/>
              </a:rPr>
              <a:t>디버깅</a:t>
            </a:r>
            <a:endParaRPr sz="1500" b="1">
              <a:solidFill>
                <a:srgbClr val="eb8b36"/>
              </a:solidFill>
              <a:latin typeface="Noto Sans CJK KR"/>
            </a:endParaRPr>
          </a:p>
        </p:txBody>
      </p:sp>
      <p:sp>
        <p:nvSpPr>
          <p:cNvPr id="19" name="Right Arrow 18"/>
          <p:cNvSpPr/>
          <p:nvPr/>
        </p:nvSpPr>
        <p:spPr>
          <a:xfrm>
            <a:off x="7761732"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0" name="Rounded Rectangle 19"/>
          <p:cNvSpPr/>
          <p:nvPr/>
        </p:nvSpPr>
        <p:spPr>
          <a:xfrm>
            <a:off x="8100060" y="891540"/>
            <a:ext cx="1508760" cy="960120"/>
          </a:xfrm>
          <a:prstGeom prst="roundRect">
            <a:avLst>
              <a:gd name="adj" fmla="val 16667"/>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1" name="TextBox 20"/>
          <p:cNvSpPr txBox="1"/>
          <p:nvPr/>
        </p:nvSpPr>
        <p:spPr>
          <a:xfrm>
            <a:off x="8363711" y="1095375"/>
            <a:ext cx="968884" cy="548640"/>
          </a:xfrm>
          <a:prstGeom prst="rect">
            <a:avLst/>
          </a:prstGeom>
          <a:noFill/>
        </p:spPr>
        <p:txBody>
          <a:bodyPr wrap="none" lIns="45720" rIns="45720" anchor="ctr">
            <a:spAutoFit/>
          </a:bodyPr>
          <a:lstStyle/>
          <a:p>
            <a:pPr algn="ctr">
              <a:defRPr/>
            </a:pPr>
            <a:r>
              <a:rPr sz="1500" b="1">
                <a:solidFill>
                  <a:srgbClr val="cd4949"/>
                </a:solidFill>
                <a:latin typeface="Noto Sans CJK KR"/>
              </a:rPr>
              <a:t>Bitstream</a:t>
            </a:r>
            <a:endParaRPr sz="1500" b="1">
              <a:solidFill>
                <a:srgbClr val="cd4949"/>
              </a:solidFill>
              <a:latin typeface="Noto Sans CJK KR"/>
            </a:endParaRPr>
          </a:p>
          <a:p>
            <a:pPr algn="ctr">
              <a:defRPr/>
            </a:pPr>
            <a:r>
              <a:rPr sz="1500" b="1">
                <a:solidFill>
                  <a:srgbClr val="cd4949"/>
                </a:solidFill>
                <a:latin typeface="Noto Sans CJK KR"/>
              </a:rPr>
              <a:t>생성</a:t>
            </a:r>
            <a:endParaRPr sz="1500" b="1">
              <a:solidFill>
                <a:srgbClr val="cd4949"/>
              </a:solidFill>
              <a:latin typeface="Noto Sans CJK KR"/>
            </a:endParaRPr>
          </a:p>
        </p:txBody>
      </p:sp>
      <p:sp>
        <p:nvSpPr>
          <p:cNvPr id="22" name="Right Arrow 21"/>
          <p:cNvSpPr/>
          <p:nvPr/>
        </p:nvSpPr>
        <p:spPr>
          <a:xfrm>
            <a:off x="9663684"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Rounded Rectangle 22"/>
          <p:cNvSpPr/>
          <p:nvPr/>
        </p:nvSpPr>
        <p:spPr>
          <a:xfrm>
            <a:off x="10002012" y="891540"/>
            <a:ext cx="1508760" cy="960120"/>
          </a:xfrm>
          <a:prstGeom prst="roundRect">
            <a:avLst>
              <a:gd name="adj" fmla="val 16667"/>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4" name="TextBox 23"/>
          <p:cNvSpPr txBox="1"/>
          <p:nvPr/>
        </p:nvSpPr>
        <p:spPr>
          <a:xfrm>
            <a:off x="10306812" y="1095375"/>
            <a:ext cx="891540" cy="548640"/>
          </a:xfrm>
          <a:prstGeom prst="rect">
            <a:avLst/>
          </a:prstGeom>
          <a:noFill/>
        </p:spPr>
        <p:txBody>
          <a:bodyPr wrap="none" lIns="45720" rIns="45720" anchor="ctr">
            <a:spAutoFit/>
          </a:bodyPr>
          <a:lstStyle/>
          <a:p>
            <a:pPr algn="ctr">
              <a:defRPr/>
            </a:pPr>
            <a:r>
              <a:rPr sz="1500" b="1">
                <a:solidFill>
                  <a:srgbClr val="0e1f35"/>
                </a:solidFill>
                <a:latin typeface="Noto Sans CJK KR"/>
              </a:rPr>
              <a:t>KV260</a:t>
            </a:r>
            <a:endParaRPr sz="1500" b="1">
              <a:solidFill>
                <a:srgbClr val="0e1f35"/>
              </a:solidFill>
              <a:latin typeface="Noto Sans CJK KR"/>
            </a:endParaRPr>
          </a:p>
          <a:p>
            <a:pPr algn="ctr">
              <a:defRPr/>
            </a:pPr>
            <a:r>
              <a:rPr sz="1500" b="1">
                <a:solidFill>
                  <a:srgbClr val="0e1f35"/>
                </a:solidFill>
                <a:latin typeface="Noto Sans CJK KR"/>
              </a:rPr>
              <a:t>Bring-up</a:t>
            </a:r>
            <a:endParaRPr sz="1500" b="1">
              <a:solidFill>
                <a:srgbClr val="0e1f35"/>
              </a:solidFill>
              <a:latin typeface="Noto Sans CJK KR"/>
            </a:endParaRPr>
          </a:p>
        </p:txBody>
      </p:sp>
      <p:sp>
        <p:nvSpPr>
          <p:cNvPr id="26" name="Rounded Rectangle 25"/>
          <p:cNvSpPr/>
          <p:nvPr/>
        </p:nvSpPr>
        <p:spPr>
          <a:xfrm>
            <a:off x="6565392" y="2438400"/>
            <a:ext cx="5394960" cy="2514600"/>
          </a:xfrm>
          <a:prstGeom prst="roundRect">
            <a:avLst>
              <a:gd name="adj" fmla="val 16667"/>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7" name="TextBox 26"/>
          <p:cNvSpPr txBox="1"/>
          <p:nvPr/>
        </p:nvSpPr>
        <p:spPr>
          <a:xfrm>
            <a:off x="6885432" y="2651760"/>
            <a:ext cx="1714500" cy="381000"/>
          </a:xfrm>
          <a:prstGeom prst="rect">
            <a:avLst/>
          </a:prstGeom>
          <a:noFill/>
        </p:spPr>
        <p:txBody>
          <a:bodyPr wrap="none" lIns="45720" rIns="45720" anchor="ctr">
            <a:spAutoFit/>
          </a:bodyPr>
          <a:lstStyle/>
          <a:p>
            <a:pPr algn="l">
              <a:defRPr/>
            </a:pPr>
            <a:r>
              <a:rPr sz="1900" b="1">
                <a:solidFill>
                  <a:srgbClr val="0e1f35"/>
                </a:solidFill>
                <a:latin typeface="Noto Sans CJK KR"/>
              </a:rPr>
              <a:t>나의 핵심 업무</a:t>
            </a:r>
            <a:endParaRPr sz="1900" b="1">
              <a:solidFill>
                <a:srgbClr val="0e1f35"/>
              </a:solidFill>
              <a:latin typeface="Noto Sans CJK KR"/>
            </a:endParaRPr>
          </a:p>
        </p:txBody>
      </p:sp>
      <p:sp>
        <p:nvSpPr>
          <p:cNvPr id="28" name="TextBox 27"/>
          <p:cNvSpPr txBox="1"/>
          <p:nvPr/>
        </p:nvSpPr>
        <p:spPr>
          <a:xfrm>
            <a:off x="6912864" y="3166110"/>
            <a:ext cx="3134868" cy="262890"/>
          </a:xfrm>
          <a:prstGeom prst="rect">
            <a:avLst/>
          </a:prstGeom>
          <a:noFill/>
        </p:spPr>
        <p:txBody>
          <a:bodyPr wrap="none" lIns="45720" rIns="45720" anchor="ctr">
            <a:spAutoFit/>
          </a:bodyPr>
          <a:lstStyle/>
          <a:p>
            <a:pPr algn="l">
              <a:defRPr/>
            </a:pPr>
            <a:r>
              <a:rPr sz="1100" b="0">
                <a:solidFill>
                  <a:srgbClr val="27303b"/>
                </a:solidFill>
                <a:latin typeface="Noto Sans CJK KR"/>
              </a:rPr>
              <a:t>• model.6 C2f 구조·특징맵 shape·설계 Flow 확인</a:t>
            </a:r>
            <a:endParaRPr sz="1100" b="0">
              <a:solidFill>
                <a:srgbClr val="27303b"/>
              </a:solidFill>
              <a:latin typeface="Noto Sans CJK KR"/>
            </a:endParaRPr>
          </a:p>
        </p:txBody>
      </p:sp>
      <p:sp>
        <p:nvSpPr>
          <p:cNvPr id="29" name="TextBox 28"/>
          <p:cNvSpPr txBox="1"/>
          <p:nvPr/>
        </p:nvSpPr>
        <p:spPr>
          <a:xfrm>
            <a:off x="6912864" y="3518535"/>
            <a:ext cx="2877693" cy="262890"/>
          </a:xfrm>
          <a:prstGeom prst="rect">
            <a:avLst/>
          </a:prstGeom>
          <a:noFill/>
        </p:spPr>
        <p:txBody>
          <a:bodyPr wrap="none" lIns="45720" rIns="45720" anchor="ctr">
            <a:spAutoFit/>
          </a:bodyPr>
          <a:lstStyle/>
          <a:p>
            <a:pPr algn="l">
              <a:defRPr/>
            </a:pPr>
            <a:r>
              <a:rPr sz="1100" b="0">
                <a:solidFill>
                  <a:srgbClr val="27303b"/>
                </a:solidFill>
                <a:latin typeface="Noto Sans CJK KR"/>
              </a:rPr>
              <a:t>• HLS IP 포트 및 AXI/DMA/Clock/Reset 연결</a:t>
            </a:r>
            <a:endParaRPr sz="1100" b="0">
              <a:solidFill>
                <a:srgbClr val="27303b"/>
              </a:solidFill>
              <a:latin typeface="Noto Sans CJK KR"/>
            </a:endParaRPr>
          </a:p>
        </p:txBody>
      </p:sp>
      <p:sp>
        <p:nvSpPr>
          <p:cNvPr id="30" name="TextBox 29"/>
          <p:cNvSpPr txBox="1"/>
          <p:nvPr/>
        </p:nvSpPr>
        <p:spPr>
          <a:xfrm>
            <a:off x="6912864" y="3861435"/>
            <a:ext cx="3077718" cy="262890"/>
          </a:xfrm>
          <a:prstGeom prst="rect">
            <a:avLst/>
          </a:prstGeom>
          <a:noFill/>
        </p:spPr>
        <p:txBody>
          <a:bodyPr wrap="none" lIns="45720" rIns="45720" anchor="ctr">
            <a:spAutoFit/>
          </a:bodyPr>
          <a:lstStyle/>
          <a:p>
            <a:pPr algn="l">
              <a:defRPr/>
            </a:pPr>
            <a:r>
              <a:rPr sz="1100" b="0">
                <a:solidFill>
                  <a:srgbClr val="27303b"/>
                </a:solidFill>
                <a:latin typeface="Noto Sans CJK KR"/>
              </a:rPr>
              <a:t>• Vivado 혼잡·Timing·DRC 로그 기반 반복 수정</a:t>
            </a:r>
            <a:endParaRPr sz="1100" b="0">
              <a:solidFill>
                <a:srgbClr val="27303b"/>
              </a:solidFill>
              <a:latin typeface="Noto Sans CJK KR"/>
            </a:endParaRPr>
          </a:p>
        </p:txBody>
      </p:sp>
      <p:sp>
        <p:nvSpPr>
          <p:cNvPr id="31" name="TextBox 30"/>
          <p:cNvSpPr txBox="1"/>
          <p:nvPr/>
        </p:nvSpPr>
        <p:spPr>
          <a:xfrm>
            <a:off x="6912863" y="4213860"/>
            <a:ext cx="3049143" cy="262890"/>
          </a:xfrm>
          <a:prstGeom prst="rect">
            <a:avLst/>
          </a:prstGeom>
          <a:noFill/>
        </p:spPr>
        <p:txBody>
          <a:bodyPr wrap="square" lIns="45720" rIns="45720" anchor="ctr">
            <a:spAutoFit/>
          </a:bodyPr>
          <a:lstStyle/>
          <a:p>
            <a:pPr algn="l">
              <a:defRPr/>
            </a:pPr>
            <a:r>
              <a:rPr sz="1100" b="0">
                <a:solidFill>
                  <a:srgbClr val="27303b"/>
                </a:solidFill>
                <a:latin typeface="Noto Sans CJK KR"/>
              </a:rPr>
              <a:t>• Vitis/XSCT 빌드·다운로드와 KV260 환경 검증</a:t>
            </a:r>
            <a:endParaRPr sz="1100" b="0">
              <a:solidFill>
                <a:srgbClr val="27303b"/>
              </a:solidFill>
              <a:latin typeface="Noto Sans CJK KR"/>
            </a:endParaRPr>
          </a:p>
        </p:txBody>
      </p:sp>
      <p:sp>
        <p:nvSpPr>
          <p:cNvPr id="32" name="TextBox 31"/>
          <p:cNvSpPr txBox="1"/>
          <p:nvPr/>
        </p:nvSpPr>
        <p:spPr>
          <a:xfrm>
            <a:off x="6912863" y="4556760"/>
            <a:ext cx="2972943" cy="262890"/>
          </a:xfrm>
          <a:prstGeom prst="rect">
            <a:avLst/>
          </a:prstGeom>
          <a:noFill/>
        </p:spPr>
        <p:txBody>
          <a:bodyPr wrap="square" lIns="45720" rIns="45720" anchor="ctr">
            <a:spAutoFit/>
          </a:bodyPr>
          <a:lstStyle/>
          <a:p>
            <a:pPr algn="l">
              <a:defRPr/>
            </a:pPr>
            <a:r>
              <a:rPr sz="1100" b="0">
                <a:solidFill>
                  <a:srgbClr val="27303b"/>
                </a:solidFill>
                <a:latin typeface="Noto Sans CJK KR"/>
              </a:rPr>
              <a:t>• Codex로 이미지·코드·로그·문서를 교차 분석</a:t>
            </a:r>
            <a:endParaRPr sz="1100" b="0">
              <a:solidFill>
                <a:srgbClr val="27303b"/>
              </a:solidFill>
              <a:latin typeface="Noto Sans CJK KR"/>
            </a:endParaRPr>
          </a:p>
        </p:txBody>
      </p:sp>
      <p:sp>
        <p:nvSpPr>
          <p:cNvPr id="33" name="Rounded Rectangle 32"/>
          <p:cNvSpPr/>
          <p:nvPr/>
        </p:nvSpPr>
        <p:spPr>
          <a:xfrm>
            <a:off x="669797" y="5931408"/>
            <a:ext cx="10881360" cy="713232"/>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4" name="TextBox 33"/>
          <p:cNvSpPr txBox="1"/>
          <p:nvPr/>
        </p:nvSpPr>
        <p:spPr>
          <a:xfrm>
            <a:off x="928878" y="6094097"/>
            <a:ext cx="1272540" cy="271651"/>
          </a:xfrm>
          <a:prstGeom prst="rect">
            <a:avLst/>
          </a:prstGeom>
          <a:noFill/>
        </p:spPr>
        <p:txBody>
          <a:bodyPr wrap="none" lIns="45720" rIns="45720" anchor="ctr">
            <a:spAutoFit/>
          </a:bodyPr>
          <a:lstStyle/>
          <a:p>
            <a:pPr algn="l">
              <a:defRPr/>
            </a:pPr>
            <a:r>
              <a:rPr sz="1200" b="1">
                <a:solidFill>
                  <a:srgbClr val="ffffff"/>
                </a:solidFill>
                <a:latin typeface="Noto Sans CJK KR"/>
              </a:rPr>
              <a:t>AI 협업 워크플로</a:t>
            </a:r>
            <a:endParaRPr sz="1200" b="1">
              <a:solidFill>
                <a:srgbClr val="ffffff"/>
              </a:solidFill>
              <a:latin typeface="Noto Sans CJK KR"/>
            </a:endParaRPr>
          </a:p>
        </p:txBody>
      </p:sp>
      <p:sp>
        <p:nvSpPr>
          <p:cNvPr id="35" name="TextBox 34"/>
          <p:cNvSpPr txBox="1"/>
          <p:nvPr/>
        </p:nvSpPr>
        <p:spPr>
          <a:xfrm>
            <a:off x="3917442" y="6099048"/>
            <a:ext cx="6073140" cy="262891"/>
          </a:xfrm>
          <a:prstGeom prst="rect">
            <a:avLst/>
          </a:prstGeom>
          <a:noFill/>
        </p:spPr>
        <p:txBody>
          <a:bodyPr wrap="none" lIns="45720" rIns="45720" anchor="ctr">
            <a:spAutoFit/>
          </a:bodyPr>
          <a:lstStyle/>
          <a:p>
            <a:pPr algn="ctr">
              <a:defRPr/>
            </a:pPr>
            <a:r>
              <a:rPr sz="1100" b="1">
                <a:solidFill>
                  <a:srgbClr val="ffffff"/>
                </a:solidFill>
                <a:latin typeface="Noto Sans CJK KR"/>
              </a:rPr>
              <a:t>설계 이미지 + 팀 GitHub + 로컬 파일  →  Codex 분석  →  터미널 실행  →  로그 재검증·문서화</a:t>
            </a:r>
            <a:endParaRPr sz="1100" b="1">
              <a:solidFill>
                <a:srgbClr val="ffffff"/>
              </a:solidFill>
              <a:latin typeface="Noto Sans CJK KR"/>
            </a:endParaRPr>
          </a:p>
        </p:txBody>
      </p:sp>
      <p:sp>
        <p:nvSpPr>
          <p:cNvPr id="36" name="TextBox 35"/>
          <p:cNvSpPr txBox="1"/>
          <p:nvPr/>
        </p:nvSpPr>
        <p:spPr>
          <a:xfrm>
            <a:off x="427481" y="6661785"/>
            <a:ext cx="2332863"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37" name="TextBox 36"/>
          <p:cNvSpPr txBox="1"/>
          <p:nvPr/>
        </p:nvSpPr>
        <p:spPr>
          <a:xfrm>
            <a:off x="11210925" y="664464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pic>
        <p:nvPicPr>
          <p:cNvPr id="39" name=""/>
          <p:cNvPicPr>
            <a:picLocks noChangeAspect="1"/>
          </p:cNvPicPr>
          <p:nvPr/>
        </p:nvPicPr>
        <p:blipFill rotWithShape="1">
          <a:blip r:embed="rId3"/>
          <a:stretch>
            <a:fillRect/>
          </a:stretch>
        </p:blipFill>
        <p:spPr>
          <a:xfrm>
            <a:off x="152400" y="1857678"/>
            <a:ext cx="6412991" cy="405692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02</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02</a:t>
            </a:r>
            <a:endParaRPr sz="1500" b="1">
              <a:solidFill>
                <a:srgbClr val="ffffff"/>
              </a:solidFill>
              <a:latin typeface="Noto Sans CJK KR"/>
            </a:endParaRPr>
          </a:p>
        </p:txBody>
      </p:sp>
      <p:sp>
        <p:nvSpPr>
          <p:cNvPr id="5" name="TextBox 4"/>
          <p:cNvSpPr txBox="1"/>
          <p:nvPr/>
        </p:nvSpPr>
        <p:spPr>
          <a:xfrm>
            <a:off x="1051560" y="109728"/>
            <a:ext cx="8433435" cy="502920"/>
          </a:xfrm>
          <a:prstGeom prst="rect">
            <a:avLst/>
          </a:prstGeom>
          <a:noFill/>
        </p:spPr>
        <p:txBody>
          <a:bodyPr wrap="none" lIns="45720" rIns="45720" anchor="ctr">
            <a:spAutoFit/>
          </a:bodyPr>
          <a:lstStyle/>
          <a:p>
            <a:pPr algn="l">
              <a:defRPr/>
            </a:pPr>
            <a:r>
              <a:rPr sz="2700" b="1">
                <a:solidFill>
                  <a:srgbClr val="0e1f35"/>
                </a:solidFill>
                <a:latin typeface="Noto Sans CJK KR"/>
              </a:rPr>
              <a:t>Vivado Block Design — CPU와 FPGA를 하나로 연결</a:t>
            </a:r>
            <a:endParaRPr sz="2700" b="1">
              <a:solidFill>
                <a:srgbClr val="0e1f35"/>
              </a:solidFill>
              <a:latin typeface="Noto Sans CJK KR"/>
            </a:endParaRPr>
          </a:p>
        </p:txBody>
      </p:sp>
      <p:sp>
        <p:nvSpPr>
          <p:cNvPr id="6" name="TextBox 5"/>
          <p:cNvSpPr txBox="1"/>
          <p:nvPr/>
        </p:nvSpPr>
        <p:spPr>
          <a:xfrm>
            <a:off x="1069848" y="592455"/>
            <a:ext cx="4081271" cy="267081"/>
          </a:xfrm>
          <a:prstGeom prst="rect">
            <a:avLst/>
          </a:prstGeom>
          <a:noFill/>
        </p:spPr>
        <p:txBody>
          <a:bodyPr wrap="none" lIns="45720" rIns="45720" anchor="ctr">
            <a:spAutoFit/>
          </a:bodyPr>
          <a:lstStyle/>
          <a:p>
            <a:pPr algn="l">
              <a:defRPr/>
            </a:pPr>
            <a:r>
              <a:rPr sz="1100" b="0">
                <a:solidFill>
                  <a:srgbClr val="66717c"/>
                </a:solidFill>
                <a:latin typeface="Noto Sans CJK KR"/>
              </a:rPr>
              <a:t>PS는 YOLO 전·후단, PL은 model.6, DMA는 특징맵 전송을 담당</a:t>
            </a:r>
            <a:endParaRPr sz="1100" b="0">
              <a:solidFill>
                <a:srgbClr val="66717c"/>
              </a:solidFill>
              <a:latin typeface="Noto Sans CJK KR"/>
            </a:endParaRP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2" name="Rounded Rectangle 11"/>
          <p:cNvSpPr/>
          <p:nvPr/>
        </p:nvSpPr>
        <p:spPr>
          <a:xfrm>
            <a:off x="8183879" y="1097280"/>
            <a:ext cx="3566160" cy="1097280"/>
          </a:xfrm>
          <a:prstGeom prst="roundRect">
            <a:avLst>
              <a:gd name="adj" fmla="val 16667"/>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8366760" y="1221105"/>
            <a:ext cx="2051685" cy="320040"/>
          </a:xfrm>
          <a:prstGeom prst="rect">
            <a:avLst/>
          </a:prstGeom>
          <a:noFill/>
        </p:spPr>
        <p:txBody>
          <a:bodyPr wrap="none" lIns="45720" rIns="45720" anchor="ctr">
            <a:spAutoFit/>
          </a:bodyPr>
          <a:lstStyle/>
          <a:p>
            <a:pPr algn="l">
              <a:defRPr/>
            </a:pPr>
            <a:r>
              <a:rPr sz="1500" b="1">
                <a:solidFill>
                  <a:srgbClr val="236cb4"/>
                </a:solidFill>
                <a:latin typeface="Noto Sans CJK KR"/>
              </a:rPr>
              <a:t>PS (ARM CPU + DDR)</a:t>
            </a:r>
            <a:endParaRPr sz="1500" b="1">
              <a:solidFill>
                <a:srgbClr val="236cb4"/>
              </a:solidFill>
              <a:latin typeface="Noto Sans CJK KR"/>
            </a:endParaRPr>
          </a:p>
        </p:txBody>
      </p:sp>
      <p:sp>
        <p:nvSpPr>
          <p:cNvPr id="14" name="TextBox 13"/>
          <p:cNvSpPr txBox="1"/>
          <p:nvPr/>
        </p:nvSpPr>
        <p:spPr>
          <a:xfrm>
            <a:off x="8366760" y="1649730"/>
            <a:ext cx="1813560" cy="262890"/>
          </a:xfrm>
          <a:prstGeom prst="rect">
            <a:avLst/>
          </a:prstGeom>
          <a:noFill/>
        </p:spPr>
        <p:txBody>
          <a:bodyPr wrap="none" lIns="45720" rIns="45720" anchor="ctr">
            <a:spAutoFit/>
          </a:bodyPr>
          <a:lstStyle/>
          <a:p>
            <a:pPr algn="l">
              <a:defRPr/>
            </a:pPr>
            <a:r>
              <a:rPr sz="1100" b="0">
                <a:solidFill>
                  <a:srgbClr val="27303b"/>
                </a:solidFill>
                <a:latin typeface="Noto Sans CJK KR"/>
              </a:rPr>
              <a:t>model.0~5 / cv2+7~22 실행</a:t>
            </a:r>
            <a:endParaRPr sz="1100" b="0">
              <a:solidFill>
                <a:srgbClr val="27303b"/>
              </a:solidFill>
              <a:latin typeface="Noto Sans CJK KR"/>
            </a:endParaRPr>
          </a:p>
        </p:txBody>
      </p:sp>
      <p:sp>
        <p:nvSpPr>
          <p:cNvPr id="15" name="Rounded Rectangle 14"/>
          <p:cNvSpPr/>
          <p:nvPr/>
        </p:nvSpPr>
        <p:spPr>
          <a:xfrm>
            <a:off x="8183879" y="2395728"/>
            <a:ext cx="3566160" cy="1097280"/>
          </a:xfrm>
          <a:prstGeom prst="roundRect">
            <a:avLst>
              <a:gd name="adj" fmla="val 16667"/>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6" name="TextBox 15"/>
          <p:cNvSpPr txBox="1"/>
          <p:nvPr/>
        </p:nvSpPr>
        <p:spPr>
          <a:xfrm>
            <a:off x="8366760" y="2526030"/>
            <a:ext cx="908685" cy="320040"/>
          </a:xfrm>
          <a:prstGeom prst="rect">
            <a:avLst/>
          </a:prstGeom>
          <a:noFill/>
        </p:spPr>
        <p:txBody>
          <a:bodyPr wrap="none" lIns="45720" rIns="45720" anchor="ctr">
            <a:spAutoFit/>
          </a:bodyPr>
          <a:lstStyle/>
          <a:p>
            <a:pPr algn="l">
              <a:defRPr/>
            </a:pPr>
            <a:r>
              <a:rPr sz="1500" b="1">
                <a:solidFill>
                  <a:srgbClr val="eb8b36"/>
                </a:solidFill>
                <a:latin typeface="Noto Sans CJK KR"/>
              </a:rPr>
              <a:t>AXI DMA</a:t>
            </a:r>
            <a:endParaRPr sz="1500" b="1">
              <a:solidFill>
                <a:srgbClr val="eb8b36"/>
              </a:solidFill>
              <a:latin typeface="Noto Sans CJK KR"/>
            </a:endParaRPr>
          </a:p>
        </p:txBody>
      </p:sp>
      <p:sp>
        <p:nvSpPr>
          <p:cNvPr id="17" name="TextBox 16"/>
          <p:cNvSpPr txBox="1"/>
          <p:nvPr/>
        </p:nvSpPr>
        <p:spPr>
          <a:xfrm>
            <a:off x="8366760" y="2945130"/>
            <a:ext cx="1794510" cy="262890"/>
          </a:xfrm>
          <a:prstGeom prst="rect">
            <a:avLst/>
          </a:prstGeom>
          <a:noFill/>
        </p:spPr>
        <p:txBody>
          <a:bodyPr wrap="none" lIns="45720" rIns="45720" anchor="ctr">
            <a:spAutoFit/>
          </a:bodyPr>
          <a:lstStyle/>
          <a:p>
            <a:pPr algn="l">
              <a:defRPr/>
            </a:pPr>
            <a:r>
              <a:rPr sz="1100" b="0">
                <a:solidFill>
                  <a:srgbClr val="27303b"/>
                </a:solidFill>
                <a:latin typeface="Noto Sans CJK KR"/>
              </a:rPr>
              <a:t>DDR ↔ FPGA 특징맵 전송</a:t>
            </a:r>
            <a:endParaRPr sz="1100" b="0">
              <a:solidFill>
                <a:srgbClr val="27303b"/>
              </a:solidFill>
              <a:latin typeface="Noto Sans CJK KR"/>
            </a:endParaRPr>
          </a:p>
        </p:txBody>
      </p:sp>
      <p:sp>
        <p:nvSpPr>
          <p:cNvPr id="18" name="Rounded Rectangle 17"/>
          <p:cNvSpPr/>
          <p:nvPr/>
        </p:nvSpPr>
        <p:spPr>
          <a:xfrm>
            <a:off x="8183879" y="3694176"/>
            <a:ext cx="3566160" cy="1097280"/>
          </a:xfrm>
          <a:prstGeom prst="roundRect">
            <a:avLst>
              <a:gd name="adj" fmla="val 16667"/>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9" name="TextBox 18"/>
          <p:cNvSpPr txBox="1"/>
          <p:nvPr/>
        </p:nvSpPr>
        <p:spPr>
          <a:xfrm>
            <a:off x="8366760" y="3830955"/>
            <a:ext cx="1594485" cy="320040"/>
          </a:xfrm>
          <a:prstGeom prst="rect">
            <a:avLst/>
          </a:prstGeom>
          <a:noFill/>
        </p:spPr>
        <p:txBody>
          <a:bodyPr wrap="none" lIns="45720" rIns="45720" anchor="ctr">
            <a:spAutoFit/>
          </a:bodyPr>
          <a:lstStyle/>
          <a:p>
            <a:pPr algn="l">
              <a:defRPr/>
            </a:pPr>
            <a:r>
              <a:rPr sz="1500" b="1">
                <a:solidFill>
                  <a:srgbClr val="329c69"/>
                </a:solidFill>
                <a:latin typeface="Noto Sans CJK KR"/>
              </a:rPr>
              <a:t>PL (FPGA Logic)</a:t>
            </a:r>
            <a:endParaRPr sz="1500" b="1">
              <a:solidFill>
                <a:srgbClr val="329c69"/>
              </a:solidFill>
              <a:latin typeface="Noto Sans CJK KR"/>
            </a:endParaRPr>
          </a:p>
        </p:txBody>
      </p:sp>
      <p:sp>
        <p:nvSpPr>
          <p:cNvPr id="20" name="TextBox 19"/>
          <p:cNvSpPr txBox="1"/>
          <p:nvPr/>
        </p:nvSpPr>
        <p:spPr>
          <a:xfrm>
            <a:off x="8366760" y="4250055"/>
            <a:ext cx="1708785" cy="262890"/>
          </a:xfrm>
          <a:prstGeom prst="rect">
            <a:avLst/>
          </a:prstGeom>
          <a:noFill/>
        </p:spPr>
        <p:txBody>
          <a:bodyPr wrap="none" lIns="45720" rIns="45720" anchor="ctr">
            <a:spAutoFit/>
          </a:bodyPr>
          <a:lstStyle/>
          <a:p>
            <a:pPr algn="l">
              <a:defRPr/>
            </a:pPr>
            <a:r>
              <a:rPr sz="1100" b="0">
                <a:solidFill>
                  <a:srgbClr val="27303b"/>
                </a:solidFill>
                <a:latin typeface="Noto Sans CJK KR"/>
              </a:rPr>
              <a:t>model.6 cv1~Concat 실행</a:t>
            </a:r>
            <a:endParaRPr sz="1100" b="0">
              <a:solidFill>
                <a:srgbClr val="27303b"/>
              </a:solidFill>
              <a:latin typeface="Noto Sans CJK KR"/>
            </a:endParaRPr>
          </a:p>
        </p:txBody>
      </p:sp>
      <p:sp>
        <p:nvSpPr>
          <p:cNvPr id="21" name="Rounded Rectangle 20"/>
          <p:cNvSpPr/>
          <p:nvPr/>
        </p:nvSpPr>
        <p:spPr>
          <a:xfrm>
            <a:off x="8183879" y="5010912"/>
            <a:ext cx="3566160" cy="1161288"/>
          </a:xfrm>
          <a:prstGeom prst="roundRect">
            <a:avLst>
              <a:gd name="adj" fmla="val 16667"/>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2" name="Rounded Rectangle 21"/>
          <p:cNvSpPr/>
          <p:nvPr/>
        </p:nvSpPr>
        <p:spPr>
          <a:xfrm>
            <a:off x="8339327" y="5193792"/>
            <a:ext cx="960120" cy="411480"/>
          </a:xfrm>
          <a:prstGeom prst="roundRect">
            <a:avLst>
              <a:gd name="adj" fmla="val 16667"/>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8498205" y="5269230"/>
            <a:ext cx="624840" cy="262890"/>
          </a:xfrm>
          <a:prstGeom prst="rect">
            <a:avLst/>
          </a:prstGeom>
          <a:noFill/>
        </p:spPr>
        <p:txBody>
          <a:bodyPr wrap="none" lIns="45720" rIns="45720" anchor="ctr">
            <a:spAutoFit/>
          </a:bodyPr>
          <a:lstStyle/>
          <a:p>
            <a:pPr algn="ctr">
              <a:defRPr/>
            </a:pPr>
            <a:r>
              <a:rPr sz="1100" b="1">
                <a:solidFill>
                  <a:srgbClr val="ffffff"/>
                </a:solidFill>
                <a:latin typeface="Noto Sans CJK KR"/>
              </a:rPr>
              <a:t>AXI-Lite</a:t>
            </a:r>
            <a:endParaRPr sz="1100" b="1">
              <a:solidFill>
                <a:srgbClr val="ffffff"/>
              </a:solidFill>
              <a:latin typeface="Noto Sans CJK KR"/>
            </a:endParaRPr>
          </a:p>
        </p:txBody>
      </p:sp>
      <p:sp>
        <p:nvSpPr>
          <p:cNvPr id="24" name="TextBox 23"/>
          <p:cNvSpPr txBox="1"/>
          <p:nvPr/>
        </p:nvSpPr>
        <p:spPr>
          <a:xfrm>
            <a:off x="9400032" y="5278755"/>
            <a:ext cx="770763" cy="243840"/>
          </a:xfrm>
          <a:prstGeom prst="rect">
            <a:avLst/>
          </a:prstGeom>
          <a:noFill/>
        </p:spPr>
        <p:txBody>
          <a:bodyPr wrap="none" lIns="45720" rIns="45720" anchor="ctr">
            <a:spAutoFit/>
          </a:bodyPr>
          <a:lstStyle/>
          <a:p>
            <a:pPr algn="l">
              <a:defRPr/>
            </a:pPr>
            <a:r>
              <a:rPr sz="1000" b="0">
                <a:solidFill>
                  <a:srgbClr val="27303b"/>
                </a:solidFill>
                <a:latin typeface="Noto Sans CJK KR"/>
              </a:rPr>
              <a:t>제어·스케일</a:t>
            </a:r>
            <a:endParaRPr sz="1000" b="0">
              <a:solidFill>
                <a:srgbClr val="27303b"/>
              </a:solidFill>
              <a:latin typeface="Noto Sans CJK KR"/>
            </a:endParaRPr>
          </a:p>
        </p:txBody>
      </p:sp>
      <p:sp>
        <p:nvSpPr>
          <p:cNvPr id="25" name="Rounded Rectangle 24"/>
          <p:cNvSpPr/>
          <p:nvPr/>
        </p:nvSpPr>
        <p:spPr>
          <a:xfrm>
            <a:off x="8339327" y="5650992"/>
            <a:ext cx="960120"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6" name="TextBox 25"/>
          <p:cNvSpPr txBox="1"/>
          <p:nvPr/>
        </p:nvSpPr>
        <p:spPr>
          <a:xfrm>
            <a:off x="8526780" y="5726430"/>
            <a:ext cx="567690" cy="262890"/>
          </a:xfrm>
          <a:prstGeom prst="rect">
            <a:avLst/>
          </a:prstGeom>
          <a:noFill/>
        </p:spPr>
        <p:txBody>
          <a:bodyPr wrap="none" lIns="45720" rIns="45720" anchor="ctr">
            <a:spAutoFit/>
          </a:bodyPr>
          <a:lstStyle/>
          <a:p>
            <a:pPr algn="ctr">
              <a:defRPr/>
            </a:pPr>
            <a:r>
              <a:rPr sz="1100" b="1">
                <a:solidFill>
                  <a:srgbClr val="ffffff"/>
                </a:solidFill>
                <a:latin typeface="Noto Sans CJK KR"/>
              </a:rPr>
              <a:t>Stream</a:t>
            </a:r>
            <a:endParaRPr sz="1100" b="1">
              <a:solidFill>
                <a:srgbClr val="ffffff"/>
              </a:solidFill>
              <a:latin typeface="Noto Sans CJK KR"/>
            </a:endParaRPr>
          </a:p>
        </p:txBody>
      </p:sp>
      <p:sp>
        <p:nvSpPr>
          <p:cNvPr id="27" name="TextBox 26"/>
          <p:cNvSpPr txBox="1"/>
          <p:nvPr/>
        </p:nvSpPr>
        <p:spPr>
          <a:xfrm>
            <a:off x="9400032" y="5735954"/>
            <a:ext cx="1113663" cy="243840"/>
          </a:xfrm>
          <a:prstGeom prst="rect">
            <a:avLst/>
          </a:prstGeom>
          <a:noFill/>
        </p:spPr>
        <p:txBody>
          <a:bodyPr wrap="none" lIns="45720" rIns="45720" anchor="ctr">
            <a:spAutoFit/>
          </a:bodyPr>
          <a:lstStyle/>
          <a:p>
            <a:pPr algn="l">
              <a:defRPr/>
            </a:pPr>
            <a:r>
              <a:rPr sz="1000" b="0">
                <a:solidFill>
                  <a:srgbClr val="27303b"/>
                </a:solidFill>
                <a:latin typeface="Noto Sans CJK KR"/>
              </a:rPr>
              <a:t>IP 간 연속 데이터</a:t>
            </a:r>
            <a:endParaRPr sz="1000" b="0">
              <a:solidFill>
                <a:srgbClr val="27303b"/>
              </a:solidFill>
              <a:latin typeface="Noto Sans CJK KR"/>
            </a:endParaRPr>
          </a:p>
        </p:txBody>
      </p:sp>
      <p:sp>
        <p:nvSpPr>
          <p:cNvPr id="28" name="TextBox 27"/>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29" name="TextBox 28"/>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pic>
        <p:nvPicPr>
          <p:cNvPr id="30" name=""/>
          <p:cNvPicPr>
            <a:picLocks noChangeAspect="1"/>
          </p:cNvPicPr>
          <p:nvPr/>
        </p:nvPicPr>
        <p:blipFill rotWithShape="1">
          <a:blip r:embed="rId3"/>
          <a:stretch>
            <a:fillRect/>
          </a:stretch>
        </p:blipFill>
        <p:spPr>
          <a:xfrm>
            <a:off x="506730" y="3719035"/>
            <a:ext cx="7189470" cy="2836069"/>
          </a:xfrm>
          <a:prstGeom prst="rect">
            <a:avLst/>
          </a:prstGeom>
        </p:spPr>
      </p:pic>
      <p:pic>
        <p:nvPicPr>
          <p:cNvPr id="31" name=""/>
          <p:cNvPicPr>
            <a:picLocks noChangeAspect="1"/>
          </p:cNvPicPr>
          <p:nvPr/>
        </p:nvPicPr>
        <p:blipFill rotWithShape="1">
          <a:blip r:embed="rId4"/>
          <a:stretch>
            <a:fillRect/>
          </a:stretch>
        </p:blipFill>
        <p:spPr>
          <a:xfrm>
            <a:off x="411480" y="859536"/>
            <a:ext cx="7284720" cy="293742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실패에서 수렴까지 — 예상 밖의 병목과 판단</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Simulation PASS 이후 발생한 물리 배선·Stream·Memory·DMA 문제를 증거로 분해</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143000"/>
            <a:ext cx="2578608" cy="411480"/>
          </a:xfrm>
          <a:prstGeom prst="roundRect">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487168" cy="411480"/>
          </a:xfrm>
          <a:prstGeom prst="rect">
            <a:avLst/>
          </a:prstGeom>
          <a:noFill/>
        </p:spPr>
        <p:txBody>
          <a:bodyPr wrap="none" lIns="45720" rIns="45720" anchor="ctr">
            <a:spAutoFit/>
          </a:bodyPr>
          <a:lstStyle/>
          <a:p>
            <a:pPr algn="ctr"/>
            <a:r>
              <a:rPr sz="1100" b="1">
                <a:solidFill>
                  <a:srgbClr val="FFFFFF"/>
                </a:solidFill>
                <a:latin typeface="Noto Sans CJK KR"/>
              </a:rPr>
              <a:t>관찰된 실패</a:t>
            </a:r>
          </a:p>
        </p:txBody>
      </p:sp>
      <p:sp>
        <p:nvSpPr>
          <p:cNvPr id="10" name="Rounded Rectangle 9"/>
          <p:cNvSpPr/>
          <p:nvPr/>
        </p:nvSpPr>
        <p:spPr>
          <a:xfrm>
            <a:off x="3172968" y="1143000"/>
            <a:ext cx="34290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18688" y="1143000"/>
            <a:ext cx="3337560" cy="411480"/>
          </a:xfrm>
          <a:prstGeom prst="rect">
            <a:avLst/>
          </a:prstGeom>
          <a:noFill/>
        </p:spPr>
        <p:txBody>
          <a:bodyPr wrap="none" lIns="45720" rIns="45720" anchor="ctr">
            <a:spAutoFit/>
          </a:bodyPr>
          <a:lstStyle/>
          <a:p>
            <a:pPr algn="ctr"/>
            <a:r>
              <a:rPr sz="1100" b="1">
                <a:solidFill>
                  <a:srgbClr val="FFFFFF"/>
                </a:solidFill>
                <a:latin typeface="Noto Sans CJK KR"/>
              </a:rPr>
              <a:t>숫자로 확인한 원인</a:t>
            </a:r>
          </a:p>
        </p:txBody>
      </p:sp>
      <p:sp>
        <p:nvSpPr>
          <p:cNvPr id="12" name="Rounded Rectangle 11"/>
          <p:cNvSpPr/>
          <p:nvPr/>
        </p:nvSpPr>
        <p:spPr>
          <a:xfrm>
            <a:off x="6784848" y="1143000"/>
            <a:ext cx="4965192"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0568" y="1143000"/>
            <a:ext cx="4873752" cy="411480"/>
          </a:xfrm>
          <a:prstGeom prst="rect">
            <a:avLst/>
          </a:prstGeom>
          <a:noFill/>
        </p:spPr>
        <p:txBody>
          <a:bodyPr wrap="none" lIns="45720" rIns="45720" anchor="ctr">
            <a:spAutoFit/>
          </a:bodyPr>
          <a:lstStyle/>
          <a:p>
            <a:pPr algn="ctr"/>
            <a:r>
              <a:rPr sz="1100" b="1">
                <a:solidFill>
                  <a:srgbClr val="FFFFFF"/>
                </a:solidFill>
                <a:latin typeface="Noto Sans CJK KR"/>
              </a:rPr>
              <a:t>조정과 결과</a:t>
            </a:r>
          </a:p>
        </p:txBody>
      </p:sp>
      <p:sp>
        <p:nvSpPr>
          <p:cNvPr id="14" name="Rectangle 13"/>
          <p:cNvSpPr/>
          <p:nvPr/>
        </p:nvSpPr>
        <p:spPr>
          <a:xfrm>
            <a:off x="411480" y="1719072"/>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764792"/>
            <a:ext cx="2359152" cy="658368"/>
          </a:xfrm>
          <a:prstGeom prst="rect">
            <a:avLst/>
          </a:prstGeom>
          <a:noFill/>
        </p:spPr>
        <p:txBody>
          <a:bodyPr wrap="none" lIns="45720" rIns="45720" anchor="ctr">
            <a:spAutoFit/>
          </a:bodyPr>
          <a:lstStyle/>
          <a:p>
            <a:pPr algn="ctr"/>
            <a:r>
              <a:rPr sz="1000" b="0">
                <a:solidFill>
                  <a:srgbClr val="27303B"/>
                </a:solidFill>
                <a:latin typeface="Noto Sans CJK KR"/>
              </a:rPr>
              <a:t>Routing 불법</a:t>
            </a:r>
          </a:p>
        </p:txBody>
      </p:sp>
      <p:sp>
        <p:nvSpPr>
          <p:cNvPr id="16" name="Rectangle 15"/>
          <p:cNvSpPr/>
          <p:nvPr/>
        </p:nvSpPr>
        <p:spPr>
          <a:xfrm>
            <a:off x="3172968" y="1719072"/>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82696" y="1764792"/>
            <a:ext cx="3209544" cy="658368"/>
          </a:xfrm>
          <a:prstGeom prst="rect">
            <a:avLst/>
          </a:prstGeom>
          <a:noFill/>
        </p:spPr>
        <p:txBody>
          <a:bodyPr wrap="none" lIns="45720" rIns="45720" anchor="ctr">
            <a:spAutoFit/>
          </a:bodyPr>
          <a:lstStyle/>
          <a:p>
            <a:pPr algn="ctr"/>
            <a:r>
              <a:rPr sz="1000" b="0">
                <a:solidFill>
                  <a:srgbClr val="27303B"/>
                </a:solidFill>
                <a:latin typeface="Noto Sans CJK KR"/>
              </a:rPr>
              <a:t>66,590 node overlaps</a:t>
            </a:r>
          </a:p>
        </p:txBody>
      </p:sp>
      <p:sp>
        <p:nvSpPr>
          <p:cNvPr id="18" name="Rectangle 17"/>
          <p:cNvSpPr/>
          <p:nvPr/>
        </p:nvSpPr>
        <p:spPr>
          <a:xfrm>
            <a:off x="6784848" y="1719072"/>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94576" y="1764792"/>
            <a:ext cx="4745736" cy="658368"/>
          </a:xfrm>
          <a:prstGeom prst="rect">
            <a:avLst/>
          </a:prstGeom>
          <a:noFill/>
        </p:spPr>
        <p:txBody>
          <a:bodyPr wrap="none" lIns="45720" rIns="45720" anchor="ctr">
            <a:spAutoFit/>
          </a:bodyPr>
          <a:lstStyle/>
          <a:p>
            <a:pPr algn="ctr"/>
            <a:r>
              <a:rPr sz="1000" b="0">
                <a:solidFill>
                  <a:srgbClr val="27303B"/>
                </a:solidFill>
                <a:latin typeface="Noto Sans CJK KR"/>
              </a:rPr>
              <a:t>Handshake/병렬 구조 분석
→ routing 오류 96%↓</a:t>
            </a:r>
          </a:p>
        </p:txBody>
      </p:sp>
      <p:sp>
        <p:nvSpPr>
          <p:cNvPr id="20" name="Rectangle 19"/>
          <p:cNvSpPr/>
          <p:nvPr/>
        </p:nvSpPr>
        <p:spPr>
          <a:xfrm>
            <a:off x="411480" y="2551176"/>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2596896"/>
            <a:ext cx="2359152" cy="658368"/>
          </a:xfrm>
          <a:prstGeom prst="rect">
            <a:avLst/>
          </a:prstGeom>
          <a:noFill/>
        </p:spPr>
        <p:txBody>
          <a:bodyPr wrap="none" lIns="45720" rIns="45720" anchor="ctr">
            <a:spAutoFit/>
          </a:bodyPr>
          <a:lstStyle/>
          <a:p>
            <a:pPr algn="ctr"/>
            <a:r>
              <a:rPr sz="1000" b="0">
                <a:solidFill>
                  <a:srgbClr val="27303B"/>
                </a:solidFill>
                <a:latin typeface="Noto Sans CJK KR"/>
              </a:rPr>
              <a:t>자원·배선 포화</a:t>
            </a:r>
          </a:p>
        </p:txBody>
      </p:sp>
      <p:sp>
        <p:nvSpPr>
          <p:cNvPr id="22" name="Rectangle 21"/>
          <p:cNvSpPr/>
          <p:nvPr/>
        </p:nvSpPr>
        <p:spPr>
          <a:xfrm>
            <a:off x="3172968" y="2551176"/>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82696" y="2596896"/>
            <a:ext cx="3209544" cy="658368"/>
          </a:xfrm>
          <a:prstGeom prst="rect">
            <a:avLst/>
          </a:prstGeom>
          <a:noFill/>
        </p:spPr>
        <p:txBody>
          <a:bodyPr wrap="none" lIns="45720" rIns="45720" anchor="ctr">
            <a:spAutoFit/>
          </a:bodyPr>
          <a:lstStyle/>
          <a:p>
            <a:pPr algn="ctr"/>
            <a:r>
              <a:rPr sz="1000" b="0">
                <a:solidFill>
                  <a:srgbClr val="27303B"/>
                </a:solidFill>
                <a:latin typeface="Noto Sans CJK KR"/>
              </a:rPr>
              <a:t>cv2 포함 LUT ≈ 91%</a:t>
            </a:r>
          </a:p>
        </p:txBody>
      </p:sp>
      <p:sp>
        <p:nvSpPr>
          <p:cNvPr id="24" name="Rectangle 23"/>
          <p:cNvSpPr/>
          <p:nvPr/>
        </p:nvSpPr>
        <p:spPr>
          <a:xfrm>
            <a:off x="6784848" y="2551176"/>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94576" y="2596896"/>
            <a:ext cx="4745736" cy="658368"/>
          </a:xfrm>
          <a:prstGeom prst="rect">
            <a:avLst/>
          </a:prstGeom>
          <a:noFill/>
        </p:spPr>
        <p:txBody>
          <a:bodyPr wrap="none" lIns="45720" rIns="45720" anchor="ctr">
            <a:spAutoFit/>
          </a:bodyPr>
          <a:lstStyle/>
          <a:p>
            <a:pPr algn="ctr"/>
            <a:r>
              <a:rPr sz="1000" b="0">
                <a:solidFill>
                  <a:srgbClr val="27303B"/>
                </a:solidFill>
                <a:latin typeface="Noto Sans CJK KR"/>
              </a:rPr>
              <a:t>cv2 CPU 이전
→ LUT ≈ 56%</a:t>
            </a:r>
          </a:p>
        </p:txBody>
      </p:sp>
      <p:sp>
        <p:nvSpPr>
          <p:cNvPr id="26" name="Rectangle 25"/>
          <p:cNvSpPr/>
          <p:nvPr/>
        </p:nvSpPr>
        <p:spPr>
          <a:xfrm>
            <a:off x="411480" y="3383280"/>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29000"/>
            <a:ext cx="2359152" cy="658368"/>
          </a:xfrm>
          <a:prstGeom prst="rect">
            <a:avLst/>
          </a:prstGeom>
          <a:noFill/>
        </p:spPr>
        <p:txBody>
          <a:bodyPr wrap="none" lIns="45720" rIns="45720" anchor="ctr">
            <a:spAutoFit/>
          </a:bodyPr>
          <a:lstStyle/>
          <a:p>
            <a:pPr algn="ctr"/>
            <a:r>
              <a:rPr sz="1000" b="0">
                <a:solidFill>
                  <a:srgbClr val="27303B"/>
                </a:solidFill>
                <a:latin typeface="Noto Sans CJK KR"/>
              </a:rPr>
              <a:t>Stream 교착</a:t>
            </a:r>
          </a:p>
        </p:txBody>
      </p:sp>
      <p:sp>
        <p:nvSpPr>
          <p:cNvPr id="28" name="Rectangle 27"/>
          <p:cNvSpPr/>
          <p:nvPr/>
        </p:nvSpPr>
        <p:spPr>
          <a:xfrm>
            <a:off x="3172968" y="3383280"/>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82696" y="3429000"/>
            <a:ext cx="3209544" cy="658368"/>
          </a:xfrm>
          <a:prstGeom prst="rect">
            <a:avLst/>
          </a:prstGeom>
          <a:noFill/>
        </p:spPr>
        <p:txBody>
          <a:bodyPr wrap="none" lIns="45720" rIns="45720" anchor="ctr">
            <a:spAutoFit/>
          </a:bodyPr>
          <a:lstStyle/>
          <a:p>
            <a:pPr algn="ctr"/>
            <a:r>
              <a:rPr sz="1000" b="0">
                <a:solidFill>
                  <a:srgbClr val="27303B"/>
                </a:solidFill>
                <a:latin typeface="Noto Sans CJK KR"/>
              </a:rPr>
              <a:t>약 82 pixel에서 정지</a:t>
            </a:r>
          </a:p>
        </p:txBody>
      </p:sp>
      <p:sp>
        <p:nvSpPr>
          <p:cNvPr id="30" name="Rectangle 29"/>
          <p:cNvSpPr/>
          <p:nvPr/>
        </p:nvSpPr>
        <p:spPr>
          <a:xfrm>
            <a:off x="6784848" y="3383280"/>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94576" y="3429000"/>
            <a:ext cx="4745736" cy="658368"/>
          </a:xfrm>
          <a:prstGeom prst="rect">
            <a:avLst/>
          </a:prstGeom>
          <a:noFill/>
        </p:spPr>
        <p:txBody>
          <a:bodyPr wrap="none" lIns="45720" rIns="45720" anchor="ctr">
            <a:spAutoFit/>
          </a:bodyPr>
          <a:lstStyle/>
          <a:p>
            <a:pPr algn="ctr"/>
            <a:r>
              <a:rPr sz="1000" b="0">
                <a:solidFill>
                  <a:srgbClr val="27303B"/>
                </a:solidFill>
                <a:latin typeface="Noto Sans CJK KR"/>
              </a:rPr>
              <a:t>DATAFLOW + FIFO
→ 1,600 pixel 처리</a:t>
            </a:r>
          </a:p>
        </p:txBody>
      </p:sp>
      <p:sp>
        <p:nvSpPr>
          <p:cNvPr id="32" name="Rectangle 31"/>
          <p:cNvSpPr/>
          <p:nvPr/>
        </p:nvSpPr>
        <p:spPr>
          <a:xfrm>
            <a:off x="411480" y="4215384"/>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261104"/>
            <a:ext cx="2359152" cy="658368"/>
          </a:xfrm>
          <a:prstGeom prst="rect">
            <a:avLst/>
          </a:prstGeom>
          <a:noFill/>
        </p:spPr>
        <p:txBody>
          <a:bodyPr wrap="none" lIns="45720" rIns="45720" anchor="ctr">
            <a:spAutoFit/>
          </a:bodyPr>
          <a:lstStyle/>
          <a:p>
            <a:pPr algn="ctr"/>
            <a:r>
              <a:rPr sz="1000" b="0">
                <a:solidFill>
                  <a:srgbClr val="27303B"/>
                </a:solidFill>
                <a:latin typeface="Noto Sans CJK KR"/>
              </a:rPr>
              <a:t>출력값 불일치</a:t>
            </a:r>
          </a:p>
        </p:txBody>
      </p:sp>
      <p:sp>
        <p:nvSpPr>
          <p:cNvPr id="34" name="Rectangle 33"/>
          <p:cNvSpPr/>
          <p:nvPr/>
        </p:nvSpPr>
        <p:spPr>
          <a:xfrm>
            <a:off x="3172968" y="4215384"/>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82696" y="4261104"/>
            <a:ext cx="3209544" cy="658368"/>
          </a:xfrm>
          <a:prstGeom prst="rect">
            <a:avLst/>
          </a:prstGeom>
          <a:noFill/>
        </p:spPr>
        <p:txBody>
          <a:bodyPr wrap="none" lIns="45720" rIns="45720" anchor="ctr">
            <a:spAutoFit/>
          </a:bodyPr>
          <a:lstStyle/>
          <a:p>
            <a:pPr algn="ctr"/>
            <a:r>
              <a:rPr sz="1000" b="0">
                <a:solidFill>
                  <a:srgbClr val="27303B"/>
                </a:solidFill>
                <a:latin typeface="Noto Sans CJK KR"/>
              </a:rPr>
              <a:t>BRAM 주소 + CHW/HWC 충돌</a:t>
            </a:r>
          </a:p>
        </p:txBody>
      </p:sp>
      <p:sp>
        <p:nvSpPr>
          <p:cNvPr id="36" name="Rectangle 35"/>
          <p:cNvSpPr/>
          <p:nvPr/>
        </p:nvSpPr>
        <p:spPr>
          <a:xfrm>
            <a:off x="6784848" y="4215384"/>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94576" y="4261104"/>
            <a:ext cx="4745736" cy="658368"/>
          </a:xfrm>
          <a:prstGeom prst="rect">
            <a:avLst/>
          </a:prstGeom>
          <a:noFill/>
        </p:spPr>
        <p:txBody>
          <a:bodyPr wrap="none" lIns="45720" rIns="45720" anchor="ctr">
            <a:spAutoFit/>
          </a:bodyPr>
          <a:lstStyle/>
          <a:p>
            <a:pPr algn="ctr"/>
            <a:r>
              <a:rPr sz="1000" b="0">
                <a:solidFill>
                  <a:srgbClr val="27303B"/>
                </a:solidFill>
                <a:latin typeface="Noto Sans CJK KR"/>
              </a:rPr>
              <a:t>stride-4 COE + HWC 계약
→ 팀 mismatch 0</a:t>
            </a:r>
          </a:p>
        </p:txBody>
      </p:sp>
      <p:sp>
        <p:nvSpPr>
          <p:cNvPr id="38" name="Rectangle 37"/>
          <p:cNvSpPr/>
          <p:nvPr/>
        </p:nvSpPr>
        <p:spPr>
          <a:xfrm>
            <a:off x="411480" y="5047488"/>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5093208"/>
            <a:ext cx="2359152" cy="658368"/>
          </a:xfrm>
          <a:prstGeom prst="rect">
            <a:avLst/>
          </a:prstGeom>
          <a:noFill/>
        </p:spPr>
        <p:txBody>
          <a:bodyPr wrap="none" lIns="45720" rIns="45720" anchor="ctr">
            <a:spAutoFit/>
          </a:bodyPr>
          <a:lstStyle/>
          <a:p>
            <a:pPr algn="ctr"/>
            <a:r>
              <a:rPr sz="1000" b="0">
                <a:solidFill>
                  <a:srgbClr val="27303B"/>
                </a:solidFill>
                <a:latin typeface="Noto Sans CJK KR"/>
              </a:rPr>
              <a:t>DMA·보드 대기</a:t>
            </a:r>
          </a:p>
        </p:txBody>
      </p:sp>
      <p:sp>
        <p:nvSpPr>
          <p:cNvPr id="40" name="Rectangle 39"/>
          <p:cNvSpPr/>
          <p:nvPr/>
        </p:nvSpPr>
        <p:spPr>
          <a:xfrm>
            <a:off x="3172968" y="5047488"/>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82696" y="5093208"/>
            <a:ext cx="3209544" cy="658368"/>
          </a:xfrm>
          <a:prstGeom prst="rect">
            <a:avLst/>
          </a:prstGeom>
          <a:noFill/>
        </p:spPr>
        <p:txBody>
          <a:bodyPr wrap="none" lIns="45720" rIns="45720" anchor="ctr">
            <a:spAutoFit/>
          </a:bodyPr>
          <a:lstStyle/>
          <a:p>
            <a:pPr algn="ctr"/>
            <a:r>
              <a:rPr sz="1000" b="0">
                <a:solidFill>
                  <a:srgbClr val="27303B"/>
                </a:solidFill>
                <a:latin typeface="Noto Sans CJK KR"/>
              </a:rPr>
              <a:t>14-bit length &lt; 409,600B</a:t>
            </a:r>
          </a:p>
        </p:txBody>
      </p:sp>
      <p:sp>
        <p:nvSpPr>
          <p:cNvPr id="42" name="Rectangle 41"/>
          <p:cNvSpPr/>
          <p:nvPr/>
        </p:nvSpPr>
        <p:spPr>
          <a:xfrm>
            <a:off x="6784848" y="5047488"/>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94576" y="5093208"/>
            <a:ext cx="4745736" cy="658368"/>
          </a:xfrm>
          <a:prstGeom prst="rect">
            <a:avLst/>
          </a:prstGeom>
          <a:noFill/>
        </p:spPr>
        <p:txBody>
          <a:bodyPr wrap="none" lIns="45720" rIns="45720" anchor="ctr">
            <a:spAutoFit/>
          </a:bodyPr>
          <a:lstStyle/>
          <a:p>
            <a:pPr algn="ctr"/>
            <a:r>
              <a:rPr sz="1000" b="0">
                <a:solidFill>
                  <a:srgbClr val="27303B"/>
                </a:solidFill>
                <a:latin typeface="Noto Sans CJK KR"/>
              </a:rPr>
              <a:t>DMA 14→26bit / IOC 판정
→ 개인 Overlay 검증</a:t>
            </a:r>
          </a:p>
        </p:txBody>
      </p:sp>
      <p:sp>
        <p:nvSpPr>
          <p:cNvPr id="44" name="Rounded Rectangle 43"/>
          <p:cNvSpPr/>
          <p:nvPr/>
        </p:nvSpPr>
        <p:spPr>
          <a:xfrm>
            <a:off x="411480" y="5989320"/>
            <a:ext cx="11338560" cy="384048"/>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5989320"/>
            <a:ext cx="10972800" cy="384048"/>
          </a:xfrm>
          <a:prstGeom prst="rect">
            <a:avLst/>
          </a:prstGeom>
          <a:noFill/>
        </p:spPr>
        <p:txBody>
          <a:bodyPr wrap="none" lIns="45720" rIns="45720" anchor="ctr">
            <a:spAutoFit/>
          </a:bodyPr>
          <a:lstStyle/>
          <a:p>
            <a:pPr algn="ctr"/>
            <a:r>
              <a:rPr sz="1000" b="1">
                <a:solidFill>
                  <a:srgbClr val="FFFFFF"/>
                </a:solidFill>
                <a:latin typeface="Noto Sans CJK KR"/>
              </a:rPr>
              <a:t>검증 범위  |  Bitstream 성공  →  KV260 Overlay 로드  ·  DMA 실데이터 End-to-End는 후속 과제</a:t>
            </a:r>
          </a:p>
        </p:txBody>
      </p:sp>
      <p:sp>
        <p:nvSpPr>
          <p:cNvPr id="46" name="TextBox 4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7" name="TextBox 4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vado_terminal.png"/>
          <p:cNvPicPr>
            <a:picLocks noChangeAspect="1"/>
          </p:cNvPicPr>
          <p:nvPr/>
        </p:nvPicPr>
        <p:blipFill>
          <a:blip r:embed="rId2"/>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3"/>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05</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05</a:t>
            </a:r>
            <a:endParaRPr sz="1500" b="1">
              <a:solidFill>
                <a:srgbClr val="ffffff"/>
              </a:solidFill>
              <a:latin typeface="Noto Sans CJK KR"/>
            </a:endParaRPr>
          </a:p>
        </p:txBody>
      </p:sp>
      <p:sp>
        <p:nvSpPr>
          <p:cNvPr id="5" name="TextBox 4"/>
          <p:cNvSpPr txBox="1"/>
          <p:nvPr/>
        </p:nvSpPr>
        <p:spPr>
          <a:xfrm>
            <a:off x="1051560" y="109728"/>
            <a:ext cx="8033385" cy="502920"/>
          </a:xfrm>
          <a:prstGeom prst="rect">
            <a:avLst/>
          </a:prstGeom>
          <a:noFill/>
        </p:spPr>
        <p:txBody>
          <a:bodyPr wrap="none" lIns="45720" rIns="45720" anchor="ctr">
            <a:spAutoFit/>
          </a:bodyPr>
          <a:lstStyle/>
          <a:p>
            <a:pPr algn="l">
              <a:defRPr/>
            </a:pPr>
            <a:r>
              <a:rPr sz="2700" b="1">
                <a:solidFill>
                  <a:srgbClr val="0e1f35"/>
                </a:solidFill>
                <a:latin typeface="Noto Sans CJK KR"/>
              </a:rPr>
              <a:t>KV260 보드 검증 — 직접 확인 범위와 팀 최종 목표</a:t>
            </a:r>
            <a:endParaRPr sz="2700" b="1">
              <a:solidFill>
                <a:srgbClr val="0e1f35"/>
              </a:solidFill>
              <a:latin typeface="Noto Sans CJK KR"/>
            </a:endParaRPr>
          </a:p>
        </p:txBody>
      </p:sp>
      <p:sp>
        <p:nvSpPr>
          <p:cNvPr id="6" name="TextBox 5"/>
          <p:cNvSpPr txBox="1"/>
          <p:nvPr/>
        </p:nvSpPr>
        <p:spPr>
          <a:xfrm>
            <a:off x="1069848" y="592455"/>
            <a:ext cx="3519297" cy="267081"/>
          </a:xfrm>
          <a:prstGeom prst="rect">
            <a:avLst/>
          </a:prstGeom>
          <a:noFill/>
        </p:spPr>
        <p:txBody>
          <a:bodyPr wrap="none" lIns="45720" rIns="45720" anchor="ctr">
            <a:spAutoFit/>
          </a:bodyPr>
          <a:lstStyle/>
          <a:p>
            <a:pPr algn="l">
              <a:defRPr/>
            </a:pPr>
            <a:r>
              <a:rPr sz="1100" b="0">
                <a:solidFill>
                  <a:srgbClr val="66717c"/>
                </a:solidFill>
                <a:latin typeface="Noto Sans CJK KR"/>
              </a:rPr>
              <a:t>개인 검증과 팀 공동 파이프라인 결과를 구분하여 기록</a:t>
            </a:r>
            <a:endParaRPr sz="1100" b="0">
              <a:solidFill>
                <a:srgbClr val="66717c"/>
              </a:solidFill>
              <a:latin typeface="Noto Sans CJK KR"/>
            </a:endParaRP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pic>
        <p:nvPicPr>
          <p:cNvPr id="8" name="Picture 7" descr="kv260_terminal.png"/>
          <p:cNvPicPr>
            <a:picLocks noChangeAspect="1"/>
          </p:cNvPicPr>
          <p:nvPr/>
        </p:nvPicPr>
        <p:blipFill rotWithShape="1">
          <a:blip r:embed="rId3"/>
          <a:stretch>
            <a:fillRect/>
          </a:stretch>
        </p:blipFill>
        <p:spPr>
          <a:xfrm>
            <a:off x="411480" y="1078992"/>
            <a:ext cx="5532120" cy="4297680"/>
          </a:xfrm>
          <a:prstGeom prst="rect">
            <a:avLst/>
          </a:prstGeom>
        </p:spPr>
      </p:pic>
      <p:sp>
        <p:nvSpPr>
          <p:cNvPr id="13" name="Rounded Rectangle 12"/>
          <p:cNvSpPr/>
          <p:nvPr/>
        </p:nvSpPr>
        <p:spPr>
          <a:xfrm>
            <a:off x="438912" y="5596128"/>
            <a:ext cx="2724912" cy="658368"/>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4" name="TextBox 13"/>
          <p:cNvSpPr txBox="1"/>
          <p:nvPr/>
        </p:nvSpPr>
        <p:spPr>
          <a:xfrm>
            <a:off x="548640" y="5650992"/>
            <a:ext cx="563880" cy="228600"/>
          </a:xfrm>
          <a:prstGeom prst="rect">
            <a:avLst/>
          </a:prstGeom>
          <a:noFill/>
        </p:spPr>
        <p:txBody>
          <a:bodyPr wrap="none" lIns="45720" rIns="45720" anchor="ctr">
            <a:spAutoFit/>
          </a:bodyPr>
          <a:lstStyle/>
          <a:p>
            <a:pPr algn="l">
              <a:defRPr/>
            </a:pPr>
            <a:r>
              <a:rPr sz="900" b="1">
                <a:solidFill>
                  <a:srgbClr val="236cb4"/>
                </a:solidFill>
                <a:latin typeface="Noto Sans CJK KR"/>
              </a:rPr>
              <a:t>Webcam</a:t>
            </a:r>
            <a:endParaRPr sz="900" b="1">
              <a:solidFill>
                <a:srgbClr val="236cb4"/>
              </a:solidFill>
              <a:latin typeface="Noto Sans CJK KR"/>
            </a:endParaRPr>
          </a:p>
        </p:txBody>
      </p:sp>
      <p:sp>
        <p:nvSpPr>
          <p:cNvPr id="15" name="TextBox 14"/>
          <p:cNvSpPr txBox="1"/>
          <p:nvPr/>
        </p:nvSpPr>
        <p:spPr>
          <a:xfrm>
            <a:off x="1621155" y="5688330"/>
            <a:ext cx="1053465" cy="262890"/>
          </a:xfrm>
          <a:prstGeom prst="rect">
            <a:avLst/>
          </a:prstGeom>
          <a:noFill/>
        </p:spPr>
        <p:txBody>
          <a:bodyPr wrap="none" lIns="45720" rIns="45720" anchor="ctr">
            <a:spAutoFit/>
          </a:bodyPr>
          <a:lstStyle/>
          <a:p>
            <a:pPr algn="ctr">
              <a:defRPr/>
            </a:pPr>
            <a:r>
              <a:rPr sz="1100" b="1">
                <a:solidFill>
                  <a:srgbClr val="0e1f35"/>
                </a:solidFill>
                <a:latin typeface="Noto Sans CJK KR"/>
              </a:rPr>
              <a:t>Logitech C270</a:t>
            </a:r>
            <a:endParaRPr sz="1100" b="1">
              <a:solidFill>
                <a:srgbClr val="0e1f35"/>
              </a:solidFill>
              <a:latin typeface="Noto Sans CJK KR"/>
            </a:endParaRPr>
          </a:p>
        </p:txBody>
      </p:sp>
      <p:sp>
        <p:nvSpPr>
          <p:cNvPr id="16" name="Rounded Rectangle 15"/>
          <p:cNvSpPr/>
          <p:nvPr/>
        </p:nvSpPr>
        <p:spPr>
          <a:xfrm>
            <a:off x="3273552" y="5596128"/>
            <a:ext cx="2724912" cy="658368"/>
          </a:xfrm>
          <a:prstGeom prst="roundRect">
            <a:avLst>
              <a:gd name="adj" fmla="val 16667"/>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3383280" y="5650992"/>
            <a:ext cx="729615" cy="228600"/>
          </a:xfrm>
          <a:prstGeom prst="rect">
            <a:avLst/>
          </a:prstGeom>
          <a:noFill/>
        </p:spPr>
        <p:txBody>
          <a:bodyPr wrap="none" lIns="45720" rIns="45720" anchor="ctr">
            <a:spAutoFit/>
          </a:bodyPr>
          <a:lstStyle/>
          <a:p>
            <a:pPr algn="l">
              <a:defRPr/>
            </a:pPr>
            <a:r>
              <a:rPr sz="900" b="1">
                <a:solidFill>
                  <a:srgbClr val="21aabe"/>
                </a:solidFill>
                <a:latin typeface="Noto Sans CJK KR"/>
              </a:rPr>
              <a:t>Video Node</a:t>
            </a:r>
            <a:endParaRPr sz="900" b="1">
              <a:solidFill>
                <a:srgbClr val="21aabe"/>
              </a:solidFill>
              <a:latin typeface="Noto Sans CJK KR"/>
            </a:endParaRPr>
          </a:p>
        </p:txBody>
      </p:sp>
      <p:sp>
        <p:nvSpPr>
          <p:cNvPr id="18" name="TextBox 17"/>
          <p:cNvSpPr txBox="1"/>
          <p:nvPr/>
        </p:nvSpPr>
        <p:spPr>
          <a:xfrm>
            <a:off x="4488180" y="5688330"/>
            <a:ext cx="977265" cy="262890"/>
          </a:xfrm>
          <a:prstGeom prst="rect">
            <a:avLst/>
          </a:prstGeom>
          <a:noFill/>
        </p:spPr>
        <p:txBody>
          <a:bodyPr wrap="none" lIns="45720" rIns="45720" anchor="ctr">
            <a:spAutoFit/>
          </a:bodyPr>
          <a:lstStyle/>
          <a:p>
            <a:pPr algn="ctr">
              <a:defRPr/>
            </a:pPr>
            <a:r>
              <a:rPr sz="1100" b="1">
                <a:solidFill>
                  <a:srgbClr val="0e1f35"/>
                </a:solidFill>
                <a:latin typeface="Noto Sans CJK KR"/>
              </a:rPr>
              <a:t>/dev/video0·1</a:t>
            </a:r>
            <a:endParaRPr sz="1100" b="1">
              <a:solidFill>
                <a:srgbClr val="0e1f35"/>
              </a:solidFill>
              <a:latin typeface="Noto Sans CJK KR"/>
            </a:endParaRPr>
          </a:p>
        </p:txBody>
      </p:sp>
      <p:sp>
        <p:nvSpPr>
          <p:cNvPr id="19" name="Rounded Rectangle 18"/>
          <p:cNvSpPr/>
          <p:nvPr/>
        </p:nvSpPr>
        <p:spPr>
          <a:xfrm>
            <a:off x="6108192" y="5596128"/>
            <a:ext cx="2724912" cy="658368"/>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0" name="TextBox 19"/>
          <p:cNvSpPr txBox="1"/>
          <p:nvPr/>
        </p:nvSpPr>
        <p:spPr>
          <a:xfrm>
            <a:off x="6217920" y="5650992"/>
            <a:ext cx="514350" cy="228600"/>
          </a:xfrm>
          <a:prstGeom prst="rect">
            <a:avLst/>
          </a:prstGeom>
          <a:noFill/>
        </p:spPr>
        <p:txBody>
          <a:bodyPr wrap="none" lIns="45720" rIns="45720" anchor="ctr">
            <a:spAutoFit/>
          </a:bodyPr>
          <a:lstStyle/>
          <a:p>
            <a:pPr algn="l">
              <a:defRPr/>
            </a:pPr>
            <a:r>
              <a:rPr sz="900" b="1">
                <a:solidFill>
                  <a:srgbClr val="329c69"/>
                </a:solidFill>
                <a:latin typeface="Noto Sans CJK KR"/>
              </a:rPr>
              <a:t>Overlay</a:t>
            </a:r>
            <a:endParaRPr sz="900" b="1">
              <a:solidFill>
                <a:srgbClr val="329c69"/>
              </a:solidFill>
              <a:latin typeface="Noto Sans CJK KR"/>
            </a:endParaRPr>
          </a:p>
        </p:txBody>
      </p:sp>
      <p:sp>
        <p:nvSpPr>
          <p:cNvPr id="21" name="TextBox 20"/>
          <p:cNvSpPr txBox="1"/>
          <p:nvPr/>
        </p:nvSpPr>
        <p:spPr>
          <a:xfrm>
            <a:off x="7279005" y="5688330"/>
            <a:ext cx="1072515" cy="262890"/>
          </a:xfrm>
          <a:prstGeom prst="rect">
            <a:avLst/>
          </a:prstGeom>
          <a:noFill/>
        </p:spPr>
        <p:txBody>
          <a:bodyPr wrap="none" lIns="45720" rIns="45720" anchor="ctr">
            <a:spAutoFit/>
          </a:bodyPr>
          <a:lstStyle/>
          <a:p>
            <a:pPr algn="ctr">
              <a:defRPr/>
            </a:pPr>
            <a:r>
              <a:rPr sz="1100" b="1">
                <a:solidFill>
                  <a:srgbClr val="0e1f35"/>
                </a:solidFill>
                <a:latin typeface="Noto Sans CJK KR"/>
              </a:rPr>
              <a:t>LOADED: True</a:t>
            </a:r>
            <a:endParaRPr sz="1100" b="1">
              <a:solidFill>
                <a:srgbClr val="0e1f35"/>
              </a:solidFill>
              <a:latin typeface="Noto Sans CJK KR"/>
            </a:endParaRPr>
          </a:p>
        </p:txBody>
      </p:sp>
      <p:sp>
        <p:nvSpPr>
          <p:cNvPr id="22" name="Rounded Rectangle 21"/>
          <p:cNvSpPr/>
          <p:nvPr/>
        </p:nvSpPr>
        <p:spPr>
          <a:xfrm>
            <a:off x="8942832" y="5596128"/>
            <a:ext cx="2724912" cy="658368"/>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9052559" y="5650992"/>
            <a:ext cx="565786" cy="228600"/>
          </a:xfrm>
          <a:prstGeom prst="rect">
            <a:avLst/>
          </a:prstGeom>
          <a:noFill/>
        </p:spPr>
        <p:txBody>
          <a:bodyPr wrap="none" lIns="45720" rIns="45720" anchor="ctr">
            <a:spAutoFit/>
          </a:bodyPr>
          <a:lstStyle/>
          <a:p>
            <a:pPr algn="l">
              <a:defRPr/>
            </a:pPr>
            <a:r>
              <a:rPr sz="900" b="1">
                <a:solidFill>
                  <a:srgbClr val="eb8b36"/>
                </a:solidFill>
                <a:latin typeface="Noto Sans CJK KR"/>
              </a:rPr>
              <a:t>PYNQ IP</a:t>
            </a:r>
            <a:endParaRPr sz="900" b="1">
              <a:solidFill>
                <a:srgbClr val="eb8b36"/>
              </a:solidFill>
              <a:latin typeface="Noto Sans CJK KR"/>
            </a:endParaRPr>
          </a:p>
        </p:txBody>
      </p:sp>
      <p:sp>
        <p:nvSpPr>
          <p:cNvPr id="24" name="TextBox 23"/>
          <p:cNvSpPr txBox="1"/>
          <p:nvPr/>
        </p:nvSpPr>
        <p:spPr>
          <a:xfrm>
            <a:off x="10174605" y="5688330"/>
            <a:ext cx="948689" cy="262890"/>
          </a:xfrm>
          <a:prstGeom prst="rect">
            <a:avLst/>
          </a:prstGeom>
          <a:noFill/>
        </p:spPr>
        <p:txBody>
          <a:bodyPr wrap="none" lIns="45720" rIns="45720" anchor="ctr">
            <a:spAutoFit/>
          </a:bodyPr>
          <a:lstStyle/>
          <a:p>
            <a:pPr algn="ctr">
              <a:defRPr/>
            </a:pPr>
            <a:r>
              <a:rPr sz="1100" b="1">
                <a:solidFill>
                  <a:srgbClr val="0e1f35"/>
                </a:solidFill>
                <a:latin typeface="Noto Sans CJK KR"/>
              </a:rPr>
              <a:t>model6_dma</a:t>
            </a:r>
            <a:endParaRPr sz="1100" b="1">
              <a:solidFill>
                <a:srgbClr val="0e1f35"/>
              </a:solidFill>
              <a:latin typeface="Noto Sans CJK KR"/>
            </a:endParaRPr>
          </a:p>
        </p:txBody>
      </p:sp>
      <p:sp>
        <p:nvSpPr>
          <p:cNvPr id="25" name="TextBox 24"/>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26" name="TextBox 25"/>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pic>
        <p:nvPicPr>
          <p:cNvPr id="27" name=""/>
          <p:cNvPicPr>
            <a:picLocks noChangeAspect="1"/>
          </p:cNvPicPr>
          <p:nvPr/>
        </p:nvPicPr>
        <p:blipFill rotWithShape="1">
          <a:blip r:embed="rId4"/>
          <a:stretch>
            <a:fillRect/>
          </a:stretch>
        </p:blipFill>
        <p:spPr>
          <a:xfrm>
            <a:off x="5951249" y="1078992"/>
            <a:ext cx="5763710" cy="429768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성과, 한계, 그리고 다음 단계</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단일 IP의 속도보다 전체 연산 범위와 데이터 이동이 시스템 성능을 결정</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 y="1234440"/>
            <a:ext cx="3529584" cy="388620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3503" y="1417320"/>
            <a:ext cx="320040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나의 확인 성과</a:t>
            </a:r>
          </a:p>
        </p:txBody>
      </p:sp>
      <p:sp>
        <p:nvSpPr>
          <p:cNvPr id="11" name="TextBox 10"/>
          <p:cNvSpPr txBox="1"/>
          <p:nvPr/>
        </p:nvSpPr>
        <p:spPr>
          <a:xfrm>
            <a:off x="7315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model.6 IP/BD 통합</a:t>
            </a:r>
          </a:p>
        </p:txBody>
      </p:sp>
      <p:sp>
        <p:nvSpPr>
          <p:cNvPr id="12" name="TextBox 11"/>
          <p:cNvSpPr txBox="1"/>
          <p:nvPr/>
        </p:nvSpPr>
        <p:spPr>
          <a:xfrm>
            <a:off x="7315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100 MHz Timing 만족</a:t>
            </a:r>
          </a:p>
        </p:txBody>
      </p:sp>
      <p:sp>
        <p:nvSpPr>
          <p:cNvPr id="13" name="TextBox 12"/>
          <p:cNvSpPr txBox="1"/>
          <p:nvPr/>
        </p:nvSpPr>
        <p:spPr>
          <a:xfrm>
            <a:off x="7315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Bitstream·XSA 생성</a:t>
            </a:r>
          </a:p>
        </p:txBody>
      </p:sp>
      <p:sp>
        <p:nvSpPr>
          <p:cNvPr id="14" name="TextBox 13"/>
          <p:cNvSpPr txBox="1"/>
          <p:nvPr/>
        </p:nvSpPr>
        <p:spPr>
          <a:xfrm>
            <a:off x="7315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KV260 Overlay 로딩</a:t>
            </a:r>
          </a:p>
        </p:txBody>
      </p:sp>
      <p:sp>
        <p:nvSpPr>
          <p:cNvPr id="15" name="Rounded Rectangle 14"/>
          <p:cNvSpPr/>
          <p:nvPr/>
        </p:nvSpPr>
        <p:spPr>
          <a:xfrm>
            <a:off x="4325112" y="1234440"/>
            <a:ext cx="3529584" cy="388620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9704" y="1417320"/>
            <a:ext cx="32004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현재 한계</a:t>
            </a:r>
          </a:p>
        </p:txBody>
      </p:sp>
      <p:sp>
        <p:nvSpPr>
          <p:cNvPr id="18" name="TextBox 17"/>
          <p:cNvSpPr txBox="1"/>
          <p:nvPr/>
        </p:nvSpPr>
        <p:spPr>
          <a:xfrm>
            <a:off x="46177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실시간 PPE 직접 재현 전</a:t>
            </a:r>
          </a:p>
        </p:txBody>
      </p:sp>
      <p:sp>
        <p:nvSpPr>
          <p:cNvPr id="19" name="TextBox 18"/>
          <p:cNvSpPr txBox="1"/>
          <p:nvPr/>
        </p:nvSpPr>
        <p:spPr>
          <a:xfrm>
            <a:off x="46177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MMIO 대기 원인 필요</a:t>
            </a:r>
          </a:p>
        </p:txBody>
      </p:sp>
      <p:sp>
        <p:nvSpPr>
          <p:cNvPr id="20" name="TextBox 19"/>
          <p:cNvSpPr txBox="1"/>
          <p:nvPr/>
        </p:nvSpPr>
        <p:spPr>
          <a:xfrm>
            <a:off x="46177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팀 결과와 개인 기여 구분</a:t>
            </a:r>
          </a:p>
        </p:txBody>
      </p:sp>
      <p:sp>
        <p:nvSpPr>
          <p:cNvPr id="21" name="TextBox 20"/>
          <p:cNvSpPr txBox="1"/>
          <p:nvPr/>
        </p:nvSpPr>
        <p:spPr>
          <a:xfrm>
            <a:off x="46177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CPU·DDR 병목 가능성</a:t>
            </a:r>
          </a:p>
        </p:txBody>
      </p:sp>
      <p:sp>
        <p:nvSpPr>
          <p:cNvPr id="22" name="Rounded Rectangle 21"/>
          <p:cNvSpPr/>
          <p:nvPr/>
        </p:nvSpPr>
        <p:spPr>
          <a:xfrm>
            <a:off x="8211312" y="1234440"/>
            <a:ext cx="3529584" cy="388620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4" y="1417320"/>
            <a:ext cx="320040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다음 단계</a:t>
            </a:r>
          </a:p>
        </p:txBody>
      </p:sp>
      <p:sp>
        <p:nvSpPr>
          <p:cNvPr id="25" name="TextBox 24"/>
          <p:cNvSpPr txBox="1"/>
          <p:nvPr/>
        </p:nvSpPr>
        <p:spPr>
          <a:xfrm>
            <a:off x="85039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단독 Loopback 검증</a:t>
            </a:r>
          </a:p>
        </p:txBody>
      </p:sp>
      <p:sp>
        <p:nvSpPr>
          <p:cNvPr id="26" name="TextBox 25"/>
          <p:cNvSpPr txBox="1"/>
          <p:nvPr/>
        </p:nvSpPr>
        <p:spPr>
          <a:xfrm>
            <a:off x="85039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Golden 특징맵 비교</a:t>
            </a:r>
          </a:p>
        </p:txBody>
      </p:sp>
      <p:sp>
        <p:nvSpPr>
          <p:cNvPr id="27" name="TextBox 26"/>
          <p:cNvSpPr txBox="1"/>
          <p:nvPr/>
        </p:nvSpPr>
        <p:spPr>
          <a:xfrm>
            <a:off x="85039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웹캠 전체 Pipeline 재현</a:t>
            </a:r>
          </a:p>
        </p:txBody>
      </p:sp>
      <p:sp>
        <p:nvSpPr>
          <p:cNvPr id="28" name="TextBox 27"/>
          <p:cNvSpPr txBox="1"/>
          <p:nvPr/>
        </p:nvSpPr>
        <p:spPr>
          <a:xfrm>
            <a:off x="85039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FPS·정확도 직접 측정</a:t>
            </a:r>
          </a:p>
        </p:txBody>
      </p:sp>
      <p:sp>
        <p:nvSpPr>
          <p:cNvPr id="29" name="Rounded Rectangle 28"/>
          <p:cNvSpPr/>
          <p:nvPr/>
        </p:nvSpPr>
        <p:spPr>
          <a:xfrm>
            <a:off x="438912" y="5285232"/>
            <a:ext cx="11301984" cy="438912"/>
          </a:xfrm>
          <a:prstGeom prst="roundRect">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03520"/>
            <a:ext cx="10881360" cy="384048"/>
          </a:xfrm>
          <a:prstGeom prst="rect">
            <a:avLst/>
          </a:prstGeom>
          <a:noFill/>
        </p:spPr>
        <p:txBody>
          <a:bodyPr wrap="none" lIns="45720" rIns="45720" anchor="ctr">
            <a:spAutoFit/>
          </a:bodyPr>
          <a:lstStyle/>
          <a:p>
            <a:pPr algn="ctr"/>
            <a:r>
              <a:rPr sz="1100" b="1">
                <a:solidFill>
                  <a:srgbClr val="FFFFFF"/>
                </a:solidFill>
                <a:latin typeface="Noto Sans CJK KR"/>
              </a:rPr>
              <a:t>AI 활용  |  Repository 분석 · 로그 기반 디버깅 · Tcl/Python 검토 · 증거 문서화 · PPT 생성</a:t>
            </a:r>
          </a:p>
        </p:txBody>
      </p:sp>
      <p:sp>
        <p:nvSpPr>
          <p:cNvPr id="31" name="Rounded Rectangle 30"/>
          <p:cNvSpPr/>
          <p:nvPr/>
        </p:nvSpPr>
        <p:spPr>
          <a:xfrm>
            <a:off x="438912" y="5806440"/>
            <a:ext cx="11301984" cy="53035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833872"/>
            <a:ext cx="10698480" cy="438912"/>
          </a:xfrm>
          <a:prstGeom prst="rect">
            <a:avLst/>
          </a:prstGeom>
          <a:noFill/>
        </p:spPr>
        <p:txBody>
          <a:bodyPr wrap="none" lIns="45720" rIns="45720" anchor="ctr">
            <a:spAutoFit/>
          </a:bodyPr>
          <a:lstStyle/>
          <a:p>
            <a:pPr algn="ctr"/>
            <a:r>
              <a:rPr sz="1200" b="1">
                <a:solidFill>
                  <a:srgbClr val="FFFFFF"/>
                </a:solidFill>
                <a:latin typeface="Noto Sans CJK KR"/>
              </a:rPr>
              <a:t>결론  |  model.6 통합·Bitstream·Overlay 로딩 완료, 다음은 DMA와 전체 추론 직접 검증</a:t>
            </a:r>
          </a:p>
        </p:txBody>
      </p:sp>
      <p:sp>
        <p:nvSpPr>
          <p:cNvPr id="33" name="TextBox 32"/>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Project Retrospective</a:t>
            </a:r>
          </a:p>
        </p:txBody>
      </p:sp>
      <p:sp>
        <p:nvSpPr>
          <p:cNvPr id="34" name="TextBox 33"/>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0</ep:Words>
  <ep:PresentationFormat>와이드스크린</ep:PresentationFormat>
  <ep:Paragraphs>0</ep:Paragraphs>
  <ep:Slides>6</ep:Slides>
  <ep:Notes>13</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PowerPoint 프레젠테이션</vt:lpstr>
      <vt:lpstr>PowerPoint 프레젠테이션</vt:lpstr>
      <vt:lpstr>슬라이드 5</vt:lpstr>
      <vt:lpstr>PowerPoint 프레젠테이션</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2026-08-10T01:47:46.000</dcterms:created>
  <dc:creator>PptxGenJS</dc:creator>
  <cp:lastModifiedBy>skh82</cp:lastModifiedBy>
  <dcterms:modified xsi:type="dcterms:W3CDTF">2026-08-12T08:11:05.121</dcterms:modified>
  <cp:revision>65</cp:revision>
  <dc:subject>PptxGenJS Presentation</dc:subject>
  <dc:title>PptxGenJS Presentation</dc:title>
  <cp:version>1000.0000.01</cp:version>
</cp:coreProperties>
</file>